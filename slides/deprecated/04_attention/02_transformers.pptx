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417" r:id="rId4"/>
    <p:sldId id="463" r:id="rId5"/>
    <p:sldId id="464" r:id="rId6"/>
    <p:sldId id="465" r:id="rId7"/>
    <p:sldId id="466" r:id="rId8"/>
    <p:sldId id="467" r:id="rId9"/>
    <p:sldId id="468" r:id="rId10"/>
    <p:sldId id="471" r:id="rId11"/>
    <p:sldId id="469" r:id="rId12"/>
    <p:sldId id="472" r:id="rId13"/>
    <p:sldId id="473" r:id="rId14"/>
    <p:sldId id="474" r:id="rId15"/>
    <p:sldId id="475" r:id="rId16"/>
    <p:sldId id="470" r:id="rId17"/>
    <p:sldId id="476" r:id="rId18"/>
    <p:sldId id="478" r:id="rId19"/>
    <p:sldId id="479" r:id="rId20"/>
    <p:sldId id="480" r:id="rId21"/>
    <p:sldId id="481" r:id="rId22"/>
    <p:sldId id="482" r:id="rId23"/>
    <p:sldId id="483" r:id="rId24"/>
    <p:sldId id="484" r:id="rId25"/>
    <p:sldId id="485" r:id="rId26"/>
    <p:sldId id="486" r:id="rId27"/>
    <p:sldId id="489" r:id="rId28"/>
    <p:sldId id="487" r:id="rId29"/>
    <p:sldId id="488" r:id="rId30"/>
    <p:sldId id="490" r:id="rId31"/>
    <p:sldId id="491" r:id="rId32"/>
    <p:sldId id="492" r:id="rId33"/>
    <p:sldId id="493" r:id="rId34"/>
    <p:sldId id="495" r:id="rId35"/>
    <p:sldId id="496" r:id="rId36"/>
    <p:sldId id="497" r:id="rId37"/>
    <p:sldId id="498" r:id="rId38"/>
    <p:sldId id="477" r:id="rId3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FFFFFF"/>
    <a:srgbClr val="FF9B9B"/>
    <a:srgbClr val="C39BE1"/>
    <a:srgbClr val="FFB9FF"/>
    <a:srgbClr val="FFFFDD"/>
    <a:srgbClr val="245A8C"/>
    <a:srgbClr val="DAE9F6"/>
    <a:srgbClr val="9BC2E5"/>
    <a:srgbClr val="428B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742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26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1DBEC8-B7CD-4879-87AE-64AF7BD7DF30}" type="datetimeFigureOut">
              <a:rPr lang="pt-BR" smtClean="0"/>
              <a:t>04/03/2024</a:t>
            </a:fld>
            <a:endParaRPr lang="pt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F50156-6885-4B39-8E78-85D0C1AED0F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7153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936A27-9130-4759-A47A-23D3EAB304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41A88DD-808F-4F8D-84A5-3916FE3D84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5AD0587-6BA5-4755-A254-BA8BAB6A2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23EE8-82C7-4BB9-8AE0-A839B9F0439B}" type="datetime1">
              <a:rPr lang="pt-BR" smtClean="0"/>
              <a:t>04/03/2024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654C2AD-8133-48B1-A30D-493AEB541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085C79A-F85A-4516-A45F-AA8BEF572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1696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26CC7B-9026-47F0-A53D-971D687FF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179AE47-E774-440E-BB95-261546E48D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B6D0AA4-83FF-4C0C-8613-B3D0E9375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7079A-94C2-45A1-88AB-6250F7D03304}" type="datetime1">
              <a:rPr lang="pt-BR" smtClean="0"/>
              <a:t>04/03/2024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A984507-0CE8-4D65-8720-EE422B955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1BCF4AD-DDBF-4D80-A019-F4FEC8F4C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5777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67D888-DBC5-4160-A401-DF4296CF8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C41015C-6433-4AA1-82DC-E038C8C7CB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8375D2A-D6E9-4EA5-9A79-B02009078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B87A7-29BF-49EF-AFD5-EA48A803025A}" type="datetime1">
              <a:rPr lang="pt-BR" smtClean="0"/>
              <a:t>04/03/2024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DB65A21-5BD0-48CC-9633-CD3EBDDBA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818FF30-0E8C-4739-A740-930FD7CE5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35803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D98A0D-47CA-4BF5-8A53-03DEDDB1E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C6693E7-97F4-43B7-A4A2-B26156714F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BA5FED8-E805-40F8-AED2-2B37F607D8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92B54B3-3070-46A9-BB16-347D6E911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B6DB7-59BC-4CD2-BD08-E2943D1EF069}" type="datetime1">
              <a:rPr lang="pt-BR" smtClean="0"/>
              <a:t>04/03/2024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6695434-EDA8-4C3C-8BF0-E097E53C0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2483E8E-C241-4C26-AD63-8E1145727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4410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F86158-79AD-47BA-94A0-7B5C1B2F2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2F05BE3-8146-47FD-B959-DE98B68C20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AA55466-A0D9-4326-8C0B-11D9ECB997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D8DD07B-B6ED-4D98-9C41-AB40AAD2EB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E0E32ED-0580-4733-8A15-EF1A54EE76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0B57CC4-6BEE-4C56-B5A7-8348FFBAA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93418-6918-484A-8421-0D025D0D8A67}" type="datetime1">
              <a:rPr lang="pt-BR" smtClean="0"/>
              <a:t>04/03/2024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F8A9786-CC6C-453F-88B8-EDE8FEEEE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7ACE4B8-7B8A-4602-8AC9-3F4E66D79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6033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E1E33F-43CC-4BCB-A00F-C169AF132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E9A7E1A-8845-4FE6-ADDC-740512EC6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0CAA2-036D-405F-9538-4B646274D645}" type="datetime1">
              <a:rPr lang="pt-BR" smtClean="0"/>
              <a:t>04/03/2024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95CA399-4971-4420-B53F-37EB8ACF2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FB00EC4-0A80-464E-9415-C3F967381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578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9EE76B2-7187-484D-B134-A77D8B301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13415-C3D3-416A-BA17-3FEFA32702EE}" type="datetime1">
              <a:rPr lang="pt-BR" smtClean="0"/>
              <a:t>04/03/2024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9238519-4661-42E6-A172-40EEF015F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CD207DA-461C-448E-83A6-5E42627CC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0143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69BC73-075F-4C57-B083-A2A53A76C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753C72F-F7F4-4065-B66E-03AF5711EC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D830101-D942-46FF-BA69-E5E55509A2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5132C4-FE9A-407F-A499-CB1C142D9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94281-F446-41F4-852D-AF0C5F0FB8E5}" type="datetime1">
              <a:rPr lang="pt-BR" smtClean="0"/>
              <a:t>04/03/2024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BC6E7AD-95AD-4059-AE42-AA92FD2F8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715626A-7012-4235-A6D7-A1A752344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3653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642BC7-D688-430F-A256-18657B5F3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33CB283-3B59-4BAD-87DF-1422F776B6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53F9CF2-5A0D-4F0C-9FD8-7DB051EB07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776D9E3-8099-4187-BE37-EBC90D539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ACD1-8F4F-450B-9F25-92B5A7643D6C}" type="datetime1">
              <a:rPr lang="pt-BR" smtClean="0"/>
              <a:t>04/03/2024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EFBBD30-A1E3-4861-9D26-E9EED18B0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3C0BD16-792A-45CC-8B4D-E0A7A8839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7215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D3F8C5-185D-49E1-A53C-2E55BD5A1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2D78D96-867E-469F-983A-80ACE30235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086A972-7A5F-4745-BB5E-7D0DDADC0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5C635-A7DF-42C1-A820-15BA95751108}" type="datetime1">
              <a:rPr lang="pt-BR" smtClean="0"/>
              <a:t>04/03/2024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42C18A6-57BF-49F1-97EA-7F9ACD0BA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EFE4627-EAD2-4008-B1FA-614849F55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1796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9E7A39B-F7E2-4A69-942C-6AEFE2C7B0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3298851-909A-4BB7-9514-2A3766F2D8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D06C408-EEE6-4851-8B3F-CBF1451B7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8CA80-3A23-4BED-BFDD-EC237E1C9920}" type="datetime1">
              <a:rPr lang="pt-BR" smtClean="0"/>
              <a:t>04/03/2024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5E5DE8C-E893-46D9-9054-DB6F88FD0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422E16A-56BB-4B7D-8AA6-C3A5B3761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7387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B1A29FE-D65E-4440-A657-262577AA0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167D270-2A8A-433A-93D9-8D998D06BE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BC1113-45B0-4701-87FE-8C670E0005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F95C9C-EC44-4A90-8C72-29D4E173E628}" type="datetime1">
              <a:rPr lang="pt-BR" smtClean="0"/>
              <a:t>04/03/2024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F72D9F7-AA55-448C-B21A-88D3674318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6BF8157-6D2F-4A31-942D-5AE190A464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BE6AF0-DA65-4AAF-B1B6-D34C9150970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5407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jalammar.github.io/illustrated-transformer/" TargetMode="External"/><Relationship Id="rId2" Type="http://schemas.openxmlformats.org/officeDocument/2006/relationships/hyperlink" Target="https://kazemnejad.com/blog/transformer_architecture_positional_encoding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24B37C-3C8E-4FDE-9CD8-8FDBB9948A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BR" b="0" i="0" dirty="0">
                <a:solidFill>
                  <a:srgbClr val="212529"/>
                </a:solidFill>
                <a:effectLst/>
                <a:latin typeface="-apple-system"/>
              </a:rPr>
              <a:t>Aprendizado Profundo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E46BC0D-1C18-420A-8181-4599D8380A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i="1" dirty="0"/>
              <a:t>Transformers – Arquitetura Completa</a:t>
            </a:r>
          </a:p>
          <a:p>
            <a:r>
              <a:rPr lang="pt-BR" dirty="0"/>
              <a:t>Professor: Lucas Silveira Kupssinskü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95EE3B-E0A9-0563-6E9A-DC0A22FB0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30251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96723-D21F-0B6B-4BDC-E59C1680D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Conteúdo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80142C-43DE-92B1-76AB-71E1D799CD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Revisão de </a:t>
            </a:r>
            <a:r>
              <a:rPr lang="pt-BR" i="1" dirty="0"/>
              <a:t>Self </a:t>
            </a:r>
            <a:r>
              <a:rPr lang="pt-BR" i="1" dirty="0" err="1"/>
              <a:t>Attention</a:t>
            </a:r>
            <a:endParaRPr lang="pt-BR" i="1" dirty="0"/>
          </a:p>
          <a:p>
            <a:r>
              <a:rPr lang="pt-BR" i="1" dirty="0" err="1"/>
              <a:t>Positional</a:t>
            </a:r>
            <a:r>
              <a:rPr lang="pt-BR" i="1" dirty="0"/>
              <a:t> </a:t>
            </a:r>
            <a:r>
              <a:rPr lang="pt-BR" i="1" dirty="0" err="1"/>
              <a:t>Encoding</a:t>
            </a:r>
            <a:endParaRPr lang="pt-BR" i="1" dirty="0"/>
          </a:p>
          <a:p>
            <a:r>
              <a:rPr lang="pt-BR" i="1" dirty="0"/>
              <a:t>Arquitetura </a:t>
            </a:r>
            <a:r>
              <a:rPr lang="pt-BR" i="1" dirty="0" err="1"/>
              <a:t>Transformer</a:t>
            </a:r>
            <a:endParaRPr lang="pt-BR" i="1" dirty="0"/>
          </a:p>
          <a:p>
            <a:pPr lvl="1"/>
            <a:r>
              <a:rPr lang="pt-BR" i="1" dirty="0" err="1"/>
              <a:t>Encoder</a:t>
            </a:r>
            <a:endParaRPr lang="pt-BR" i="1" dirty="0"/>
          </a:p>
          <a:p>
            <a:pPr lvl="1"/>
            <a:r>
              <a:rPr lang="pt-BR" i="1" dirty="0" err="1"/>
              <a:t>Decoder</a:t>
            </a:r>
            <a:endParaRPr lang="pt-BR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61A30B-A1C9-0190-2AFF-CE6B8B788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81708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E8895-84A0-FBCA-FA0B-60328209A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A666F4C6-2689-8425-0FA7-DE310F5B15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821" b="3948"/>
          <a:stretch/>
        </p:blipFill>
        <p:spPr bwMode="auto">
          <a:xfrm>
            <a:off x="7900987" y="3429000"/>
            <a:ext cx="4162425" cy="3274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AE9623-3DDD-75BA-41E5-DDCBC9395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/>
              <a:t>Self </a:t>
            </a:r>
            <a:r>
              <a:rPr lang="pt-BR" i="1" dirty="0" err="1"/>
              <a:t>Attention</a:t>
            </a:r>
            <a:endParaRPr lang="pt-BR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587A2E-874F-ED11-A680-E5048B9085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Vimos que Self </a:t>
            </a:r>
            <a:r>
              <a:rPr lang="pt-BR" dirty="0" err="1"/>
              <a:t>Attention</a:t>
            </a:r>
            <a:r>
              <a:rPr lang="pt-BR" dirty="0"/>
              <a:t> é uma forma de usar atenção de uma sequência para ela mesma</a:t>
            </a:r>
          </a:p>
          <a:p>
            <a:pPr lvl="1"/>
            <a:r>
              <a:rPr lang="pt-BR" dirty="0"/>
              <a:t>Assim a atenção é avaliada de cada </a:t>
            </a:r>
            <a:r>
              <a:rPr lang="pt-BR" i="1" dirty="0">
                <a:solidFill>
                  <a:srgbClr val="FF0000"/>
                </a:solidFill>
              </a:rPr>
              <a:t>token </a:t>
            </a:r>
            <a:r>
              <a:rPr lang="pt-BR" dirty="0"/>
              <a:t>para todos os demais </a:t>
            </a:r>
            <a:r>
              <a:rPr lang="pt-BR" i="1" dirty="0">
                <a:solidFill>
                  <a:srgbClr val="FF0000"/>
                </a:solidFill>
              </a:rPr>
              <a:t>tokens</a:t>
            </a:r>
          </a:p>
          <a:p>
            <a:pPr lvl="1"/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1371A7-C373-CA67-5C33-0533FB9BC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257616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36A86-10B1-9610-78C0-107BA377D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699DCEF0-3A9F-89C3-4EF5-B2437FFD4E5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821" b="3948"/>
          <a:stretch/>
        </p:blipFill>
        <p:spPr bwMode="auto">
          <a:xfrm>
            <a:off x="7900987" y="3429000"/>
            <a:ext cx="4162425" cy="3274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719CB93-4813-C6F5-1B87-8F8A61C43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/>
              <a:t>Self </a:t>
            </a:r>
            <a:r>
              <a:rPr lang="pt-BR" i="1" dirty="0" err="1"/>
              <a:t>Attention</a:t>
            </a:r>
            <a:endParaRPr lang="pt-BR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CFAE4-7450-3CC5-CF99-82B4C207AA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 analogia é que cada </a:t>
            </a:r>
            <a:r>
              <a:rPr lang="pt-BR" i="1" dirty="0">
                <a:solidFill>
                  <a:srgbClr val="FF0000"/>
                </a:solidFill>
              </a:rPr>
              <a:t>token</a:t>
            </a:r>
            <a:r>
              <a:rPr lang="pt-BR" dirty="0">
                <a:solidFill>
                  <a:srgbClr val="FF0000"/>
                </a:solidFill>
              </a:rPr>
              <a:t> </a:t>
            </a:r>
            <a:r>
              <a:rPr lang="pt-BR" dirty="0"/>
              <a:t>faz uma </a:t>
            </a:r>
            <a:r>
              <a:rPr lang="pt-BR" i="1" dirty="0">
                <a:solidFill>
                  <a:srgbClr val="FF00FF"/>
                </a:solidFill>
              </a:rPr>
              <a:t>Query</a:t>
            </a:r>
            <a:r>
              <a:rPr lang="pt-BR" dirty="0">
                <a:solidFill>
                  <a:srgbClr val="FF0000"/>
                </a:solidFill>
              </a:rPr>
              <a:t> </a:t>
            </a:r>
            <a:r>
              <a:rPr lang="pt-BR" dirty="0"/>
              <a:t>contra</a:t>
            </a:r>
            <a:r>
              <a:rPr lang="pt-BR" dirty="0">
                <a:solidFill>
                  <a:srgbClr val="FF0000"/>
                </a:solidFill>
              </a:rPr>
              <a:t> </a:t>
            </a:r>
            <a:r>
              <a:rPr lang="pt-BR" i="1" dirty="0">
                <a:solidFill>
                  <a:schemeClr val="accent4">
                    <a:lumMod val="75000"/>
                  </a:schemeClr>
                </a:solidFill>
              </a:rPr>
              <a:t>Keys</a:t>
            </a:r>
            <a:r>
              <a:rPr lang="pt-BR" i="1" dirty="0">
                <a:solidFill>
                  <a:srgbClr val="FF0000"/>
                </a:solidFill>
              </a:rPr>
              <a:t> </a:t>
            </a:r>
            <a:r>
              <a:rPr lang="pt-BR" i="1" dirty="0"/>
              <a:t>de outros </a:t>
            </a:r>
            <a:r>
              <a:rPr lang="pt-BR" i="1" dirty="0">
                <a:solidFill>
                  <a:srgbClr val="FF0000"/>
                </a:solidFill>
              </a:rPr>
              <a:t>tokens </a:t>
            </a:r>
            <a:r>
              <a:rPr lang="pt-BR" i="1" dirty="0"/>
              <a:t>para retornar um </a:t>
            </a:r>
            <a:r>
              <a:rPr lang="pt-BR" i="1" dirty="0" err="1">
                <a:solidFill>
                  <a:srgbClr val="00B0F0"/>
                </a:solidFill>
              </a:rPr>
              <a:t>Value</a:t>
            </a:r>
            <a:r>
              <a:rPr lang="pt-BR" i="1" dirty="0">
                <a:solidFill>
                  <a:srgbClr val="FF0000"/>
                </a:solidFill>
              </a:rPr>
              <a:t> </a:t>
            </a:r>
            <a:r>
              <a:rPr lang="pt-BR" dirty="0"/>
              <a:t>específico conforme uma soma ponderada da similaridade da</a:t>
            </a:r>
            <a:r>
              <a:rPr lang="pt-BR" i="1" dirty="0"/>
              <a:t> </a:t>
            </a:r>
            <a:r>
              <a:rPr lang="pt-BR" i="1" dirty="0">
                <a:solidFill>
                  <a:srgbClr val="FF00FF"/>
                </a:solidFill>
              </a:rPr>
              <a:t>Query</a:t>
            </a:r>
            <a:r>
              <a:rPr lang="pt-BR" i="1" dirty="0">
                <a:solidFill>
                  <a:srgbClr val="FF0000"/>
                </a:solidFill>
              </a:rPr>
              <a:t> </a:t>
            </a:r>
            <a:r>
              <a:rPr lang="pt-BR" dirty="0"/>
              <a:t>com as </a:t>
            </a:r>
            <a:r>
              <a:rPr lang="pt-BR" i="1" dirty="0">
                <a:solidFill>
                  <a:schemeClr val="accent4">
                    <a:lumMod val="75000"/>
                  </a:schemeClr>
                </a:solidFill>
              </a:rPr>
              <a:t>Keys</a:t>
            </a:r>
          </a:p>
          <a:p>
            <a:pPr lvl="1"/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C90048-7D63-FA2A-8BAB-AEF09C205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4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FC65EFF-9F2A-959F-B33A-213FF71F8C62}"/>
                  </a:ext>
                </a:extLst>
              </p:cNvPr>
              <p:cNvSpPr txBox="1"/>
              <p:nvPr/>
            </p:nvSpPr>
            <p:spPr>
              <a:xfrm>
                <a:off x="816195" y="3466596"/>
                <a:ext cx="6949637" cy="10693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𝑎𝑡𝑡𝑒𝑛𝑡𝑖𝑜𝑛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𝑠𝑜𝑓𝑡𝑚𝑎𝑥</m:t>
                      </m:r>
                      <m:d>
                        <m:d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1" smtClean="0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sSup>
                                <m:sSupPr>
                                  <m:ctrlPr>
                                    <a:rPr lang="en-US" sz="2800" i="1" smtClean="0">
                                      <a:solidFill>
                                        <a:schemeClr val="accent4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>
                                      <a:solidFill>
                                        <a:schemeClr val="accent4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p>
                                  <m:r>
                                    <a:rPr lang="en-US" sz="2800" i="1">
                                      <a:solidFill>
                                        <a:schemeClr val="accent4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</m:rad>
                            </m:den>
                          </m:f>
                        </m:e>
                      </m:d>
                      <m:r>
                        <a:rPr lang="en-US" sz="28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pt-BR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FC65EFF-9F2A-959F-B33A-213FF71F8C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195" y="3466596"/>
                <a:ext cx="6949637" cy="106939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26052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49222-2762-D4F7-C320-7FACB07E5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B9D1D98F-6AAB-9DAB-2897-36BD63F883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821" b="3948"/>
          <a:stretch/>
        </p:blipFill>
        <p:spPr bwMode="auto">
          <a:xfrm>
            <a:off x="7900987" y="3429000"/>
            <a:ext cx="4162425" cy="3274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33A6180-CE73-D6A6-053E-CA8C49746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/>
              <a:t>Self </a:t>
            </a:r>
            <a:r>
              <a:rPr lang="pt-BR" i="1" dirty="0" err="1"/>
              <a:t>Attention</a:t>
            </a:r>
            <a:endParaRPr lang="pt-BR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6414A8-C141-B347-1FAF-BA149BBCE3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Implementações em GPU são triviais e favorecem o paralelismo.</a:t>
            </a:r>
            <a:endParaRPr lang="pt-BR" i="1" dirty="0">
              <a:solidFill>
                <a:schemeClr val="accent4">
                  <a:lumMod val="75000"/>
                </a:schemeClr>
              </a:solidFill>
            </a:endParaRPr>
          </a:p>
          <a:p>
            <a:pPr lvl="1"/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D33E31-88D3-96E5-CA8F-92A2ACA13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5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30622A7-D6D5-27EA-2702-EAF0A3CC37B5}"/>
                  </a:ext>
                </a:extLst>
              </p:cNvPr>
              <p:cNvSpPr txBox="1"/>
              <p:nvPr/>
            </p:nvSpPr>
            <p:spPr>
              <a:xfrm>
                <a:off x="1284151" y="2759365"/>
                <a:ext cx="6949637" cy="10693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𝑎𝑡𝑡𝑒𝑛𝑡𝑖𝑜𝑛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𝑠𝑜𝑓𝑡𝑚𝑎𝑥</m:t>
                      </m:r>
                      <m:d>
                        <m:d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1" smtClean="0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sSup>
                                <m:sSupPr>
                                  <m:ctrlPr>
                                    <a:rPr lang="en-US" sz="2800" i="1" smtClean="0">
                                      <a:solidFill>
                                        <a:schemeClr val="accent4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>
                                      <a:solidFill>
                                        <a:schemeClr val="accent4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p>
                                  <m:r>
                                    <a:rPr lang="en-US" sz="2800" i="1">
                                      <a:solidFill>
                                        <a:schemeClr val="accent4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</m:rad>
                            </m:den>
                          </m:f>
                        </m:e>
                      </m:d>
                      <m:r>
                        <a:rPr lang="en-US" sz="28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pt-BR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30622A7-D6D5-27EA-2702-EAF0A3CC37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4151" y="2759365"/>
                <a:ext cx="6949637" cy="106939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92063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8ABDA-ACFA-FE01-B634-EEE9AC69C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723DF-FD1F-910D-D694-8D384AD4E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/>
              <a:t>Self </a:t>
            </a:r>
            <a:r>
              <a:rPr lang="pt-BR" i="1" dirty="0" err="1"/>
              <a:t>Attention</a:t>
            </a:r>
            <a:endParaRPr lang="pt-BR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5EBC60-52F3-C36C-4DD2-15389AA738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Com </a:t>
            </a:r>
            <a:r>
              <a:rPr lang="pt-BR" dirty="0" err="1"/>
              <a:t>RNNs</a:t>
            </a:r>
            <a:r>
              <a:rPr lang="pt-BR" dirty="0"/>
              <a:t> ou </a:t>
            </a:r>
            <a:r>
              <a:rPr lang="pt-BR" dirty="0" err="1"/>
              <a:t>CNNs</a:t>
            </a:r>
            <a:r>
              <a:rPr lang="pt-BR" dirty="0"/>
              <a:t> a informação posicional está integrada ao </a:t>
            </a:r>
            <a:r>
              <a:rPr lang="pt-BR" dirty="0">
                <a:solidFill>
                  <a:srgbClr val="00B0F0"/>
                </a:solidFill>
              </a:rPr>
              <a:t>viés indutivo</a:t>
            </a:r>
            <a:r>
              <a:rPr lang="pt-BR" dirty="0"/>
              <a:t> dos modelos, portanto não demandavam atenção especial</a:t>
            </a:r>
            <a:endParaRPr lang="pt-BR" dirty="0">
              <a:solidFill>
                <a:srgbClr val="00B0F0"/>
              </a:solidFill>
            </a:endParaRPr>
          </a:p>
          <a:p>
            <a:endParaRPr lang="pt-BR" dirty="0"/>
          </a:p>
          <a:p>
            <a:r>
              <a:rPr lang="pt-BR" dirty="0"/>
              <a:t>Com </a:t>
            </a:r>
            <a:r>
              <a:rPr lang="pt-BR" i="1" dirty="0"/>
              <a:t>Self </a:t>
            </a:r>
            <a:r>
              <a:rPr lang="pt-BR" i="1" dirty="0" err="1"/>
              <a:t>Attention</a:t>
            </a:r>
            <a:r>
              <a:rPr lang="pt-BR" dirty="0"/>
              <a:t>, não temos nenhuma informação sobre a posição dos </a:t>
            </a:r>
            <a:r>
              <a:rPr lang="pt-BR" i="1" dirty="0">
                <a:solidFill>
                  <a:srgbClr val="FF0000"/>
                </a:solidFill>
              </a:rPr>
              <a:t>tokens </a:t>
            </a:r>
            <a:r>
              <a:rPr lang="pt-BR" dirty="0"/>
              <a:t>na sequência (ainda!)</a:t>
            </a:r>
            <a:endParaRPr lang="pt-BR" sz="2000" dirty="0">
              <a:latin typeface="Consolas" panose="020B0609020204030204" pitchFamily="49" charset="0"/>
            </a:endParaRPr>
          </a:p>
          <a:p>
            <a:pPr lvl="1"/>
            <a:r>
              <a:rPr lang="pt-BR" sz="2000" dirty="0">
                <a:latin typeface="Consolas" panose="020B0609020204030204" pitchFamily="49" charset="0"/>
              </a:rPr>
              <a:t>“</a:t>
            </a:r>
            <a:r>
              <a:rPr lang="pt-BR" sz="2000" dirty="0" err="1">
                <a:latin typeface="Consolas" panose="020B0609020204030204" pitchFamily="49" charset="0"/>
              </a:rPr>
              <a:t>lucas</a:t>
            </a:r>
            <a:r>
              <a:rPr lang="pt-BR" sz="2000" dirty="0">
                <a:latin typeface="Consolas" panose="020B0609020204030204" pitchFamily="49" charset="0"/>
              </a:rPr>
              <a:t> comeu pastel no jantar” = “jantar comeu pastel no </a:t>
            </a:r>
            <a:r>
              <a:rPr lang="pt-BR" sz="2000" dirty="0" err="1">
                <a:latin typeface="Consolas" panose="020B0609020204030204" pitchFamily="49" charset="0"/>
              </a:rPr>
              <a:t>lucas</a:t>
            </a:r>
            <a:r>
              <a:rPr lang="pt-BR" sz="2000" dirty="0">
                <a:latin typeface="Consolas" panose="020B0609020204030204" pitchFamily="49" charset="0"/>
              </a:rPr>
              <a:t>”</a:t>
            </a:r>
          </a:p>
          <a:p>
            <a:pPr lvl="1"/>
            <a:endParaRPr lang="pt-BR" dirty="0"/>
          </a:p>
          <a:p>
            <a:pPr lvl="1"/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835C36-C710-F978-65D5-2FA449B26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6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E771157-0E16-DCCE-B278-25B2949F4121}"/>
                  </a:ext>
                </a:extLst>
              </p:cNvPr>
              <p:cNvSpPr txBox="1"/>
              <p:nvPr/>
            </p:nvSpPr>
            <p:spPr>
              <a:xfrm>
                <a:off x="4262478" y="5107568"/>
                <a:ext cx="6949637" cy="10693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𝑎𝑡𝑡𝑒𝑛𝑡𝑖𝑜𝑛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𝑠𝑜𝑓𝑡𝑚𝑎𝑥</m:t>
                      </m:r>
                      <m:d>
                        <m:d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1" smtClean="0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sSup>
                                <m:sSupPr>
                                  <m:ctrlPr>
                                    <a:rPr lang="en-US" sz="2800" i="1" smtClean="0">
                                      <a:solidFill>
                                        <a:schemeClr val="accent4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>
                                      <a:solidFill>
                                        <a:schemeClr val="accent4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p>
                                  <m:r>
                                    <a:rPr lang="en-US" sz="2800" i="1">
                                      <a:solidFill>
                                        <a:schemeClr val="accent4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</m:rad>
                            </m:den>
                          </m:f>
                        </m:e>
                      </m:d>
                      <m:r>
                        <a:rPr lang="en-US" sz="28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pt-BR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E771157-0E16-DCCE-B278-25B2949F41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2478" y="5107568"/>
                <a:ext cx="6949637" cy="106939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32" name="Picture 8" descr="Ironhide Facepalm | Transformers Funny Memes">
            <a:extLst>
              <a:ext uri="{FF2B5EF4-FFF2-40B4-BE49-F238E27FC236}">
                <a16:creationId xmlns:a16="http://schemas.microsoft.com/office/drawing/2014/main" id="{E2A5567D-FFD8-6B6C-F534-007191013A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48728" y="4795071"/>
            <a:ext cx="2433472" cy="1926404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23578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0C89F-83E6-F36C-5FA3-B9B0D1393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Positional Encoding</a:t>
            </a:r>
            <a:endParaRPr lang="pt-BR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B6A52A-5B5D-9232-DFFA-47CA4BEED0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 ideia aqui é criar uma codificação para a posição e adicioná-la ao </a:t>
            </a:r>
            <a:r>
              <a:rPr lang="pt-BR" i="1" dirty="0" err="1">
                <a:solidFill>
                  <a:srgbClr val="FF0000"/>
                </a:solidFill>
              </a:rPr>
              <a:t>embedding</a:t>
            </a:r>
            <a:r>
              <a:rPr lang="pt-BR" dirty="0"/>
              <a:t> do </a:t>
            </a:r>
            <a:r>
              <a:rPr lang="pt-BR" i="1" dirty="0">
                <a:solidFill>
                  <a:srgbClr val="00B0F0"/>
                </a:solidFill>
              </a:rPr>
              <a:t>token</a:t>
            </a:r>
          </a:p>
          <a:p>
            <a:pPr lvl="1"/>
            <a:r>
              <a:rPr lang="pt-BR" dirty="0"/>
              <a:t>Existem diversas formas para definir/aprender os </a:t>
            </a:r>
            <a:r>
              <a:rPr lang="pt-BR" i="1" dirty="0" err="1">
                <a:solidFill>
                  <a:srgbClr val="FF0000"/>
                </a:solidFill>
              </a:rPr>
              <a:t>embeddings</a:t>
            </a:r>
            <a:r>
              <a:rPr lang="pt-BR" dirty="0"/>
              <a:t> posicionais</a:t>
            </a:r>
          </a:p>
          <a:p>
            <a:pPr lvl="1"/>
            <a:r>
              <a:rPr lang="pt-BR" dirty="0"/>
              <a:t>No </a:t>
            </a:r>
            <a:r>
              <a:rPr lang="pt-BR" dirty="0" err="1"/>
              <a:t>paper</a:t>
            </a:r>
            <a:r>
              <a:rPr lang="pt-BR" dirty="0"/>
              <a:t> original, </a:t>
            </a:r>
            <a:r>
              <a:rPr lang="pt-BR" dirty="0" err="1"/>
              <a:t>Vaswani</a:t>
            </a:r>
            <a:r>
              <a:rPr lang="pt-BR" dirty="0"/>
              <a:t> et al (2017) observaram que </a:t>
            </a:r>
            <a:r>
              <a:rPr lang="pt-BR" i="1" dirty="0" err="1">
                <a:solidFill>
                  <a:srgbClr val="FF0000"/>
                </a:solidFill>
              </a:rPr>
              <a:t>embeddings</a:t>
            </a:r>
            <a:r>
              <a:rPr lang="pt-BR" dirty="0"/>
              <a:t> posicionais aprendidos não melhoraram os resultados em relação a </a:t>
            </a:r>
            <a:r>
              <a:rPr lang="pt-BR" i="1" dirty="0" err="1">
                <a:solidFill>
                  <a:srgbClr val="FF0000"/>
                </a:solidFill>
              </a:rPr>
              <a:t>embeddings</a:t>
            </a:r>
            <a:r>
              <a:rPr lang="pt-BR" dirty="0"/>
              <a:t> posicionais fixos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4C482D-83CD-EEE6-1B3C-2AE9EC24D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7</a:t>
            </a:fld>
            <a:endParaRPr lang="pt-B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E45E21-97AE-C89E-612C-B5E6DBF7BB02}"/>
              </a:ext>
            </a:extLst>
          </p:cNvPr>
          <p:cNvSpPr txBox="1"/>
          <p:nvPr/>
        </p:nvSpPr>
        <p:spPr>
          <a:xfrm>
            <a:off x="0" y="6535737"/>
            <a:ext cx="121937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VASWANI, Ashish et al. Attention is all you need. </a:t>
            </a:r>
            <a:r>
              <a:rPr lang="en-US" sz="14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Advances in neural information processing systems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v. 30, 2017.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8116982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5850E-E9BC-2A08-4D38-04A14F8AC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9006A-4188-39F1-C08A-DAA76C506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Positional Encoding</a:t>
            </a:r>
            <a:endParaRPr lang="pt-BR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F58AF2-4B2B-CC9F-7BA0-DAA4487AB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8</a:t>
            </a:fld>
            <a:endParaRPr lang="pt-BR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3A3F994-870A-34BB-0B25-FD84332E3A3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55"/>
          <a:stretch/>
        </p:blipFill>
        <p:spPr bwMode="auto">
          <a:xfrm>
            <a:off x="2465943" y="1427768"/>
            <a:ext cx="7260113" cy="5293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76349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21FAC-486C-4C5E-6B45-5DFCE322E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Positional Encoding</a:t>
            </a:r>
            <a:endParaRPr lang="pt-BR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DD1B5F2A-EC91-CB06-D8D9-829782461B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85454814"/>
              </p:ext>
            </p:extLst>
          </p:nvPr>
        </p:nvGraphicFramePr>
        <p:xfrm>
          <a:off x="2003191" y="3188789"/>
          <a:ext cx="2264955" cy="171398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2991">
                  <a:extLst>
                    <a:ext uri="{9D8B030D-6E8A-4147-A177-3AD203B41FA5}">
                      <a16:colId xmlns:a16="http://schemas.microsoft.com/office/drawing/2014/main" val="1754369809"/>
                    </a:ext>
                  </a:extLst>
                </a:gridCol>
                <a:gridCol w="452991">
                  <a:extLst>
                    <a:ext uri="{9D8B030D-6E8A-4147-A177-3AD203B41FA5}">
                      <a16:colId xmlns:a16="http://schemas.microsoft.com/office/drawing/2014/main" val="431977746"/>
                    </a:ext>
                  </a:extLst>
                </a:gridCol>
                <a:gridCol w="452991">
                  <a:extLst>
                    <a:ext uri="{9D8B030D-6E8A-4147-A177-3AD203B41FA5}">
                      <a16:colId xmlns:a16="http://schemas.microsoft.com/office/drawing/2014/main" val="3885924545"/>
                    </a:ext>
                  </a:extLst>
                </a:gridCol>
                <a:gridCol w="452991">
                  <a:extLst>
                    <a:ext uri="{9D8B030D-6E8A-4147-A177-3AD203B41FA5}">
                      <a16:colId xmlns:a16="http://schemas.microsoft.com/office/drawing/2014/main" val="2997256886"/>
                    </a:ext>
                  </a:extLst>
                </a:gridCol>
                <a:gridCol w="452991">
                  <a:extLst>
                    <a:ext uri="{9D8B030D-6E8A-4147-A177-3AD203B41FA5}">
                      <a16:colId xmlns:a16="http://schemas.microsoft.com/office/drawing/2014/main" val="2036735232"/>
                    </a:ext>
                  </a:extLst>
                </a:gridCol>
              </a:tblGrid>
              <a:tr h="428497">
                <a:tc>
                  <a:txBody>
                    <a:bodyPr/>
                    <a:lstStyle/>
                    <a:p>
                      <a:pPr algn="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6777941"/>
                  </a:ext>
                </a:extLst>
              </a:tr>
              <a:tr h="428497">
                <a:tc>
                  <a:txBody>
                    <a:bodyPr/>
                    <a:lstStyle/>
                    <a:p>
                      <a:pPr algn="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6622212"/>
                  </a:ext>
                </a:extLst>
              </a:tr>
              <a:tr h="428497">
                <a:tc>
                  <a:txBody>
                    <a:bodyPr/>
                    <a:lstStyle/>
                    <a:p>
                      <a:pPr algn="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2501922"/>
                  </a:ext>
                </a:extLst>
              </a:tr>
              <a:tr h="428497">
                <a:tc>
                  <a:txBody>
                    <a:bodyPr/>
                    <a:lstStyle/>
                    <a:p>
                      <a:pPr algn="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2041792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E73343-288B-C42A-CF9E-2B773FD55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9</a:t>
            </a:fld>
            <a:endParaRPr lang="pt-B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969C9B-2BE0-C6EB-49F2-CDEF7281AEBA}"/>
              </a:ext>
            </a:extLst>
          </p:cNvPr>
          <p:cNvSpPr txBox="1"/>
          <p:nvPr/>
        </p:nvSpPr>
        <p:spPr>
          <a:xfrm>
            <a:off x="1960620" y="2626065"/>
            <a:ext cx="2467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/>
              <a:t>word embeddings</a:t>
            </a:r>
            <a:endParaRPr lang="pt-BR" sz="2400" i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10951F-A4BD-5AB5-4557-FD33EE9BA83B}"/>
              </a:ext>
            </a:extLst>
          </p:cNvPr>
          <p:cNvSpPr txBox="1"/>
          <p:nvPr/>
        </p:nvSpPr>
        <p:spPr>
          <a:xfrm>
            <a:off x="682464" y="3183988"/>
            <a:ext cx="1179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err="1">
                <a:latin typeface="Consolas" panose="020B0609020204030204" pitchFamily="49" charset="0"/>
              </a:rPr>
              <a:t>eu</a:t>
            </a:r>
            <a:endParaRPr lang="pt-BR" dirty="0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1CF95B-9AD6-17C3-B8E6-FD0DD338335E}"/>
              </a:ext>
            </a:extLst>
          </p:cNvPr>
          <p:cNvSpPr txBox="1"/>
          <p:nvPr/>
        </p:nvSpPr>
        <p:spPr>
          <a:xfrm>
            <a:off x="682464" y="3611281"/>
            <a:ext cx="1179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err="1">
                <a:latin typeface="Consolas" panose="020B0609020204030204" pitchFamily="49" charset="0"/>
              </a:rPr>
              <a:t>gosto</a:t>
            </a:r>
            <a:endParaRPr lang="pt-BR" dirty="0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64D4C9-49C1-4F10-64D7-44887BFCC373}"/>
              </a:ext>
            </a:extLst>
          </p:cNvPr>
          <p:cNvSpPr txBox="1"/>
          <p:nvPr/>
        </p:nvSpPr>
        <p:spPr>
          <a:xfrm>
            <a:off x="682464" y="4100577"/>
            <a:ext cx="1179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Consolas" panose="020B0609020204030204" pitchFamily="49" charset="0"/>
              </a:rPr>
              <a:t>de</a:t>
            </a:r>
            <a:endParaRPr lang="pt-BR" dirty="0"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939DC0-9F95-044B-D932-6EFC775D1F4E}"/>
              </a:ext>
            </a:extLst>
          </p:cNvPr>
          <p:cNvSpPr txBox="1"/>
          <p:nvPr/>
        </p:nvSpPr>
        <p:spPr>
          <a:xfrm>
            <a:off x="538628" y="4527870"/>
            <a:ext cx="1323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err="1">
                <a:latin typeface="Consolas" panose="020B0609020204030204" pitchFamily="49" charset="0"/>
              </a:rPr>
              <a:t>cachorro</a:t>
            </a:r>
            <a:endParaRPr lang="pt-BR" dirty="0">
              <a:latin typeface="Consolas" panose="020B0609020204030204" pitchFamily="49" charset="0"/>
            </a:endParaRPr>
          </a:p>
        </p:txBody>
      </p:sp>
      <p:sp>
        <p:nvSpPr>
          <p:cNvPr id="12" name="Right Brace 11">
            <a:extLst>
              <a:ext uri="{FF2B5EF4-FFF2-40B4-BE49-F238E27FC236}">
                <a16:creationId xmlns:a16="http://schemas.microsoft.com/office/drawing/2014/main" id="{02F128E3-DFAE-E45A-19D0-467C1A9172D8}"/>
              </a:ext>
            </a:extLst>
          </p:cNvPr>
          <p:cNvSpPr/>
          <p:nvPr/>
        </p:nvSpPr>
        <p:spPr>
          <a:xfrm>
            <a:off x="4428579" y="3201957"/>
            <a:ext cx="353273" cy="1672416"/>
          </a:xfrm>
          <a:prstGeom prst="righ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F784ABA3-BF78-0018-EC29-6498BE0ACA9C}"/>
              </a:ext>
            </a:extLst>
          </p:cNvPr>
          <p:cNvSpPr/>
          <p:nvPr/>
        </p:nvSpPr>
        <p:spPr>
          <a:xfrm rot="5400000">
            <a:off x="2959032" y="4029398"/>
            <a:ext cx="353273" cy="2264954"/>
          </a:xfrm>
          <a:prstGeom prst="righ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E8F1137-096A-C920-8E34-2475375F3BF1}"/>
                  </a:ext>
                </a:extLst>
              </p:cNvPr>
              <p:cNvSpPr txBox="1"/>
              <p:nvPr/>
            </p:nvSpPr>
            <p:spPr>
              <a:xfrm>
                <a:off x="2175035" y="5420973"/>
                <a:ext cx="192126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dirty="0"/>
                  <a:t>embedding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pt-BR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E8F1137-096A-C920-8E34-2475375F3B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5035" y="5420973"/>
                <a:ext cx="1921266" cy="369332"/>
              </a:xfrm>
              <a:prstGeom prst="rect">
                <a:avLst/>
              </a:prstGeom>
              <a:blipFill>
                <a:blip r:embed="rId2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01D9EDC-8A0D-C320-BD9C-7A7B8B8AEAF1}"/>
                  </a:ext>
                </a:extLst>
              </p:cNvPr>
              <p:cNvSpPr txBox="1"/>
              <p:nvPr/>
            </p:nvSpPr>
            <p:spPr>
              <a:xfrm>
                <a:off x="4779914" y="3777411"/>
                <a:ext cx="114043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sequence size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endParaRPr lang="pt-BR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01D9EDC-8A0D-C320-BD9C-7A7B8B8AEA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9914" y="3777411"/>
                <a:ext cx="1140433" cy="646331"/>
              </a:xfrm>
              <a:prstGeom prst="rect">
                <a:avLst/>
              </a:prstGeom>
              <a:blipFill>
                <a:blip r:embed="rId3"/>
                <a:stretch>
                  <a:fillRect l="-4278" t="-5660" r="-3743" b="-1415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Content Placeholder 4">
                <a:extLst>
                  <a:ext uri="{FF2B5EF4-FFF2-40B4-BE49-F238E27FC236}">
                    <a16:creationId xmlns:a16="http://schemas.microsoft.com/office/drawing/2014/main" id="{E188E0AA-D579-B592-1A22-0528A57C1B6E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554786643"/>
                  </p:ext>
                </p:extLst>
              </p:nvPr>
            </p:nvGraphicFramePr>
            <p:xfrm>
              <a:off x="8535369" y="3183988"/>
              <a:ext cx="2264955" cy="1672416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452991">
                      <a:extLst>
                        <a:ext uri="{9D8B030D-6E8A-4147-A177-3AD203B41FA5}">
                          <a16:colId xmlns:a16="http://schemas.microsoft.com/office/drawing/2014/main" val="1754369809"/>
                        </a:ext>
                      </a:extLst>
                    </a:gridCol>
                    <a:gridCol w="452991">
                      <a:extLst>
                        <a:ext uri="{9D8B030D-6E8A-4147-A177-3AD203B41FA5}">
                          <a16:colId xmlns:a16="http://schemas.microsoft.com/office/drawing/2014/main" val="431977746"/>
                        </a:ext>
                      </a:extLst>
                    </a:gridCol>
                    <a:gridCol w="452991">
                      <a:extLst>
                        <a:ext uri="{9D8B030D-6E8A-4147-A177-3AD203B41FA5}">
                          <a16:colId xmlns:a16="http://schemas.microsoft.com/office/drawing/2014/main" val="3885924545"/>
                        </a:ext>
                      </a:extLst>
                    </a:gridCol>
                    <a:gridCol w="452991">
                      <a:extLst>
                        <a:ext uri="{9D8B030D-6E8A-4147-A177-3AD203B41FA5}">
                          <a16:colId xmlns:a16="http://schemas.microsoft.com/office/drawing/2014/main" val="2997256886"/>
                        </a:ext>
                      </a:extLst>
                    </a:gridCol>
                    <a:gridCol w="452991">
                      <a:extLst>
                        <a:ext uri="{9D8B030D-6E8A-4147-A177-3AD203B41FA5}">
                          <a16:colId xmlns:a16="http://schemas.microsoft.com/office/drawing/2014/main" val="2036735232"/>
                        </a:ext>
                      </a:extLst>
                    </a:gridCol>
                  </a:tblGrid>
                  <a:tr h="418104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6777941"/>
                      </a:ext>
                    </a:extLst>
                  </a:tr>
                  <a:tr h="418104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06622212"/>
                      </a:ext>
                    </a:extLst>
                  </a:tr>
                  <a:tr h="418104">
                    <a:tc>
                      <a:txBody>
                        <a:bodyPr/>
                        <a:lstStyle/>
                        <a:p>
                          <a:pPr algn="r"/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2501922"/>
                      </a:ext>
                    </a:extLst>
                  </a:tr>
                  <a:tr h="418104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2204179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Content Placeholder 4">
                <a:extLst>
                  <a:ext uri="{FF2B5EF4-FFF2-40B4-BE49-F238E27FC236}">
                    <a16:creationId xmlns:a16="http://schemas.microsoft.com/office/drawing/2014/main" id="{E188E0AA-D579-B592-1A22-0528A57C1B6E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554786643"/>
                  </p:ext>
                </p:extLst>
              </p:nvPr>
            </p:nvGraphicFramePr>
            <p:xfrm>
              <a:off x="8535369" y="3183988"/>
              <a:ext cx="2264955" cy="1672416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452991">
                      <a:extLst>
                        <a:ext uri="{9D8B030D-6E8A-4147-A177-3AD203B41FA5}">
                          <a16:colId xmlns:a16="http://schemas.microsoft.com/office/drawing/2014/main" val="1754369809"/>
                        </a:ext>
                      </a:extLst>
                    </a:gridCol>
                    <a:gridCol w="452991">
                      <a:extLst>
                        <a:ext uri="{9D8B030D-6E8A-4147-A177-3AD203B41FA5}">
                          <a16:colId xmlns:a16="http://schemas.microsoft.com/office/drawing/2014/main" val="431977746"/>
                        </a:ext>
                      </a:extLst>
                    </a:gridCol>
                    <a:gridCol w="452991">
                      <a:extLst>
                        <a:ext uri="{9D8B030D-6E8A-4147-A177-3AD203B41FA5}">
                          <a16:colId xmlns:a16="http://schemas.microsoft.com/office/drawing/2014/main" val="3885924545"/>
                        </a:ext>
                      </a:extLst>
                    </a:gridCol>
                    <a:gridCol w="452991">
                      <a:extLst>
                        <a:ext uri="{9D8B030D-6E8A-4147-A177-3AD203B41FA5}">
                          <a16:colId xmlns:a16="http://schemas.microsoft.com/office/drawing/2014/main" val="2997256886"/>
                        </a:ext>
                      </a:extLst>
                    </a:gridCol>
                    <a:gridCol w="452991">
                      <a:extLst>
                        <a:ext uri="{9D8B030D-6E8A-4147-A177-3AD203B41FA5}">
                          <a16:colId xmlns:a16="http://schemas.microsoft.com/office/drawing/2014/main" val="2036735232"/>
                        </a:ext>
                      </a:extLst>
                    </a:gridCol>
                  </a:tblGrid>
                  <a:tr h="418104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351" t="-1449" r="-405405" b="-3014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1449" r="-300000" b="-3014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2703" t="-1449" r="-204054" b="-3014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98667" t="-1449" r="-101333" b="-3014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04054" t="-1449" r="-2703" b="-30144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6777941"/>
                      </a:ext>
                    </a:extLst>
                  </a:tr>
                  <a:tr h="418104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351" t="-101449" r="-405405" b="-2014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101449" r="-300000" b="-2014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2703" t="-101449" r="-204054" b="-2014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98667" t="-101449" r="-101333" b="-2014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04054" t="-101449" r="-2703" b="-20144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06622212"/>
                      </a:ext>
                    </a:extLst>
                  </a:tr>
                  <a:tr h="418104">
                    <a:tc>
                      <a:txBody>
                        <a:bodyPr/>
                        <a:lstStyle/>
                        <a:p>
                          <a:pPr algn="r"/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2501922"/>
                      </a:ext>
                    </a:extLst>
                  </a:tr>
                  <a:tr h="418104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351" t="-300000" r="-405405" b="-28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300000" r="-300000" b="-28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2703" t="-300000" r="-204054" b="-28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98667" t="-300000" r="-101333" b="-28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04054" t="-300000" r="-2703" b="-289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2204179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5DA963D1-F9BF-E96B-7239-FD1FC168E44F}"/>
              </a:ext>
            </a:extLst>
          </p:cNvPr>
          <p:cNvSpPr txBox="1"/>
          <p:nvPr/>
        </p:nvSpPr>
        <p:spPr>
          <a:xfrm>
            <a:off x="8610600" y="2626064"/>
            <a:ext cx="28437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/>
              <a:t>position matrix</a:t>
            </a:r>
            <a:endParaRPr lang="pt-BR" sz="2400" i="1" dirty="0"/>
          </a:p>
        </p:txBody>
      </p:sp>
      <p:graphicFrame>
        <p:nvGraphicFramePr>
          <p:cNvPr id="18" name="Content Placeholder 4">
            <a:extLst>
              <a:ext uri="{FF2B5EF4-FFF2-40B4-BE49-F238E27FC236}">
                <a16:creationId xmlns:a16="http://schemas.microsoft.com/office/drawing/2014/main" id="{4F4ED898-9556-4AE7-8E87-FBF9E636CD7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42947892"/>
              </p:ext>
            </p:extLst>
          </p:nvPr>
        </p:nvGraphicFramePr>
        <p:xfrm>
          <a:off x="6421605" y="3196684"/>
          <a:ext cx="452991" cy="167241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2991">
                  <a:extLst>
                    <a:ext uri="{9D8B030D-6E8A-4147-A177-3AD203B41FA5}">
                      <a16:colId xmlns:a16="http://schemas.microsoft.com/office/drawing/2014/main" val="1754369809"/>
                    </a:ext>
                  </a:extLst>
                </a:gridCol>
              </a:tblGrid>
              <a:tr h="41810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pt-B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6777941"/>
                  </a:ext>
                </a:extLst>
              </a:tr>
              <a:tr h="41810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pt-B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6622212"/>
                  </a:ext>
                </a:extLst>
              </a:tr>
              <a:tr h="41810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pt-B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2501922"/>
                  </a:ext>
                </a:extLst>
              </a:tr>
              <a:tr h="41810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pt-B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2041792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F675C8DD-F657-4ACA-15B9-8489F6C2EFFE}"/>
              </a:ext>
            </a:extLst>
          </p:cNvPr>
          <p:cNvSpPr txBox="1"/>
          <p:nvPr/>
        </p:nvSpPr>
        <p:spPr>
          <a:xfrm>
            <a:off x="5922285" y="2256733"/>
            <a:ext cx="24679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/>
              <a:t>position in sequence</a:t>
            </a:r>
            <a:endParaRPr lang="pt-BR" sz="2400" i="1" dirty="0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EA11F2EA-EECF-60C5-6F76-534050523E24}"/>
              </a:ext>
            </a:extLst>
          </p:cNvPr>
          <p:cNvSpPr/>
          <p:nvPr/>
        </p:nvSpPr>
        <p:spPr>
          <a:xfrm>
            <a:off x="5283110" y="3224787"/>
            <a:ext cx="645810" cy="369332"/>
          </a:xfrm>
          <a:prstGeom prst="rightArrow">
            <a:avLst>
              <a:gd name="adj1" fmla="val 27233"/>
              <a:gd name="adj2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D0100378-87C3-6D6A-5D14-35BEC7970CFD}"/>
              </a:ext>
            </a:extLst>
          </p:cNvPr>
          <p:cNvSpPr/>
          <p:nvPr/>
        </p:nvSpPr>
        <p:spPr>
          <a:xfrm>
            <a:off x="7446212" y="3183988"/>
            <a:ext cx="645810" cy="369332"/>
          </a:xfrm>
          <a:prstGeom prst="rightArrow">
            <a:avLst>
              <a:gd name="adj1" fmla="val 27233"/>
              <a:gd name="adj2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42292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8A917-AB4C-CD14-68E1-8A2D1C22B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8BE5F-C8F7-87B1-9228-73332EC32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Positional Encoding</a:t>
            </a:r>
            <a:endParaRPr lang="pt-BR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11FCA64-8A47-D00B-CA9B-D29574F498F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925167" y="2978668"/>
          <a:ext cx="2264955" cy="171398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2991">
                  <a:extLst>
                    <a:ext uri="{9D8B030D-6E8A-4147-A177-3AD203B41FA5}">
                      <a16:colId xmlns:a16="http://schemas.microsoft.com/office/drawing/2014/main" val="1754369809"/>
                    </a:ext>
                  </a:extLst>
                </a:gridCol>
                <a:gridCol w="452991">
                  <a:extLst>
                    <a:ext uri="{9D8B030D-6E8A-4147-A177-3AD203B41FA5}">
                      <a16:colId xmlns:a16="http://schemas.microsoft.com/office/drawing/2014/main" val="431977746"/>
                    </a:ext>
                  </a:extLst>
                </a:gridCol>
                <a:gridCol w="452991">
                  <a:extLst>
                    <a:ext uri="{9D8B030D-6E8A-4147-A177-3AD203B41FA5}">
                      <a16:colId xmlns:a16="http://schemas.microsoft.com/office/drawing/2014/main" val="3885924545"/>
                    </a:ext>
                  </a:extLst>
                </a:gridCol>
                <a:gridCol w="452991">
                  <a:extLst>
                    <a:ext uri="{9D8B030D-6E8A-4147-A177-3AD203B41FA5}">
                      <a16:colId xmlns:a16="http://schemas.microsoft.com/office/drawing/2014/main" val="2997256886"/>
                    </a:ext>
                  </a:extLst>
                </a:gridCol>
                <a:gridCol w="452991">
                  <a:extLst>
                    <a:ext uri="{9D8B030D-6E8A-4147-A177-3AD203B41FA5}">
                      <a16:colId xmlns:a16="http://schemas.microsoft.com/office/drawing/2014/main" val="2036735232"/>
                    </a:ext>
                  </a:extLst>
                </a:gridCol>
              </a:tblGrid>
              <a:tr h="428497">
                <a:tc>
                  <a:txBody>
                    <a:bodyPr/>
                    <a:lstStyle/>
                    <a:p>
                      <a:pPr algn="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6777941"/>
                  </a:ext>
                </a:extLst>
              </a:tr>
              <a:tr h="428497">
                <a:tc>
                  <a:txBody>
                    <a:bodyPr/>
                    <a:lstStyle/>
                    <a:p>
                      <a:pPr algn="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6622212"/>
                  </a:ext>
                </a:extLst>
              </a:tr>
              <a:tr h="428497">
                <a:tc>
                  <a:txBody>
                    <a:bodyPr/>
                    <a:lstStyle/>
                    <a:p>
                      <a:pPr algn="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2501922"/>
                  </a:ext>
                </a:extLst>
              </a:tr>
              <a:tr h="428497">
                <a:tc>
                  <a:txBody>
                    <a:bodyPr/>
                    <a:lstStyle/>
                    <a:p>
                      <a:pPr algn="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2041792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B927E2-D29C-FAAB-655A-210CC049E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10</a:t>
            </a:fld>
            <a:endParaRPr lang="pt-B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822C5A-B4AD-296A-AF77-3E500C9050E8}"/>
              </a:ext>
            </a:extLst>
          </p:cNvPr>
          <p:cNvSpPr txBox="1"/>
          <p:nvPr/>
        </p:nvSpPr>
        <p:spPr>
          <a:xfrm>
            <a:off x="1925167" y="2466853"/>
            <a:ext cx="2467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/>
              <a:t>word embeddings</a:t>
            </a:r>
            <a:endParaRPr lang="pt-BR" sz="2400" i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0C79E4-F3ED-DEA9-6794-75EE1EAF85D6}"/>
              </a:ext>
            </a:extLst>
          </p:cNvPr>
          <p:cNvSpPr txBox="1"/>
          <p:nvPr/>
        </p:nvSpPr>
        <p:spPr>
          <a:xfrm>
            <a:off x="604440" y="2973867"/>
            <a:ext cx="1179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err="1">
                <a:latin typeface="Consolas" panose="020B0609020204030204" pitchFamily="49" charset="0"/>
              </a:rPr>
              <a:t>eu</a:t>
            </a:r>
            <a:endParaRPr lang="pt-BR" dirty="0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F003AC-9C1F-579D-6F7B-FD72333E9E63}"/>
              </a:ext>
            </a:extLst>
          </p:cNvPr>
          <p:cNvSpPr txBox="1"/>
          <p:nvPr/>
        </p:nvSpPr>
        <p:spPr>
          <a:xfrm>
            <a:off x="604440" y="3401160"/>
            <a:ext cx="1179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err="1">
                <a:latin typeface="Consolas" panose="020B0609020204030204" pitchFamily="49" charset="0"/>
              </a:rPr>
              <a:t>gosto</a:t>
            </a:r>
            <a:endParaRPr lang="pt-BR" dirty="0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E67D04-03B4-58FD-CD3B-8BF103178B83}"/>
              </a:ext>
            </a:extLst>
          </p:cNvPr>
          <p:cNvSpPr txBox="1"/>
          <p:nvPr/>
        </p:nvSpPr>
        <p:spPr>
          <a:xfrm>
            <a:off x="604440" y="3890456"/>
            <a:ext cx="1179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Consolas" panose="020B0609020204030204" pitchFamily="49" charset="0"/>
              </a:rPr>
              <a:t>de</a:t>
            </a:r>
            <a:endParaRPr lang="pt-BR" dirty="0"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ABA33B-1284-BBD9-893E-F1E8C534AA78}"/>
              </a:ext>
            </a:extLst>
          </p:cNvPr>
          <p:cNvSpPr txBox="1"/>
          <p:nvPr/>
        </p:nvSpPr>
        <p:spPr>
          <a:xfrm>
            <a:off x="460604" y="4317749"/>
            <a:ext cx="1323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err="1">
                <a:latin typeface="Consolas" panose="020B0609020204030204" pitchFamily="49" charset="0"/>
              </a:rPr>
              <a:t>cachorro</a:t>
            </a:r>
            <a:endParaRPr lang="pt-BR" dirty="0">
              <a:latin typeface="Consolas" panose="020B0609020204030204" pitchFamily="49" charset="0"/>
            </a:endParaRPr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4310D86D-2B56-3B1D-832B-B7197CD45907}"/>
              </a:ext>
            </a:extLst>
          </p:cNvPr>
          <p:cNvSpPr/>
          <p:nvPr/>
        </p:nvSpPr>
        <p:spPr>
          <a:xfrm rot="5400000">
            <a:off x="2881008" y="3819277"/>
            <a:ext cx="353273" cy="2264954"/>
          </a:xfrm>
          <a:prstGeom prst="righ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5A9113A-3263-65E2-1D7F-87E27575B936}"/>
                  </a:ext>
                </a:extLst>
              </p:cNvPr>
              <p:cNvSpPr txBox="1"/>
              <p:nvPr/>
            </p:nvSpPr>
            <p:spPr>
              <a:xfrm>
                <a:off x="2097011" y="5210852"/>
                <a:ext cx="192126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dirty="0"/>
                  <a:t>embedding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pt-BR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5A9113A-3263-65E2-1D7F-87E27575B9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7011" y="5210852"/>
                <a:ext cx="1921266" cy="369332"/>
              </a:xfrm>
              <a:prstGeom prst="rect">
                <a:avLst/>
              </a:prstGeom>
              <a:blipFill>
                <a:blip r:embed="rId2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Content Placeholder 4">
                <a:extLst>
                  <a:ext uri="{FF2B5EF4-FFF2-40B4-BE49-F238E27FC236}">
                    <a16:creationId xmlns:a16="http://schemas.microsoft.com/office/drawing/2014/main" id="{4408F63D-324A-B299-31CF-FDB6564FECBF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5013407" y="2973867"/>
              <a:ext cx="2264955" cy="1713216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452991">
                      <a:extLst>
                        <a:ext uri="{9D8B030D-6E8A-4147-A177-3AD203B41FA5}">
                          <a16:colId xmlns:a16="http://schemas.microsoft.com/office/drawing/2014/main" val="1754369809"/>
                        </a:ext>
                      </a:extLst>
                    </a:gridCol>
                    <a:gridCol w="452991">
                      <a:extLst>
                        <a:ext uri="{9D8B030D-6E8A-4147-A177-3AD203B41FA5}">
                          <a16:colId xmlns:a16="http://schemas.microsoft.com/office/drawing/2014/main" val="431977746"/>
                        </a:ext>
                      </a:extLst>
                    </a:gridCol>
                    <a:gridCol w="452991">
                      <a:extLst>
                        <a:ext uri="{9D8B030D-6E8A-4147-A177-3AD203B41FA5}">
                          <a16:colId xmlns:a16="http://schemas.microsoft.com/office/drawing/2014/main" val="3885924545"/>
                        </a:ext>
                      </a:extLst>
                    </a:gridCol>
                    <a:gridCol w="452991">
                      <a:extLst>
                        <a:ext uri="{9D8B030D-6E8A-4147-A177-3AD203B41FA5}">
                          <a16:colId xmlns:a16="http://schemas.microsoft.com/office/drawing/2014/main" val="2997256886"/>
                        </a:ext>
                      </a:extLst>
                    </a:gridCol>
                    <a:gridCol w="452991">
                      <a:extLst>
                        <a:ext uri="{9D8B030D-6E8A-4147-A177-3AD203B41FA5}">
                          <a16:colId xmlns:a16="http://schemas.microsoft.com/office/drawing/2014/main" val="2036735232"/>
                        </a:ext>
                      </a:extLst>
                    </a:gridCol>
                  </a:tblGrid>
                  <a:tr h="428304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6777941"/>
                      </a:ext>
                    </a:extLst>
                  </a:tr>
                  <a:tr h="428304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06622212"/>
                      </a:ext>
                    </a:extLst>
                  </a:tr>
                  <a:tr h="428304">
                    <a:tc>
                      <a:txBody>
                        <a:bodyPr/>
                        <a:lstStyle/>
                        <a:p>
                          <a:pPr algn="r"/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2501922"/>
                      </a:ext>
                    </a:extLst>
                  </a:tr>
                  <a:tr h="428304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2204179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Content Placeholder 4">
                <a:extLst>
                  <a:ext uri="{FF2B5EF4-FFF2-40B4-BE49-F238E27FC236}">
                    <a16:creationId xmlns:a16="http://schemas.microsoft.com/office/drawing/2014/main" id="{4408F63D-324A-B299-31CF-FDB6564FECBF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5013407" y="2973867"/>
              <a:ext cx="2264955" cy="1713216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452991">
                      <a:extLst>
                        <a:ext uri="{9D8B030D-6E8A-4147-A177-3AD203B41FA5}">
                          <a16:colId xmlns:a16="http://schemas.microsoft.com/office/drawing/2014/main" val="1754369809"/>
                        </a:ext>
                      </a:extLst>
                    </a:gridCol>
                    <a:gridCol w="452991">
                      <a:extLst>
                        <a:ext uri="{9D8B030D-6E8A-4147-A177-3AD203B41FA5}">
                          <a16:colId xmlns:a16="http://schemas.microsoft.com/office/drawing/2014/main" val="431977746"/>
                        </a:ext>
                      </a:extLst>
                    </a:gridCol>
                    <a:gridCol w="452991">
                      <a:extLst>
                        <a:ext uri="{9D8B030D-6E8A-4147-A177-3AD203B41FA5}">
                          <a16:colId xmlns:a16="http://schemas.microsoft.com/office/drawing/2014/main" val="3885924545"/>
                        </a:ext>
                      </a:extLst>
                    </a:gridCol>
                    <a:gridCol w="452991">
                      <a:extLst>
                        <a:ext uri="{9D8B030D-6E8A-4147-A177-3AD203B41FA5}">
                          <a16:colId xmlns:a16="http://schemas.microsoft.com/office/drawing/2014/main" val="2997256886"/>
                        </a:ext>
                      </a:extLst>
                    </a:gridCol>
                    <a:gridCol w="452991">
                      <a:extLst>
                        <a:ext uri="{9D8B030D-6E8A-4147-A177-3AD203B41FA5}">
                          <a16:colId xmlns:a16="http://schemas.microsoft.com/office/drawing/2014/main" val="2036735232"/>
                        </a:ext>
                      </a:extLst>
                    </a:gridCol>
                  </a:tblGrid>
                  <a:tr h="428304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351" t="-1408" r="-406757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1408" r="-301333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2703" t="-1408" r="-205405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98667" t="-1408" r="-102667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4054" t="-1408" r="-4054" b="-3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6777941"/>
                      </a:ext>
                    </a:extLst>
                  </a:tr>
                  <a:tr h="428304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351" t="-102857" r="-406757" b="-20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102857" r="-301333" b="-20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2703" t="-102857" r="-205405" b="-20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98667" t="-102857" r="-102667" b="-20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4054" t="-102857" r="-4054" b="-2042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06622212"/>
                      </a:ext>
                    </a:extLst>
                  </a:tr>
                  <a:tr h="428304">
                    <a:tc>
                      <a:txBody>
                        <a:bodyPr/>
                        <a:lstStyle/>
                        <a:p>
                          <a:pPr algn="r"/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pt-BR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2501922"/>
                      </a:ext>
                    </a:extLst>
                  </a:tr>
                  <a:tr h="428304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351" t="-304286" r="-406757" b="-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304286" r="-301333" b="-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2703" t="-304286" r="-205405" b="-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98667" t="-304286" r="-102667" b="-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4054" t="-304286" r="-4054" b="-28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2204179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C5D93558-93B9-5848-42E7-B1C15556C3CB}"/>
              </a:ext>
            </a:extLst>
          </p:cNvPr>
          <p:cNvSpPr txBox="1"/>
          <p:nvPr/>
        </p:nvSpPr>
        <p:spPr>
          <a:xfrm>
            <a:off x="5158710" y="2466853"/>
            <a:ext cx="21391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/>
              <a:t>position matrix</a:t>
            </a:r>
            <a:endParaRPr lang="pt-BR" sz="2400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73B7149-7F93-2361-C03A-E4523CC046DA}"/>
                  </a:ext>
                </a:extLst>
              </p:cNvPr>
              <p:cNvSpPr txBox="1"/>
              <p:nvPr/>
            </p:nvSpPr>
            <p:spPr>
              <a:xfrm>
                <a:off x="4018277" y="3348892"/>
                <a:ext cx="1140433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i="1" dirty="0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pt-BR" sz="5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73B7149-7F93-2361-C03A-E4523CC046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8277" y="3348892"/>
                <a:ext cx="1140433" cy="9233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ight Brace 5">
            <a:extLst>
              <a:ext uri="{FF2B5EF4-FFF2-40B4-BE49-F238E27FC236}">
                <a16:creationId xmlns:a16="http://schemas.microsoft.com/office/drawing/2014/main" id="{F1CBC7F7-F10D-F10C-856B-ED012B744552}"/>
              </a:ext>
            </a:extLst>
          </p:cNvPr>
          <p:cNvSpPr/>
          <p:nvPr/>
        </p:nvSpPr>
        <p:spPr>
          <a:xfrm rot="5400000">
            <a:off x="5969248" y="3887684"/>
            <a:ext cx="353273" cy="2264954"/>
          </a:xfrm>
          <a:prstGeom prst="righ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A20B56F-BF9B-645D-A932-E131865821CB}"/>
                  </a:ext>
                </a:extLst>
              </p:cNvPr>
              <p:cNvSpPr txBox="1"/>
              <p:nvPr/>
            </p:nvSpPr>
            <p:spPr>
              <a:xfrm>
                <a:off x="5185251" y="5210852"/>
                <a:ext cx="192126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dirty="0"/>
                  <a:t>embedding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pt-BR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A20B56F-BF9B-645D-A932-E131865821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5251" y="5210852"/>
                <a:ext cx="1921266" cy="369332"/>
              </a:xfrm>
              <a:prstGeom prst="rect">
                <a:avLst/>
              </a:prstGeom>
              <a:blipFill>
                <a:blip r:embed="rId5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87E582F-8082-9D46-A3B9-2A02A764862E}"/>
                  </a:ext>
                </a:extLst>
              </p:cNvPr>
              <p:cNvSpPr txBox="1"/>
              <p:nvPr/>
            </p:nvSpPr>
            <p:spPr>
              <a:xfrm>
                <a:off x="7247999" y="3336458"/>
                <a:ext cx="1140433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pt-BR" sz="54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87E582F-8082-9D46-A3B9-2A02A76486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7999" y="3336458"/>
                <a:ext cx="1140433" cy="92333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4" name="Content Placeholder 4">
            <a:extLst>
              <a:ext uri="{FF2B5EF4-FFF2-40B4-BE49-F238E27FC236}">
                <a16:creationId xmlns:a16="http://schemas.microsoft.com/office/drawing/2014/main" id="{4F1754F9-53AB-EA49-B434-14CEFB2B9098}"/>
              </a:ext>
            </a:extLst>
          </p:cNvPr>
          <p:cNvGraphicFramePr>
            <a:graphicFrameLocks/>
          </p:cNvGraphicFramePr>
          <p:nvPr/>
        </p:nvGraphicFramePr>
        <p:xfrm>
          <a:off x="8388432" y="2973867"/>
          <a:ext cx="2264955" cy="171398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2991">
                  <a:extLst>
                    <a:ext uri="{9D8B030D-6E8A-4147-A177-3AD203B41FA5}">
                      <a16:colId xmlns:a16="http://schemas.microsoft.com/office/drawing/2014/main" val="1754369809"/>
                    </a:ext>
                  </a:extLst>
                </a:gridCol>
                <a:gridCol w="452991">
                  <a:extLst>
                    <a:ext uri="{9D8B030D-6E8A-4147-A177-3AD203B41FA5}">
                      <a16:colId xmlns:a16="http://schemas.microsoft.com/office/drawing/2014/main" val="431977746"/>
                    </a:ext>
                  </a:extLst>
                </a:gridCol>
                <a:gridCol w="452991">
                  <a:extLst>
                    <a:ext uri="{9D8B030D-6E8A-4147-A177-3AD203B41FA5}">
                      <a16:colId xmlns:a16="http://schemas.microsoft.com/office/drawing/2014/main" val="3885924545"/>
                    </a:ext>
                  </a:extLst>
                </a:gridCol>
                <a:gridCol w="452991">
                  <a:extLst>
                    <a:ext uri="{9D8B030D-6E8A-4147-A177-3AD203B41FA5}">
                      <a16:colId xmlns:a16="http://schemas.microsoft.com/office/drawing/2014/main" val="2997256886"/>
                    </a:ext>
                  </a:extLst>
                </a:gridCol>
                <a:gridCol w="452991">
                  <a:extLst>
                    <a:ext uri="{9D8B030D-6E8A-4147-A177-3AD203B41FA5}">
                      <a16:colId xmlns:a16="http://schemas.microsoft.com/office/drawing/2014/main" val="2036735232"/>
                    </a:ext>
                  </a:extLst>
                </a:gridCol>
              </a:tblGrid>
              <a:tr h="428497">
                <a:tc>
                  <a:txBody>
                    <a:bodyPr/>
                    <a:lstStyle/>
                    <a:p>
                      <a:pPr algn="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B9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B9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B9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B9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B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6777941"/>
                  </a:ext>
                </a:extLst>
              </a:tr>
              <a:tr h="428497">
                <a:tc>
                  <a:txBody>
                    <a:bodyPr/>
                    <a:lstStyle/>
                    <a:p>
                      <a:pPr algn="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B9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B9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B9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B9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B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6622212"/>
                  </a:ext>
                </a:extLst>
              </a:tr>
              <a:tr h="428497">
                <a:tc>
                  <a:txBody>
                    <a:bodyPr/>
                    <a:lstStyle/>
                    <a:p>
                      <a:pPr algn="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B9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B9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B9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B9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B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2501922"/>
                  </a:ext>
                </a:extLst>
              </a:tr>
              <a:tr h="428497">
                <a:tc>
                  <a:txBody>
                    <a:bodyPr/>
                    <a:lstStyle/>
                    <a:p>
                      <a:pPr algn="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B9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B9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B9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B9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B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2041792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7C32DFB4-BAB1-2C16-1372-DC1AF603F988}"/>
              </a:ext>
            </a:extLst>
          </p:cNvPr>
          <p:cNvSpPr txBox="1"/>
          <p:nvPr/>
        </p:nvSpPr>
        <p:spPr>
          <a:xfrm>
            <a:off x="8244135" y="2466853"/>
            <a:ext cx="255354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i="1" dirty="0"/>
              <a:t>positional embeddings</a:t>
            </a:r>
            <a:endParaRPr lang="pt-BR" sz="2000" i="1" dirty="0"/>
          </a:p>
        </p:txBody>
      </p:sp>
    </p:spTree>
    <p:extLst>
      <p:ext uri="{BB962C8B-B14F-4D97-AF65-F5344CB8AC3E}">
        <p14:creationId xmlns:p14="http://schemas.microsoft.com/office/powerpoint/2010/main" val="29970677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FE8F8-D603-5BDD-8493-28FBFA0BF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024CF-4B25-03CA-7C16-7C4BB69FE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Positional Encoding</a:t>
            </a:r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C7C207-BB9C-3DBF-C4D5-396217AF9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11</a:t>
            </a:fld>
            <a:endParaRPr lang="pt-BR"/>
          </a:p>
        </p:txBody>
      </p:sp>
      <p:sp>
        <p:nvSpPr>
          <p:cNvPr id="28" name="Content Placeholder 27">
            <a:extLst>
              <a:ext uri="{FF2B5EF4-FFF2-40B4-BE49-F238E27FC236}">
                <a16:creationId xmlns:a16="http://schemas.microsoft.com/office/drawing/2014/main" id="{5F2AF3B8-18E4-772B-08A2-114760E1A1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Precisamos encontrar uma matriz de posições que codifique de maneira adequada as posições </a:t>
            </a:r>
            <a:r>
              <a:rPr lang="pt-BR" dirty="0">
                <a:solidFill>
                  <a:srgbClr val="00B0F0"/>
                </a:solidFill>
              </a:rPr>
              <a:t>absolutas</a:t>
            </a:r>
            <a:r>
              <a:rPr lang="pt-BR" dirty="0"/>
              <a:t> e </a:t>
            </a:r>
            <a:r>
              <a:rPr lang="pt-BR" dirty="0">
                <a:solidFill>
                  <a:srgbClr val="00B0F0"/>
                </a:solidFill>
              </a:rPr>
              <a:t>relativas</a:t>
            </a:r>
            <a:r>
              <a:rPr lang="pt-BR" dirty="0"/>
              <a:t> de </a:t>
            </a:r>
            <a:r>
              <a:rPr lang="pt-BR" i="1" dirty="0">
                <a:solidFill>
                  <a:srgbClr val="FF0000"/>
                </a:solidFill>
              </a:rPr>
              <a:t>tokens</a:t>
            </a:r>
            <a:r>
              <a:rPr lang="pt-BR" dirty="0"/>
              <a:t> em uma sequência</a:t>
            </a:r>
          </a:p>
          <a:p>
            <a:pPr lvl="1"/>
            <a:r>
              <a:rPr lang="pt-BR" dirty="0"/>
              <a:t>Queremos ter uma codificação única para cada posição</a:t>
            </a:r>
          </a:p>
          <a:p>
            <a:pPr lvl="1"/>
            <a:r>
              <a:rPr lang="pt-BR" dirty="0"/>
              <a:t>A distância entre quaisquer dois pontos da sequência deve ser consistente entre sequências de diferentes tamanhos</a:t>
            </a:r>
          </a:p>
          <a:p>
            <a:pPr lvl="1"/>
            <a:r>
              <a:rPr lang="pt-BR" dirty="0"/>
              <a:t>Devemos conseguir generalizar para sequências de tamanhos quaisquer</a:t>
            </a:r>
          </a:p>
          <a:p>
            <a:pPr lvl="2"/>
            <a:r>
              <a:rPr lang="pt-BR" dirty="0"/>
              <a:t>A codificação deve possuir valores com limite superior e inferior bem definidos</a:t>
            </a:r>
          </a:p>
          <a:p>
            <a:pPr lvl="1"/>
            <a:r>
              <a:rPr lang="pt-BR" dirty="0"/>
              <a:t>Precisa ser determinística</a:t>
            </a:r>
          </a:p>
        </p:txBody>
      </p:sp>
    </p:spTree>
    <p:extLst>
      <p:ext uri="{BB962C8B-B14F-4D97-AF65-F5344CB8AC3E}">
        <p14:creationId xmlns:p14="http://schemas.microsoft.com/office/powerpoint/2010/main" val="30377532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EBA10-9273-233D-81B9-09C126351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232AB-6842-346E-306E-EE3939C6C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Positional Encoding</a:t>
            </a:r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F1DD14-31A7-6F7B-8C46-E367872FB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12</a:t>
            </a:fld>
            <a:endParaRPr lang="pt-BR"/>
          </a:p>
        </p:txBody>
      </p:sp>
      <p:sp>
        <p:nvSpPr>
          <p:cNvPr id="28" name="Content Placeholder 27">
            <a:extLst>
              <a:ext uri="{FF2B5EF4-FFF2-40B4-BE49-F238E27FC236}">
                <a16:creationId xmlns:a16="http://schemas.microsoft.com/office/drawing/2014/main" id="{E2A401A4-40B3-1350-53C6-F483A03847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Ideia 1 </a:t>
            </a:r>
          </a:p>
          <a:p>
            <a:pPr lvl="1"/>
            <a:r>
              <a:rPr lang="pt-BR" dirty="0"/>
              <a:t>Vamos usar o número do índice</a:t>
            </a:r>
          </a:p>
          <a:p>
            <a:pPr lvl="1"/>
            <a:r>
              <a:rPr lang="pt-BR" dirty="0"/>
              <a:t>Problema, não tem limite superior definido</a:t>
            </a:r>
          </a:p>
          <a:p>
            <a:pPr lvl="2"/>
            <a:r>
              <a:rPr lang="pt-BR" dirty="0"/>
              <a:t>Ou seja, não funciona</a:t>
            </a:r>
          </a:p>
        </p:txBody>
      </p:sp>
    </p:spTree>
    <p:extLst>
      <p:ext uri="{BB962C8B-B14F-4D97-AF65-F5344CB8AC3E}">
        <p14:creationId xmlns:p14="http://schemas.microsoft.com/office/powerpoint/2010/main" val="29869833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06AE4-6907-24F2-28E5-083707D9F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C18CE-C447-791F-802B-08A3681B2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Positional Encoding</a:t>
            </a:r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0018A4-A070-B60E-1990-C94B8EDA7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13</a:t>
            </a:fld>
            <a:endParaRPr lang="pt-BR"/>
          </a:p>
        </p:txBody>
      </p:sp>
      <p:sp>
        <p:nvSpPr>
          <p:cNvPr id="28" name="Content Placeholder 27">
            <a:extLst>
              <a:ext uri="{FF2B5EF4-FFF2-40B4-BE49-F238E27FC236}">
                <a16:creationId xmlns:a16="http://schemas.microsoft.com/office/drawing/2014/main" id="{EEC3D111-FDE0-D422-FBD0-7EBF927B87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467600" cy="4351338"/>
          </a:xfrm>
        </p:spPr>
        <p:txBody>
          <a:bodyPr/>
          <a:lstStyle/>
          <a:p>
            <a:r>
              <a:rPr lang="pt-BR" dirty="0"/>
              <a:t>Ideia 2 </a:t>
            </a:r>
          </a:p>
          <a:p>
            <a:pPr lvl="1"/>
            <a:r>
              <a:rPr lang="pt-BR" dirty="0"/>
              <a:t>Vamos usar números binários</a:t>
            </a:r>
          </a:p>
          <a:p>
            <a:pPr lvl="1"/>
            <a:r>
              <a:rPr lang="pt-BR" dirty="0"/>
              <a:t>Repare que existe um comportamento periódico nos números binários que codifica a posição na sequência</a:t>
            </a:r>
          </a:p>
          <a:p>
            <a:pPr lvl="1"/>
            <a:r>
              <a:rPr lang="pt-BR" dirty="0"/>
              <a:t>Problema, redes neurais usam inerentemente matemática contínua</a:t>
            </a:r>
          </a:p>
          <a:p>
            <a:pPr lvl="2"/>
            <a:r>
              <a:rPr lang="pt-BR" dirty="0"/>
              <a:t>O que acontece se tentarmos interpolar distâncias entre pontos adjacentes, as distâncias são as mesmas??</a:t>
            </a:r>
          </a:p>
          <a:p>
            <a:pPr lvl="2"/>
            <a:r>
              <a:rPr lang="pt-BR" dirty="0"/>
              <a:t>Também não funciona </a:t>
            </a:r>
            <a:r>
              <a:rPr lang="pt-BR" dirty="0">
                <a:sym typeface="Wingdings" panose="05000000000000000000" pitchFamily="2" charset="2"/>
              </a:rPr>
              <a:t></a:t>
            </a:r>
            <a:endParaRPr lang="pt-BR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D2049BE-8899-6455-170E-ED6C807BDF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0600" y="75732"/>
            <a:ext cx="2076740" cy="335326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B719234-8B09-198B-410D-C8116738C8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337" y="3454400"/>
            <a:ext cx="2172003" cy="3248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3193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1D0D1-0C55-803B-CC18-ECAEBD114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C6A09-B9AB-B7AB-6FFA-62CA850C3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Positional Encoding</a:t>
            </a:r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BC1FF0-3DAA-02D2-97AD-25FAFD8A3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14</a:t>
            </a:fld>
            <a:endParaRPr lang="pt-BR"/>
          </a:p>
        </p:txBody>
      </p:sp>
      <p:sp>
        <p:nvSpPr>
          <p:cNvPr id="28" name="Content Placeholder 27">
            <a:extLst>
              <a:ext uri="{FF2B5EF4-FFF2-40B4-BE49-F238E27FC236}">
                <a16:creationId xmlns:a16="http://schemas.microsoft.com/office/drawing/2014/main" id="{881A02E2-6F1A-CBC8-DF6E-953E0322C3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pt-BR" dirty="0"/>
              <a:t>Ideia 3</a:t>
            </a:r>
          </a:p>
          <a:p>
            <a:pPr lvl="1"/>
            <a:r>
              <a:rPr lang="pt-BR" dirty="0"/>
              <a:t>Usar uma combinação de senos e cossenos de diferentes frequências para indicar a posição do token na sequência</a:t>
            </a:r>
          </a:p>
          <a:p>
            <a:pPr lvl="1"/>
            <a:r>
              <a:rPr lang="pt-BR" dirty="0"/>
              <a:t>Possuem limite máximo e mínimo bem definidos</a:t>
            </a:r>
          </a:p>
          <a:p>
            <a:pPr lvl="1"/>
            <a:r>
              <a:rPr lang="pt-BR" dirty="0"/>
              <a:t>Podem ter sua posição (ângulo) modificada por uma transformação linear</a:t>
            </a:r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r>
              <a:rPr lang="pt-BR" dirty="0"/>
              <a:t>Possuem as características de distância que queremos observar</a:t>
            </a:r>
          </a:p>
          <a:p>
            <a:pPr lvl="1"/>
            <a:endParaRPr lang="pt-B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6195AC-6D56-7795-0C64-5F2CED00DA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2474" y="3848031"/>
            <a:ext cx="6811326" cy="990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3565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6CCD3-D75E-C6A1-53FA-877413BE1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62757-A4FD-B50C-35C2-E6A49002B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Positional Encoding</a:t>
            </a:r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137BAF-33EA-192F-E88B-6B6CF2561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15</a:t>
            </a:fld>
            <a:endParaRPr lang="pt-BR"/>
          </a:p>
        </p:txBody>
      </p:sp>
      <p:sp>
        <p:nvSpPr>
          <p:cNvPr id="28" name="Content Placeholder 27">
            <a:extLst>
              <a:ext uri="{FF2B5EF4-FFF2-40B4-BE49-F238E27FC236}">
                <a16:creationId xmlns:a16="http://schemas.microsoft.com/office/drawing/2014/main" id="{BE6AD7F4-4C98-FA32-FDCB-8F4A934A2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pt-BR" dirty="0"/>
              <a:t>Ideia 3</a:t>
            </a:r>
          </a:p>
          <a:p>
            <a:pPr lvl="1"/>
            <a:r>
              <a:rPr lang="pt-BR" dirty="0"/>
              <a:t>E uma característica bônus interessante é o comportamento do produto escalar de uma posição com as posições próximas</a:t>
            </a:r>
          </a:p>
          <a:p>
            <a:pPr lvl="1"/>
            <a:endParaRPr lang="pt-BR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D6E7161-7745-D037-711A-3434CD8547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000" y="3171984"/>
            <a:ext cx="5435600" cy="3686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59189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6B7DB-A7A5-D711-4F4F-EF868F43C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9F4F1-53D4-2550-ECB0-26BD2FF3A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Positional Encoding</a:t>
            </a:r>
            <a:endParaRPr lang="pt-BR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F529A5B-BB9E-8CFF-BDB5-918E2DA68E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8227161"/>
              </p:ext>
            </p:extLst>
          </p:nvPr>
        </p:nvGraphicFramePr>
        <p:xfrm>
          <a:off x="1252969" y="4433252"/>
          <a:ext cx="2398098" cy="171398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9683">
                  <a:extLst>
                    <a:ext uri="{9D8B030D-6E8A-4147-A177-3AD203B41FA5}">
                      <a16:colId xmlns:a16="http://schemas.microsoft.com/office/drawing/2014/main" val="1754369809"/>
                    </a:ext>
                  </a:extLst>
                </a:gridCol>
                <a:gridCol w="399683">
                  <a:extLst>
                    <a:ext uri="{9D8B030D-6E8A-4147-A177-3AD203B41FA5}">
                      <a16:colId xmlns:a16="http://schemas.microsoft.com/office/drawing/2014/main" val="431977746"/>
                    </a:ext>
                  </a:extLst>
                </a:gridCol>
                <a:gridCol w="399683">
                  <a:extLst>
                    <a:ext uri="{9D8B030D-6E8A-4147-A177-3AD203B41FA5}">
                      <a16:colId xmlns:a16="http://schemas.microsoft.com/office/drawing/2014/main" val="3885924545"/>
                    </a:ext>
                  </a:extLst>
                </a:gridCol>
                <a:gridCol w="399683">
                  <a:extLst>
                    <a:ext uri="{9D8B030D-6E8A-4147-A177-3AD203B41FA5}">
                      <a16:colId xmlns:a16="http://schemas.microsoft.com/office/drawing/2014/main" val="2997256886"/>
                    </a:ext>
                  </a:extLst>
                </a:gridCol>
                <a:gridCol w="399683">
                  <a:extLst>
                    <a:ext uri="{9D8B030D-6E8A-4147-A177-3AD203B41FA5}">
                      <a16:colId xmlns:a16="http://schemas.microsoft.com/office/drawing/2014/main" val="2036735232"/>
                    </a:ext>
                  </a:extLst>
                </a:gridCol>
                <a:gridCol w="399683">
                  <a:extLst>
                    <a:ext uri="{9D8B030D-6E8A-4147-A177-3AD203B41FA5}">
                      <a16:colId xmlns:a16="http://schemas.microsoft.com/office/drawing/2014/main" val="381313906"/>
                    </a:ext>
                  </a:extLst>
                </a:gridCol>
              </a:tblGrid>
              <a:tr h="428497">
                <a:tc>
                  <a:txBody>
                    <a:bodyPr/>
                    <a:lstStyle/>
                    <a:p>
                      <a:pPr algn="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6777941"/>
                  </a:ext>
                </a:extLst>
              </a:tr>
              <a:tr h="428497">
                <a:tc>
                  <a:txBody>
                    <a:bodyPr/>
                    <a:lstStyle/>
                    <a:p>
                      <a:pPr algn="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6622212"/>
                  </a:ext>
                </a:extLst>
              </a:tr>
              <a:tr h="428497">
                <a:tc>
                  <a:txBody>
                    <a:bodyPr/>
                    <a:lstStyle/>
                    <a:p>
                      <a:pPr algn="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2501922"/>
                  </a:ext>
                </a:extLst>
              </a:tr>
              <a:tr h="428497">
                <a:tc>
                  <a:txBody>
                    <a:bodyPr/>
                    <a:lstStyle/>
                    <a:p>
                      <a:pPr algn="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2041792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B11812-7762-AF84-B61B-1185C9F09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16</a:t>
            </a:fld>
            <a:endParaRPr lang="pt-B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D9CD30-4E6F-A58E-C13F-041CAFE52EEF}"/>
              </a:ext>
            </a:extLst>
          </p:cNvPr>
          <p:cNvSpPr txBox="1"/>
          <p:nvPr/>
        </p:nvSpPr>
        <p:spPr>
          <a:xfrm>
            <a:off x="1211874" y="3931499"/>
            <a:ext cx="24927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/>
              <a:t>word embeddings</a:t>
            </a:r>
            <a:endParaRPr lang="pt-BR" sz="2400" i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B69A1D-830E-4390-9350-C2EAAA7A47EE}"/>
              </a:ext>
            </a:extLst>
          </p:cNvPr>
          <p:cNvSpPr txBox="1"/>
          <p:nvPr/>
        </p:nvSpPr>
        <p:spPr>
          <a:xfrm>
            <a:off x="-67757" y="4428451"/>
            <a:ext cx="1179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err="1">
                <a:latin typeface="Consolas" panose="020B0609020204030204" pitchFamily="49" charset="0"/>
              </a:rPr>
              <a:t>eu</a:t>
            </a:r>
            <a:endParaRPr lang="pt-BR" dirty="0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4C0C2D-5A65-2E1B-24C4-D61F31299E87}"/>
              </a:ext>
            </a:extLst>
          </p:cNvPr>
          <p:cNvSpPr txBox="1"/>
          <p:nvPr/>
        </p:nvSpPr>
        <p:spPr>
          <a:xfrm>
            <a:off x="-67757" y="4855744"/>
            <a:ext cx="1179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err="1">
                <a:latin typeface="Consolas" panose="020B0609020204030204" pitchFamily="49" charset="0"/>
              </a:rPr>
              <a:t>gosto</a:t>
            </a:r>
            <a:endParaRPr lang="pt-BR" dirty="0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922D68-30D2-2D29-4C83-FF1C3A942991}"/>
              </a:ext>
            </a:extLst>
          </p:cNvPr>
          <p:cNvSpPr txBox="1"/>
          <p:nvPr/>
        </p:nvSpPr>
        <p:spPr>
          <a:xfrm>
            <a:off x="-67757" y="5345040"/>
            <a:ext cx="1179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Consolas" panose="020B0609020204030204" pitchFamily="49" charset="0"/>
              </a:rPr>
              <a:t>de</a:t>
            </a:r>
            <a:endParaRPr lang="pt-BR" dirty="0"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BCCEB4-C5A0-1737-199C-EF95B4EA1EE5}"/>
              </a:ext>
            </a:extLst>
          </p:cNvPr>
          <p:cNvSpPr txBox="1"/>
          <p:nvPr/>
        </p:nvSpPr>
        <p:spPr>
          <a:xfrm>
            <a:off x="-211593" y="5772333"/>
            <a:ext cx="1323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err="1">
                <a:latin typeface="Consolas" panose="020B0609020204030204" pitchFamily="49" charset="0"/>
              </a:rPr>
              <a:t>cachorro</a:t>
            </a:r>
            <a:endParaRPr lang="pt-BR" dirty="0">
              <a:latin typeface="Consolas" panose="020B0609020204030204" pitchFamily="49" charset="0"/>
            </a:endParaRPr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5358C8E1-98C7-1749-2C98-CF27CB791BA6}"/>
              </a:ext>
            </a:extLst>
          </p:cNvPr>
          <p:cNvSpPr/>
          <p:nvPr/>
        </p:nvSpPr>
        <p:spPr>
          <a:xfrm rot="5400000">
            <a:off x="2208811" y="5200470"/>
            <a:ext cx="353273" cy="2264954"/>
          </a:xfrm>
          <a:prstGeom prst="righ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E6D8257-4E49-3B8C-F5E4-05971C43820E}"/>
                  </a:ext>
                </a:extLst>
              </p:cNvPr>
              <p:cNvSpPr txBox="1"/>
              <p:nvPr/>
            </p:nvSpPr>
            <p:spPr>
              <a:xfrm>
                <a:off x="1377794" y="6488668"/>
                <a:ext cx="192126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dirty="0"/>
                  <a:t>embedding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pt-BR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E6D8257-4E49-3B8C-F5E4-05971C4382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7794" y="6488668"/>
                <a:ext cx="1921266" cy="369332"/>
              </a:xfrm>
              <a:prstGeom prst="rect">
                <a:avLst/>
              </a:prstGeom>
              <a:blipFill>
                <a:blip r:embed="rId2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6" name="Content Placeholder 4">
            <a:extLst>
              <a:ext uri="{FF2B5EF4-FFF2-40B4-BE49-F238E27FC236}">
                <a16:creationId xmlns:a16="http://schemas.microsoft.com/office/drawing/2014/main" id="{ADBC2E46-D043-C449-C75A-444785246DD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7696861"/>
              </p:ext>
            </p:extLst>
          </p:nvPr>
        </p:nvGraphicFramePr>
        <p:xfrm>
          <a:off x="4081679" y="4428451"/>
          <a:ext cx="4725990" cy="171321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7665">
                  <a:extLst>
                    <a:ext uri="{9D8B030D-6E8A-4147-A177-3AD203B41FA5}">
                      <a16:colId xmlns:a16="http://schemas.microsoft.com/office/drawing/2014/main" val="1754369809"/>
                    </a:ext>
                  </a:extLst>
                </a:gridCol>
                <a:gridCol w="787665">
                  <a:extLst>
                    <a:ext uri="{9D8B030D-6E8A-4147-A177-3AD203B41FA5}">
                      <a16:colId xmlns:a16="http://schemas.microsoft.com/office/drawing/2014/main" val="431977746"/>
                    </a:ext>
                  </a:extLst>
                </a:gridCol>
                <a:gridCol w="787665">
                  <a:extLst>
                    <a:ext uri="{9D8B030D-6E8A-4147-A177-3AD203B41FA5}">
                      <a16:colId xmlns:a16="http://schemas.microsoft.com/office/drawing/2014/main" val="3885924545"/>
                    </a:ext>
                  </a:extLst>
                </a:gridCol>
                <a:gridCol w="787665">
                  <a:extLst>
                    <a:ext uri="{9D8B030D-6E8A-4147-A177-3AD203B41FA5}">
                      <a16:colId xmlns:a16="http://schemas.microsoft.com/office/drawing/2014/main" val="3268309171"/>
                    </a:ext>
                  </a:extLst>
                </a:gridCol>
                <a:gridCol w="787665">
                  <a:extLst>
                    <a:ext uri="{9D8B030D-6E8A-4147-A177-3AD203B41FA5}">
                      <a16:colId xmlns:a16="http://schemas.microsoft.com/office/drawing/2014/main" val="2997256886"/>
                    </a:ext>
                  </a:extLst>
                </a:gridCol>
                <a:gridCol w="787665">
                  <a:extLst>
                    <a:ext uri="{9D8B030D-6E8A-4147-A177-3AD203B41FA5}">
                      <a16:colId xmlns:a16="http://schemas.microsoft.com/office/drawing/2014/main" val="2036735232"/>
                    </a:ext>
                  </a:extLst>
                </a:gridCol>
              </a:tblGrid>
              <a:tr h="428304"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6777941"/>
                  </a:ext>
                </a:extLst>
              </a:tr>
              <a:tr h="428304"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0,841471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0,540302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0,213781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0,976882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0,046399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0,998923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6622212"/>
                  </a:ext>
                </a:extLst>
              </a:tr>
              <a:tr h="428304"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0,909297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-0,41615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0,417677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0,908596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0,092699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0,995694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2501922"/>
                  </a:ext>
                </a:extLst>
              </a:tr>
              <a:tr h="428304"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0,14112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-0,98999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0,602261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0,798299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0,138798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0,990321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2041792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471BD4DB-447C-1E35-CF37-7C0917CFA521}"/>
              </a:ext>
            </a:extLst>
          </p:cNvPr>
          <p:cNvSpPr txBox="1"/>
          <p:nvPr/>
        </p:nvSpPr>
        <p:spPr>
          <a:xfrm>
            <a:off x="5375113" y="3899317"/>
            <a:ext cx="21391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/>
              <a:t>position matrix</a:t>
            </a:r>
            <a:endParaRPr lang="pt-BR" sz="2400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338D926-4E0E-D645-CF6D-664A574AAB2D}"/>
                  </a:ext>
                </a:extLst>
              </p:cNvPr>
              <p:cNvSpPr txBox="1"/>
              <p:nvPr/>
            </p:nvSpPr>
            <p:spPr>
              <a:xfrm>
                <a:off x="3252205" y="4890016"/>
                <a:ext cx="1140433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i="1" dirty="0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pt-BR" sz="4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338D926-4E0E-D645-CF6D-664A574AAB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2205" y="4890016"/>
                <a:ext cx="1140433" cy="76944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ight Brace 5">
            <a:extLst>
              <a:ext uri="{FF2B5EF4-FFF2-40B4-BE49-F238E27FC236}">
                <a16:creationId xmlns:a16="http://schemas.microsoft.com/office/drawing/2014/main" id="{F2FFEB13-83E7-C8D4-447C-46DBB71BA1BB}"/>
              </a:ext>
            </a:extLst>
          </p:cNvPr>
          <p:cNvSpPr/>
          <p:nvPr/>
        </p:nvSpPr>
        <p:spPr>
          <a:xfrm rot="5400000">
            <a:off x="6268035" y="3969954"/>
            <a:ext cx="353273" cy="4725988"/>
          </a:xfrm>
          <a:prstGeom prst="righ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5BF7B45-A627-17DA-DE3B-AA15EB4BE18A}"/>
                  </a:ext>
                </a:extLst>
              </p:cNvPr>
              <p:cNvSpPr txBox="1"/>
              <p:nvPr/>
            </p:nvSpPr>
            <p:spPr>
              <a:xfrm>
                <a:off x="5195523" y="6488668"/>
                <a:ext cx="192126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dirty="0"/>
                  <a:t>embedding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pt-BR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5BF7B45-A627-17DA-DE3B-AA15EB4BE1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5523" y="6488668"/>
                <a:ext cx="1921266" cy="369332"/>
              </a:xfrm>
              <a:prstGeom prst="rect">
                <a:avLst/>
              </a:prstGeom>
              <a:blipFill>
                <a:blip r:embed="rId4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D8E54D6-2D86-DE06-9989-36216517D660}"/>
                  </a:ext>
                </a:extLst>
              </p:cNvPr>
              <p:cNvSpPr txBox="1"/>
              <p:nvPr/>
            </p:nvSpPr>
            <p:spPr>
              <a:xfrm>
                <a:off x="8524774" y="4838782"/>
                <a:ext cx="1140433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pt-BR" sz="48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D8E54D6-2D86-DE06-9989-36216517D6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4774" y="4838782"/>
                <a:ext cx="1140433" cy="83099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4" name="Content Placeholder 4">
            <a:extLst>
              <a:ext uri="{FF2B5EF4-FFF2-40B4-BE49-F238E27FC236}">
                <a16:creationId xmlns:a16="http://schemas.microsoft.com/office/drawing/2014/main" id="{6DD4750D-DD28-461D-EBE0-C4D300BFD5C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20922244"/>
              </p:ext>
            </p:extLst>
          </p:nvPr>
        </p:nvGraphicFramePr>
        <p:xfrm>
          <a:off x="9479427" y="4393164"/>
          <a:ext cx="2656290" cy="171398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2715">
                  <a:extLst>
                    <a:ext uri="{9D8B030D-6E8A-4147-A177-3AD203B41FA5}">
                      <a16:colId xmlns:a16="http://schemas.microsoft.com/office/drawing/2014/main" val="1754369809"/>
                    </a:ext>
                  </a:extLst>
                </a:gridCol>
                <a:gridCol w="442715">
                  <a:extLst>
                    <a:ext uri="{9D8B030D-6E8A-4147-A177-3AD203B41FA5}">
                      <a16:colId xmlns:a16="http://schemas.microsoft.com/office/drawing/2014/main" val="431977746"/>
                    </a:ext>
                  </a:extLst>
                </a:gridCol>
                <a:gridCol w="442715">
                  <a:extLst>
                    <a:ext uri="{9D8B030D-6E8A-4147-A177-3AD203B41FA5}">
                      <a16:colId xmlns:a16="http://schemas.microsoft.com/office/drawing/2014/main" val="3885924545"/>
                    </a:ext>
                  </a:extLst>
                </a:gridCol>
                <a:gridCol w="442715">
                  <a:extLst>
                    <a:ext uri="{9D8B030D-6E8A-4147-A177-3AD203B41FA5}">
                      <a16:colId xmlns:a16="http://schemas.microsoft.com/office/drawing/2014/main" val="2997256886"/>
                    </a:ext>
                  </a:extLst>
                </a:gridCol>
                <a:gridCol w="442715">
                  <a:extLst>
                    <a:ext uri="{9D8B030D-6E8A-4147-A177-3AD203B41FA5}">
                      <a16:colId xmlns:a16="http://schemas.microsoft.com/office/drawing/2014/main" val="2036735232"/>
                    </a:ext>
                  </a:extLst>
                </a:gridCol>
                <a:gridCol w="442715">
                  <a:extLst>
                    <a:ext uri="{9D8B030D-6E8A-4147-A177-3AD203B41FA5}">
                      <a16:colId xmlns:a16="http://schemas.microsoft.com/office/drawing/2014/main" val="1247534117"/>
                    </a:ext>
                  </a:extLst>
                </a:gridCol>
              </a:tblGrid>
              <a:tr h="428497">
                <a:tc>
                  <a:txBody>
                    <a:bodyPr/>
                    <a:lstStyle/>
                    <a:p>
                      <a:pPr algn="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B9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B9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B9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B9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B9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B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6777941"/>
                  </a:ext>
                </a:extLst>
              </a:tr>
              <a:tr h="428497">
                <a:tc>
                  <a:txBody>
                    <a:bodyPr/>
                    <a:lstStyle/>
                    <a:p>
                      <a:pPr algn="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B9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B9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B9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B9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B9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B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6622212"/>
                  </a:ext>
                </a:extLst>
              </a:tr>
              <a:tr h="428497">
                <a:tc>
                  <a:txBody>
                    <a:bodyPr/>
                    <a:lstStyle/>
                    <a:p>
                      <a:pPr algn="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B9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B9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B9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B9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B9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B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2501922"/>
                  </a:ext>
                </a:extLst>
              </a:tr>
              <a:tr h="428497">
                <a:tc>
                  <a:txBody>
                    <a:bodyPr/>
                    <a:lstStyle/>
                    <a:p>
                      <a:pPr algn="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B9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B9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B9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B9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B9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B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2041792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E529288D-D48A-AB58-B96A-4FF14CE017FB}"/>
              </a:ext>
            </a:extLst>
          </p:cNvPr>
          <p:cNvSpPr txBox="1"/>
          <p:nvPr/>
        </p:nvSpPr>
        <p:spPr>
          <a:xfrm>
            <a:off x="9612499" y="3962276"/>
            <a:ext cx="255354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i="1" dirty="0"/>
              <a:t>positional embeddings</a:t>
            </a:r>
            <a:endParaRPr lang="pt-BR" sz="2000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2B6E49D9-07E4-04E1-A68F-F2BFBE789DC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825625"/>
                <a:ext cx="10515600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func>
                              <m:funcPr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num>
                                      <m:den>
                                        <m:sSup>
                                          <m:sSup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e>
                                          <m:sup>
                                            <m:d>
                                              <m:d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f>
                                                  <m:fPr>
                                                    <m:ctrlP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fPr>
                                                  <m:num>
                                                    <m: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2</m:t>
                                                    </m:r>
                                                    <m:r>
                                                      <a:rPr lang="en-US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𝑘</m:t>
                                                    </m:r>
                                                  </m:num>
                                                  <m:den>
                                                    <m: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𝑑</m:t>
                                                    </m:r>
                                                  </m:den>
                                                </m:f>
                                              </m:e>
                                            </m:d>
                                          </m:sup>
                                        </m:sSup>
                                      </m:den>
                                    </m:f>
                                  </m:e>
                                </m:d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  </m:t>
                                </m:r>
                              </m:e>
                            </m:func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    </m:t>
                            </m:r>
                            <m:r>
                              <m:rPr>
                                <m:nor/>
                              </m:rPr>
                              <a:rPr lang="en-US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para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=2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e>
                            <m:func>
                              <m:func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num>
                                      <m:den>
                                        <m:sSup>
                                          <m:sSup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e>
                                          <m:sup>
                                            <m:d>
                                              <m:d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f>
                                                  <m:fPr>
                                                    <m:ctrlP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fPr>
                                                  <m:num>
                                                    <m: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2</m:t>
                                                    </m:r>
                                                    <m:r>
                                                      <a:rPr lang="en-US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𝑘</m:t>
                                                    </m:r>
                                                  </m:num>
                                                  <m:den>
                                                    <m: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𝑑</m:t>
                                                    </m:r>
                                                  </m:den>
                                                </m:f>
                                              </m:e>
                                            </m:d>
                                          </m:sup>
                                        </m:sSup>
                                      </m:den>
                                    </m:f>
                                  </m:e>
                                </m:d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</m:func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para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=2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eqArr>
                      </m:e>
                    </m:d>
                  </m:oMath>
                </a14:m>
                <a:endParaRPr lang="pt-BR" i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2B6E49D9-07E4-04E1-A68F-F2BFBE789D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25625"/>
                <a:ext cx="10515600" cy="4351338"/>
              </a:xfrm>
              <a:prstGeom prst="rect">
                <a:avLst/>
              </a:prstGeom>
              <a:blipFill>
                <a:blip r:embed="rId6"/>
                <a:stretch>
                  <a:fillRect t="-112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9B9A7A4-B28F-A78B-B887-907DE386B62D}"/>
                  </a:ext>
                </a:extLst>
              </p:cNvPr>
              <p:cNvSpPr txBox="1"/>
              <p:nvPr/>
            </p:nvSpPr>
            <p:spPr>
              <a:xfrm>
                <a:off x="8418786" y="1923392"/>
                <a:ext cx="331075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Observação: </a:t>
                </a:r>
              </a:p>
              <a:p>
                <a:r>
                  <a:rPr lang="en-US" dirty="0"/>
                  <a:t>no paper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=10000</m:t>
                    </m:r>
                  </m:oMath>
                </a14:m>
                <a:endParaRPr lang="en-US" b="0" dirty="0"/>
              </a:p>
              <a:p>
                <a:r>
                  <a:rPr lang="pt-BR" dirty="0"/>
                  <a:t>no slide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=100</m:t>
                    </m:r>
                  </m:oMath>
                </a14:m>
                <a:endParaRPr lang="pt-BR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9B9A7A4-B28F-A78B-B887-907DE386B6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8786" y="1923392"/>
                <a:ext cx="3310759" cy="923330"/>
              </a:xfrm>
              <a:prstGeom prst="rect">
                <a:avLst/>
              </a:prstGeom>
              <a:blipFill>
                <a:blip r:embed="rId7"/>
                <a:stretch>
                  <a:fillRect l="-1473" t="-3974" b="-993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18957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CD77C-346A-376C-43FC-0EF04F398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Transformers</a:t>
            </a:r>
            <a:endParaRPr lang="pt-BR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EFECC7-5CBA-3835-79D6-FE8BE1A9CE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599" cy="4351338"/>
          </a:xfrm>
        </p:spPr>
        <p:txBody>
          <a:bodyPr/>
          <a:lstStyle/>
          <a:p>
            <a:r>
              <a:rPr lang="pt-BR" dirty="0"/>
              <a:t>Finalmente estamos prontos para desbravar o </a:t>
            </a:r>
            <a:r>
              <a:rPr lang="pt-BR" i="1" dirty="0" err="1"/>
              <a:t>transformer</a:t>
            </a:r>
            <a:r>
              <a:rPr lang="pt-BR" dirty="0"/>
              <a:t> </a:t>
            </a:r>
          </a:p>
          <a:p>
            <a:pPr lvl="1"/>
            <a:r>
              <a:rPr lang="pt-BR" dirty="0"/>
              <a:t>Na prática, já vimos praticamente todas as componentes dessa arquitetura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7DF8B1-43A5-5753-0A4D-814D2B7B3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17</a:t>
            </a:fld>
            <a:endParaRPr lang="pt-BR"/>
          </a:p>
        </p:txBody>
      </p:sp>
      <p:pic>
        <p:nvPicPr>
          <p:cNvPr id="6146" name="Picture 2" descr="Ironhide OK Sign - Imgflip">
            <a:extLst>
              <a:ext uri="{FF2B5EF4-FFF2-40B4-BE49-F238E27FC236}">
                <a16:creationId xmlns:a16="http://schemas.microsoft.com/office/drawing/2014/main" id="{3D80E643-6B9D-FA17-833B-9BE0CD1A34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494" y="3799936"/>
            <a:ext cx="3048000" cy="2286000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58630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831619-50F0-30A2-6AF7-DD9EB7BC1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315CE-993E-F92F-5623-B222E37E4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Transformers</a:t>
            </a:r>
            <a:endParaRPr lang="pt-BR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B95967-BB87-7622-7998-EFD730708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18</a:t>
            </a:fld>
            <a:endParaRPr lang="pt-BR"/>
          </a:p>
        </p:txBody>
      </p:sp>
      <p:pic>
        <p:nvPicPr>
          <p:cNvPr id="7172" name="Picture 4" descr="The Transformer Model - MachineLearningMastery.com">
            <a:extLst>
              <a:ext uri="{FF2B5EF4-FFF2-40B4-BE49-F238E27FC236}">
                <a16:creationId xmlns:a16="http://schemas.microsoft.com/office/drawing/2014/main" id="{EA382555-DAAC-1F57-22CD-6F81B015D9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0789" y="0"/>
            <a:ext cx="48672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Transformers: Generation 1 - We're Autobots | Transformers Official -  YouTube">
            <a:extLst>
              <a:ext uri="{FF2B5EF4-FFF2-40B4-BE49-F238E27FC236}">
                <a16:creationId xmlns:a16="http://schemas.microsoft.com/office/drawing/2014/main" id="{B3DE26F5-862F-7DC0-810A-1558A341C5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39912" y="2657794"/>
            <a:ext cx="3099165" cy="2286270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34760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244E8-9D5C-2EAE-BF79-36B5C37ED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2BFB77FD-CFE6-D3B9-0C5C-4140981DAF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731" y="1115961"/>
            <a:ext cx="10787392" cy="5742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179424-B94D-54A5-93AA-C26C3D260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19</a:t>
            </a:fld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A496392-B725-0E28-8C31-AE60A281F180}"/>
              </a:ext>
            </a:extLst>
          </p:cNvPr>
          <p:cNvSpPr/>
          <p:nvPr/>
        </p:nvSpPr>
        <p:spPr>
          <a:xfrm>
            <a:off x="5986564" y="1115961"/>
            <a:ext cx="6054090" cy="5722042"/>
          </a:xfrm>
          <a:prstGeom prst="rect">
            <a:avLst/>
          </a:prstGeom>
          <a:solidFill>
            <a:srgbClr val="FFFFFF">
              <a:alpha val="9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457A74A-7300-FBC2-70D8-5B32036A2C02}"/>
              </a:ext>
            </a:extLst>
          </p:cNvPr>
          <p:cNvSpPr/>
          <p:nvPr/>
        </p:nvSpPr>
        <p:spPr>
          <a:xfrm>
            <a:off x="243472" y="1535501"/>
            <a:ext cx="5743092" cy="4206538"/>
          </a:xfrm>
          <a:prstGeom prst="rect">
            <a:avLst/>
          </a:prstGeom>
          <a:solidFill>
            <a:srgbClr val="FFFFFF">
              <a:alpha val="9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45FB39-F522-8D94-E2A5-D0CE40C87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Transformers</a:t>
            </a:r>
            <a:endParaRPr lang="pt-BR" i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CDA2FD-4752-B14A-5D6C-5D0F5C9D74C5}"/>
              </a:ext>
            </a:extLst>
          </p:cNvPr>
          <p:cNvSpPr/>
          <p:nvPr/>
        </p:nvSpPr>
        <p:spPr>
          <a:xfrm>
            <a:off x="2909173" y="2971800"/>
            <a:ext cx="6362314" cy="9144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2000" dirty="0">
                <a:solidFill>
                  <a:schemeClr val="tx1"/>
                </a:solidFill>
              </a:rPr>
              <a:t>A entrada do </a:t>
            </a:r>
            <a:r>
              <a:rPr lang="pt-BR" sz="2000" i="1" dirty="0" err="1">
                <a:solidFill>
                  <a:schemeClr val="tx1"/>
                </a:solidFill>
              </a:rPr>
              <a:t>transformer</a:t>
            </a:r>
            <a:r>
              <a:rPr lang="pt-BR" sz="2000" dirty="0">
                <a:solidFill>
                  <a:schemeClr val="tx1"/>
                </a:solidFill>
              </a:rPr>
              <a:t> é composta pelos </a:t>
            </a:r>
            <a:r>
              <a:rPr lang="pt-BR" sz="2000" dirty="0" err="1">
                <a:solidFill>
                  <a:schemeClr val="tx1"/>
                </a:solidFill>
              </a:rPr>
              <a:t>embeddings</a:t>
            </a:r>
            <a:r>
              <a:rPr lang="pt-BR" sz="2000" dirty="0">
                <a:solidFill>
                  <a:schemeClr val="tx1"/>
                </a:solidFill>
              </a:rPr>
              <a:t> dos </a:t>
            </a:r>
            <a:r>
              <a:rPr lang="pt-BR" sz="2000" i="1" dirty="0">
                <a:solidFill>
                  <a:schemeClr val="tx1"/>
                </a:solidFill>
              </a:rPr>
              <a:t>tokens</a:t>
            </a:r>
            <a:r>
              <a:rPr lang="pt-BR" sz="2000" dirty="0">
                <a:solidFill>
                  <a:schemeClr val="tx1"/>
                </a:solidFill>
              </a:rPr>
              <a:t> que representam as informações da entrada</a:t>
            </a:r>
          </a:p>
        </p:txBody>
      </p:sp>
    </p:spTree>
    <p:extLst>
      <p:ext uri="{BB962C8B-B14F-4D97-AF65-F5344CB8AC3E}">
        <p14:creationId xmlns:p14="http://schemas.microsoft.com/office/powerpoint/2010/main" val="38498341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D89E7-E30B-30AB-7BA3-728B2AB9E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5D43B7BE-E2B3-0B03-6780-F6059C9115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731" y="1115961"/>
            <a:ext cx="10787392" cy="5742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140E73-DC44-6B55-B966-933520D55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20</a:t>
            </a:fld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6E22C7-A818-294C-8543-1760229AEC95}"/>
              </a:ext>
            </a:extLst>
          </p:cNvPr>
          <p:cNvSpPr/>
          <p:nvPr/>
        </p:nvSpPr>
        <p:spPr>
          <a:xfrm>
            <a:off x="5986564" y="1115961"/>
            <a:ext cx="6054090" cy="5722042"/>
          </a:xfrm>
          <a:prstGeom prst="rect">
            <a:avLst/>
          </a:prstGeom>
          <a:solidFill>
            <a:srgbClr val="FFFFFF">
              <a:alpha val="9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43066F-8869-5836-AB8A-09285ED7D8B7}"/>
              </a:ext>
            </a:extLst>
          </p:cNvPr>
          <p:cNvSpPr/>
          <p:nvPr/>
        </p:nvSpPr>
        <p:spPr>
          <a:xfrm>
            <a:off x="243472" y="1535501"/>
            <a:ext cx="5743092" cy="3796787"/>
          </a:xfrm>
          <a:prstGeom prst="rect">
            <a:avLst/>
          </a:prstGeom>
          <a:solidFill>
            <a:srgbClr val="FFFFFF">
              <a:alpha val="9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548A68-054E-EBED-C29C-9456E24B6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Transformers</a:t>
            </a:r>
            <a:endParaRPr lang="pt-BR" i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DF9263-1AA7-C8DD-35BE-C742C8183644}"/>
              </a:ext>
            </a:extLst>
          </p:cNvPr>
          <p:cNvSpPr/>
          <p:nvPr/>
        </p:nvSpPr>
        <p:spPr>
          <a:xfrm>
            <a:off x="358877" y="5219272"/>
            <a:ext cx="3569953" cy="666108"/>
          </a:xfrm>
          <a:prstGeom prst="rect">
            <a:avLst/>
          </a:prstGeom>
          <a:solidFill>
            <a:srgbClr val="FFFFFF">
              <a:alpha val="9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4E8456A-3D61-7B84-90E5-4C39B3BDE428}"/>
              </a:ext>
            </a:extLst>
          </p:cNvPr>
          <p:cNvSpPr/>
          <p:nvPr/>
        </p:nvSpPr>
        <p:spPr>
          <a:xfrm>
            <a:off x="2260314" y="3109119"/>
            <a:ext cx="7031721" cy="9144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2000" dirty="0">
                <a:solidFill>
                  <a:schemeClr val="tx1"/>
                </a:solidFill>
              </a:rPr>
              <a:t>Adicionamos a matriz de posições aos </a:t>
            </a:r>
            <a:r>
              <a:rPr lang="pt-BR" sz="2000" i="1" dirty="0" err="1">
                <a:solidFill>
                  <a:schemeClr val="tx1"/>
                </a:solidFill>
              </a:rPr>
              <a:t>embeddings</a:t>
            </a:r>
            <a:r>
              <a:rPr lang="pt-BR" sz="2000" dirty="0">
                <a:solidFill>
                  <a:schemeClr val="tx1"/>
                </a:solidFill>
              </a:rPr>
              <a:t> originais para termos informação sobre as posições dos </a:t>
            </a:r>
            <a:r>
              <a:rPr lang="pt-BR" sz="2000" i="1" dirty="0">
                <a:solidFill>
                  <a:schemeClr val="tx1"/>
                </a:solidFill>
              </a:rPr>
              <a:t>tokens</a:t>
            </a:r>
            <a:r>
              <a:rPr lang="pt-BR" sz="2000" dirty="0">
                <a:solidFill>
                  <a:schemeClr val="tx1"/>
                </a:solidFill>
              </a:rPr>
              <a:t> na sequência</a:t>
            </a:r>
          </a:p>
        </p:txBody>
      </p:sp>
    </p:spTree>
    <p:extLst>
      <p:ext uri="{BB962C8B-B14F-4D97-AF65-F5344CB8AC3E}">
        <p14:creationId xmlns:p14="http://schemas.microsoft.com/office/powerpoint/2010/main" val="17916809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ADC24-8049-A2B8-A431-AD45995FB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49C33AC5-277D-494C-7BC7-0EB93FD482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731" y="1115961"/>
            <a:ext cx="10787392" cy="5742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A12BF1-4F6B-5FD7-8EB0-75D5DD41B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21</a:t>
            </a:fld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6B9CCE-7E6F-F05B-9AF1-E9D19B75FF8E}"/>
              </a:ext>
            </a:extLst>
          </p:cNvPr>
          <p:cNvSpPr/>
          <p:nvPr/>
        </p:nvSpPr>
        <p:spPr>
          <a:xfrm>
            <a:off x="5986564" y="1115961"/>
            <a:ext cx="6054090" cy="5722042"/>
          </a:xfrm>
          <a:prstGeom prst="rect">
            <a:avLst/>
          </a:prstGeom>
          <a:solidFill>
            <a:srgbClr val="FFFFFF">
              <a:alpha val="9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61C1B4-65E7-D5AB-ADE1-F61B418F21D9}"/>
              </a:ext>
            </a:extLst>
          </p:cNvPr>
          <p:cNvSpPr/>
          <p:nvPr/>
        </p:nvSpPr>
        <p:spPr>
          <a:xfrm>
            <a:off x="243472" y="1535501"/>
            <a:ext cx="5743092" cy="2711151"/>
          </a:xfrm>
          <a:prstGeom prst="rect">
            <a:avLst/>
          </a:prstGeom>
          <a:solidFill>
            <a:srgbClr val="FFFFFF">
              <a:alpha val="9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E1D461-3D36-BEFC-E192-DF27B172D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Transformers</a:t>
            </a:r>
            <a:endParaRPr lang="pt-BR" i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44D8D8-C82B-64A9-5C8B-D7A1A8446C9C}"/>
              </a:ext>
            </a:extLst>
          </p:cNvPr>
          <p:cNvSpPr/>
          <p:nvPr/>
        </p:nvSpPr>
        <p:spPr>
          <a:xfrm>
            <a:off x="2082384" y="2891076"/>
            <a:ext cx="7808360" cy="594519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2000" dirty="0">
                <a:solidFill>
                  <a:schemeClr val="tx1"/>
                </a:solidFill>
              </a:rPr>
              <a:t>Já vimos o que é </a:t>
            </a:r>
            <a:r>
              <a:rPr lang="pt-BR" sz="2000" i="1" dirty="0">
                <a:solidFill>
                  <a:schemeClr val="tx1"/>
                </a:solidFill>
              </a:rPr>
              <a:t>Self </a:t>
            </a:r>
            <a:r>
              <a:rPr lang="pt-BR" sz="2000" i="1" dirty="0" err="1">
                <a:solidFill>
                  <a:schemeClr val="tx1"/>
                </a:solidFill>
              </a:rPr>
              <a:t>Attention</a:t>
            </a:r>
            <a:r>
              <a:rPr lang="pt-BR" sz="2000" i="1" dirty="0">
                <a:solidFill>
                  <a:schemeClr val="tx1"/>
                </a:solidFill>
              </a:rPr>
              <a:t>, </a:t>
            </a:r>
            <a:r>
              <a:rPr lang="pt-BR" sz="2000" dirty="0">
                <a:solidFill>
                  <a:schemeClr val="tx1"/>
                </a:solidFill>
              </a:rPr>
              <a:t>vamos ver o que é </a:t>
            </a:r>
            <a:r>
              <a:rPr lang="pt-BR" sz="2000" i="1" dirty="0" err="1">
                <a:solidFill>
                  <a:schemeClr val="tx1"/>
                </a:solidFill>
              </a:rPr>
              <a:t>Multi-Head</a:t>
            </a:r>
            <a:r>
              <a:rPr lang="pt-BR" sz="2000" i="1" dirty="0">
                <a:solidFill>
                  <a:schemeClr val="tx1"/>
                </a:solidFill>
              </a:rPr>
              <a:t> </a:t>
            </a:r>
            <a:r>
              <a:rPr lang="pt-BR" sz="2000" i="1" dirty="0" err="1">
                <a:solidFill>
                  <a:schemeClr val="tx1"/>
                </a:solidFill>
              </a:rPr>
              <a:t>Attention</a:t>
            </a:r>
            <a:endParaRPr lang="pt-BR" sz="2000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25866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B5D3C-533C-9D0D-6821-F809940EC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 err="1"/>
              <a:t>Multi-Head</a:t>
            </a:r>
            <a:r>
              <a:rPr lang="pt-BR" i="1" dirty="0"/>
              <a:t> </a:t>
            </a:r>
            <a:r>
              <a:rPr lang="pt-BR" i="1" dirty="0" err="1"/>
              <a:t>Attention</a:t>
            </a:r>
            <a:endParaRPr lang="pt-BR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85D6007-77E9-499C-0473-4F9518F1D0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7404100" cy="4351338"/>
              </a:xfrm>
            </p:spPr>
            <p:txBody>
              <a:bodyPr/>
              <a:lstStyle/>
              <a:p>
                <a:r>
                  <a:rPr lang="pt-BR" dirty="0"/>
                  <a:t>A ideia aqui é separar a computação do </a:t>
                </a:r>
                <a:r>
                  <a:rPr lang="pt-BR" i="1" dirty="0"/>
                  <a:t>self </a:t>
                </a:r>
                <a:r>
                  <a:rPr lang="pt-BR" i="1" dirty="0" err="1"/>
                  <a:t>attention</a:t>
                </a:r>
                <a:r>
                  <a:rPr lang="pt-BR" i="1" dirty="0"/>
                  <a:t> </a:t>
                </a:r>
                <a:r>
                  <a:rPr lang="pt-BR" dirty="0"/>
                  <a:t>em </a:t>
                </a:r>
                <a:r>
                  <a:rPr lang="pt-BR" b="1" dirty="0"/>
                  <a:t>H</a:t>
                </a:r>
                <a:r>
                  <a:rPr lang="pt-BR" dirty="0"/>
                  <a:t> mecanismos de atenção</a:t>
                </a:r>
              </a:p>
              <a:p>
                <a:pPr lvl="1"/>
                <a:r>
                  <a:rPr lang="pt-BR" dirty="0"/>
                  <a:t>Por exemplo, caso nosso objetivo seja que a saída tenha tamanho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=512</m:t>
                    </m:r>
                  </m:oMath>
                </a14:m>
                <a:r>
                  <a:rPr lang="pt-BR" b="1" i="1" dirty="0"/>
                  <a:t> </a:t>
                </a:r>
                <a:r>
                  <a:rPr lang="pt-BR" dirty="0"/>
                  <a:t>podemos processar essa saída em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=8</m:t>
                    </m:r>
                  </m:oMath>
                </a14:m>
                <a:r>
                  <a:rPr lang="pt-BR" dirty="0"/>
                  <a:t> cabeças, de modo que cada uma trabalhe com dimensão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=64</m:t>
                    </m:r>
                  </m:oMath>
                </a14:m>
                <a:r>
                  <a:rPr lang="pt-BR" b="1" i="1" dirty="0"/>
                  <a:t> </a:t>
                </a:r>
                <a:endParaRPr lang="pt-BR" dirty="0"/>
              </a:p>
              <a:p>
                <a:pPr lvl="1"/>
                <a:r>
                  <a:rPr lang="pt-BR" dirty="0"/>
                  <a:t>Depois concatenamos as saídas de cada mecanismo de atenção e fazemos uma nova projeção linear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85D6007-77E9-499C-0473-4F9518F1D0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7404100" cy="4351338"/>
              </a:xfrm>
              <a:blipFill>
                <a:blip r:embed="rId2"/>
                <a:stretch>
                  <a:fillRect l="-1483" t="-2241" r="-32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A8122A-1B24-34A4-AD36-45CDA1B8F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22</a:t>
            </a:fld>
            <a:endParaRPr lang="pt-BR"/>
          </a:p>
        </p:txBody>
      </p:sp>
      <p:pic>
        <p:nvPicPr>
          <p:cNvPr id="1026" name="Picture 2" descr="Multi-Head Attention Explained | Papers With Code">
            <a:extLst>
              <a:ext uri="{FF2B5EF4-FFF2-40B4-BE49-F238E27FC236}">
                <a16:creationId xmlns:a16="http://schemas.microsoft.com/office/drawing/2014/main" id="{FBC8A501-2E34-809F-479A-B90626CDBA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2300" y="1325563"/>
            <a:ext cx="3884886" cy="5030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50970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4D036-84D7-4B3E-9EC3-D94EB903B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Multi-Head Attention Explained | Papers With Code">
            <a:extLst>
              <a:ext uri="{FF2B5EF4-FFF2-40B4-BE49-F238E27FC236}">
                <a16:creationId xmlns:a16="http://schemas.microsoft.com/office/drawing/2014/main" id="{39ED199A-AB30-BEA3-577C-4BCE4330E2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7114" y="1325563"/>
            <a:ext cx="3884886" cy="5030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686BA83-0461-D8A5-A201-E4FBF8E41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 err="1"/>
              <a:t>Multi-Head</a:t>
            </a:r>
            <a:r>
              <a:rPr lang="pt-BR" i="1" dirty="0"/>
              <a:t> </a:t>
            </a:r>
            <a:r>
              <a:rPr lang="pt-BR" i="1" dirty="0" err="1"/>
              <a:t>Attention</a:t>
            </a:r>
            <a:endParaRPr lang="pt-BR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901D30-A8A2-CF8E-EC72-0F843F9653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10967" y="1825625"/>
                <a:ext cx="9904288" cy="4351338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MultiHead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Concat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head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head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head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head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attention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sSubSup>
                          <m:sSubSupPr>
                            <m:ctrlPr>
                              <a:rPr lang="en-US" b="0" i="1" smtClean="0">
                                <a:solidFill>
                                  <a:srgbClr val="FF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solidFill>
                                  <a:srgbClr val="FF00FF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FF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b>
                          <m:sup>
                            <m:r>
                              <a:rPr lang="en-US" b="0" i="1" smtClean="0">
                                <a:solidFill>
                                  <a:srgbClr val="FF00FF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b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b="0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𝐾𝑊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b>
                          <m:sup>
                            <m:r>
                              <a:rPr lang="en-US" b="0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b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  <m:sSubSup>
                          <m:sSubSupPr>
                            <m:ctrlPr>
                              <a:rPr lang="en-US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sub>
                          <m:sup>
                            <m:r>
                              <a:rPr lang="en-US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bSup>
                      </m:e>
                    </m:d>
                  </m:oMath>
                </a14:m>
                <a:endParaRPr lang="pt-BR" dirty="0">
                  <a:solidFill>
                    <a:schemeClr val="tx1"/>
                  </a:solidFill>
                </a:endParaRPr>
              </a:p>
              <a:p>
                <a:endParaRPr lang="pt-BR" sz="3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901D30-A8A2-CF8E-EC72-0F843F9653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10967" y="1825625"/>
                <a:ext cx="9904288" cy="4351338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437D2C-2893-E09C-04DC-AADCFF2D2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25846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A6922-0CA7-C9FF-1D5D-E56816377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41840AA5-C3DD-9DBD-576B-130F648D44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731" y="1115961"/>
            <a:ext cx="10787392" cy="5742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EB4986-45F8-56EE-E290-15545D660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24</a:t>
            </a:fld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7A7B6C6-2D3E-40B4-4EF0-B15C600396AD}"/>
              </a:ext>
            </a:extLst>
          </p:cNvPr>
          <p:cNvSpPr/>
          <p:nvPr/>
        </p:nvSpPr>
        <p:spPr>
          <a:xfrm>
            <a:off x="5986564" y="1115961"/>
            <a:ext cx="6054090" cy="5722042"/>
          </a:xfrm>
          <a:prstGeom prst="rect">
            <a:avLst/>
          </a:prstGeom>
          <a:solidFill>
            <a:srgbClr val="FFFFFF">
              <a:alpha val="9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F5BA6A-30DE-3354-D672-2CF7F790EEE8}"/>
              </a:ext>
            </a:extLst>
          </p:cNvPr>
          <p:cNvSpPr/>
          <p:nvPr/>
        </p:nvSpPr>
        <p:spPr>
          <a:xfrm>
            <a:off x="243472" y="1535501"/>
            <a:ext cx="5743092" cy="2730757"/>
          </a:xfrm>
          <a:prstGeom prst="rect">
            <a:avLst/>
          </a:prstGeom>
          <a:solidFill>
            <a:srgbClr val="FFFFFF">
              <a:alpha val="9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9D1D50-665A-C15F-96F1-1531556B2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Transformers</a:t>
            </a:r>
            <a:endParaRPr lang="pt-BR" i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DC90DB-9DCB-56B8-C6DA-4FED8A0157DD}"/>
              </a:ext>
            </a:extLst>
          </p:cNvPr>
          <p:cNvSpPr/>
          <p:nvPr/>
        </p:nvSpPr>
        <p:spPr>
          <a:xfrm>
            <a:off x="1952090" y="2565160"/>
            <a:ext cx="7520683" cy="86384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2000" dirty="0">
                <a:solidFill>
                  <a:schemeClr val="tx1"/>
                </a:solidFill>
              </a:rPr>
              <a:t>Repare que existe uma seta passando ao lado do </a:t>
            </a:r>
            <a:r>
              <a:rPr lang="pt-BR" sz="2000" dirty="0" err="1">
                <a:solidFill>
                  <a:schemeClr val="tx1"/>
                </a:solidFill>
              </a:rPr>
              <a:t>Multi-Head</a:t>
            </a:r>
            <a:r>
              <a:rPr lang="pt-BR" sz="2000" dirty="0">
                <a:solidFill>
                  <a:schemeClr val="tx1"/>
                </a:solidFill>
              </a:rPr>
              <a:t> </a:t>
            </a:r>
            <a:r>
              <a:rPr lang="pt-BR" sz="2000" dirty="0" err="1">
                <a:solidFill>
                  <a:schemeClr val="tx1"/>
                </a:solidFill>
              </a:rPr>
              <a:t>Attention</a:t>
            </a:r>
            <a:endParaRPr lang="pt-BR" sz="2000" dirty="0">
              <a:solidFill>
                <a:schemeClr val="tx1"/>
              </a:solidFill>
            </a:endParaRPr>
          </a:p>
          <a:p>
            <a:pPr algn="just"/>
            <a:r>
              <a:rPr lang="pt-BR" sz="2000" dirty="0">
                <a:solidFill>
                  <a:schemeClr val="tx1"/>
                </a:solidFill>
              </a:rPr>
              <a:t>Isso é uma </a:t>
            </a:r>
            <a:r>
              <a:rPr lang="pt-BR" sz="2000" i="1" dirty="0" err="1">
                <a:solidFill>
                  <a:schemeClr val="tx1"/>
                </a:solidFill>
              </a:rPr>
              <a:t>skip</a:t>
            </a:r>
            <a:r>
              <a:rPr lang="pt-BR" sz="2000" i="1" dirty="0">
                <a:solidFill>
                  <a:schemeClr val="tx1"/>
                </a:solidFill>
              </a:rPr>
              <a:t> connection</a:t>
            </a:r>
          </a:p>
        </p:txBody>
      </p:sp>
    </p:spTree>
    <p:extLst>
      <p:ext uri="{BB962C8B-B14F-4D97-AF65-F5344CB8AC3E}">
        <p14:creationId xmlns:p14="http://schemas.microsoft.com/office/powerpoint/2010/main" val="36929675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D30E84-D09A-01A9-8754-03C46ACA8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59843-D30E-CCA9-F366-B420E93A7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 err="1"/>
              <a:t>Layer</a:t>
            </a:r>
            <a:r>
              <a:rPr lang="pt-BR" i="1" dirty="0"/>
              <a:t> Norm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95AD05-D4CE-F92A-3374-2461A0CC87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967" y="1825625"/>
            <a:ext cx="9904288" cy="4351338"/>
          </a:xfrm>
        </p:spPr>
        <p:txBody>
          <a:bodyPr>
            <a:normAutofit/>
          </a:bodyPr>
          <a:lstStyle/>
          <a:p>
            <a:r>
              <a:rPr lang="pt-BR" dirty="0">
                <a:solidFill>
                  <a:schemeClr val="tx1"/>
                </a:solidFill>
              </a:rPr>
              <a:t>Similar ao </a:t>
            </a:r>
            <a:r>
              <a:rPr lang="pt-BR" i="1" dirty="0">
                <a:solidFill>
                  <a:schemeClr val="tx1"/>
                </a:solidFill>
              </a:rPr>
              <a:t>batch </a:t>
            </a:r>
            <a:r>
              <a:rPr lang="pt-BR" i="1" dirty="0" err="1">
                <a:solidFill>
                  <a:schemeClr val="tx1"/>
                </a:solidFill>
              </a:rPr>
              <a:t>norm</a:t>
            </a:r>
            <a:r>
              <a:rPr lang="pt-BR" i="1" dirty="0">
                <a:solidFill>
                  <a:schemeClr val="tx1"/>
                </a:solidFill>
              </a:rPr>
              <a:t> </a:t>
            </a:r>
            <a:r>
              <a:rPr lang="pt-BR" dirty="0">
                <a:solidFill>
                  <a:schemeClr val="tx1"/>
                </a:solidFill>
              </a:rPr>
              <a:t>visto anteriormente (</a:t>
            </a:r>
            <a:r>
              <a:rPr lang="pt-BR" dirty="0" err="1">
                <a:solidFill>
                  <a:schemeClr val="tx1"/>
                </a:solidFill>
              </a:rPr>
              <a:t>resnet</a:t>
            </a:r>
            <a:r>
              <a:rPr lang="pt-BR" dirty="0">
                <a:solidFill>
                  <a:schemeClr val="tx1"/>
                </a:solidFill>
              </a:rPr>
              <a:t>)</a:t>
            </a:r>
          </a:p>
          <a:p>
            <a:pPr lvl="1"/>
            <a:r>
              <a:rPr lang="pt-BR" dirty="0">
                <a:solidFill>
                  <a:schemeClr val="tx1"/>
                </a:solidFill>
              </a:rPr>
              <a:t>Contudo aqui as estatísticas são computadas por </a:t>
            </a:r>
            <a:r>
              <a:rPr lang="pt-BR" i="1" dirty="0">
                <a:solidFill>
                  <a:schemeClr val="tx1"/>
                </a:solidFill>
              </a:rPr>
              <a:t>token</a:t>
            </a:r>
          </a:p>
          <a:p>
            <a:pPr lvl="1"/>
            <a:r>
              <a:rPr lang="pt-BR" dirty="0"/>
              <a:t>Introduz dois parâmetros para nova média e desvio padrão</a:t>
            </a:r>
            <a:endParaRPr lang="pt-BR" dirty="0">
              <a:solidFill>
                <a:schemeClr val="tx1"/>
              </a:solidFill>
            </a:endParaRPr>
          </a:p>
          <a:p>
            <a:endParaRPr lang="pt-BR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4D7CAE-D2A6-D531-409B-3E29C5FEB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25</a:t>
            </a:fld>
            <a:endParaRPr lang="pt-B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142FD2-6F9C-3158-CBB5-733EDB2CC933}"/>
              </a:ext>
            </a:extLst>
          </p:cNvPr>
          <p:cNvSpPr txBox="1"/>
          <p:nvPr/>
        </p:nvSpPr>
        <p:spPr>
          <a:xfrm>
            <a:off x="0" y="6488668"/>
            <a:ext cx="96577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https://www.kaggle.com/code/halflingwizard/how-does-layer-normalization-work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078C619F-824F-CF83-95ED-A5CDBFB303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12" t="5137" r="7000" b="5562"/>
          <a:stretch/>
        </p:blipFill>
        <p:spPr bwMode="auto">
          <a:xfrm>
            <a:off x="181081" y="3598584"/>
            <a:ext cx="2202952" cy="2880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FDB58776-C19C-2EA5-4DE4-4E69E23F4F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53" t="5324" r="10338" b="5385"/>
          <a:stretch/>
        </p:blipFill>
        <p:spPr bwMode="auto">
          <a:xfrm>
            <a:off x="2702103" y="3598584"/>
            <a:ext cx="2075381" cy="2890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75B4F4BE-705E-E05A-7F7F-9FAA11DF9D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3251" y="3463131"/>
            <a:ext cx="3250059" cy="2386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>
            <a:extLst>
              <a:ext uri="{FF2B5EF4-FFF2-40B4-BE49-F238E27FC236}">
                <a16:creationId xmlns:a16="http://schemas.microsoft.com/office/drawing/2014/main" id="{5D94B6D0-A64B-7042-ED10-BAA29514F9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89" b="2860"/>
          <a:stretch/>
        </p:blipFill>
        <p:spPr bwMode="auto">
          <a:xfrm>
            <a:off x="8804954" y="3497262"/>
            <a:ext cx="3250059" cy="2318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7CF6C5B-B9FE-041E-F505-B4D70CB82643}"/>
              </a:ext>
            </a:extLst>
          </p:cNvPr>
          <p:cNvSpPr txBox="1"/>
          <p:nvPr/>
        </p:nvSpPr>
        <p:spPr>
          <a:xfrm>
            <a:off x="2110654" y="3244334"/>
            <a:ext cx="12625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batch </a:t>
            </a:r>
            <a:r>
              <a:rPr lang="pt-BR" i="1" dirty="0" err="1"/>
              <a:t>norm</a:t>
            </a:r>
            <a:endParaRPr lang="pt-BR" i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707288-BFB5-9E66-F7C9-94826007B267}"/>
              </a:ext>
            </a:extLst>
          </p:cNvPr>
          <p:cNvSpPr txBox="1"/>
          <p:nvPr/>
        </p:nvSpPr>
        <p:spPr>
          <a:xfrm>
            <a:off x="7841922" y="3229252"/>
            <a:ext cx="1199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 err="1"/>
              <a:t>layer</a:t>
            </a:r>
            <a:r>
              <a:rPr lang="pt-BR" i="1" dirty="0"/>
              <a:t> </a:t>
            </a:r>
            <a:r>
              <a:rPr lang="pt-BR" i="1" dirty="0" err="1"/>
              <a:t>norm</a:t>
            </a:r>
            <a:endParaRPr lang="pt-BR" i="1" dirty="0"/>
          </a:p>
        </p:txBody>
      </p:sp>
    </p:spTree>
    <p:extLst>
      <p:ext uri="{BB962C8B-B14F-4D97-AF65-F5344CB8AC3E}">
        <p14:creationId xmlns:p14="http://schemas.microsoft.com/office/powerpoint/2010/main" val="581515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8D8C5-0B4D-DEE7-A48C-3687C7C0A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42E937B5-87CE-A9B8-147A-3682288425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731" y="1115961"/>
            <a:ext cx="10787392" cy="5742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74360B-9FEB-9DDB-30E0-016A30834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26</a:t>
            </a:fld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CD63C41-87BE-E864-8F21-390FD2E53794}"/>
              </a:ext>
            </a:extLst>
          </p:cNvPr>
          <p:cNvSpPr/>
          <p:nvPr/>
        </p:nvSpPr>
        <p:spPr>
          <a:xfrm>
            <a:off x="5986564" y="1115961"/>
            <a:ext cx="6054090" cy="5722042"/>
          </a:xfrm>
          <a:prstGeom prst="rect">
            <a:avLst/>
          </a:prstGeom>
          <a:solidFill>
            <a:srgbClr val="FFFFFF">
              <a:alpha val="9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EEE936-0750-6E05-D6E1-E213BD06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Transformers</a:t>
            </a:r>
            <a:endParaRPr lang="pt-BR" i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1EE8B5-E5C4-44DF-BA20-6D267FBE8516}"/>
              </a:ext>
            </a:extLst>
          </p:cNvPr>
          <p:cNvSpPr/>
          <p:nvPr/>
        </p:nvSpPr>
        <p:spPr>
          <a:xfrm>
            <a:off x="6996701" y="2565160"/>
            <a:ext cx="4602822" cy="2284242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2000" dirty="0">
                <a:solidFill>
                  <a:schemeClr val="tx1"/>
                </a:solidFill>
              </a:rPr>
              <a:t>Após a camada de </a:t>
            </a:r>
            <a:r>
              <a:rPr lang="pt-BR" sz="2000" i="1" dirty="0" err="1">
                <a:solidFill>
                  <a:schemeClr val="tx1"/>
                </a:solidFill>
              </a:rPr>
              <a:t>Layer</a:t>
            </a:r>
            <a:r>
              <a:rPr lang="pt-BR" sz="2000" i="1" dirty="0">
                <a:solidFill>
                  <a:schemeClr val="tx1"/>
                </a:solidFill>
              </a:rPr>
              <a:t> Norm </a:t>
            </a:r>
            <a:r>
              <a:rPr lang="pt-BR" sz="2000" dirty="0">
                <a:solidFill>
                  <a:schemeClr val="tx1"/>
                </a:solidFill>
              </a:rPr>
              <a:t>conectamos a saída a um </a:t>
            </a:r>
            <a:r>
              <a:rPr lang="pt-BR" sz="2000" i="1" dirty="0">
                <a:solidFill>
                  <a:schemeClr val="tx1"/>
                </a:solidFill>
              </a:rPr>
              <a:t>MLP </a:t>
            </a:r>
            <a:r>
              <a:rPr lang="pt-BR" sz="2000" dirty="0">
                <a:solidFill>
                  <a:schemeClr val="tx1"/>
                </a:solidFill>
              </a:rPr>
              <a:t>(no </a:t>
            </a:r>
            <a:r>
              <a:rPr lang="pt-BR" sz="2000" dirty="0" err="1">
                <a:solidFill>
                  <a:schemeClr val="tx1"/>
                </a:solidFill>
              </a:rPr>
              <a:t>paper</a:t>
            </a:r>
            <a:r>
              <a:rPr lang="pt-BR" sz="2000" dirty="0">
                <a:solidFill>
                  <a:schemeClr val="tx1"/>
                </a:solidFill>
              </a:rPr>
              <a:t> original eram duas camadas com </a:t>
            </a:r>
            <a:r>
              <a:rPr lang="pt-BR" sz="2000" dirty="0" err="1">
                <a:solidFill>
                  <a:schemeClr val="tx1"/>
                </a:solidFill>
              </a:rPr>
              <a:t>ReLU</a:t>
            </a:r>
            <a:r>
              <a:rPr lang="pt-BR" sz="2000" dirty="0">
                <a:solidFill>
                  <a:schemeClr val="tx1"/>
                </a:solidFill>
              </a:rPr>
              <a:t>).</a:t>
            </a:r>
          </a:p>
          <a:p>
            <a:pPr algn="just"/>
            <a:r>
              <a:rPr lang="pt-BR" sz="2000" dirty="0">
                <a:solidFill>
                  <a:schemeClr val="tx1"/>
                </a:solidFill>
              </a:rPr>
              <a:t>Repare que a entrada do MLP depende do tamanho da sequência, então na prática o MLP processa cada token de forma independente</a:t>
            </a:r>
          </a:p>
        </p:txBody>
      </p:sp>
    </p:spTree>
    <p:extLst>
      <p:ext uri="{BB962C8B-B14F-4D97-AF65-F5344CB8AC3E}">
        <p14:creationId xmlns:p14="http://schemas.microsoft.com/office/powerpoint/2010/main" val="31055634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FC9AA-B662-494E-5BCF-BEE271394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CC750DBA-F615-4EA8-B3C3-A855704505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731" y="1115961"/>
            <a:ext cx="10787392" cy="5742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AA45D8-404B-9474-760A-93C96D325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27</a:t>
            </a:fld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AB92CA-BD94-D9DB-3436-16B03243AC33}"/>
              </a:ext>
            </a:extLst>
          </p:cNvPr>
          <p:cNvSpPr/>
          <p:nvPr/>
        </p:nvSpPr>
        <p:spPr>
          <a:xfrm>
            <a:off x="5986564" y="1115961"/>
            <a:ext cx="6054090" cy="5722042"/>
          </a:xfrm>
          <a:prstGeom prst="rect">
            <a:avLst/>
          </a:prstGeom>
          <a:solidFill>
            <a:srgbClr val="FFFFFF">
              <a:alpha val="9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D3F11A-7FAF-8EF3-01D8-03F2E7D07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Transformers</a:t>
            </a:r>
            <a:endParaRPr lang="pt-BR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9CBDC999-031C-1AAD-4250-3C817B2492B4}"/>
                  </a:ext>
                </a:extLst>
              </p:cNvPr>
              <p:cNvSpPr/>
              <p:nvPr/>
            </p:nvSpPr>
            <p:spPr>
              <a:xfrm>
                <a:off x="6904234" y="3092816"/>
                <a:ext cx="4602822" cy="1181528"/>
              </a:xfrm>
              <a:prstGeom prst="rect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:r>
                  <a:rPr lang="pt-BR" sz="2000" dirty="0">
                    <a:solidFill>
                      <a:schemeClr val="tx1"/>
                    </a:solidFill>
                  </a:rPr>
                  <a:t>Podemos replicar todo esse bloco N vezes, no </a:t>
                </a:r>
                <a:r>
                  <a:rPr lang="pt-BR" sz="2000" dirty="0" err="1">
                    <a:solidFill>
                      <a:schemeClr val="tx1"/>
                    </a:solidFill>
                  </a:rPr>
                  <a:t>paper</a:t>
                </a:r>
                <a:r>
                  <a:rPr lang="pt-BR" sz="2000" dirty="0">
                    <a:solidFill>
                      <a:schemeClr val="tx1"/>
                    </a:solidFill>
                  </a:rPr>
                  <a:t> original foram usados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r>
                  <a:rPr lang="pt-BR" sz="2000" dirty="0">
                    <a:solidFill>
                      <a:schemeClr val="tx1"/>
                    </a:solidFill>
                  </a:rPr>
                  <a:t> blocos de </a:t>
                </a:r>
                <a:r>
                  <a:rPr lang="pt-BR" sz="2000" i="1" dirty="0" err="1">
                    <a:solidFill>
                      <a:schemeClr val="tx1"/>
                    </a:solidFill>
                  </a:rPr>
                  <a:t>transformer</a:t>
                </a:r>
                <a:endParaRPr lang="pt-BR" sz="2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9CBDC999-031C-1AAD-4250-3C817B2492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4234" y="3092816"/>
                <a:ext cx="4602822" cy="1181528"/>
              </a:xfrm>
              <a:prstGeom prst="rect">
                <a:avLst/>
              </a:prstGeom>
              <a:blipFill>
                <a:blip r:embed="rId3"/>
                <a:stretch>
                  <a:fillRect l="-1321" r="-1189" b="-153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23190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32049-A3FA-713C-FC8B-6854A6ED5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2E1C7141-11EE-2BD5-DC7C-CC375F3670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731" y="1115961"/>
            <a:ext cx="10787392" cy="5742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E072B0-C45A-6966-9118-3E4CB8EB5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28</a:t>
            </a:fld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998232-5346-4D4A-8FF1-223C71D39AA3}"/>
              </a:ext>
            </a:extLst>
          </p:cNvPr>
          <p:cNvSpPr/>
          <p:nvPr/>
        </p:nvSpPr>
        <p:spPr>
          <a:xfrm>
            <a:off x="5986564" y="1115961"/>
            <a:ext cx="6054090" cy="5722042"/>
          </a:xfrm>
          <a:prstGeom prst="rect">
            <a:avLst/>
          </a:prstGeom>
          <a:solidFill>
            <a:srgbClr val="FFFFFF">
              <a:alpha val="9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ACA5FE-95D0-24F0-3876-84679D3B0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Transformers</a:t>
            </a:r>
            <a:endParaRPr lang="pt-BR" i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77E496-D73B-5548-AE1A-D29AFA5DE7F2}"/>
              </a:ext>
            </a:extLst>
          </p:cNvPr>
          <p:cNvSpPr/>
          <p:nvPr/>
        </p:nvSpPr>
        <p:spPr>
          <a:xfrm>
            <a:off x="6996701" y="3616502"/>
            <a:ext cx="3441843" cy="1232899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2800" dirty="0">
                <a:solidFill>
                  <a:schemeClr val="tx1"/>
                </a:solidFill>
              </a:rPr>
              <a:t>Esse é o </a:t>
            </a:r>
            <a:r>
              <a:rPr lang="pt-BR" sz="2800" i="1" dirty="0" err="1">
                <a:solidFill>
                  <a:schemeClr val="tx1"/>
                </a:solidFill>
              </a:rPr>
              <a:t>encoder</a:t>
            </a:r>
            <a:r>
              <a:rPr lang="pt-BR" sz="2800" dirty="0">
                <a:solidFill>
                  <a:schemeClr val="tx1"/>
                </a:solidFill>
              </a:rPr>
              <a:t> do </a:t>
            </a:r>
            <a:r>
              <a:rPr lang="pt-BR" sz="2800" i="1" dirty="0" err="1">
                <a:solidFill>
                  <a:schemeClr val="tx1"/>
                </a:solidFill>
              </a:rPr>
              <a:t>transformer</a:t>
            </a:r>
            <a:r>
              <a:rPr lang="pt-BR" sz="2800" dirty="0">
                <a:solidFill>
                  <a:schemeClr val="tx1"/>
                </a:solidFill>
              </a:rPr>
              <a:t> original</a:t>
            </a:r>
            <a:endParaRPr lang="pt-BR" sz="2800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63045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99388-48C9-0D0E-DDD6-186BBD109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7BD366EA-EF86-010C-6400-94F591EBE0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731" y="1115961"/>
            <a:ext cx="10787392" cy="5742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F53344-7208-5894-B1D7-A15A3E557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29</a:t>
            </a:fld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0F2CE1-B4A1-BCF0-235F-BE0867F4798C}"/>
              </a:ext>
            </a:extLst>
          </p:cNvPr>
          <p:cNvSpPr/>
          <p:nvPr/>
        </p:nvSpPr>
        <p:spPr>
          <a:xfrm>
            <a:off x="5986564" y="1115961"/>
            <a:ext cx="6054090" cy="4206052"/>
          </a:xfrm>
          <a:prstGeom prst="rect">
            <a:avLst/>
          </a:prstGeom>
          <a:solidFill>
            <a:srgbClr val="FFFFFF">
              <a:alpha val="9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10A784-34C9-599C-3C3C-581443237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Transformers</a:t>
            </a:r>
            <a:endParaRPr lang="pt-BR" i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891D19-0A93-EBE3-EF1C-20A1623BDBE3}"/>
              </a:ext>
            </a:extLst>
          </p:cNvPr>
          <p:cNvSpPr/>
          <p:nvPr/>
        </p:nvSpPr>
        <p:spPr>
          <a:xfrm>
            <a:off x="6135415" y="1657002"/>
            <a:ext cx="5801474" cy="1232899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2400" dirty="0">
                <a:solidFill>
                  <a:schemeClr val="tx1"/>
                </a:solidFill>
              </a:rPr>
              <a:t>Vamos ao </a:t>
            </a:r>
            <a:r>
              <a:rPr lang="pt-BR" sz="2400" i="1" dirty="0" err="1">
                <a:solidFill>
                  <a:schemeClr val="tx1"/>
                </a:solidFill>
              </a:rPr>
              <a:t>decoder</a:t>
            </a:r>
            <a:r>
              <a:rPr lang="pt-BR" sz="2400" i="1" dirty="0">
                <a:solidFill>
                  <a:schemeClr val="tx1"/>
                </a:solidFill>
              </a:rPr>
              <a:t>. </a:t>
            </a:r>
          </a:p>
          <a:p>
            <a:pPr algn="just"/>
            <a:r>
              <a:rPr lang="pt-BR" sz="2400" dirty="0">
                <a:solidFill>
                  <a:schemeClr val="tx1"/>
                </a:solidFill>
              </a:rPr>
              <a:t>Começamos fazendo o </a:t>
            </a:r>
            <a:r>
              <a:rPr lang="pt-BR" sz="2400" dirty="0" err="1">
                <a:solidFill>
                  <a:schemeClr val="tx1"/>
                </a:solidFill>
              </a:rPr>
              <a:t>encoding</a:t>
            </a:r>
            <a:r>
              <a:rPr lang="pt-BR" sz="2400" dirty="0">
                <a:solidFill>
                  <a:schemeClr val="tx1"/>
                </a:solidFill>
              </a:rPr>
              <a:t> posicional com a matriz fixa ou aprendida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676D2A9-FF9E-B53F-88F7-8BFFFEEFC5A4}"/>
              </a:ext>
            </a:extLst>
          </p:cNvPr>
          <p:cNvSpPr/>
          <p:nvPr/>
        </p:nvSpPr>
        <p:spPr>
          <a:xfrm>
            <a:off x="8455631" y="5322014"/>
            <a:ext cx="3377492" cy="897812"/>
          </a:xfrm>
          <a:prstGeom prst="rect">
            <a:avLst/>
          </a:prstGeom>
          <a:solidFill>
            <a:srgbClr val="FFFFFF">
              <a:alpha val="9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06377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E0967-100A-2685-F79E-1F3991DAC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84ED5206-016F-1612-01E4-2A6C5DF553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731" y="1115961"/>
            <a:ext cx="10787392" cy="5742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1B4B63-78A7-D987-421A-87B3BE781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30</a:t>
            </a:fld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F0C84D7-F4CD-4671-7B44-2EB80C4257EF}"/>
              </a:ext>
            </a:extLst>
          </p:cNvPr>
          <p:cNvSpPr/>
          <p:nvPr/>
        </p:nvSpPr>
        <p:spPr>
          <a:xfrm>
            <a:off x="5986564" y="1115961"/>
            <a:ext cx="6054090" cy="3006840"/>
          </a:xfrm>
          <a:prstGeom prst="rect">
            <a:avLst/>
          </a:prstGeom>
          <a:solidFill>
            <a:srgbClr val="FFFFFF">
              <a:alpha val="9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6A7F5E-EC1E-ABD7-6D17-960CD20F8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Transformers</a:t>
            </a:r>
            <a:endParaRPr lang="pt-BR" i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79C322-1EF6-9A31-793A-C92AAB34999A}"/>
              </a:ext>
            </a:extLst>
          </p:cNvPr>
          <p:cNvSpPr/>
          <p:nvPr/>
        </p:nvSpPr>
        <p:spPr>
          <a:xfrm>
            <a:off x="6135415" y="1657002"/>
            <a:ext cx="5801474" cy="1771998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2400" dirty="0">
                <a:solidFill>
                  <a:schemeClr val="tx1"/>
                </a:solidFill>
              </a:rPr>
              <a:t>Aqui temos o primeiro bloco de </a:t>
            </a:r>
            <a:r>
              <a:rPr lang="pt-BR" sz="2400" i="1" dirty="0" err="1">
                <a:solidFill>
                  <a:schemeClr val="tx1"/>
                </a:solidFill>
              </a:rPr>
              <a:t>Multi-Head</a:t>
            </a:r>
            <a:r>
              <a:rPr lang="pt-BR" sz="2400" i="1" dirty="0">
                <a:solidFill>
                  <a:schemeClr val="tx1"/>
                </a:solidFill>
              </a:rPr>
              <a:t> </a:t>
            </a:r>
            <a:r>
              <a:rPr lang="pt-BR" sz="2400" i="1" dirty="0" err="1">
                <a:solidFill>
                  <a:schemeClr val="tx1"/>
                </a:solidFill>
              </a:rPr>
              <a:t>Attention</a:t>
            </a:r>
            <a:r>
              <a:rPr lang="pt-BR" sz="2400" dirty="0">
                <a:solidFill>
                  <a:schemeClr val="tx1"/>
                </a:solidFill>
              </a:rPr>
              <a:t>, ele é praticamente igual ao bloco do </a:t>
            </a:r>
            <a:r>
              <a:rPr lang="pt-BR" sz="2400" i="1" dirty="0" err="1">
                <a:solidFill>
                  <a:schemeClr val="tx1"/>
                </a:solidFill>
              </a:rPr>
              <a:t>encoder</a:t>
            </a:r>
            <a:r>
              <a:rPr lang="pt-BR" sz="2400" dirty="0">
                <a:solidFill>
                  <a:schemeClr val="tx1"/>
                </a:solidFill>
              </a:rPr>
              <a:t> mas aqui aplicamos uma máscara para olhar apenas para os tokens anteriores</a:t>
            </a:r>
            <a:endParaRPr lang="pt-BR" sz="2400" i="1" dirty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95D81D1-7607-92B0-B519-B928C09D2C42}"/>
              </a:ext>
            </a:extLst>
          </p:cNvPr>
          <p:cNvSpPr/>
          <p:nvPr/>
        </p:nvSpPr>
        <p:spPr>
          <a:xfrm>
            <a:off x="8455631" y="5742038"/>
            <a:ext cx="3377492" cy="477787"/>
          </a:xfrm>
          <a:prstGeom prst="rect">
            <a:avLst/>
          </a:prstGeom>
          <a:solidFill>
            <a:srgbClr val="FFFFFF">
              <a:alpha val="9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301038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8915E01-B4BE-478B-5852-2E66A04BB4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7305" y="1323975"/>
            <a:ext cx="2602760" cy="50323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936842C-C4F2-C8A6-16DA-C079D4363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 err="1"/>
              <a:t>Scaled</a:t>
            </a:r>
            <a:r>
              <a:rPr lang="pt-BR" i="1" dirty="0"/>
              <a:t> </a:t>
            </a:r>
            <a:r>
              <a:rPr lang="pt-BR" i="1" dirty="0" err="1"/>
              <a:t>Dot</a:t>
            </a:r>
            <a:r>
              <a:rPr lang="pt-BR" i="1" dirty="0"/>
              <a:t> </a:t>
            </a:r>
            <a:r>
              <a:rPr lang="pt-BR" i="1" dirty="0" err="1"/>
              <a:t>Product</a:t>
            </a:r>
            <a:r>
              <a:rPr lang="pt-BR" i="1" dirty="0"/>
              <a:t> </a:t>
            </a:r>
            <a:r>
              <a:rPr lang="pt-BR" i="1" dirty="0" err="1"/>
              <a:t>Attention</a:t>
            </a:r>
            <a:endParaRPr lang="pt-BR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6B5E12-042B-C84C-C454-51877967CA1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8685944" cy="4351338"/>
              </a:xfrm>
            </p:spPr>
            <p:txBody>
              <a:bodyPr>
                <a:normAutofit/>
              </a:bodyPr>
              <a:lstStyle/>
              <a:p>
                <a:r>
                  <a:rPr lang="pt-BR" sz="2400" dirty="0"/>
                  <a:t>Um dos blocos do </a:t>
                </a:r>
                <a:r>
                  <a:rPr lang="pt-BR" sz="2400" i="1" dirty="0"/>
                  <a:t>Self </a:t>
                </a:r>
                <a:r>
                  <a:rPr lang="pt-BR" sz="2400" i="1" dirty="0" err="1"/>
                  <a:t>Attention</a:t>
                </a:r>
                <a:r>
                  <a:rPr lang="pt-BR" sz="2400" i="1" dirty="0"/>
                  <a:t> </a:t>
                </a:r>
                <a:r>
                  <a:rPr lang="pt-BR" sz="2400" dirty="0"/>
                  <a:t>é uma máscara (opcional)</a:t>
                </a:r>
              </a:p>
              <a:p>
                <a:r>
                  <a:rPr lang="pt-BR" sz="2400" dirty="0"/>
                  <a:t>Tarefa de tradução!</a:t>
                </a:r>
                <a:endParaRPr lang="pt-BR" sz="2400" i="1" dirty="0"/>
              </a:p>
              <a:p>
                <a:r>
                  <a:rPr lang="pt-BR" sz="2400" dirty="0"/>
                  <a:t>Adicionamos uma máscara formada por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pt-BR" sz="2400" dirty="0"/>
                  <a:t>s 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𝑖𝑛𝑓</m:t>
                    </m:r>
                  </m:oMath>
                </a14:m>
                <a:r>
                  <a:rPr lang="pt-BR" sz="2400" dirty="0"/>
                  <a:t> nos </a:t>
                </a:r>
                <a:r>
                  <a:rPr lang="pt-BR" sz="2400" i="1" dirty="0">
                    <a:solidFill>
                      <a:srgbClr val="00B0F0"/>
                    </a:solidFill>
                  </a:rPr>
                  <a:t>scores</a:t>
                </a:r>
                <a:r>
                  <a:rPr lang="pt-BR" sz="2400" dirty="0"/>
                  <a:t> não normalizados (antes da </a:t>
                </a:r>
                <a:r>
                  <a:rPr lang="pt-BR" sz="2400" i="1" dirty="0" err="1"/>
                  <a:t>softmax</a:t>
                </a:r>
                <a:r>
                  <a:rPr lang="pt-BR" sz="2400" dirty="0"/>
                  <a:t>)</a:t>
                </a:r>
              </a:p>
              <a:p>
                <a:pPr lvl="1"/>
                <a:r>
                  <a:rPr lang="pt-BR" sz="2000" dirty="0"/>
                  <a:t>Para </a:t>
                </a:r>
                <a:r>
                  <a:rPr lang="pt-BR" sz="2000" i="1" dirty="0">
                    <a:solidFill>
                      <a:srgbClr val="FF0000"/>
                    </a:solidFill>
                  </a:rPr>
                  <a:t>tokens</a:t>
                </a:r>
                <a:r>
                  <a:rPr lang="pt-BR" sz="2000" i="1" dirty="0"/>
                  <a:t> </a:t>
                </a:r>
                <a:r>
                  <a:rPr lang="pt-BR" sz="2000" dirty="0"/>
                  <a:t>a direita do instante atual são mascarados por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𝑖𝑛𝑓</m:t>
                    </m:r>
                  </m:oMath>
                </a14:m>
                <a:r>
                  <a:rPr lang="pt-BR" sz="2000" dirty="0"/>
                  <a:t> para que o peso da atenção seja zerado</a:t>
                </a:r>
              </a:p>
              <a:p>
                <a:pPr lvl="1"/>
                <a:r>
                  <a:rPr lang="pt-BR" sz="2000" dirty="0"/>
                  <a:t>Para os demais </a:t>
                </a:r>
                <a:r>
                  <a:rPr lang="pt-BR" sz="2000" i="1" dirty="0">
                    <a:solidFill>
                      <a:srgbClr val="FF0000"/>
                    </a:solidFill>
                  </a:rPr>
                  <a:t>tokens</a:t>
                </a:r>
                <a:r>
                  <a:rPr lang="pt-BR" sz="2000" i="1" dirty="0"/>
                  <a:t> </a:t>
                </a:r>
                <a:r>
                  <a:rPr lang="pt-BR" sz="2000" dirty="0"/>
                  <a:t>não  há alteração  </a:t>
                </a:r>
              </a:p>
              <a:p>
                <a:pPr lvl="1"/>
                <a:r>
                  <a:rPr lang="pt-BR" sz="2000" dirty="0"/>
                  <a:t>Assim garantimos que o modelo não olhe para partes da tradução que só existem nos dados anotados mas que não existem em novas inferências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6B5E12-042B-C84C-C454-51877967CA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8685944" cy="4351338"/>
              </a:xfrm>
              <a:blipFill>
                <a:blip r:embed="rId3"/>
                <a:stretch>
                  <a:fillRect l="-983" t="-1961" r="-91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57F5AE-3326-52E3-FCFC-D19349152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31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03483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D80F7-CBFB-A1A4-10DD-9EC47B036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651479B6-DDAE-FAEB-14C8-710C5304B8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731" y="1115961"/>
            <a:ext cx="10787392" cy="5742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DB48A3-D68B-2CF5-3634-D88A77781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32</a:t>
            </a:fld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925646-304C-3297-42B9-533E070127DD}"/>
              </a:ext>
            </a:extLst>
          </p:cNvPr>
          <p:cNvSpPr/>
          <p:nvPr/>
        </p:nvSpPr>
        <p:spPr>
          <a:xfrm>
            <a:off x="5986564" y="1115961"/>
            <a:ext cx="6054090" cy="1953060"/>
          </a:xfrm>
          <a:prstGeom prst="rect">
            <a:avLst/>
          </a:prstGeom>
          <a:solidFill>
            <a:srgbClr val="FFFFFF">
              <a:alpha val="9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663040-97C5-1D06-A757-F801612CA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Transformers</a:t>
            </a:r>
            <a:endParaRPr lang="pt-BR" i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6B0B15-2630-7D0A-E87D-2433FCC3C6CD}"/>
              </a:ext>
            </a:extLst>
          </p:cNvPr>
          <p:cNvSpPr/>
          <p:nvPr/>
        </p:nvSpPr>
        <p:spPr>
          <a:xfrm>
            <a:off x="6559793" y="365125"/>
            <a:ext cx="5273330" cy="14172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2400" dirty="0">
                <a:solidFill>
                  <a:schemeClr val="tx1"/>
                </a:solidFill>
              </a:rPr>
              <a:t>Aqui temos mais um bloco de </a:t>
            </a:r>
            <a:r>
              <a:rPr lang="pt-BR" sz="2400" i="1" dirty="0" err="1">
                <a:solidFill>
                  <a:schemeClr val="tx1"/>
                </a:solidFill>
              </a:rPr>
              <a:t>Multi-Head</a:t>
            </a:r>
            <a:r>
              <a:rPr lang="pt-BR" sz="2400" i="1" dirty="0">
                <a:solidFill>
                  <a:schemeClr val="tx1"/>
                </a:solidFill>
              </a:rPr>
              <a:t> </a:t>
            </a:r>
            <a:r>
              <a:rPr lang="pt-BR" sz="2400" i="1" dirty="0" err="1">
                <a:solidFill>
                  <a:schemeClr val="tx1"/>
                </a:solidFill>
              </a:rPr>
              <a:t>Attention</a:t>
            </a:r>
            <a:r>
              <a:rPr lang="pt-BR" sz="2400" i="1" dirty="0">
                <a:solidFill>
                  <a:schemeClr val="tx1"/>
                </a:solidFill>
              </a:rPr>
              <a:t>. </a:t>
            </a:r>
            <a:r>
              <a:rPr lang="pt-BR" sz="2400" dirty="0">
                <a:solidFill>
                  <a:schemeClr val="tx1"/>
                </a:solidFill>
              </a:rPr>
              <a:t>Esse bloco usa </a:t>
            </a:r>
            <a:r>
              <a:rPr lang="pt-BR" sz="2400" i="1" dirty="0">
                <a:solidFill>
                  <a:schemeClr val="accent6">
                    <a:lumMod val="75000"/>
                  </a:schemeClr>
                </a:solidFill>
              </a:rPr>
              <a:t>Query</a:t>
            </a:r>
            <a:r>
              <a:rPr lang="pt-BR" sz="2400" dirty="0">
                <a:solidFill>
                  <a:schemeClr val="tx1"/>
                </a:solidFill>
              </a:rPr>
              <a:t> e </a:t>
            </a:r>
            <a:r>
              <a:rPr lang="pt-BR" sz="2400" i="1" dirty="0">
                <a:solidFill>
                  <a:schemeClr val="accent6">
                    <a:lumMod val="75000"/>
                  </a:schemeClr>
                </a:solidFill>
              </a:rPr>
              <a:t>Key</a:t>
            </a:r>
            <a:r>
              <a:rPr lang="pt-BR" sz="2400" dirty="0">
                <a:solidFill>
                  <a:schemeClr val="tx1"/>
                </a:solidFill>
              </a:rPr>
              <a:t> do </a:t>
            </a:r>
            <a:r>
              <a:rPr lang="pt-BR" sz="2400" dirty="0" err="1">
                <a:solidFill>
                  <a:schemeClr val="accent6">
                    <a:lumMod val="75000"/>
                  </a:schemeClr>
                </a:solidFill>
              </a:rPr>
              <a:t>encoder</a:t>
            </a:r>
            <a:r>
              <a:rPr lang="pt-BR" sz="2400" dirty="0">
                <a:solidFill>
                  <a:schemeClr val="tx1"/>
                </a:solidFill>
              </a:rPr>
              <a:t> e </a:t>
            </a:r>
            <a:r>
              <a:rPr lang="pt-BR" sz="2400" i="1" dirty="0" err="1">
                <a:solidFill>
                  <a:srgbClr val="FF0000"/>
                </a:solidFill>
              </a:rPr>
              <a:t>Values</a:t>
            </a:r>
            <a:r>
              <a:rPr lang="pt-BR" sz="2400" i="1" dirty="0">
                <a:solidFill>
                  <a:schemeClr val="tx1"/>
                </a:solidFill>
              </a:rPr>
              <a:t> do </a:t>
            </a:r>
            <a:r>
              <a:rPr lang="pt-BR" sz="2400" i="1" dirty="0" err="1">
                <a:solidFill>
                  <a:srgbClr val="FF0000"/>
                </a:solidFill>
              </a:rPr>
              <a:t>decoder</a:t>
            </a:r>
            <a:endParaRPr lang="pt-BR" sz="2400" i="1" dirty="0">
              <a:solidFill>
                <a:srgbClr val="FF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AFB96E-F36F-6527-5534-78C6B020732C}"/>
              </a:ext>
            </a:extLst>
          </p:cNvPr>
          <p:cNvSpPr/>
          <p:nvPr/>
        </p:nvSpPr>
        <p:spPr>
          <a:xfrm>
            <a:off x="8455631" y="5742038"/>
            <a:ext cx="3377492" cy="477787"/>
          </a:xfrm>
          <a:prstGeom prst="rect">
            <a:avLst/>
          </a:prstGeom>
          <a:solidFill>
            <a:srgbClr val="FFFFFF">
              <a:alpha val="9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17215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3FC61-603A-FE59-663A-FABE1CCD3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83F48936-70C7-4F8C-6BB8-A91D8C0A9C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731" y="1115961"/>
            <a:ext cx="10787392" cy="5742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277797-F5D7-B92A-5D97-AF78694A0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33</a:t>
            </a:fld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D0AAB8-1815-1C27-BEF2-96499057D7E5}"/>
              </a:ext>
            </a:extLst>
          </p:cNvPr>
          <p:cNvSpPr/>
          <p:nvPr/>
        </p:nvSpPr>
        <p:spPr>
          <a:xfrm>
            <a:off x="5986564" y="1115961"/>
            <a:ext cx="1696498" cy="1196315"/>
          </a:xfrm>
          <a:prstGeom prst="rect">
            <a:avLst/>
          </a:prstGeom>
          <a:solidFill>
            <a:srgbClr val="FFFFFF">
              <a:alpha val="9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68CE6D-2445-7440-11CE-3BAE1DE63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Transformers</a:t>
            </a:r>
            <a:endParaRPr lang="pt-BR" i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B2BDDF-39CB-61C5-B2C9-F4966369FCDD}"/>
              </a:ext>
            </a:extLst>
          </p:cNvPr>
          <p:cNvSpPr/>
          <p:nvPr/>
        </p:nvSpPr>
        <p:spPr>
          <a:xfrm>
            <a:off x="358877" y="1437180"/>
            <a:ext cx="5273330" cy="14172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2400" dirty="0">
                <a:solidFill>
                  <a:schemeClr val="tx1"/>
                </a:solidFill>
              </a:rPr>
              <a:t>Mais um </a:t>
            </a:r>
            <a:r>
              <a:rPr lang="pt-BR" sz="2400" i="1" dirty="0">
                <a:solidFill>
                  <a:schemeClr val="tx1"/>
                </a:solidFill>
              </a:rPr>
              <a:t>MLP</a:t>
            </a:r>
            <a:r>
              <a:rPr lang="pt-BR" sz="2400" dirty="0">
                <a:solidFill>
                  <a:schemeClr val="tx1"/>
                </a:solidFill>
              </a:rPr>
              <a:t> para combinar e reprojetar a saída dos blocos de atenção</a:t>
            </a:r>
            <a:endParaRPr lang="pt-BR" sz="2400" i="1" dirty="0">
              <a:solidFill>
                <a:srgbClr val="FF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9206349-EF9F-C810-35AE-0CA0BA75138C}"/>
              </a:ext>
            </a:extLst>
          </p:cNvPr>
          <p:cNvSpPr/>
          <p:nvPr/>
        </p:nvSpPr>
        <p:spPr>
          <a:xfrm>
            <a:off x="8455631" y="5742038"/>
            <a:ext cx="3377492" cy="477787"/>
          </a:xfrm>
          <a:prstGeom prst="rect">
            <a:avLst/>
          </a:prstGeom>
          <a:solidFill>
            <a:srgbClr val="FFFFFF">
              <a:alpha val="9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38373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7E7A3-07F9-09FD-C9E0-59B0256F5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A3D20495-9749-B4C7-61D2-09B9F4A0E9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731" y="1115961"/>
            <a:ext cx="10787392" cy="5742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11E3DB-0A43-F6EF-F58A-E32853510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34</a:t>
            </a:fld>
            <a:endParaRPr lang="pt-B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37A242-3CAF-F258-77C0-14C1D1D5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Transformers</a:t>
            </a:r>
            <a:endParaRPr lang="pt-BR" i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EF8AE51-B508-1D6A-97DE-CEB080C8C0C9}"/>
              </a:ext>
            </a:extLst>
          </p:cNvPr>
          <p:cNvSpPr/>
          <p:nvPr/>
        </p:nvSpPr>
        <p:spPr>
          <a:xfrm>
            <a:off x="5818966" y="136525"/>
            <a:ext cx="5273330" cy="71027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2400" dirty="0">
                <a:solidFill>
                  <a:schemeClr val="tx1"/>
                </a:solidFill>
              </a:rPr>
              <a:t>E no final um MLP para classificar e obter a probabilidade dos próximos </a:t>
            </a:r>
            <a:r>
              <a:rPr lang="pt-BR" sz="2400" i="1" dirty="0">
                <a:solidFill>
                  <a:srgbClr val="FF0000"/>
                </a:solidFill>
              </a:rPr>
              <a:t>tokens</a:t>
            </a:r>
            <a:r>
              <a:rPr lang="pt-BR" sz="2400" dirty="0">
                <a:solidFill>
                  <a:schemeClr val="tx1"/>
                </a:solidFill>
              </a:rPr>
              <a:t> </a:t>
            </a:r>
            <a:r>
              <a:rPr lang="pt-BR" sz="2400" dirty="0">
                <a:solidFill>
                  <a:schemeClr val="tx1"/>
                </a:solidFill>
                <a:sym typeface="Wingdings" panose="05000000000000000000" pitchFamily="2" charset="2"/>
              </a:rPr>
              <a:t></a:t>
            </a:r>
            <a:endParaRPr lang="pt-BR" sz="2400" i="1" dirty="0">
              <a:solidFill>
                <a:srgbClr val="FF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C99A4FF-02C1-3241-4554-7447481340D5}"/>
              </a:ext>
            </a:extLst>
          </p:cNvPr>
          <p:cNvSpPr/>
          <p:nvPr/>
        </p:nvSpPr>
        <p:spPr>
          <a:xfrm>
            <a:off x="8455631" y="5742038"/>
            <a:ext cx="3377492" cy="477787"/>
          </a:xfrm>
          <a:prstGeom prst="rect">
            <a:avLst/>
          </a:prstGeom>
          <a:solidFill>
            <a:srgbClr val="FFFFFF">
              <a:alpha val="9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717332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39210-DDD5-77ED-B692-C8C37EDEA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615EAB2F-D3DA-7D12-1730-FB2300F1F9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759" y="277405"/>
            <a:ext cx="11996034" cy="6385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6D3B38-654A-885C-8702-0CBF7C7F1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35</a:t>
            </a:fld>
            <a:endParaRPr lang="pt-B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4BD57A8-D710-6401-F5A9-32289180439D}"/>
              </a:ext>
            </a:extLst>
          </p:cNvPr>
          <p:cNvSpPr/>
          <p:nvPr/>
        </p:nvSpPr>
        <p:spPr>
          <a:xfrm>
            <a:off x="8455631" y="5742038"/>
            <a:ext cx="3377492" cy="477787"/>
          </a:xfrm>
          <a:prstGeom prst="rect">
            <a:avLst/>
          </a:prstGeom>
          <a:solidFill>
            <a:srgbClr val="FFFFFF">
              <a:alpha val="9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34287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CC4FE-5DF5-BBA3-F5D4-144F2C5B4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Interpretabilidade</a:t>
            </a:r>
            <a:endParaRPr lang="pt-B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CA2662-0D76-73CD-B1DE-A00E917FB8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Vamos tentar interpretar os da atenção resultados</a:t>
            </a:r>
          </a:p>
          <a:p>
            <a:pPr lvl="1"/>
            <a:r>
              <a:rPr lang="pt-BR" dirty="0"/>
              <a:t>Os mecanismos de atenção são especialmente fáceis de inspecionar pois podemos nos concentrar na matriz de pesos da atenção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D119B4-4C7A-66E2-D7D9-82AED76F5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36</a:t>
            </a:fld>
            <a:endParaRPr lang="pt-BR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F78BE594-DCD3-F539-A7C8-05664D030C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9535" y="3106969"/>
            <a:ext cx="3778578" cy="3385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D45161A-01D8-430D-EADB-0A075CF64900}"/>
              </a:ext>
            </a:extLst>
          </p:cNvPr>
          <p:cNvSpPr txBox="1"/>
          <p:nvPr/>
        </p:nvSpPr>
        <p:spPr>
          <a:xfrm>
            <a:off x="0" y="6584788"/>
            <a:ext cx="1096442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VOITA, Elena et al. Analyzing multi-head self-attention: Specialized heads do the heavy lifting, the rest can be pruned. </a:t>
            </a:r>
            <a:r>
              <a:rPr lang="en-US" sz="1200" b="1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arXiv</a:t>
            </a:r>
            <a:r>
              <a:rPr lang="en-US" sz="12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preprint arXiv:1905.09418</a:t>
            </a:r>
            <a: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2019.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553432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F15A8-C9A5-B142-437D-20F6A8485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9807E-C279-CCF5-21AA-6FA00D6AA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Interpretabilidade</a:t>
            </a:r>
            <a:endParaRPr lang="pt-B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49E7D-2756-7DC5-21FA-6275BD1907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Percebemos que algumas </a:t>
            </a:r>
            <a:r>
              <a:rPr lang="pt-BR" i="1" dirty="0" err="1"/>
              <a:t>Attention</a:t>
            </a:r>
            <a:r>
              <a:rPr lang="pt-BR" i="1" dirty="0"/>
              <a:t> Heads</a:t>
            </a:r>
            <a:r>
              <a:rPr lang="pt-BR" dirty="0"/>
              <a:t> se especializam em fenômenos conhecidos</a:t>
            </a:r>
            <a:endParaRPr lang="pt-BR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3F2720-72FB-6528-6B9B-6F2D09742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37</a:t>
            </a:fld>
            <a:endParaRPr lang="pt-B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3CDE8F-BC3E-3C49-A397-6174FB6A9865}"/>
              </a:ext>
            </a:extLst>
          </p:cNvPr>
          <p:cNvSpPr txBox="1"/>
          <p:nvPr/>
        </p:nvSpPr>
        <p:spPr>
          <a:xfrm>
            <a:off x="0" y="6584788"/>
            <a:ext cx="1096442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VOITA, Elena et al. Analyzing multi-head self-attention: Specialized heads do the heavy lifting, the rest can be pruned. </a:t>
            </a:r>
            <a:r>
              <a:rPr lang="en-US" sz="1200" b="1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arXiv</a:t>
            </a:r>
            <a:r>
              <a:rPr lang="en-US" sz="12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preprint arXiv:1905.09418</a:t>
            </a:r>
            <a: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2019.</a:t>
            </a:r>
            <a:endParaRPr lang="pt-BR" sz="12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39E7E90-0806-F2F3-BF34-CEDFE0E4DA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523890"/>
            <a:ext cx="2919350" cy="2298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82CB6624-D5BC-1D13-D11F-E4C1B07D3E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7475" y="3523890"/>
            <a:ext cx="2919349" cy="2298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BD9D131-CE4F-FDC9-6DA3-14907C6312E7}"/>
              </a:ext>
            </a:extLst>
          </p:cNvPr>
          <p:cNvSpPr txBox="1"/>
          <p:nvPr/>
        </p:nvSpPr>
        <p:spPr>
          <a:xfrm>
            <a:off x="918022" y="3169757"/>
            <a:ext cx="10833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posição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8F82A7-4D42-886D-1DD7-44990DBF7532}"/>
              </a:ext>
            </a:extLst>
          </p:cNvPr>
          <p:cNvSpPr txBox="1"/>
          <p:nvPr/>
        </p:nvSpPr>
        <p:spPr>
          <a:xfrm>
            <a:off x="3757550" y="2921896"/>
            <a:ext cx="15591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Concordância </a:t>
            </a:r>
          </a:p>
          <a:p>
            <a:r>
              <a:rPr lang="pt-BR" dirty="0"/>
              <a:t>verbo-sujeito</a:t>
            </a:r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79315838-D3EA-C728-D787-07032A53FD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4948" y="3508691"/>
            <a:ext cx="2728408" cy="2154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3505902-583A-061C-15F5-9358396E400D}"/>
              </a:ext>
            </a:extLst>
          </p:cNvPr>
          <p:cNvSpPr txBox="1"/>
          <p:nvPr/>
        </p:nvSpPr>
        <p:spPr>
          <a:xfrm>
            <a:off x="6739553" y="3154558"/>
            <a:ext cx="1559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Objeto-verbo</a:t>
            </a:r>
          </a:p>
        </p:txBody>
      </p:sp>
      <p:pic>
        <p:nvPicPr>
          <p:cNvPr id="2056" name="Picture 8">
            <a:extLst>
              <a:ext uri="{FF2B5EF4-FFF2-40B4-BE49-F238E27FC236}">
                <a16:creationId xmlns:a16="http://schemas.microsoft.com/office/drawing/2014/main" id="{DCBBEBD1-276A-ADDF-FEF5-9AC9AC121A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5204" y="3478174"/>
            <a:ext cx="2978007" cy="2405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39596A4-2D1A-43B4-55A3-A8C5B3BC275A}"/>
              </a:ext>
            </a:extLst>
          </p:cNvPr>
          <p:cNvSpPr txBox="1"/>
          <p:nvPr/>
        </p:nvSpPr>
        <p:spPr>
          <a:xfrm>
            <a:off x="10086905" y="3041374"/>
            <a:ext cx="1559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Palavras raras</a:t>
            </a:r>
          </a:p>
        </p:txBody>
      </p:sp>
    </p:spTree>
    <p:extLst>
      <p:ext uri="{BB962C8B-B14F-4D97-AF65-F5344CB8AC3E}">
        <p14:creationId xmlns:p14="http://schemas.microsoft.com/office/powerpoint/2010/main" val="264142919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F4701-D9AA-027E-07B5-28D7F8F60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Referências</a:t>
            </a:r>
            <a:endParaRPr lang="pt-B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7E546A-28CB-F608-2FC9-7FE5C80DF8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000" dirty="0">
                <a:hlinkClick r:id="rId2"/>
              </a:rPr>
              <a:t>https://kazemnejad.com/blog/transformer_architecture_positional_encoding/</a:t>
            </a:r>
            <a:r>
              <a:rPr lang="pt-BR" sz="2000" dirty="0"/>
              <a:t> </a:t>
            </a:r>
          </a:p>
          <a:p>
            <a:r>
              <a:rPr 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VASWANI, Ashish et al. Attention is all you need. </a:t>
            </a:r>
            <a:r>
              <a:rPr lang="en-US" sz="20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Advances in neural information processing systems</a:t>
            </a:r>
            <a:r>
              <a:rPr 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v. 30, 2017.</a:t>
            </a:r>
            <a:endParaRPr lang="pt-BR" sz="2000" dirty="0"/>
          </a:p>
          <a:p>
            <a:r>
              <a:rPr lang="pt-BR" sz="2000" b="0" i="0" dirty="0">
                <a:solidFill>
                  <a:srgbClr val="222222"/>
                </a:solidFill>
                <a:effectLst/>
              </a:rPr>
              <a:t>SENNRICH, Rico; HADDOW, Barry; BIRCH, Alexandra. Neural machine </a:t>
            </a:r>
            <a:r>
              <a:rPr lang="pt-BR" sz="2000" b="0" i="0" dirty="0" err="1">
                <a:solidFill>
                  <a:srgbClr val="222222"/>
                </a:solidFill>
                <a:effectLst/>
              </a:rPr>
              <a:t>translation</a:t>
            </a:r>
            <a:r>
              <a:rPr lang="pt-BR" sz="2000" b="0" i="0" dirty="0">
                <a:solidFill>
                  <a:srgbClr val="222222"/>
                </a:solidFill>
                <a:effectLst/>
              </a:rPr>
              <a:t> </a:t>
            </a:r>
            <a:r>
              <a:rPr lang="pt-BR" sz="2000" b="0" i="0" dirty="0" err="1">
                <a:solidFill>
                  <a:srgbClr val="222222"/>
                </a:solidFill>
                <a:effectLst/>
              </a:rPr>
              <a:t>of</a:t>
            </a:r>
            <a:r>
              <a:rPr lang="pt-BR" sz="2000" b="0" i="0" dirty="0">
                <a:solidFill>
                  <a:srgbClr val="222222"/>
                </a:solidFill>
                <a:effectLst/>
              </a:rPr>
              <a:t> </a:t>
            </a:r>
            <a:r>
              <a:rPr lang="pt-BR" sz="2000" b="0" i="0" dirty="0" err="1">
                <a:solidFill>
                  <a:srgbClr val="222222"/>
                </a:solidFill>
                <a:effectLst/>
              </a:rPr>
              <a:t>rare</a:t>
            </a:r>
            <a:r>
              <a:rPr lang="pt-BR" sz="2000" b="0" i="0" dirty="0">
                <a:solidFill>
                  <a:srgbClr val="222222"/>
                </a:solidFill>
                <a:effectLst/>
              </a:rPr>
              <a:t> words </a:t>
            </a:r>
            <a:r>
              <a:rPr lang="pt-BR" sz="2000" b="0" i="0" dirty="0" err="1">
                <a:solidFill>
                  <a:srgbClr val="222222"/>
                </a:solidFill>
                <a:effectLst/>
              </a:rPr>
              <a:t>with</a:t>
            </a:r>
            <a:r>
              <a:rPr lang="pt-BR" sz="2000" b="0" i="0" dirty="0">
                <a:solidFill>
                  <a:srgbClr val="222222"/>
                </a:solidFill>
                <a:effectLst/>
              </a:rPr>
              <a:t> </a:t>
            </a:r>
            <a:r>
              <a:rPr lang="pt-BR" sz="2000" b="0" i="0" dirty="0" err="1">
                <a:solidFill>
                  <a:srgbClr val="222222"/>
                </a:solidFill>
                <a:effectLst/>
              </a:rPr>
              <a:t>subword</a:t>
            </a:r>
            <a:r>
              <a:rPr lang="pt-BR" sz="2000" b="0" i="0" dirty="0">
                <a:solidFill>
                  <a:srgbClr val="222222"/>
                </a:solidFill>
                <a:effectLst/>
              </a:rPr>
              <a:t> </a:t>
            </a:r>
            <a:r>
              <a:rPr lang="pt-BR" sz="2000" b="0" i="0" dirty="0" err="1">
                <a:solidFill>
                  <a:srgbClr val="222222"/>
                </a:solidFill>
                <a:effectLst/>
              </a:rPr>
              <a:t>units</a:t>
            </a:r>
            <a:r>
              <a:rPr lang="pt-BR" sz="2000" b="0" i="0" dirty="0">
                <a:solidFill>
                  <a:srgbClr val="222222"/>
                </a:solidFill>
                <a:effectLst/>
              </a:rPr>
              <a:t>. </a:t>
            </a:r>
            <a:r>
              <a:rPr lang="pt-BR" sz="2000" b="1" i="0" dirty="0" err="1">
                <a:solidFill>
                  <a:srgbClr val="222222"/>
                </a:solidFill>
                <a:effectLst/>
              </a:rPr>
              <a:t>arXiv</a:t>
            </a:r>
            <a:r>
              <a:rPr lang="pt-BR" sz="2000" b="1" i="0" dirty="0">
                <a:solidFill>
                  <a:srgbClr val="222222"/>
                </a:solidFill>
                <a:effectLst/>
              </a:rPr>
              <a:t> </a:t>
            </a:r>
            <a:r>
              <a:rPr lang="pt-BR" sz="2000" b="1" i="0" dirty="0" err="1">
                <a:solidFill>
                  <a:srgbClr val="222222"/>
                </a:solidFill>
                <a:effectLst/>
              </a:rPr>
              <a:t>preprint</a:t>
            </a:r>
            <a:r>
              <a:rPr lang="pt-BR" sz="2000" b="1" i="0" dirty="0">
                <a:solidFill>
                  <a:srgbClr val="222222"/>
                </a:solidFill>
                <a:effectLst/>
              </a:rPr>
              <a:t> arXiv:1508.07909</a:t>
            </a:r>
            <a:r>
              <a:rPr lang="pt-BR" sz="2000" b="0" i="0" dirty="0">
                <a:solidFill>
                  <a:srgbClr val="222222"/>
                </a:solidFill>
                <a:effectLst/>
              </a:rPr>
              <a:t>, 2015.</a:t>
            </a:r>
          </a:p>
          <a:p>
            <a:r>
              <a:rPr lang="pt-BR" sz="2000" dirty="0">
                <a:hlinkClick r:id="rId3"/>
              </a:rPr>
              <a:t>https://jalammar.github.io/illustrated-transformer/</a:t>
            </a:r>
            <a:r>
              <a:rPr lang="pt-BR" sz="2000" dirty="0">
                <a:solidFill>
                  <a:srgbClr val="222222"/>
                </a:solidFill>
              </a:rPr>
              <a:t> </a:t>
            </a:r>
            <a:endParaRPr lang="pt-BR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DE1ACB-E6D0-59C4-062A-F04660099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38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314319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20060</TotalTime>
  <Words>1301</Words>
  <Application>Microsoft Office PowerPoint</Application>
  <PresentationFormat>Widescreen</PresentationFormat>
  <Paragraphs>264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7" baseType="lpstr">
      <vt:lpstr>-apple-system</vt:lpstr>
      <vt:lpstr>Aptos Narrow</vt:lpstr>
      <vt:lpstr>Arial</vt:lpstr>
      <vt:lpstr>Calibri</vt:lpstr>
      <vt:lpstr>Calibri Light</vt:lpstr>
      <vt:lpstr>Cambria Math</vt:lpstr>
      <vt:lpstr>Consolas</vt:lpstr>
      <vt:lpstr>Wingdings</vt:lpstr>
      <vt:lpstr>Tema do Office</vt:lpstr>
      <vt:lpstr>Aprendizado Profundo</vt:lpstr>
      <vt:lpstr>Conteúdo</vt:lpstr>
      <vt:lpstr>Self Attention</vt:lpstr>
      <vt:lpstr>Self Attention</vt:lpstr>
      <vt:lpstr>Self Attention</vt:lpstr>
      <vt:lpstr>Self Attention</vt:lpstr>
      <vt:lpstr>Positional Encoding</vt:lpstr>
      <vt:lpstr>Positional Encoding</vt:lpstr>
      <vt:lpstr>Positional Encoding</vt:lpstr>
      <vt:lpstr>Positional Encoding</vt:lpstr>
      <vt:lpstr>Positional Encoding</vt:lpstr>
      <vt:lpstr>Positional Encoding</vt:lpstr>
      <vt:lpstr>Positional Encoding</vt:lpstr>
      <vt:lpstr>Positional Encoding</vt:lpstr>
      <vt:lpstr>Positional Encoding</vt:lpstr>
      <vt:lpstr>Positional Encoding</vt:lpstr>
      <vt:lpstr>Transformers</vt:lpstr>
      <vt:lpstr>Transformers</vt:lpstr>
      <vt:lpstr>Transformers</vt:lpstr>
      <vt:lpstr>Transformers</vt:lpstr>
      <vt:lpstr>Transformers</vt:lpstr>
      <vt:lpstr>Multi-Head Attention</vt:lpstr>
      <vt:lpstr>Multi-Head Attention</vt:lpstr>
      <vt:lpstr>Transformers</vt:lpstr>
      <vt:lpstr>Layer Norm</vt:lpstr>
      <vt:lpstr>Transformers</vt:lpstr>
      <vt:lpstr>Transformers</vt:lpstr>
      <vt:lpstr>Transformers</vt:lpstr>
      <vt:lpstr>Transformers</vt:lpstr>
      <vt:lpstr>Transformers</vt:lpstr>
      <vt:lpstr>Scaled Dot Product Attention</vt:lpstr>
      <vt:lpstr>Transformers</vt:lpstr>
      <vt:lpstr>Transformers</vt:lpstr>
      <vt:lpstr>Transformers</vt:lpstr>
      <vt:lpstr>PowerPoint Presentation</vt:lpstr>
      <vt:lpstr>Interpretabilidade</vt:lpstr>
      <vt:lpstr>Interpretabilidade</vt:lpstr>
      <vt:lpstr>Referências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Aprendizado de Máquina Turma 010 - 2021/2</dc:title>
  <dc:creator>Lucas Silveira Kupssinsku</dc:creator>
  <cp:lastModifiedBy>Lucas Silveira Kupssinsku</cp:lastModifiedBy>
  <cp:revision>208</cp:revision>
  <dcterms:created xsi:type="dcterms:W3CDTF">2021-08-01T11:35:46Z</dcterms:created>
  <dcterms:modified xsi:type="dcterms:W3CDTF">2024-03-04T17:40:32Z</dcterms:modified>
</cp:coreProperties>
</file>