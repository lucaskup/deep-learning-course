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366" r:id="rId4"/>
    <p:sldId id="399" r:id="rId5"/>
    <p:sldId id="406" r:id="rId6"/>
    <p:sldId id="405" r:id="rId7"/>
    <p:sldId id="408" r:id="rId8"/>
    <p:sldId id="402" r:id="rId9"/>
    <p:sldId id="403" r:id="rId10"/>
    <p:sldId id="404" r:id="rId11"/>
    <p:sldId id="398" r:id="rId12"/>
    <p:sldId id="401" r:id="rId13"/>
    <p:sldId id="400" r:id="rId14"/>
    <p:sldId id="258" r:id="rId15"/>
    <p:sldId id="409" r:id="rId16"/>
    <p:sldId id="410" r:id="rId17"/>
    <p:sldId id="411" r:id="rId18"/>
    <p:sldId id="412" r:id="rId19"/>
    <p:sldId id="413" r:id="rId20"/>
    <p:sldId id="414" r:id="rId21"/>
    <p:sldId id="415" r:id="rId22"/>
    <p:sldId id="416" r:id="rId23"/>
    <p:sldId id="417" r:id="rId24"/>
    <p:sldId id="418" r:id="rId25"/>
    <p:sldId id="419" r:id="rId26"/>
    <p:sldId id="420" r:id="rId27"/>
    <p:sldId id="421" r:id="rId28"/>
    <p:sldId id="422" r:id="rId29"/>
    <p:sldId id="423" r:id="rId30"/>
    <p:sldId id="424" r:id="rId31"/>
    <p:sldId id="425" r:id="rId32"/>
    <p:sldId id="426" r:id="rId33"/>
    <p:sldId id="427" r:id="rId34"/>
    <p:sldId id="428" r:id="rId35"/>
    <p:sldId id="443" r:id="rId36"/>
    <p:sldId id="429" r:id="rId37"/>
    <p:sldId id="444" r:id="rId38"/>
    <p:sldId id="432" r:id="rId39"/>
    <p:sldId id="433" r:id="rId40"/>
    <p:sldId id="434" r:id="rId41"/>
    <p:sldId id="430" r:id="rId42"/>
    <p:sldId id="435" r:id="rId43"/>
    <p:sldId id="436" r:id="rId44"/>
    <p:sldId id="437" r:id="rId45"/>
    <p:sldId id="438" r:id="rId46"/>
    <p:sldId id="439" r:id="rId47"/>
    <p:sldId id="440" r:id="rId48"/>
    <p:sldId id="441" r:id="rId49"/>
    <p:sldId id="442" r:id="rId50"/>
    <p:sldId id="453" r:id="rId51"/>
    <p:sldId id="454" r:id="rId52"/>
    <p:sldId id="455" r:id="rId53"/>
    <p:sldId id="456" r:id="rId54"/>
    <p:sldId id="457" r:id="rId55"/>
    <p:sldId id="460" r:id="rId56"/>
    <p:sldId id="459" r:id="rId57"/>
    <p:sldId id="458" r:id="rId58"/>
    <p:sldId id="451" r:id="rId59"/>
    <p:sldId id="461" r:id="rId60"/>
    <p:sldId id="462" r:id="rId6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FF"/>
    <a:srgbClr val="C39BE1"/>
    <a:srgbClr val="FFB9FF"/>
    <a:srgbClr val="FF9B9B"/>
    <a:srgbClr val="FFFFDD"/>
    <a:srgbClr val="245A8C"/>
    <a:srgbClr val="DAE9F6"/>
    <a:srgbClr val="9BC2E5"/>
    <a:srgbClr val="428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42" autoAdjust="0"/>
    <p:restoredTop sz="94660"/>
  </p:normalViewPr>
  <p:slideViewPr>
    <p:cSldViewPr snapToGrid="0">
      <p:cViewPr varScale="1">
        <p:scale>
          <a:sx n="93" d="100"/>
          <a:sy n="93" d="100"/>
        </p:scale>
        <p:origin x="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DBEC8-B7CD-4879-87AE-64AF7BD7DF30}" type="datetimeFigureOut">
              <a:rPr lang="pt-BR" smtClean="0"/>
              <a:t>01/03/2024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50156-6885-4B39-8E78-85D0C1AED0F8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715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936A27-9130-4759-A47A-23D3EAB30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41A88DD-808F-4F8D-84A5-3916FE3D8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AD0587-6BA5-4755-A254-BA8BAB6A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523EE8-82C7-4BB9-8AE0-A839B9F0439B}" type="datetime1">
              <a:rPr lang="pt-BR" smtClean="0"/>
              <a:t>01/03/2024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54C2AD-8133-48B1-A30D-493AEB541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085C79A-F85A-4516-A45F-AA8BEF57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169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26CC7B-9026-47F0-A53D-971D687F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79AE47-E774-440E-BB95-261546E48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6D0AA4-83FF-4C0C-8613-B3D0E937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7079A-94C2-45A1-88AB-6250F7D03304}" type="datetime1">
              <a:rPr lang="pt-BR" smtClean="0"/>
              <a:t>01/03/2024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984507-0CE8-4D65-8720-EE422B955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BCF4AD-DDBF-4D80-A019-F4FEC8F4C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5777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67D888-DBC5-4160-A401-DF4296CF8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41015C-6433-4AA1-82DC-E038C8C7CB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375D2A-D6E9-4EA5-9A79-B0200907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B87A7-29BF-49EF-AFD5-EA48A803025A}" type="datetime1">
              <a:rPr lang="pt-BR" smtClean="0"/>
              <a:t>01/03/2024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B65A21-5BD0-48CC-9633-CD3EBDDBA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8FF30-0E8C-4739-A740-930FD7C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580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98A0D-47CA-4BF5-8A53-03DEDDB1E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6693E7-97F4-43B7-A4A2-B26156714F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BA5FED8-E805-40F8-AED2-2B37F607D8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2B54B3-3070-46A9-BB16-347D6E911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B6DB7-59BC-4CD2-BD08-E2943D1EF069}" type="datetime1">
              <a:rPr lang="pt-BR" smtClean="0"/>
              <a:t>01/03/2024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6695434-EDA8-4C3C-8BF0-E097E53C0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483E8E-C241-4C26-AD63-8E114572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441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86158-79AD-47BA-94A0-7B5C1B2F2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F05BE3-8146-47FD-B959-DE98B68C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AA55466-A0D9-4326-8C0B-11D9ECB99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D8DD07B-B6ED-4D98-9C41-AB40AAD2E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0E32ED-0580-4733-8A15-EF1A54EE76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B57CC4-6BEE-4C56-B5A7-8348FFBA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93418-6918-484A-8421-0D025D0D8A67}" type="datetime1">
              <a:rPr lang="pt-BR" smtClean="0"/>
              <a:t>01/03/2024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F8A9786-CC6C-453F-88B8-EDE8FEEE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7ACE4B8-7B8A-4602-8AC9-3F4E66D79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033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1E33F-43CC-4BCB-A00F-C169AF13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9A7E1A-8845-4FE6-ADDC-740512EC6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0CAA2-036D-405F-9538-4B646274D645}" type="datetime1">
              <a:rPr lang="pt-BR" smtClean="0"/>
              <a:t>01/03/2024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5CA399-4971-4420-B53F-37EB8ACF2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FB00EC4-0A80-464E-9415-C3F96738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578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9EE76B2-7187-484D-B134-A77D8B30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13415-C3D3-416A-BA17-3FEFA32702EE}" type="datetime1">
              <a:rPr lang="pt-BR" smtClean="0"/>
              <a:t>01/03/2024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238519-4661-42E6-A172-40EEF015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D207DA-461C-448E-83A6-5E42627CC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014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9BC73-075F-4C57-B083-A2A53A76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53C72F-F7F4-4065-B66E-03AF5711E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D830101-D942-46FF-BA69-E5E55509A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5132C4-FE9A-407F-A499-CB1C142D9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4281-F446-41F4-852D-AF0C5F0FB8E5}" type="datetime1">
              <a:rPr lang="pt-BR" smtClean="0"/>
              <a:t>01/03/2024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C6E7AD-95AD-4059-AE42-AA92FD2F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15626A-7012-4235-A6D7-A1A75234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653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642BC7-D688-430F-A256-18657B5F3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33CB283-3B59-4BAD-87DF-1422F776B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3F9CF2-5A0D-4F0C-9FD8-7DB051EB0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776D9E3-8099-4187-BE37-EBC90D539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0ACD1-8F4F-450B-9F25-92B5A7643D6C}" type="datetime1">
              <a:rPr lang="pt-BR" smtClean="0"/>
              <a:t>01/03/2024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FBBD30-A1E3-4861-9D26-E9EED18B0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C0BD16-792A-45CC-8B4D-E0A7A8839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7215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D3F8C5-185D-49E1-A53C-2E55BD5A1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D78D96-867E-469F-983A-80ACE3023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086A972-7A5F-4745-BB5E-7D0DDADC0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75C635-A7DF-42C1-A820-15BA95751108}" type="datetime1">
              <a:rPr lang="pt-BR" smtClean="0"/>
              <a:t>01/03/2024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42C18A6-57BF-49F1-97EA-7F9ACD0BA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FE4627-EAD2-4008-B1FA-614849F55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79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E7A39B-F7E2-4A69-942C-6AEFE2C7B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298851-909A-4BB7-9514-2A3766F2D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06C408-EEE6-4851-8B3F-CBF1451B7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CA80-3A23-4BED-BFDD-EC237E1C9920}" type="datetime1">
              <a:rPr lang="pt-BR" smtClean="0"/>
              <a:t>01/03/2024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E5DE8C-E893-46D9-9054-DB6F88FD0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22E16A-56BB-4B7D-8AA6-C3A5B376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7387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1A29FE-D65E-4440-A657-262577AA0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67D270-2A8A-433A-93D9-8D998D06B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BC1113-45B0-4701-87FE-8C670E000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95C9C-EC44-4A90-8C72-29D4E173E628}" type="datetime1">
              <a:rPr lang="pt-BR" smtClean="0"/>
              <a:t>01/03/2024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72D9F7-AA55-448C-B21A-88D3674318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BF8157-6D2F-4A31-942D-5AE190A46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E6AF0-DA65-4AAF-B1B6-D34C9150970C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407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4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5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6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9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4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24B37C-3C8E-4FDE-9CD8-8FDBB9948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0" i="0" dirty="0">
                <a:solidFill>
                  <a:srgbClr val="212529"/>
                </a:solidFill>
                <a:effectLst/>
                <a:latin typeface="-apple-system"/>
              </a:rPr>
              <a:t>Aprendizado Profundo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46BC0D-1C18-420A-8181-4599D8380A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i="1" dirty="0"/>
              <a:t>Transformers - Self </a:t>
            </a:r>
            <a:r>
              <a:rPr lang="pt-BR" i="1" dirty="0" err="1"/>
              <a:t>Attention</a:t>
            </a:r>
            <a:endParaRPr lang="pt-BR" i="1" dirty="0"/>
          </a:p>
          <a:p>
            <a:r>
              <a:rPr lang="pt-BR" dirty="0"/>
              <a:t>Professor: Lucas Silveira Kupssinskü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5EE3B-E0A9-0563-6E9A-DC0A22FB0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6723-D21F-0B6B-4BDC-E59C1680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142C-43DE-92B1-76AB-71E1D799C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Atenção em RNN</a:t>
            </a:r>
          </a:p>
          <a:p>
            <a:r>
              <a:rPr lang="pt-BR" i="1" dirty="0" err="1"/>
              <a:t>Scaled</a:t>
            </a:r>
            <a:r>
              <a:rPr lang="pt-BR" i="1" dirty="0"/>
              <a:t> </a:t>
            </a:r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  <a:p>
            <a:r>
              <a:rPr lang="pt-BR" i="1" dirty="0" err="1"/>
              <a:t>Scaled</a:t>
            </a:r>
            <a:r>
              <a:rPr lang="pt-BR" i="1" dirty="0"/>
              <a:t> </a:t>
            </a:r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1A30B-A1C9-0190-2AFF-CE6B8B788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17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894DA-E44C-7491-2518-23011CC88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679B5-6C99-F44F-4BA7-DED84D475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resolver o problema de gargalo entre o </a:t>
            </a:r>
            <a:r>
              <a:rPr lang="pt-BR" dirty="0" err="1">
                <a:solidFill>
                  <a:srgbClr val="FF0000"/>
                </a:solidFill>
              </a:rPr>
              <a:t>encoder</a:t>
            </a:r>
            <a:r>
              <a:rPr lang="pt-BR" dirty="0"/>
              <a:t> e o </a:t>
            </a:r>
            <a:r>
              <a:rPr lang="pt-BR" dirty="0" err="1">
                <a:solidFill>
                  <a:srgbClr val="FF0000"/>
                </a:solidFill>
              </a:rPr>
              <a:t>decoder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foi introduzido o mecanismo de </a:t>
            </a:r>
            <a:r>
              <a:rPr lang="pt-BR" dirty="0">
                <a:solidFill>
                  <a:srgbClr val="00B0F0"/>
                </a:solidFill>
              </a:rPr>
              <a:t>atenção</a:t>
            </a:r>
          </a:p>
          <a:p>
            <a:pPr lvl="1"/>
            <a:r>
              <a:rPr lang="pt-BR" dirty="0"/>
              <a:t>A </a:t>
            </a:r>
            <a:r>
              <a:rPr lang="pt-BR" dirty="0">
                <a:solidFill>
                  <a:srgbClr val="00B0F0"/>
                </a:solidFill>
              </a:rPr>
              <a:t>atenção</a:t>
            </a:r>
            <a:r>
              <a:rPr lang="pt-BR" dirty="0"/>
              <a:t> é um bloco da NN que conecta o </a:t>
            </a:r>
            <a:r>
              <a:rPr lang="pt-BR" dirty="0" err="1">
                <a:solidFill>
                  <a:srgbClr val="FF0000"/>
                </a:solidFill>
              </a:rPr>
              <a:t>encoder</a:t>
            </a:r>
            <a:r>
              <a:rPr lang="pt-BR" dirty="0"/>
              <a:t> e o </a:t>
            </a:r>
            <a:r>
              <a:rPr lang="pt-BR" dirty="0" err="1">
                <a:solidFill>
                  <a:srgbClr val="FF0000"/>
                </a:solidFill>
              </a:rPr>
              <a:t>decoder</a:t>
            </a:r>
            <a:r>
              <a:rPr lang="pt-BR" dirty="0"/>
              <a:t> e que atribui scores a cada etapa do </a:t>
            </a:r>
            <a:r>
              <a:rPr lang="pt-BR" dirty="0" err="1">
                <a:solidFill>
                  <a:srgbClr val="FF0000"/>
                </a:solidFill>
              </a:rPr>
              <a:t>encoder</a:t>
            </a:r>
            <a:endParaRPr lang="pt-BR" dirty="0">
              <a:solidFill>
                <a:srgbClr val="FF0000"/>
              </a:solidFill>
            </a:endParaRPr>
          </a:p>
          <a:p>
            <a:pPr lvl="1"/>
            <a:r>
              <a:rPr lang="pt-BR" dirty="0"/>
              <a:t>Interpretamos a atenção como uma decisão de quais partes da sequência de entrada são mais importantes</a:t>
            </a:r>
          </a:p>
          <a:p>
            <a:r>
              <a:rPr lang="pt-BR" dirty="0"/>
              <a:t>Existem várias implementações de diferentes de atenção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4431F9-214D-EA16-68BB-0213E24B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EB9F32-4CA1-577C-5178-5CDA5D554367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1810547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89BB-52DD-83D1-3644-21819C1C2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BE5EC-AD96-35B6-5600-76A45AAB5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DE934-7FEC-0748-860B-9B63CFA5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F1CA2-40CF-68C1-49D0-EC95EDCD0870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B52D91E4-54B3-382D-4530-9B833616235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F984BC8-7832-3B55-EE45-84304ED8BA13}"/>
              </a:ext>
            </a:extLst>
          </p:cNvPr>
          <p:cNvSpPr/>
          <p:nvPr/>
        </p:nvSpPr>
        <p:spPr>
          <a:xfrm>
            <a:off x="3001992" y="1075150"/>
            <a:ext cx="4373593" cy="280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54960A-7B8F-C5FF-7802-B46E9489AD0D}"/>
              </a:ext>
            </a:extLst>
          </p:cNvPr>
          <p:cNvSpPr/>
          <p:nvPr/>
        </p:nvSpPr>
        <p:spPr>
          <a:xfrm>
            <a:off x="6142008" y="3702013"/>
            <a:ext cx="2565768" cy="280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C8AACD-0933-BBD2-6343-3B469A903EF2}"/>
              </a:ext>
            </a:extLst>
          </p:cNvPr>
          <p:cNvSpPr/>
          <p:nvPr/>
        </p:nvSpPr>
        <p:spPr>
          <a:xfrm>
            <a:off x="5495026" y="3969527"/>
            <a:ext cx="646982" cy="589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4099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9160-5B16-31F6-9849-8AE74887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A110-7A6F-C582-4EF7-5C524B4F3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7A5B4-64D5-7F6B-7E55-FFC16AD14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48D22D-C0C6-BC39-2212-9E6180A29C8E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71E8AE8-953F-CC71-695E-6630581258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0777F1-6FAB-19D7-6951-EFBC8819A1A3}"/>
              </a:ext>
            </a:extLst>
          </p:cNvPr>
          <p:cNvSpPr/>
          <p:nvPr/>
        </p:nvSpPr>
        <p:spPr>
          <a:xfrm>
            <a:off x="3001992" y="1075150"/>
            <a:ext cx="4373593" cy="280673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7346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A7086-F631-6A7B-465D-B19B14B3F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DC8C5-E9F1-833B-558B-2A27A335A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8E8EC-F6DC-2394-0968-E57875C08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BD47B-B8D8-2340-D47A-215DE9B41933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C4A7B275-6185-F979-FB24-5518EA4D95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83776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9907AD-A0E1-2C0B-6C63-8A70864D9C6C}"/>
              </a:ext>
            </a:extLst>
          </p:cNvPr>
          <p:cNvSpPr/>
          <p:nvPr/>
        </p:nvSpPr>
        <p:spPr>
          <a:xfrm rot="19421119">
            <a:off x="5284788" y="542618"/>
            <a:ext cx="931653" cy="3400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1B167F-AE2F-5F2B-40A5-49E01430AB06}"/>
              </a:ext>
            </a:extLst>
          </p:cNvPr>
          <p:cNvSpPr/>
          <p:nvPr/>
        </p:nvSpPr>
        <p:spPr>
          <a:xfrm>
            <a:off x="3158445" y="1075151"/>
            <a:ext cx="2388340" cy="2152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0985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CD316-42DE-84E7-E658-F7C4B6B5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C0623-8AC0-FC59-BBC5-054FA1B1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3212B-351C-0A9B-0669-92B4EFAD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7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98A825-2686-2EF2-948A-CBADEB0B7E35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A43680DB-B005-EBC7-E7C3-DA8BC27B255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83776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3379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2BA37-A2CB-928F-C10B-19743B72F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8E5F-B17D-DB7E-BC7F-74C3CFEC1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74D03-70FD-C750-DB27-709E91169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8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FA364-B3E7-BB4D-3278-A8CFE2816C5E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638B3A-D59E-29F0-31FB-318FB9D7E2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68" y="1135647"/>
            <a:ext cx="9527665" cy="5281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465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0577-0221-E68E-D634-F67E6F661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CCCAD-C9BE-0A91-9434-58EA3EB20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E6AE94-BAF5-72B8-A749-A599B8B92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9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D9FF4-06A8-773C-9E21-9704AF2824AD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A90849-D92D-D26C-4A68-F10557C819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268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0ED49-1A54-B9B1-081C-BDC3FF70C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2219-01AE-932A-F6CD-8C3ED413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921E1A-A482-9303-5CF9-440C65B1F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10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CD3B8-7951-F33C-58A0-BAD29C375D46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3259F46-3FC2-3393-DDA9-ED1812CED58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90" y="1075150"/>
            <a:ext cx="9527621" cy="52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611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BC41B-ECCD-4F89-43D1-D7C8C95FB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EB75-2F10-3FEF-5E90-D80F9E6C6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26B55-BDA7-4172-B0C2-BFA0F101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11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1A885C-3231-6EE4-641B-A0FA7DE2AD5C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53BAFE5-CB50-8659-6DD5-064AEA23E82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8924"/>
            <a:ext cx="7890422" cy="463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A447738-D027-412B-5F60-FE591BCE81B4}"/>
              </a:ext>
            </a:extLst>
          </p:cNvPr>
          <p:cNvSpPr/>
          <p:nvPr/>
        </p:nvSpPr>
        <p:spPr>
          <a:xfrm>
            <a:off x="7728451" y="2556117"/>
            <a:ext cx="4442604" cy="34219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2D55F-1B78-991A-0B1C-2BA824CC4DE7}"/>
                  </a:ext>
                </a:extLst>
              </p:cNvPr>
              <p:cNvSpPr txBox="1"/>
              <p:nvPr/>
            </p:nvSpPr>
            <p:spPr>
              <a:xfrm>
                <a:off x="7804747" y="2764649"/>
                <a:ext cx="4290013" cy="3293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1600" dirty="0"/>
                  <a:t>A cada passo do </a:t>
                </a:r>
                <a:r>
                  <a:rPr lang="pt-BR" sz="1600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sz="1600" dirty="0">
                    <a:solidFill>
                      <a:srgbClr val="FF0000"/>
                    </a:solidFill>
                  </a:rPr>
                  <a:t> </a:t>
                </a:r>
                <a:r>
                  <a:rPr lang="pt-BR" sz="1600" dirty="0"/>
                  <a:t>a atenção: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Recebe como entrada o estado oculto do </a:t>
                </a:r>
                <a:r>
                  <a:rPr lang="pt-BR" sz="1600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sz="1600" dirty="0"/>
                  <a:t> e todos os estados do </a:t>
                </a:r>
                <a:r>
                  <a:rPr lang="pt-BR" sz="1600" dirty="0" err="1">
                    <a:solidFill>
                      <a:srgbClr val="00B050"/>
                    </a:solidFill>
                  </a:rPr>
                  <a:t>encoder</a:t>
                </a:r>
                <a:r>
                  <a:rPr lang="pt-BR" sz="1600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pt-BR" sz="1600" dirty="0">
                  <a:solidFill>
                    <a:srgbClr val="00B05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Computa um </a:t>
                </a:r>
                <a:r>
                  <a:rPr lang="pt-BR" sz="1600" dirty="0">
                    <a:solidFill>
                      <a:srgbClr val="00B0F0"/>
                    </a:solidFill>
                  </a:rPr>
                  <a:t>score de atenção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𝑠𝑐𝑜𝑟𝑒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16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600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endParaRPr lang="pt-BR" sz="1600" dirty="0">
                  <a:solidFill>
                    <a:srgbClr val="00B0F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Computa uma </a:t>
                </a:r>
                <a:r>
                  <a:rPr lang="pt-BR" sz="1600" i="1" dirty="0" err="1"/>
                  <a:t>softmax</a:t>
                </a:r>
                <a:r>
                  <a:rPr lang="pt-BR" sz="1600" dirty="0"/>
                  <a:t> dos</a:t>
                </a:r>
                <a:r>
                  <a:rPr lang="pt-BR" sz="1600" dirty="0">
                    <a:solidFill>
                      <a:srgbClr val="00B0F0"/>
                    </a:solidFill>
                  </a:rPr>
                  <a:t> scores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Computa a saída da atenção como uma soma ponderada dos estados do </a:t>
                </a:r>
                <a:r>
                  <a:rPr lang="pt-BR" sz="1600" dirty="0" err="1">
                    <a:solidFill>
                      <a:srgbClr val="00B050"/>
                    </a:solidFill>
                  </a:rPr>
                  <a:t>encoder</a:t>
                </a:r>
                <a:r>
                  <a:rPr lang="pt-BR" sz="1600" dirty="0"/>
                  <a:t> pela </a:t>
                </a:r>
                <a:r>
                  <a:rPr lang="pt-BR" sz="1600" dirty="0" err="1"/>
                  <a:t>softmax</a:t>
                </a:r>
                <a:r>
                  <a:rPr lang="pt-BR" sz="1600" dirty="0"/>
                  <a:t> dos </a:t>
                </a:r>
                <a:r>
                  <a:rPr lang="pt-BR" sz="1600" dirty="0">
                    <a:solidFill>
                      <a:srgbClr val="00B0F0"/>
                    </a:solidFill>
                  </a:rPr>
                  <a:t>scores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A saída da atenção é usada em conjunto do estado atual do </a:t>
                </a:r>
                <a:r>
                  <a:rPr lang="pt-BR" sz="1600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sz="1600" dirty="0"/>
                  <a:t> para gerar a distribuição de palavras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pt-BR" sz="1600" dirty="0"/>
                  <a:t>Pode também ser passada como entrada para o próximo passo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02D55F-1B78-991A-0B1C-2BA824CC4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747" y="2764649"/>
                <a:ext cx="4290013" cy="3293209"/>
              </a:xfrm>
              <a:prstGeom prst="rect">
                <a:avLst/>
              </a:prstGeom>
              <a:blipFill>
                <a:blip r:embed="rId3"/>
                <a:stretch>
                  <a:fillRect l="-710" t="-556" r="-1847" b="-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043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12A68-1263-B20C-BAC6-61E050048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718D8-097A-DD33-9112-7EB93AB57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412D5-A555-84B5-C9DC-1B30B939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12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ED2872-35C7-7AE0-79CB-05029C3CEBD7}"/>
              </a:ext>
            </a:extLst>
          </p:cNvPr>
          <p:cNvSpPr txBox="1"/>
          <p:nvPr/>
        </p:nvSpPr>
        <p:spPr>
          <a:xfrm>
            <a:off x="0" y="6596390"/>
            <a:ext cx="108592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1B9FE7-A53E-7149-38E5-FCA6D8EFF2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88924"/>
            <a:ext cx="7890422" cy="4638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681305-997B-101F-705E-7B8945F19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3908" y="2563324"/>
            <a:ext cx="4296584" cy="281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96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C1D2E-7040-A590-E874-1C8E9F61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Attention</a:t>
            </a:r>
            <a:endParaRPr lang="pt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2C4BA-8B03-592A-9064-608D11C4B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calcular os </a:t>
            </a:r>
            <a:r>
              <a:rPr lang="pt-BR" i="1" dirty="0"/>
              <a:t>scores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D4703-97B1-F2DE-8206-8BAD798E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13</a:t>
            </a:fld>
            <a:endParaRPr lang="pt-BR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2285854-E1B1-1D5F-22B4-28AE64FCC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"/>
          <a:stretch/>
        </p:blipFill>
        <p:spPr bwMode="auto">
          <a:xfrm>
            <a:off x="527649" y="2913327"/>
            <a:ext cx="10826151" cy="21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294382-9B99-880A-CE2C-4DE333A05358}"/>
              </a:ext>
            </a:extLst>
          </p:cNvPr>
          <p:cNvSpPr txBox="1"/>
          <p:nvPr/>
        </p:nvSpPr>
        <p:spPr>
          <a:xfrm>
            <a:off x="4140679" y="5189729"/>
            <a:ext cx="1693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Luong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DB8FFC-DB1B-D9AD-1D7E-5D68AABC74B7}"/>
              </a:ext>
            </a:extLst>
          </p:cNvPr>
          <p:cNvSpPr txBox="1"/>
          <p:nvPr/>
        </p:nvSpPr>
        <p:spPr>
          <a:xfrm>
            <a:off x="-1" y="6256713"/>
            <a:ext cx="1124884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LUONG, Minh-Thang; PHAM, Hieu; MANNING, Christopher D. Effective approaches to attention-based neural machine translation. </a:t>
            </a:r>
            <a:r>
              <a:rPr lang="en-US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US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arXiv:1508.04025</a:t>
            </a:r>
            <a:r>
              <a:rPr lang="en-US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2015.</a:t>
            </a:r>
            <a:endParaRPr lang="pt-BR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3D4FFE-1AA2-4B05-DB67-A6990544B240}"/>
              </a:ext>
            </a:extLst>
          </p:cNvPr>
          <p:cNvSpPr txBox="1"/>
          <p:nvPr/>
        </p:nvSpPr>
        <p:spPr>
          <a:xfrm>
            <a:off x="-1" y="6559502"/>
            <a:ext cx="1181675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BAHDANAU,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Dzmitry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CHO,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Kyunghyun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; BENGIO,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Yoshua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Neural machine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translation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jointly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learning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align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translate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pt-BR" sz="1100" b="1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lang="pt-BR" sz="11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arXiv:1409.0473</a:t>
            </a:r>
            <a:r>
              <a:rPr lang="pt-BR" sz="1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2014.</a:t>
            </a:r>
            <a:endParaRPr lang="pt-BR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A07921-82F9-5BA4-929E-98F1BC6FF24D}"/>
              </a:ext>
            </a:extLst>
          </p:cNvPr>
          <p:cNvSpPr txBox="1"/>
          <p:nvPr/>
        </p:nvSpPr>
        <p:spPr>
          <a:xfrm>
            <a:off x="8235350" y="5146712"/>
            <a:ext cx="2063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Bahdanau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A9ACFF-A96F-DF39-DCA0-E7566E368942}"/>
              </a:ext>
            </a:extLst>
          </p:cNvPr>
          <p:cNvSpPr/>
          <p:nvPr/>
        </p:nvSpPr>
        <p:spPr>
          <a:xfrm>
            <a:off x="527649" y="2913327"/>
            <a:ext cx="2557709" cy="22333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2103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54F4F464-BB4C-2D76-CBE9-64D724265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4956" y="2770039"/>
            <a:ext cx="7177548" cy="3978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752E4-A461-EC4B-4705-A0DC1584C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1BB3C-4A61-16C4-7576-5773E2B88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Treinar redes com </a:t>
            </a:r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r>
              <a:rPr lang="pt-BR" dirty="0"/>
              <a:t> gera problema de </a:t>
            </a:r>
            <a:r>
              <a:rPr lang="pt-BR" i="1" dirty="0" err="1">
                <a:solidFill>
                  <a:srgbClr val="00B0F0"/>
                </a:solidFill>
              </a:rPr>
              <a:t>vanishing</a:t>
            </a:r>
            <a:r>
              <a:rPr lang="pt-BR" i="1" dirty="0">
                <a:solidFill>
                  <a:srgbClr val="00B0F0"/>
                </a:solidFill>
              </a:rPr>
              <a:t> </a:t>
            </a:r>
            <a:r>
              <a:rPr lang="pt-BR" i="1" dirty="0" err="1">
                <a:solidFill>
                  <a:srgbClr val="00B0F0"/>
                </a:solidFill>
              </a:rPr>
              <a:t>gradient</a:t>
            </a:r>
            <a:r>
              <a:rPr lang="pt-BR" dirty="0">
                <a:solidFill>
                  <a:srgbClr val="00B0F0"/>
                </a:solidFill>
              </a:rPr>
              <a:t> </a:t>
            </a:r>
            <a:r>
              <a:rPr lang="pt-BR" dirty="0"/>
              <a:t>quando usamos vetores grandes como </a:t>
            </a:r>
            <a:r>
              <a:rPr lang="pt-BR" i="1" dirty="0">
                <a:solidFill>
                  <a:srgbClr val="FF0000"/>
                </a:solidFill>
              </a:rPr>
              <a:t>Hidden</a:t>
            </a:r>
          </a:p>
          <a:p>
            <a:r>
              <a:rPr lang="pt-BR" dirty="0"/>
              <a:t>Por quê?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A4921-C761-AE60-E114-DEB2D315D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14</a:t>
            </a:fld>
            <a:endParaRPr lang="pt-BR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EC899C8-0913-27E1-ECE7-3544F39D6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" r="76266"/>
          <a:stretch/>
        </p:blipFill>
        <p:spPr bwMode="auto">
          <a:xfrm>
            <a:off x="1107754" y="3952366"/>
            <a:ext cx="2569512" cy="21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0743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C8AF8-FFA1-4193-825F-5F6C78091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CBA49-7056-BDAA-07DC-5BE708DB5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D0449-7AD8-C418-E311-3AE7CA2C05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Suponha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t-BR" dirty="0"/>
                  <a:t> são componentes dos vetores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b="0" dirty="0"/>
                  <a:t> e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é o </a:t>
                </a:r>
                <a:r>
                  <a:rPr lang="pt-BR" b="0" dirty="0"/>
                  <a:t>tamanho dos vetores</a:t>
                </a:r>
              </a:p>
              <a:p>
                <a:endParaRPr lang="pt-BR" dirty="0"/>
              </a:p>
              <a:p>
                <a:r>
                  <a:rPr lang="pt-BR" dirty="0"/>
                  <a:t>Calcule:</a:t>
                </a:r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</m:oMath>
                </a14:m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9D0449-7AD8-C418-E311-3AE7CA2C05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2FCD7-87DF-0D32-069D-A7B370396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15</a:t>
            </a:fld>
            <a:endParaRPr lang="pt-B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22328FF4-E6E0-8EF3-F581-D84B27D87D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" r="76266"/>
          <a:stretch/>
        </p:blipFill>
        <p:spPr bwMode="auto">
          <a:xfrm>
            <a:off x="8032536" y="3315369"/>
            <a:ext cx="2569512" cy="2175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6068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472A8-6CB6-DDEC-890B-5D5536FEE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E204-D725-9103-2463-2A56A52A6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DBBC4-5BDD-5826-6E3F-45CBABEFFD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Suponha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t-BR" dirty="0"/>
                  <a:t> são componentes dos vetores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b="0" dirty="0"/>
                  <a:t> e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é o </a:t>
                </a:r>
                <a:r>
                  <a:rPr lang="pt-BR" b="0" dirty="0"/>
                  <a:t>tamanho dos vetores</a:t>
                </a:r>
              </a:p>
              <a:p>
                <a:endParaRPr lang="pt-BR" dirty="0"/>
              </a:p>
              <a:p>
                <a:r>
                  <a:rPr lang="pt-BR" dirty="0"/>
                  <a:t>Calcule:</a:t>
                </a:r>
              </a:p>
              <a:p>
                <a:pPr marL="0" indent="0">
                  <a:buNone/>
                </a:pP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pt-BR" dirty="0"/>
              </a:p>
              <a:p>
                <a:pPr marL="45720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5BDBBC4-5BDD-5826-6E3F-45CBABEFFD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C27795-ABC8-C71C-221D-452EE1708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642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967FD-0E7B-556D-33ED-F24015A89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82FA1-2E76-83D5-3ABB-651E3F3D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03CB7-CB8F-EEB5-4BB3-334DFB8B9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Suponha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t-BR" dirty="0"/>
                  <a:t> são componentes dos vetores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b="0" dirty="0"/>
                  <a:t> e que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dirty="0"/>
                  <a:t> é o </a:t>
                </a:r>
                <a:r>
                  <a:rPr lang="pt-BR" b="0" dirty="0"/>
                  <a:t>tamanho dos vetores</a:t>
                </a:r>
              </a:p>
              <a:p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𝑣𝑎𝑟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𝔼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𝑣𝑎𝑟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nary>
                  </m:oMath>
                </a14:m>
                <a:r>
                  <a:rPr lang="en-US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⋅1</m:t>
                            </m:r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457200" lvl="1" indent="0">
                  <a:buNone/>
                </a:pP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703CB7-CB8F-EEB5-4BB3-334DFB8B9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r="-63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E40ED-334B-6525-B0B5-A1C16DA1A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27340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D3EA8-E203-7F07-B24A-52011966A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BAA1D-6ACC-EB69-6482-C3C026C48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C6A11-67A0-DEA9-37E6-95BBA8E880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pt-BR" sz="2400" dirty="0"/>
                  <a:t>Suponha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pt-BR" sz="2400" dirty="0"/>
                  <a:t> são componentes dos vetores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sz="2400" b="0" dirty="0"/>
                  <a:t> e que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b="0" dirty="0"/>
                  <a:t> é o </a:t>
                </a:r>
                <a:r>
                  <a:rPr lang="pt-BR" sz="2400" b="0" dirty="0"/>
                  <a:t>tamanho dos vetores</a:t>
                </a:r>
                <a:endParaRPr lang="pt-BR" sz="2400" dirty="0"/>
              </a:p>
              <a:p>
                <a:endParaRPr lang="en-US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pt-B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𝑣𝑎𝑟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pt-BR" sz="2400" dirty="0"/>
              </a:p>
              <a:p>
                <a:endParaRPr lang="pt-BR" sz="2400" dirty="0"/>
              </a:p>
              <a:p>
                <a:r>
                  <a:rPr lang="pt-BR" sz="2400" dirty="0"/>
                  <a:t>Para evitar valores muito elevados dos </a:t>
                </a:r>
                <a:r>
                  <a:rPr lang="pt-BR" sz="2400" i="1" dirty="0">
                    <a:solidFill>
                      <a:srgbClr val="00B0F0"/>
                    </a:solidFill>
                  </a:rPr>
                  <a:t>scores</a:t>
                </a:r>
                <a:r>
                  <a:rPr lang="pt-BR" sz="2400" i="1" dirty="0"/>
                  <a:t>, </a:t>
                </a:r>
                <a:r>
                  <a:rPr lang="pt-BR" sz="2400" dirty="0"/>
                  <a:t>normalizamos a </a:t>
                </a:r>
                <a:r>
                  <a:rPr lang="pt-BR" sz="2400" i="1" dirty="0" err="1"/>
                  <a:t>dot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product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attention</a:t>
                </a:r>
                <a:r>
                  <a:rPr lang="pt-BR" sz="2400" i="1" dirty="0"/>
                  <a:t> </a:t>
                </a:r>
                <a:r>
                  <a:rPr lang="pt-BR" sz="2400" dirty="0"/>
                  <a:t>por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lang="pt-BR" sz="2400" dirty="0"/>
                  <a:t> e obtemos o </a:t>
                </a:r>
                <a:r>
                  <a:rPr lang="pt-BR" sz="2400" i="1" dirty="0" err="1"/>
                  <a:t>Scaled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Dot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Product</a:t>
                </a:r>
                <a:r>
                  <a:rPr lang="pt-BR" sz="2400" i="1" dirty="0"/>
                  <a:t> </a:t>
                </a:r>
                <a:r>
                  <a:rPr lang="pt-BR" sz="2400" i="1" dirty="0" err="1"/>
                  <a:t>Attention</a:t>
                </a:r>
                <a:r>
                  <a:rPr lang="pt-BR" sz="2400" dirty="0"/>
                  <a:t> </a:t>
                </a:r>
                <a:r>
                  <a:rPr lang="pt-BR" sz="2400" dirty="0">
                    <a:sym typeface="Wingdings" panose="05000000000000000000" pitchFamily="2" charset="2"/>
                  </a:rPr>
                  <a:t> </a:t>
                </a:r>
              </a:p>
              <a:p>
                <a:endParaRPr lang="pt-BR" sz="2400" i="1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AC6A11-67A0-DEA9-37E6-95BBA8E880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241" r="-11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B1AB3-CB0D-6C46-F42B-CF0300C04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18</a:t>
            </a:fld>
            <a:endParaRPr lang="pt-BR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D3FF0FA-3412-A877-5A4F-6032B76C91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" r="76266"/>
          <a:stretch/>
        </p:blipFill>
        <p:spPr bwMode="auto">
          <a:xfrm>
            <a:off x="9120719" y="2418672"/>
            <a:ext cx="1714060" cy="145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423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3B975-6B24-DF3F-1D9F-B4466F0CB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E1545-6827-797D-CF5A-89FEFB299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609094-AD90-F47C-66DA-0F8DE5585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𝑠𝑐𝑜𝑟𝑒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𝑠𝑐𝑜𝑟𝑒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pt-BR" dirty="0"/>
                  <a:t>, pesos da atenção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dirty="0"/>
                  <a:t>, esse é o contexto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609094-AD90-F47C-66DA-0F8DE5585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0501F-0B9B-2050-2C80-C492EBE0E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8003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9C574-C42F-E8C1-1E93-13397382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D8DE0-01AE-E5D3-D6D1-9AB41CA8F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81681-66F4-0FDA-15F7-EFD1537B47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00B0F0"/>
                                    </a:solidFill>
                                    <a:latin typeface="Cambria Math" panose="02040503050406030204" pitchFamily="18" charset="0"/>
                                  </a:rPr>
                                  <m:t>𝑠𝑐𝑜𝑟𝑒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00B05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func>
                      </m:num>
                      <m:den>
                        <m:nary>
                          <m:naryPr>
                            <m:chr m:val="∑"/>
                            <m:limLoc m:val="subSup"/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func>
                              <m:func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solidFill>
                                          <a:srgbClr val="00B0F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𝑠𝑐𝑜𝑟𝑒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FF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</m:sub>
                                        </m:s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solidFill>
                                                  <a:srgbClr val="00B05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pt-BR" dirty="0"/>
                  <a:t>, pesos da atenção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bSup>
                    <m:sSub>
                      <m:sSubPr>
                        <m:ctrlPr>
                          <a:rPr 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pt-BR" dirty="0"/>
                  <a:t>, esse é o contexto</a:t>
                </a:r>
              </a:p>
              <a:p>
                <a:pPr marL="0" indent="0">
                  <a:buNone/>
                </a:pPr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Precisamos tanto de uma série de estados do </a:t>
                </a:r>
                <a:r>
                  <a:rPr lang="pt-BR" i="1" dirty="0" err="1">
                    <a:solidFill>
                      <a:srgbClr val="00B050"/>
                    </a:solidFill>
                  </a:rPr>
                  <a:t>encoder</a:t>
                </a:r>
                <a:r>
                  <a:rPr lang="pt-BR" i="1" dirty="0"/>
                  <a:t> </a:t>
                </a:r>
                <a:r>
                  <a:rPr lang="pt-BR" dirty="0"/>
                  <a:t>quanto de um estado do </a:t>
                </a:r>
                <a:r>
                  <a:rPr lang="pt-BR" i="1" dirty="0" err="1">
                    <a:solidFill>
                      <a:srgbClr val="FF0000"/>
                    </a:solidFill>
                  </a:rPr>
                  <a:t>decoder</a:t>
                </a:r>
                <a:r>
                  <a:rPr lang="pt-BR" dirty="0">
                    <a:solidFill>
                      <a:srgbClr val="FF0000"/>
                    </a:solidFill>
                  </a:rPr>
                  <a:t> </a:t>
                </a:r>
                <a:r>
                  <a:rPr lang="pt-BR" dirty="0"/>
                  <a:t>para calcular a atenção! Ou será que não?</a:t>
                </a:r>
                <a:endParaRPr lang="pt-BR" i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B81681-66F4-0FDA-15F7-EFD1537B47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b="-14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4EB26-604E-FA61-B659-722F1F52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0596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A42F-F6C1-83BD-A749-10602F619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C8227-CAEF-5C97-19E4-6DD361212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 se utilizarmos </a:t>
            </a:r>
            <a:r>
              <a:rPr lang="pt-BR" i="1" dirty="0" err="1"/>
              <a:t>Dot</a:t>
            </a:r>
            <a:r>
              <a:rPr lang="pt-BR" i="1" dirty="0"/>
              <a:t> </a:t>
            </a:r>
            <a:r>
              <a:rPr lang="pt-BR" i="1" dirty="0" err="1"/>
              <a:t>Product</a:t>
            </a:r>
            <a:r>
              <a:rPr lang="pt-BR" i="1" dirty="0"/>
              <a:t> </a:t>
            </a:r>
            <a:r>
              <a:rPr lang="pt-BR" i="1" dirty="0" err="1"/>
              <a:t>Attention</a:t>
            </a:r>
            <a:r>
              <a:rPr lang="pt-BR" dirty="0"/>
              <a:t> nos </a:t>
            </a:r>
            <a:r>
              <a:rPr lang="pt-BR" i="1" dirty="0"/>
              <a:t>tokens</a:t>
            </a:r>
            <a:r>
              <a:rPr lang="pt-BR" dirty="0"/>
              <a:t> de entrada contra eles mesmos?</a:t>
            </a:r>
          </a:p>
          <a:p>
            <a:pPr lvl="1"/>
            <a:r>
              <a:rPr lang="pt-BR" dirty="0"/>
              <a:t>Poderíamos codificar a relação entre os </a:t>
            </a:r>
            <a:r>
              <a:rPr lang="pt-BR" i="1" dirty="0"/>
              <a:t>tokens</a:t>
            </a:r>
            <a:r>
              <a:rPr lang="pt-BR" dirty="0"/>
              <a:t> de entrada</a:t>
            </a:r>
          </a:p>
          <a:p>
            <a:pPr lvl="1"/>
            <a:r>
              <a:rPr lang="pt-BR" dirty="0"/>
              <a:t>Não teríamos mais a necessidade de usar </a:t>
            </a:r>
            <a:r>
              <a:rPr lang="pt-BR" dirty="0" err="1"/>
              <a:t>RNNs</a:t>
            </a:r>
            <a:r>
              <a:rPr lang="pt-BR" dirty="0"/>
              <a:t> como </a:t>
            </a:r>
            <a:r>
              <a:rPr lang="pt-BR" i="1" dirty="0" err="1">
                <a:solidFill>
                  <a:srgbClr val="FF0000"/>
                </a:solidFill>
              </a:rPr>
              <a:t>encoder</a:t>
            </a:r>
            <a:endParaRPr lang="pt-BR" i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3684F-8B67-4EFB-A672-9979EEC2C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21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42435-11DB-5244-958E-A684D5B4423E}"/>
              </a:ext>
            </a:extLst>
          </p:cNvPr>
          <p:cNvSpPr txBox="1"/>
          <p:nvPr/>
        </p:nvSpPr>
        <p:spPr>
          <a:xfrm>
            <a:off x="-1712" y="6488668"/>
            <a:ext cx="121937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VASWANI, Ashish et al. Attention is all you need. </a:t>
            </a:r>
            <a:r>
              <a:rPr lang="en-US" sz="1400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sz="14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v. 30, 2017.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956939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E4A6-9C50-EBCA-C57F-4851CF93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24A01-6D39-92E5-2D27-35ABB6468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A51C-C3CD-947F-241F-F2E45EBF7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Por exemplo na frase abaixo, a palavra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FF0000"/>
                </a:solidFill>
                <a:latin typeface="Consolas" panose="020B0609020204030204" pitchFamily="49" charset="0"/>
              </a:rPr>
              <a:t>it</a:t>
            </a:r>
            <a:r>
              <a:rPr lang="pt-BR" dirty="0">
                <a:latin typeface="Consolas" panose="020B0609020204030204" pitchFamily="49" charset="0"/>
              </a:rPr>
              <a:t> </a:t>
            </a:r>
            <a:r>
              <a:rPr lang="pt-BR" dirty="0"/>
              <a:t>se refere a quais outras?</a:t>
            </a:r>
          </a:p>
          <a:p>
            <a:pPr marL="0" indent="0">
              <a:buNone/>
            </a:pPr>
            <a:r>
              <a:rPr lang="pt-BR" sz="2400" dirty="0">
                <a:latin typeface="Consolas" panose="020B0609020204030204" pitchFamily="49" charset="0"/>
              </a:rPr>
              <a:t>“The animal </a:t>
            </a:r>
            <a:r>
              <a:rPr lang="pt-BR" sz="2400" dirty="0" err="1">
                <a:latin typeface="Consolas" panose="020B0609020204030204" pitchFamily="49" charset="0"/>
              </a:rPr>
              <a:t>didn’t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cross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the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street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because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FF0000"/>
                </a:solidFill>
                <a:latin typeface="Consolas" panose="020B0609020204030204" pitchFamily="49" charset="0"/>
              </a:rPr>
              <a:t>it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was</a:t>
            </a:r>
            <a:r>
              <a:rPr lang="pt-BR" sz="2400" dirty="0">
                <a:latin typeface="Consolas" panose="020B0609020204030204" pitchFamily="49" charset="0"/>
              </a:rPr>
              <a:t> </a:t>
            </a:r>
            <a:r>
              <a:rPr lang="pt-BR" sz="2400" dirty="0" err="1">
                <a:latin typeface="Consolas" panose="020B0609020204030204" pitchFamily="49" charset="0"/>
              </a:rPr>
              <a:t>tired</a:t>
            </a:r>
            <a:r>
              <a:rPr lang="pt-BR" sz="2400" dirty="0">
                <a:latin typeface="Consolas" panose="020B0609020204030204" pitchFamily="49" charset="0"/>
              </a:rPr>
              <a:t>”</a:t>
            </a:r>
          </a:p>
          <a:p>
            <a:r>
              <a:rPr lang="pt-BR" dirty="0"/>
              <a:t>Podemos usar </a:t>
            </a:r>
            <a:r>
              <a:rPr lang="pt-BR" i="1" dirty="0" err="1"/>
              <a:t>attention</a:t>
            </a:r>
            <a:r>
              <a:rPr lang="pt-BR" dirty="0"/>
              <a:t> para descobrir </a:t>
            </a:r>
            <a:r>
              <a:rPr lang="pt-BR" dirty="0">
                <a:sym typeface="Wingdings" panose="05000000000000000000" pitchFamily="2" charset="2"/>
              </a:rPr>
              <a:t>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F79D0-7744-C085-D230-187C3B87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22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E79089D-5B81-E5F1-B49A-DBE0464A5F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 b="3948"/>
          <a:stretch/>
        </p:blipFill>
        <p:spPr bwMode="auto">
          <a:xfrm>
            <a:off x="4162272" y="3447333"/>
            <a:ext cx="4162425" cy="327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9438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8895-84A0-FBCA-FA0B-60328209A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9623-3DDD-75BA-41E5-DDCBC939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87A2E-874F-ED11-A680-E5048B908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olhar para o mecanismo de </a:t>
            </a:r>
            <a:r>
              <a:rPr lang="pt-BR" i="1" dirty="0" err="1"/>
              <a:t>attention</a:t>
            </a:r>
            <a:r>
              <a:rPr lang="pt-BR" dirty="0"/>
              <a:t> que vimos antes</a:t>
            </a:r>
          </a:p>
          <a:p>
            <a:pPr lvl="1"/>
            <a:r>
              <a:rPr lang="pt-BR" dirty="0"/>
              <a:t>Da forma que está definido aqui não vai funcionar</a:t>
            </a:r>
          </a:p>
          <a:p>
            <a:pPr lvl="1"/>
            <a:r>
              <a:rPr lang="pt-BR" dirty="0"/>
              <a:t>Não temos nada para aprender por </a:t>
            </a:r>
            <a:r>
              <a:rPr lang="pt-BR" i="1" dirty="0" err="1"/>
              <a:t>backpropagation</a:t>
            </a:r>
            <a:r>
              <a:rPr lang="pt-BR" dirty="0"/>
              <a:t> aqui</a:t>
            </a:r>
          </a:p>
          <a:p>
            <a:pPr lvl="1"/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371A7-C373-CA67-5C33-0533FB9B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23</a:t>
            </a:fld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666F4C6-2689-8425-0FA7-DE310F5B15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 b="3948"/>
          <a:stretch/>
        </p:blipFill>
        <p:spPr bwMode="auto">
          <a:xfrm>
            <a:off x="7900987" y="3120552"/>
            <a:ext cx="4162425" cy="3274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95923E-1FCE-B427-2214-58D13918928F}"/>
                  </a:ext>
                </a:extLst>
              </p:cNvPr>
              <p:cNvSpPr txBox="1"/>
              <p:nvPr/>
            </p:nvSpPr>
            <p:spPr>
              <a:xfrm>
                <a:off x="276045" y="3120552"/>
                <a:ext cx="6829964" cy="29884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𝑠𝑐𝑜𝑟𝑒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solidFill>
                                                <a:srgbClr val="00B05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𝑠𝑐𝑜𝑟𝑒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4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i="1">
                                                  <a:solidFill>
                                                    <a:srgbClr val="00B05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95923E-1FCE-B427-2214-58D139189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045" y="3120552"/>
                <a:ext cx="6829964" cy="2988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5761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3187-103A-5682-808F-7A0BE1DA3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97FB-B76D-F371-4801-6DAE37C9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8BFBA-A6B4-9D88-6249-EBC19F2314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Repare que o produto escalar pode ser considerado uma medida de similaridade entre os vetores</a:t>
                </a:r>
              </a:p>
              <a:p>
                <a:r>
                  <a:rPr lang="pt-BR" sz="2400" dirty="0"/>
                  <a:t>Veja  que existem três usos dos valores originais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 para computar a atenção</a:t>
                </a:r>
              </a:p>
              <a:p>
                <a:r>
                  <a:rPr lang="pt-BR" sz="2400" dirty="0"/>
                  <a:t>Para fazer o </a:t>
                </a:r>
                <a:r>
                  <a:rPr lang="pt-BR" sz="2400" i="1" dirty="0"/>
                  <a:t>Self </a:t>
                </a:r>
                <a:r>
                  <a:rPr lang="pt-BR" sz="2400" i="1" dirty="0" err="1"/>
                  <a:t>Attention</a:t>
                </a:r>
                <a:r>
                  <a:rPr lang="pt-BR" sz="2400" dirty="0"/>
                  <a:t> funcionar vamos projetar cada um desses três valores usando uma matriz de pesos (uma camada linear)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88BFBA-A6B4-9D88-6249-EBC19F2314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1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BCFA0-6276-B7DD-C4CD-A36F766C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24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884F26-4FA7-3323-5269-7FF2D830898E}"/>
                  </a:ext>
                </a:extLst>
              </p:cNvPr>
              <p:cNvSpPr txBox="1"/>
              <p:nvPr/>
            </p:nvSpPr>
            <p:spPr>
              <a:xfrm>
                <a:off x="5608608" y="4155276"/>
                <a:ext cx="6829964" cy="2505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𝑠𝑐𝑜𝑟𝑒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𝑠𝑐𝑜𝑟𝑒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pt-BR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pt-BR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8884F26-4FA7-3323-5269-7FF2D8308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608" y="4155276"/>
                <a:ext cx="6829964" cy="2505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4156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0DA11-3F69-CA11-2067-489C41F15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C06EF-35BB-2824-A394-4377F961D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3C975F-EB89-299E-91C3-DC9F277ED7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sz="2400" dirty="0"/>
                  <a:t>Repare que o produto escalar pode ser considerado uma medida de similaridade entre os vetores</a:t>
                </a:r>
              </a:p>
              <a:p>
                <a:r>
                  <a:rPr lang="pt-BR" sz="2400" dirty="0"/>
                  <a:t>Veja  que existem três usos dos valores originais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sz="2400" dirty="0"/>
                  <a:t> para computar a atenção</a:t>
                </a:r>
              </a:p>
              <a:p>
                <a:r>
                  <a:rPr lang="pt-BR" sz="2400" dirty="0"/>
                  <a:t>Para fazer o </a:t>
                </a:r>
                <a:r>
                  <a:rPr lang="pt-BR" sz="2400" i="1" dirty="0"/>
                  <a:t>Self </a:t>
                </a:r>
                <a:r>
                  <a:rPr lang="pt-BR" sz="2400" i="1" dirty="0" err="1"/>
                  <a:t>Attention</a:t>
                </a:r>
                <a:r>
                  <a:rPr lang="pt-BR" sz="2400" dirty="0"/>
                  <a:t> funcionar vamos projetar cada um desses três valores usando uma matriz de pesos (uma camada linear)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3C975F-EB89-299E-91C3-DC9F277ED7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961" r="-1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0768-D74F-0A95-1057-427D44E16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25</a:t>
            </a:fld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95431F-04BD-84A1-1754-F7B8D5516699}"/>
                  </a:ext>
                </a:extLst>
              </p:cNvPr>
              <p:cNvSpPr txBox="1"/>
              <p:nvPr/>
            </p:nvSpPr>
            <p:spPr>
              <a:xfrm>
                <a:off x="5608608" y="4155276"/>
                <a:ext cx="6829964" cy="25058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𝑠𝑐𝑜𝑟𝑒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C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en-US" sz="2000" b="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000" b="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𝑠𝑐𝑜𝑟𝑒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solidFill>
                                                <a:srgbClr val="FFC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func>
                                <m:func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𝑠𝑐𝑜𝑟𝑒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7030A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sub>
                                          </m:s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solidFill>
                                                    <a:srgbClr val="FFC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</m:oMath>
                  </m:oMathPara>
                </a14:m>
                <a:endParaRPr lang="pt-BR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pt-BR" sz="2000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bSup>
                      <m:sSub>
                        <m:sSubPr>
                          <m:ctrlP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95431F-04BD-84A1-1754-F7B8D55166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608" y="4155276"/>
                <a:ext cx="6829964" cy="2505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BD8885E4-7793-6DB7-C05F-2D1F8A13D93B}"/>
              </a:ext>
            </a:extLst>
          </p:cNvPr>
          <p:cNvSpPr/>
          <p:nvPr/>
        </p:nvSpPr>
        <p:spPr>
          <a:xfrm>
            <a:off x="1600200" y="3860985"/>
            <a:ext cx="258793" cy="272062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D74936-B124-6088-99F7-A64FB77E438D}"/>
              </a:ext>
            </a:extLst>
          </p:cNvPr>
          <p:cNvSpPr/>
          <p:nvPr/>
        </p:nvSpPr>
        <p:spPr>
          <a:xfrm>
            <a:off x="1614579" y="4211788"/>
            <a:ext cx="258793" cy="272062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78177D-ED62-F4F5-0DCF-E79DE6A7F432}"/>
              </a:ext>
            </a:extLst>
          </p:cNvPr>
          <p:cNvSpPr/>
          <p:nvPr/>
        </p:nvSpPr>
        <p:spPr>
          <a:xfrm>
            <a:off x="1594454" y="4553964"/>
            <a:ext cx="258793" cy="272062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2DB35C6B-28E7-4DC7-FCCD-70D2CB380C0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645495" y="1161395"/>
            <a:ext cx="406999" cy="6258461"/>
          </a:xfrm>
          <a:prstGeom prst="bentConnector4">
            <a:avLst>
              <a:gd name="adj1" fmla="val 11566"/>
              <a:gd name="adj2" fmla="val 99966"/>
            </a:avLst>
          </a:prstGeom>
          <a:ln w="3810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66E67F4-B6E1-DC05-DCE5-BE16AE2C08E2}"/>
              </a:ext>
            </a:extLst>
          </p:cNvPr>
          <p:cNvCxnSpPr>
            <a:cxnSpLocks/>
          </p:cNvCxnSpPr>
          <p:nvPr/>
        </p:nvCxnSpPr>
        <p:spPr>
          <a:xfrm>
            <a:off x="1873372" y="4474018"/>
            <a:ext cx="4684744" cy="0"/>
          </a:xfrm>
          <a:prstGeom prst="line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63C9A05-8CD3-AFDE-38AB-0D9B6EAD17CC}"/>
              </a:ext>
            </a:extLst>
          </p:cNvPr>
          <p:cNvCxnSpPr>
            <a:cxnSpLocks/>
          </p:cNvCxnSpPr>
          <p:nvPr/>
        </p:nvCxnSpPr>
        <p:spPr>
          <a:xfrm>
            <a:off x="6514383" y="4483850"/>
            <a:ext cx="702494" cy="754992"/>
          </a:xfrm>
          <a:prstGeom prst="line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7C9483C-981C-366A-BAF1-78877142A004}"/>
              </a:ext>
            </a:extLst>
          </p:cNvPr>
          <p:cNvCxnSpPr>
            <a:cxnSpLocks/>
          </p:cNvCxnSpPr>
          <p:nvPr/>
        </p:nvCxnSpPr>
        <p:spPr>
          <a:xfrm flipV="1">
            <a:off x="8264013" y="4689994"/>
            <a:ext cx="0" cy="548848"/>
          </a:xfrm>
          <a:prstGeom prst="line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D33DBF2-F097-9623-8C8C-F7F013105082}"/>
              </a:ext>
            </a:extLst>
          </p:cNvPr>
          <p:cNvCxnSpPr>
            <a:cxnSpLocks/>
          </p:cNvCxnSpPr>
          <p:nvPr/>
        </p:nvCxnSpPr>
        <p:spPr>
          <a:xfrm flipH="1">
            <a:off x="7216877" y="5238842"/>
            <a:ext cx="1047136" cy="0"/>
          </a:xfrm>
          <a:prstGeom prst="line">
            <a:avLst/>
          </a:prstGeom>
          <a:ln w="4445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D995CF2-2A61-E028-5B8B-EFE053319399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1723851" y="4826026"/>
            <a:ext cx="20124" cy="1232192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FB49A8F-E7DB-1776-E1DA-642CD1E323E8}"/>
              </a:ext>
            </a:extLst>
          </p:cNvPr>
          <p:cNvCxnSpPr>
            <a:cxnSpLocks/>
          </p:cNvCxnSpPr>
          <p:nvPr/>
        </p:nvCxnSpPr>
        <p:spPr>
          <a:xfrm flipH="1">
            <a:off x="1723850" y="6025440"/>
            <a:ext cx="6741724" cy="32778"/>
          </a:xfrm>
          <a:prstGeom prst="line">
            <a:avLst/>
          </a:prstGeom>
          <a:ln w="444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4C3B3B-8C10-0337-45D8-B7523CCE9BA5}"/>
              </a:ext>
            </a:extLst>
          </p:cNvPr>
          <p:cNvCxnSpPr>
            <a:cxnSpLocks/>
          </p:cNvCxnSpPr>
          <p:nvPr/>
        </p:nvCxnSpPr>
        <p:spPr>
          <a:xfrm>
            <a:off x="8485239" y="6011135"/>
            <a:ext cx="0" cy="345215"/>
          </a:xfrm>
          <a:prstGeom prst="line">
            <a:avLst/>
          </a:prstGeom>
          <a:ln w="44450">
            <a:solidFill>
              <a:srgbClr val="00B0F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074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ED08B-847F-9130-E518-699719FF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98D5-B28D-012B-077D-D7CA46BB0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39BE07-521A-EB69-DA8E-E0F4E35AC7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39BE07-521A-EB69-DA8E-E0F4E35AC7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3D234-45F2-6C24-80FD-A6BDF274E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26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95E0653-0A6F-5A23-8074-4D289C2E7A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404639"/>
              </p:ext>
            </p:extLst>
          </p:nvPr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75C7F30-4F60-A71C-A7B4-7412D35E81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058762"/>
              </p:ext>
            </p:extLst>
          </p:nvPr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497463D-DB19-AF5A-5424-E668F817A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528980"/>
              </p:ext>
            </p:extLst>
          </p:nvPr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ADB0875-05C2-7573-8860-6BD797B6A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689326"/>
              </p:ext>
            </p:extLst>
          </p:nvPr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92D0DC8-49B8-5535-8E15-7972B774E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563579"/>
              </p:ext>
            </p:extLst>
          </p:nvPr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5221190-AD8C-36ED-4C7F-57D04061E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82660"/>
              </p:ext>
            </p:extLst>
          </p:nvPr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5832120-3AD6-B99D-45D8-CD9A3C803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575107"/>
              </p:ext>
            </p:extLst>
          </p:nvPr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8CF6BB7-18D5-40CE-C896-18909EFCB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938155"/>
              </p:ext>
            </p:extLst>
          </p:nvPr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CBD5876-393A-A8B0-6FB0-CF1F53916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1449253"/>
              </p:ext>
            </p:extLst>
          </p:nvPr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41DB600-6A78-D0D8-FE69-382D6CC5BA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902669"/>
              </p:ext>
            </p:extLst>
          </p:nvPr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031555F-41A1-1D4C-2936-B535D4728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138180"/>
              </p:ext>
            </p:extLst>
          </p:nvPr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5489C2-18F1-7CA6-A219-1A3E3C1B1421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D5489C2-18F1-7CA6-A219-1A3E3C1B14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4757AC0-01E4-B58D-92D6-B041843C2536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4757AC0-01E4-B58D-92D6-B041843C2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D2D11B-85CA-6463-1100-40450708830F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4D2D11B-85CA-6463-1100-404507088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EF3F2C2-3A59-BCC0-3FA9-27AF574F0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923570"/>
              </p:ext>
            </p:extLst>
          </p:nvPr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987AB80-A541-7095-A099-AB15DB781A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944082"/>
              </p:ext>
            </p:extLst>
          </p:nvPr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634E2BB-F95F-C73F-F6C3-0855C1FC7E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8274609"/>
              </p:ext>
            </p:extLst>
          </p:nvPr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0202CD5-AC1A-9ACD-C3A7-27459BF00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613287"/>
              </p:ext>
            </p:extLst>
          </p:nvPr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5DBC9DC-4467-87AF-ABBF-9C5ED0A01A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3856449"/>
              </p:ext>
            </p:extLst>
          </p:nvPr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2764BAC-D32A-5C40-8AD3-9EED127252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6041148"/>
              </p:ext>
            </p:extLst>
          </p:nvPr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002F5DC-D829-C044-B9FF-F006E34D85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652675"/>
              </p:ext>
            </p:extLst>
          </p:nvPr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B38850FA-3E27-4A0A-7197-B9952B6A05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725141"/>
              </p:ext>
            </p:extLst>
          </p:nvPr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343ED18-F76F-9242-BBCE-B13FD7984019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343ED18-F76F-9242-BBCE-B13FD7984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2F1C243-F4AB-9464-5B9A-FC9353A19432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2F1C243-F4AB-9464-5B9A-FC9353A19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2F8680-46C6-A136-8EA9-DAE89A986190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E2F8680-46C6-A136-8EA9-DAE89A986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8D81FE-BA9A-EFBA-7C6D-C3BC6A2B6E4F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B8D81FE-BA9A-EFBA-7C6D-C3BC6A2B6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14C2E55-4F8B-EFD7-1F65-4CF1005FB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13052"/>
              </p:ext>
            </p:extLst>
          </p:nvPr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B4C8022D-BE54-1E2E-B359-9DD6EBA2A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131970"/>
              </p:ext>
            </p:extLst>
          </p:nvPr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209DFF9-F4FB-CD91-B0FD-CCAA5BC22DFB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209DFF9-F4FB-CD91-B0FD-CCAA5BC22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7FC080-EF49-AF7D-1742-1AF1D1683D88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817FC080-EF49-AF7D-1742-1AF1D1683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454BCC2F-AAEA-FED9-4EE2-D9C26B305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7607862"/>
              </p:ext>
            </p:extLst>
          </p:nvPr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A4DDD397-75A6-DD98-8343-B480B1C2090A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17627A-C398-1C93-B45E-B2A604311CB3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0E53E2-E64B-0D0B-7EE1-16FDD5E102C7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63FCCB7-D368-4146-1DCA-066F846A21B4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D1CC92-3CE5-C456-5034-DCF43507ED58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E45077-E305-8155-6BB6-4A78DE6F3066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19EC773-B0B4-322A-87C8-52BB993208E9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662D00A-0B2E-9570-E5FC-BF10A97B0D2B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7901578-57AA-9F59-2692-D3B9B3CE1FB0}"/>
              </a:ext>
            </a:extLst>
          </p:cNvPr>
          <p:cNvSpPr/>
          <p:nvPr/>
        </p:nvSpPr>
        <p:spPr>
          <a:xfrm>
            <a:off x="3724275" y="0"/>
            <a:ext cx="8457122" cy="6858000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1922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CEA57-8770-CF8C-7F48-E39FC0608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A40B-AB5E-9AF2-312D-CD23BA72B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95A98-06F6-B80C-6C96-11C0231FE9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795A98-06F6-B80C-6C96-11C0231FE9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174E0-5F6A-F7D0-A331-AF50DBF0C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27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5CA6279-7586-8948-724F-282F566BDA2C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000F1E0-D68D-2A7F-2D18-74CBE202D335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F639BEA-3980-9F0F-2BFC-1BAA73B8E39E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166898C-1A5B-4957-B0C6-6B4C7EE0DB74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36F56C19-24AB-ACBF-B9FC-511162129807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CE2A6AA-B2C1-BBED-CF69-B94BE999514E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110051B-25B5-63FA-38F2-BBDFE549AA2D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63B3B54-7ABF-75DB-9C1B-F7A8EAD114C6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F47A2586-9677-D332-535B-05353F3324A0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FF62936-F2D0-3EA9-B137-DF6903AC19AF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B7AAC8C-EE54-D46D-0A37-C6ACF86EDFA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547F05-308C-84A0-3713-CE493969156D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E547F05-308C-84A0-3713-CE4939691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3C5370-7ECF-C492-2DFC-3DCA40F8FAD0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83C5370-7ECF-C492-2DFC-3DCA40F8F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FB9CDF9-1301-6E30-1F0D-AC9A2CD718DC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FB9CDF9-1301-6E30-1F0D-AC9A2CD71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5922998-9516-C4D8-DA25-1766BE45B2C9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78EDAD8-89F7-8E87-F655-71F59D6B5219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57BCB83B-17B8-7678-710B-892CCA5DDC40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5A12D77-962D-2F95-D18A-466FF4647CE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7D311D8-EE3E-1DBE-9FF3-50A5041D0533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98DEFA04-9AF5-FF54-C277-4A84A9E66FEE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090D001-8EF4-4368-C4DD-950141363983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13170139-D1D2-81E2-67FE-D267D548DDB6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85AFCA-66B9-EE94-6AA4-F159A4F64ED0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85AFCA-66B9-EE94-6AA4-F159A4F64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B9A21D-89D6-F1D9-D316-5914D84CBFA1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1B9A21D-89D6-F1D9-D316-5914D84CB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2BFECB-D20D-15C0-DCBA-8CDC6213463D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52BFECB-D20D-15C0-DCBA-8CDC62134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FF988CD-86B6-FFD8-74C5-D074242FC347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FF988CD-86B6-FFD8-74C5-D074242FC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88C0FD0-DF78-DB08-D2D0-BF1FA6C35B79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C406D59B-1AAC-0241-521B-EFEA780CBEBF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70E616-5122-70C5-4A1E-D256A7665F5B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70E616-5122-70C5-4A1E-D256A7665F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8C7C8A-9AFB-4826-FE8C-B27DFF4AC8B4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08C7C8A-9AFB-4826-FE8C-B27DFF4AC8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001E982-436D-4322-7E5D-E72D5EAB11DB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12E172F8-A2EE-17D5-3551-1934A10C58CC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5FEAB1-F111-90CA-8FC3-F6A16FA3B506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1706E9-FF3B-6498-9DEE-6EE89CADD7CE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56F05A-305F-1F5E-1208-E15412267CA0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D680F50-4AAA-7396-25A5-F1C5DA50711A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9F5421E-8F2F-B109-6C16-E9E93EFAA43E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C865854-99C7-1A77-0094-747F460F96B0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080514-F6A3-0ED2-4A66-E344654ABD38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8A453EE-E964-0FAA-7981-993FDE957B94}"/>
              </a:ext>
            </a:extLst>
          </p:cNvPr>
          <p:cNvSpPr/>
          <p:nvPr/>
        </p:nvSpPr>
        <p:spPr>
          <a:xfrm>
            <a:off x="3724275" y="816082"/>
            <a:ext cx="8457122" cy="6041917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0718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9831-F5B6-D2BC-60BD-8430FA0DE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95B5-5923-B2C8-1491-D9EC7172B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43B25-5534-F3BC-3BFD-F0E33F033E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8843B25-5534-F3BC-3BFD-F0E33F033E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DE364-65DB-56AB-DBFD-4C6018D1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28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FFD5DD-752C-B3E3-9BB0-5D66EC7079F9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CC5F24D-2A95-3808-79EA-BBE4E0843ADB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8D88BC8-C2BB-C3AE-8694-816F8A197CB6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05C5F3B-356C-33C3-C9EE-592A1C2B26BF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874BE63-E6D3-1F0B-15A8-717A13AB9BFC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D18961E-8B68-7049-49E9-1E63AD893051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92E1718-1D8E-D74B-A727-C9EA541D4628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C39CEE6-209A-277F-B0BB-02715EEEB907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58C27DC-9DC8-513A-9B12-65086C2C9178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4B7190F-2A53-4677-1B80-918E853CCE4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40C5604-2464-74CC-1DA2-E24D019B58F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29073E-B0D2-1C80-D77F-889028F4014B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A29073E-B0D2-1C80-D77F-889028F4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6E6EA4F-EA1B-0D46-6E47-1B61E51EAB01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6E6EA4F-EA1B-0D46-6E47-1B61E51EA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6ABBE3-E172-DBC5-0D95-7EEE3887CE7A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56ABBE3-E172-DBC5-0D95-7EEE3887CE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29B1DAF-38B3-50AA-822C-861FF492FA35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1F8EA8C-F963-874C-4AC7-DBF5CA8E0226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6A9C765-050A-3D77-C319-FBE005A3439C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C7EDF27-1E3F-30E7-BBFF-8D972032C5DB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C679BD5-5D2B-86AA-012E-26FDBF89C884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DBC963C-0A07-E4DF-A1EB-B6913DE17B15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49EF90C7-EB5E-3E4D-4293-8A962AC7F821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EDCEADD5-E7EF-9308-F65F-838435C2EC97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380EFE6-60AC-1E98-4AEE-4D1DCBBB3CAF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380EFE6-60AC-1E98-4AEE-4D1DCBBB3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5CB54D2-03D2-2BDD-2B0D-17AEA417F7A0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5CB54D2-03D2-2BDD-2B0D-17AEA417F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A99999-6643-FB7B-4229-00C819537164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DA99999-6643-FB7B-4229-00C819537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2EB74E5-AFD2-F74F-3907-63530AD69B0A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2EB74E5-AFD2-F74F-3907-63530AD69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4D39B0D-D194-BBAF-399D-F4AF827B452B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E9B4814E-7E62-7101-AE8E-C8F22A0F3E7B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C0FF17D-DBEB-0587-3BB3-C624ABBBB192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C0FF17D-DBEB-0587-3BB3-C624ABBBB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D576A6-C688-5DE8-1884-7EAE9CD85E3F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DD576A6-C688-5DE8-1884-7EAE9CD85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16C82811-7D85-2CF2-2DA9-D8406128896C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E1ACC304-3690-7ED7-58D9-4D66C5E3CC3F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04D906-F81E-40B9-0330-9E131B21DC1B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CFA0E8-B9C1-40BA-7B9D-EFE6956574F2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FE1FF5-9432-84FF-9920-938D309D4700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C55351C-967D-DF16-B5E7-3134E1593A30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AF5AE5-2857-D521-DF01-F07219871B64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79C918-ED4B-0E1B-CCE8-699442E735AE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EC7517-F966-4682-C0FD-7C6E92F85149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FAD1832-6A19-4817-FDE3-C7B73C06D198}"/>
              </a:ext>
            </a:extLst>
          </p:cNvPr>
          <p:cNvSpPr/>
          <p:nvPr/>
        </p:nvSpPr>
        <p:spPr>
          <a:xfrm>
            <a:off x="3724275" y="1338579"/>
            <a:ext cx="8457122" cy="5519420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0201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EB5A-3F15-4A98-F37E-FC2E12CA3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ED14-3585-9065-A708-77C48AB41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69AFE-1565-31E4-EB04-B3D10F3645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F69AFE-1565-31E4-EB04-B3D10F3645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7817-6F32-94B4-BE04-2B7E0AD5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29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A9297AC-1290-792D-4860-837038792CF2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6252C9F-742F-9A7B-8C89-9AD2DA9F5687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0257C5-8048-F133-94AE-299D7FA7A20B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D4AD98F-F905-0644-17C5-E21533129A2B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C658166-27A8-9E27-8D7D-436E82D0E05D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D453F09-0E3F-B3BB-B8AF-40C20E7C3DD4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E106BAE-4F8C-97D1-C74A-23BCFA8B6530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237DDD4-2B26-5B42-C964-51732E7BFBAA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D4BDD37-EAB9-ED9D-AFF3-8B04A5EEBBAB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6C95776-FA5C-0504-29A4-6BB17F103CC5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21EA1F0-F492-A870-4D08-2BA1F9B7D8C1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ED4A35-BF99-C4B3-B452-E60AA48F3709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ED4A35-BF99-C4B3-B452-E60AA48F3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CD9F771-7CCC-EF69-EA9A-A936DCA046B7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CD9F771-7CCC-EF69-EA9A-A936DCA04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B6A1A1-3620-F117-9863-39BF73529093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4B6A1A1-3620-F117-9863-39BF73529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8CB8A00-2686-05FA-564E-962D1F382584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E0E7935-D8BE-5AA7-AA64-86358665655E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C53A858-DE7A-87C2-CF26-DFA1B9E40D61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30E1670-0686-04B4-D159-6F25E3DEA7A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4ECCF40-4FD3-4BE9-214E-558D82301628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AF20E4E6-7462-5B08-BED8-1242BA7AB95F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BC4C94A6-9263-D7A2-C4DF-606F02C8976B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434642EE-FF05-D55A-A1F0-037B3D4D6234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01667D4-D76D-8D44-EFC2-C8C24339389A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01667D4-D76D-8D44-EFC2-C8C243393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5AD942A-23DB-0010-43A4-DE1A3DB71628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5AD942A-23DB-0010-43A4-DE1A3DB71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2BFC2A4-7808-380E-C2D1-371AED6629EE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2BFC2A4-7808-380E-C2D1-371AED6629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C6ACD44-DEC3-CF19-E6A0-4EFB132C4E87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C6ACD44-DEC3-CF19-E6A0-4EFB132C4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5E48187-75FF-F079-D3D2-D9D465F90ECB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2221159-F5FC-6598-AD57-82768019F538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584A5EC-44EC-CB6C-35AA-19652648460D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584A5EC-44EC-CB6C-35AA-196526484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E7C8F58-C9A9-4C6F-2ADC-8799FD45BA33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E7C8F58-C9A9-4C6F-2ADC-8799FD45BA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E525B2EE-25B8-9BCF-C6BA-804BEB3962C4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022E09DA-2B62-0D11-8851-1B6CA1FB1DFA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3A31BD-207C-7FD6-FECE-8389DFBB45F5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B61E289-7D79-0587-CAD5-CE88B52C7CC0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1A36CD-6BE9-4152-26B2-18367599FF97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F7B338-C74C-16A3-6365-6AB8E255E135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17BEE9-D5ED-2E3D-2E5E-B4184258D0DA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05032FD-3031-EE4F-F60B-BD78D7549752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E9BC7B2-FAEC-9C95-7C13-F43E5118F170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5FF8885-978C-FB3A-4A9E-6DD5D6BCE738}"/>
              </a:ext>
            </a:extLst>
          </p:cNvPr>
          <p:cNvSpPr/>
          <p:nvPr/>
        </p:nvSpPr>
        <p:spPr>
          <a:xfrm>
            <a:off x="3724275" y="1798153"/>
            <a:ext cx="8457122" cy="5059845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54488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71DA2-0377-BDCC-DBCA-5AD418509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C7C48-8AA2-7365-30D5-10DA67A6A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95616-79BD-B8C8-88EA-B28BB9FB68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95616-79BD-B8C8-88EA-B28BB9FB68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EEE0-A273-A65B-5BF8-24757DE8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30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1D16C5F-FCE8-7243-7155-BDB6D6511324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13FDEB7-14E7-63E8-1CB5-8B62C0C32741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773CCB-652B-38A7-107C-5A7CC560BCD4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9AF774B-C4AB-EE25-A059-705931DDDA7A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F2A18DF1-F5F0-591D-F741-90DD4DAF967C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5796811-CCA7-882E-C130-A75DDA35E0A3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438208C-991B-BB5C-08CB-1231D374B458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B6575DC-369B-1551-ECC0-026B270EFEFB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3855E75-0DD1-6D01-F3FF-190405DDD5CA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EE78430-B53B-C397-9FF6-0ADAE92EEF6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B719DFDA-D0F3-A5EA-C3CE-73D5D04BC1C0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71B1E8D-EF44-3AE4-A7F3-E8902CDAA99F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71B1E8D-EF44-3AE4-A7F3-E8902CDAA9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2F6B0E-BA66-581A-C340-9927451C7C95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2F6B0E-BA66-581A-C340-9927451C7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0E0EFD-C501-FFF4-C0B6-B9EBECE6F0B0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E0E0EFD-C501-FFF4-C0B6-B9EBECE6F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474A10B-4F80-726A-90E1-5C8D0E2CCBB6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1C91D7C-2989-4AB9-09B5-325E74353021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D1F4F3F-4F06-2A17-1E56-717A2DE722C6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C1BAEBC-BD56-CA0A-C8D1-6ED4E5BBA2DA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627C1B8-EC96-2824-1C46-A06C334E4685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76219D5-E370-130E-3C0F-3588B97F8665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C1D4F3A-9A74-54A1-5003-97E86C64F301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67EE696F-07E6-308A-FFB6-305D000FA974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18A7487-4A48-AF8D-0E4B-ED48F01C55A7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18A7487-4A48-AF8D-0E4B-ED48F01C5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3D95A7-699D-BDE9-3CD5-87C6413EE864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73D95A7-699D-BDE9-3CD5-87C6413EE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068A93-5DE4-7E47-7AC0-7BCEB5EEEE11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6068A93-5DE4-7E47-7AC0-7BCEB5EEE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36D5CA5-93E4-79B6-63BF-5F98D4B00A89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36D5CA5-93E4-79B6-63BF-5F98D4B00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DEF5D52-A157-DE3C-4B59-B8ABB2EA0CD7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D0A9402B-45A2-E602-9895-762E9020669F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B1BFED6-38FD-7A66-577A-3751485FB828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B1BFED6-38FD-7A66-577A-3751485FB8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2C2445-5175-A3C6-9662-9F2CD72A028B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642C2445-5175-A3C6-9662-9F2CD72A0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3F77CA5B-B6CD-C95C-CDD5-928088F9301C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4C664376-FC02-29B0-1CDC-4A94213D9CA7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67D2D4-2357-BEA3-B261-A5E178962702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95278C-FF9A-A86C-C3A3-327F2CAAE721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676823-FD61-32A9-ECE3-FF8E59DB7BA5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C43BCCE-DD88-DB34-C541-BE7B50CEF4BE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3741AC-A72D-0A85-F90D-FC2F10BD5F7E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C6E932-9A0F-254E-3B4A-E07D0BA4281B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2F8E5D-9FD2-0789-A964-0EE1E23E552B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B1D62471-EF36-2006-1422-1F0D99BE44FB}"/>
              </a:ext>
            </a:extLst>
          </p:cNvPr>
          <p:cNvSpPr/>
          <p:nvPr/>
        </p:nvSpPr>
        <p:spPr>
          <a:xfrm>
            <a:off x="3724275" y="2847975"/>
            <a:ext cx="8457122" cy="4010023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108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9CFF-B599-EF1E-E690-1A1B1B85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C049-B72F-FBAF-0AE7-6485D8B71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751B5-DECE-33DD-FC79-3ACDD72AB3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A751B5-DECE-33DD-FC79-3ACDD72AB3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2D181-D3FA-C65C-62D1-099847028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31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AD41132-AE83-A419-D50A-DF4E582505D6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687F931-3B2C-3A1A-63AE-66DEE8036AE1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5F60188-DDFA-C6A9-5A49-0D441ABB46FB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8057922-D7D3-06D5-154F-2F0031BC44D6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DD6931B-21FF-78F2-19E1-DE78975273D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359669D-B754-C0A7-BE6B-E4F5ACDCF95B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E554FA15-A5B6-C115-A98E-250713F281B0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35DF38FF-B615-1652-313E-565D51AA6649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D225BDF-9772-F8BF-3F6D-1789F0F84635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446E987C-2C48-F19B-EACA-36DF06E2B13B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C45CE2A5-5EDE-7382-05A0-81A615AC3DEE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FDB65-1235-F454-F2ED-72FA80B5B2A6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FDB65-1235-F454-F2ED-72FA80B5B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4116B3-9E7E-E934-A0B0-C56FE367D886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4116B3-9E7E-E934-A0B0-C56FE367D8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95035D-6B22-DD10-2C1C-2934A3152CA1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B95035D-6B22-DD10-2C1C-2934A3152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7754869-2FE5-50B9-1FBC-FED46E00262F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939294A-5F9D-BD16-14D5-EEC8D66770BA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47AC817-6F70-2C53-BE9F-C4710FDF1741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5A5D0A7-9805-122D-D99F-A7C63F3E041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AE8CFDF-056C-93E3-3B4F-6199F2F19939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39548BDD-8699-782E-0AE2-5BB27A48B5F4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56B828A0-5FE4-2355-341B-D44A3E1C2AEF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3B7DC200-F0CE-1534-09B0-88E82FBF712A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0C3D664-183D-AF5A-6640-69D3D6D1827F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0C3D664-183D-AF5A-6640-69D3D6D18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2A005D-1E65-5F88-3BD5-46F08565DDA3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52A005D-1E65-5F88-3BD5-46F08565D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6172366-A8CD-0934-6EB6-21BBC52897F4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6172366-A8CD-0934-6EB6-21BBC5289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710724-AEE4-0F80-F817-48E037F4BA3A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3710724-AEE4-0F80-F817-48E037F4B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69149A1-05DC-45CE-F157-9A7FDC7C0543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2F36C73-0F5A-95AD-A262-825D9F6CDBBE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2F41733-E1F8-99E5-071F-C821CAB0DBBA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2F41733-E1F8-99E5-071F-C821CAB0D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37B338-6EE6-7018-3D8B-0071DDE2BE3A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837B338-6EE6-7018-3D8B-0071DDE2B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230ED001-9AB8-47D7-B11E-D95720DAA401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62D0EC23-FAC3-7BB1-DCB2-B6605AB26AA8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B7B7B14-8F97-3242-48B6-600A02B4FA75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63392FC-D57B-A533-BDD2-A015C295011C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3097FA-8AA3-7B5D-717D-45CDA2C464FD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93A12F-F0A4-2831-1F92-58B6EA0C056A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5F3F766-9EC5-A776-E6A0-CB034E0A1967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0AED355-DBF0-96E1-4C2A-3E51FA9712C3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BB5A740-7CE7-49F3-BF02-5F53AF76BC53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62BB4F8-84A4-5B37-E6F6-D0276150A6C9}"/>
              </a:ext>
            </a:extLst>
          </p:cNvPr>
          <p:cNvSpPr/>
          <p:nvPr/>
        </p:nvSpPr>
        <p:spPr>
          <a:xfrm>
            <a:off x="3724275" y="2847975"/>
            <a:ext cx="8457122" cy="4010023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A34558-4E03-153B-3213-10C7F5D4E561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7644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6440E-A2AF-48B3-74A8-C430A9FD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6E34-B70B-652A-DF3B-5E1D89E9D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96EC2D-CCA2-13DE-16F4-026DE308B0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96EC2D-CCA2-13DE-16F4-026DE308B0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1A651-C913-5C7C-5407-B24D3C645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32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743AB3F-CB4F-BAF1-BDC0-6CD1787F97C5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7AC9616-93BC-4071-A3FE-40D80D5D21F9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DBD8D00-D2C7-C945-B2A7-B1278BC0A1BA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5DC7DAB-F842-F342-2220-6BB617DB65E4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5A353930-2283-868D-18CF-2D49EA4E66D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4EAA505-3654-3BAB-C296-297B1400814F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6A35310B-B68D-36AC-BDCB-05D04DEF4340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0F0BCF6-929B-A9DF-8DEC-9DFB0B2C53F4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A85515D-A1C9-75BD-42FE-2787AD179A3D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6D9F1E08-8935-12B1-E8B2-414433602AE2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AE255D1-6301-D798-1577-ABD562EF87A6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5B403E-EB7C-21AD-7A20-DA9B57AFB25B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75B403E-EB7C-21AD-7A20-DA9B57AFB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80437A-0D19-35D5-BCF4-19AF5B37138E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880437A-0D19-35D5-BCF4-19AF5B3713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AB7584-864A-5DC4-25DB-3176D4DEC12F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9AB7584-864A-5DC4-25DB-3176D4DEC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5776199-09DA-0B0B-7ADC-CAA5A1737409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1CD9E2B-C9C3-C1C9-B069-6E6AE5D9684A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538D398-6A0F-0492-5865-9500A5C798AA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E0EBC8F-7FA2-80C8-73A9-B9EA5E76FC7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6824B10F-8297-F7EA-D550-64D55F0743B1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E644FCF7-045D-E422-73C8-1F3F7596677E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964598F-AAF7-8410-DD1B-61670230AD9D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871F2121-1E59-A239-37D0-18ED7CD16DAD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EC03A68-9006-40E8-E0A4-CF7C93B344AF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9EC03A68-9006-40E8-E0A4-CF7C93B34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F8E97AC-0FCF-A3BC-26B6-EF17412D96D1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F8E97AC-0FCF-A3BC-26B6-EF17412D9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7E20D48-4BFD-F44B-A838-D1A0565A5F5E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7E20D48-4BFD-F44B-A838-D1A0565A5F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38C9EC1-1661-42E4-7FB2-4688EF17A37A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38C9EC1-1661-42E4-7FB2-4688EF17A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52FCA20-7FA7-F050-775E-1214989EC0A7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DC4C3A6A-0916-92A9-94D9-EE1BC7C9AFC1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6CF399B-FB9D-DCE0-4844-93F6A476FBD6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6CF399B-FB9D-DCE0-4844-93F6A476F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E690DAB-6318-AB51-27BE-060B26C3E1A2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E690DAB-6318-AB51-27BE-060B26C3E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1F2CB0A0-79ED-1DB1-A0F1-61CFD6F27645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389B830D-AF4E-8F7B-B54F-78B5AC697450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E1E1425-41A0-A534-0B47-6BB521927138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1697AE-5253-CD1B-DB37-F0C24C8284D9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7B2B36-1A48-3328-F1D5-CE3C2AEB2229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4E0A64-A239-0D5F-FF69-B774BA92D025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9B1944-412C-217E-B430-F988A3DC9147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CE7D56F-3D5D-13AC-B693-74A1E5C647B6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0877CE-FB26-B58C-1ACF-7599877FF639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C0CA4BF-B921-36E0-28EE-3A3A441E596A}"/>
              </a:ext>
            </a:extLst>
          </p:cNvPr>
          <p:cNvSpPr/>
          <p:nvPr/>
        </p:nvSpPr>
        <p:spPr>
          <a:xfrm>
            <a:off x="3724275" y="3897865"/>
            <a:ext cx="8457122" cy="2960133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EB6799-C92B-2FB5-0FCE-2AA97C0B63A1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476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03BF0-038A-0E0F-D617-1EB861064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A83C-AE84-1EBD-1CAD-D0589D7F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EBF35-DFA0-9024-F0EA-7865E73A09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7EBF35-DFA0-9024-F0EA-7865E73A09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F5C96-B187-0724-EA04-830196778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33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BF1524-A22C-E852-5759-16B23FBE7255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16C04A5-5385-5C5A-0788-6C1B9E2F66AD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97D3BE7-991F-897D-3840-FCA45619C5E3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CCD5C06-F542-7DDA-5113-07EC50587C05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83D8D34-93F6-E81B-7209-6632FD66FDB2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1AE34D2-7AA4-8748-0F85-012406FD624C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2EAD660-296A-92E0-90E2-E8856E64D3D2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F6D3246A-46BF-1A82-39AC-4D9393AE5FDC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D3854C5-A374-ED3C-AA2A-D455A013F7FC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CD65652-33EA-6290-170E-66D76FD7011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A45F3AF2-FC42-B39D-13E7-65F86121D9D2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C06119-BA22-089D-CDDB-37ED01D710FE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C06119-BA22-089D-CDDB-37ED01D710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C941F69-559F-9B13-2EA4-B8212D33A9D5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C941F69-559F-9B13-2EA4-B8212D33A9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0F6AF5-BB04-2443-8CF2-E97F600E1093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20F6AF5-BB04-2443-8CF2-E97F600E1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11F6A84-1C36-6E25-A278-8509D784079E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5E23BE1-38B6-70E2-AA0A-24258558E57E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DCD4FF-7853-B1C1-818F-4F6890D55C99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D314AA6-40EA-F1F0-FAB8-D17927BA06D7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637394A-92C9-60C2-0DBD-21D512514C59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F35B480D-57CF-0E0C-676E-C5234728C0AC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CF5F6A36-F890-3B84-0190-819FD72BD5D3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1257EC3-30FC-39B2-43B0-0AE8FDAD795C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44CE29-122F-A621-5690-7D9779F866A0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F44CE29-122F-A621-5690-7D9779F866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232F8A3-F73F-D671-4A1A-EB18497520C3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232F8A3-F73F-D671-4A1A-EB1849752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202A7C-1FF5-B433-AF06-6DB82042EB6C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D202A7C-1FF5-B433-AF06-6DB82042E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99EFB6-02FD-66BC-BC6D-9D96C9E16716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8699EFB6-02FD-66BC-BC6D-9D96C9E16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D6E1AD6-E9A7-E234-46C9-FA695582D0D2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9379D655-ACBA-DF30-C7F1-55317AD6BE8F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9EA629-A463-CF29-D3EC-9EC09375523E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B9EA629-A463-CF29-D3EC-9EC0937552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D033F19-CF66-A28E-CDD3-B07A64F2AB77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D033F19-CF66-A28E-CDD3-B07A64F2A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3F4D1EE-69E1-F689-3252-6FAB2179A47D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436B37FB-A79E-A917-25A8-50F5300CADDD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44038D-A82C-8FA0-1469-D7078D4A9268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DA14DF-E896-21BE-ACAF-828A2ECCB4EA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E13937-29E2-0306-3D18-4BFBC6BB97F9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9F9CA5-A904-5B11-F89D-1DA41BC8F391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C1A254-0669-5ADC-C123-8B03E58370FE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42CBAD1-48E5-F498-49F1-97EA368737CA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5906712-7E1B-3E8E-F669-310AFD2B0EFA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A3DEB7F-8DF3-3BBB-585A-73F0AA6C40E9}"/>
              </a:ext>
            </a:extLst>
          </p:cNvPr>
          <p:cNvSpPr/>
          <p:nvPr/>
        </p:nvSpPr>
        <p:spPr>
          <a:xfrm>
            <a:off x="3724275" y="4778867"/>
            <a:ext cx="8457122" cy="2079131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3AB35C-A1A8-AA00-BD3E-6DD9809B3C20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629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2845A-1718-0CCF-D8CF-D2CB74909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4CE66-1FDD-6877-27FB-E1CCA80E3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3505E-0F09-F2B1-C7BF-2EE0C442B0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3505E-0F09-F2B1-C7BF-2EE0C442B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345CB-AB11-9155-EC81-620652362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34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04A785-4F72-B90E-628B-DFD0055693F9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5376B73-FAAE-78B3-1606-EB59188C983A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F521200-46EA-96A6-84FC-9B41DAF8F237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EDC4666-5F19-7FE1-EB72-8C28FC974EF5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23525FC-CDD2-C7C0-EBA6-2B7AC9D0B4D0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2A34172-7979-A871-0EA4-897899672D70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DB1C7D0-CBE0-83E9-5EAE-65CF29C5C13D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A9988E30-FA1A-B3FF-71ED-4D698BD1FD35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1569F0F5-FAF2-0297-E57A-5F490D3119C7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1DD30B5-E9C5-672F-D25C-098D1A0CEECF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C9C6C73-217C-F9A2-C781-C3B6A83FEC4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86EE2C-BFBB-31FA-94E0-EBCE968E2F90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86EE2C-BFBB-31FA-94E0-EBCE968E2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6631DA0-7A6D-9013-4A25-A987123CA9DC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6631DA0-7A6D-9013-4A25-A987123CA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05D06E-0BA2-D03F-46E5-69E2D84AA25C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05D06E-0BA2-D03F-46E5-69E2D84AA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8224C09-CF27-F94D-A582-7C33263F6A4D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FDB04E5-8961-C7DB-2D63-147CCAED53F3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4DF5D357-6636-801B-96A0-63D6F8BE8B2E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3D3D5F10-514E-C2DE-4DA4-EDA3DFFDB221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753D627-F170-5B31-8EC6-D46E0F0E90D8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F942A8D1-CD7D-CFCA-89D5-7B309B253FEA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1AFFE5F6-9065-F44C-951D-B487EE1DF649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AC1BEB92-DF76-34C6-4D36-C214227D8D6C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13C10E-5CE1-291A-47EC-1678752D0D9D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13C10E-5CE1-291A-47EC-1678752D0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5C48E-E1B5-8AC2-0380-2DA960C95780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5C48E-E1B5-8AC2-0380-2DA960C95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0714F2-27FB-C9AD-2226-A55F7D2F7DE3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0714F2-27FB-C9AD-2226-A55F7D2F7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8B8A05-C9E6-6011-68A5-F33BC3EB8694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8B8A05-C9E6-6011-68A5-F33BC3EB8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66E6A65-D983-32F2-48E1-E2DA987A92CA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A45E864-B654-90A4-3DF1-E207F650BC85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5D4E38E-3045-B923-17AC-6D9BDEE91EE6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5D4E38E-3045-B923-17AC-6D9BDEE9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379685-3025-EF34-111B-4B0FC0C6CFD2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379685-3025-EF34-111B-4B0FC0C6C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1C2F56F-3EBC-FAA2-58BC-BFEB10C0FB5D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185F1B09-5F18-1BBF-A244-A6878D3D2BED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5B3CD2A-A9BA-B789-FEEF-F88277E44D05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26E07D-6832-C992-1021-4B170FA37A6F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579A5B-1D2C-D3FD-9D41-F127490BF202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FDBF2B9-B407-EA72-45C1-45263309568D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5C3E45-575C-B367-5063-AFAC4A5A4E4C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66DDC0-2CDB-BB6C-3CCB-D8202E7060B1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30C3C11-5C17-303E-FE57-3E8F705F9E5A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71D1E0-9ED5-DB0D-DEBA-6F1D84337659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5413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D942-AADA-0A93-8750-6BD5903E5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9F36-C425-36A9-6B48-B440C3EE1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E43FF6-FDE1-3773-2E1A-7C70C1BADC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3505E-0F09-F2B1-C7BF-2EE0C442B0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B8919-05CB-FCE2-DF0E-948B22B0E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35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415FE9D-09E9-61D1-7560-AFA082D9C051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01A718-AB88-D65D-C936-42E7EEA9560B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EC4743D-5CF7-E996-729A-49E5E31EB6ED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B489613-8434-CE2D-C896-8BCF9ABCBE19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C3A76916-5B57-7F0B-0051-7908C22FF884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79B7628-086E-A5E5-2CC4-B46CB28D361F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E708067-CDED-3108-AD8C-D5C792B6AF77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6921FF98-01D1-29F5-63D8-B21EDB152F53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FD398F-03FD-0557-CAED-CF1999C79BDA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627A6AF-110E-0742-890C-0BBBBB95BF48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4EDAFA5C-B91F-759C-FF75-ED8B36CFA3D2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9A367F7-8BAB-FACF-AD6F-C4F6B02683F5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886EE2C-BFBB-31FA-94E0-EBCE968E2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CB0D51F-8470-6491-FE79-5C6B915DB299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6631DA0-7A6D-9013-4A25-A987123CA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FB5B837-74E6-1BAD-5E74-6F7FCAC09879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605D06E-0BA2-D03F-46E5-69E2D84AA2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D9C360BA-ED93-6A58-1578-BD9EE1D2943C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1DAE48DE-2297-0C38-1CE8-A11CE7C20F03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5795AC4-8372-D0FF-37B9-D7801CF366CD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2435318-2BE1-7760-E0F0-9EE3517FF8A6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CCDE0FDF-12EE-40BF-3CCD-DCC1F9B953F7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5C1433BF-0AA7-89AE-8FF4-52D8FDC3298E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8B52FAD-8CCC-5F60-1A1F-8CB3E95F0BB1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601F0C0-9A80-4709-E31C-147396098F9A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F90C635-2E46-DABF-0A67-4816887CC26D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A13C10E-5CE1-291A-47EC-1678752D0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0AFCB2-6B30-6825-8DD2-F518336770EA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545C48E-E1B5-8AC2-0380-2DA960C95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3C08914-EED1-66E7-5891-4E116F682E48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20714F2-27FB-C9AD-2226-A55F7D2F7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00EFD11-DA61-9EC0-68A4-6C3B639FB652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88B8A05-C9E6-6011-68A5-F33BC3EB8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4E072D1-0A23-A976-0B7E-F9A7F6C1AAA0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5C0E6DCC-F439-B6BC-7DA3-9158FF0E60E7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C9A8671-5E52-9545-E870-54F57FC8AD8D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5D4E38E-3045-B923-17AC-6D9BDEE91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D38A025-49F5-62DB-19A2-AAB42F0E0E1C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379685-3025-EF34-111B-4B0FC0C6C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080A9D5-27DA-6DF1-DED3-A06B167C8F99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3436F706-6403-E0EE-7E9C-75E07495163C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50EF87-B202-8C92-D958-4EDD7E416199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2F46C81-1211-569F-E63D-3D864B2EA5B8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688DDC-4CF5-C73C-979E-8E1C3CAF52C3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E51F12B-A4FF-F09D-D138-65EBB8968CC9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22FB79-8F53-E991-A548-EEF883D4E4F9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D677D4-D7E4-0952-A826-F5FFABDC5AAC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D93EE83-5EDB-6DAD-4135-082BFCD3DF40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F0A103-5135-D9AE-8F2F-DE7DC6004BB9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8229B4-B3A0-49BC-5FDA-B822CE4B5C86}"/>
              </a:ext>
            </a:extLst>
          </p:cNvPr>
          <p:cNvSpPr/>
          <p:nvPr/>
        </p:nvSpPr>
        <p:spPr>
          <a:xfrm>
            <a:off x="3620345" y="1"/>
            <a:ext cx="8561052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55573F-C107-A6ED-4F17-B395DF513E4E}"/>
              </a:ext>
            </a:extLst>
          </p:cNvPr>
          <p:cNvSpPr/>
          <p:nvPr/>
        </p:nvSpPr>
        <p:spPr>
          <a:xfrm>
            <a:off x="3487696" y="2994796"/>
            <a:ext cx="8561052" cy="2451577"/>
          </a:xfrm>
          <a:prstGeom prst="rect">
            <a:avLst/>
          </a:prstGeom>
          <a:solidFill>
            <a:schemeClr val="bg1">
              <a:lumMod val="9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i="1" dirty="0">
                <a:solidFill>
                  <a:srgbClr val="7030A0"/>
                </a:solidFill>
              </a:rPr>
              <a:t>Query</a:t>
            </a:r>
            <a:r>
              <a:rPr lang="pt-BR" sz="2400" dirty="0">
                <a:solidFill>
                  <a:schemeClr val="tx1"/>
                </a:solidFill>
              </a:rPr>
              <a:t>, </a:t>
            </a:r>
            <a:r>
              <a:rPr lang="pt-BR" sz="2400" i="1" dirty="0">
                <a:solidFill>
                  <a:schemeClr val="accent4">
                    <a:lumMod val="50000"/>
                  </a:schemeClr>
                </a:solidFill>
              </a:rPr>
              <a:t>Keys</a:t>
            </a:r>
            <a:r>
              <a:rPr lang="pt-BR" sz="2400" dirty="0">
                <a:solidFill>
                  <a:schemeClr val="tx1"/>
                </a:solidFill>
              </a:rPr>
              <a:t> e </a:t>
            </a:r>
            <a:r>
              <a:rPr lang="pt-BR" sz="2400" i="1" dirty="0" err="1">
                <a:solidFill>
                  <a:srgbClr val="00B0F0"/>
                </a:solidFill>
              </a:rPr>
              <a:t>Values</a:t>
            </a:r>
            <a:r>
              <a:rPr lang="pt-BR" sz="2400" i="1" dirty="0">
                <a:solidFill>
                  <a:schemeClr val="tx1"/>
                </a:solidFill>
              </a:rPr>
              <a:t> </a:t>
            </a:r>
            <a:r>
              <a:rPr lang="pt-BR" sz="2400" dirty="0">
                <a:solidFill>
                  <a:schemeClr val="tx1"/>
                </a:solidFill>
              </a:rPr>
              <a:t>são abstrações que fazemos para ter uma analogia do que está acontecendo na atenção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rgbClr val="7030A0"/>
                </a:solidFill>
              </a:rPr>
              <a:t>Query</a:t>
            </a:r>
            <a:r>
              <a:rPr lang="pt-BR" sz="2000" i="1" dirty="0">
                <a:solidFill>
                  <a:schemeClr val="tx1"/>
                </a:solidFill>
              </a:rPr>
              <a:t>: </a:t>
            </a:r>
            <a:r>
              <a:rPr lang="pt-BR" sz="2000" dirty="0">
                <a:solidFill>
                  <a:schemeClr val="tx1"/>
                </a:solidFill>
              </a:rPr>
              <a:t>Um vetor que codifica uma consulta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4">
                    <a:lumMod val="75000"/>
                  </a:schemeClr>
                </a:solidFill>
              </a:rPr>
              <a:t>Keys</a:t>
            </a:r>
            <a:r>
              <a:rPr lang="pt-BR" sz="2000" i="1" dirty="0">
                <a:solidFill>
                  <a:schemeClr val="tx1"/>
                </a:solidFill>
              </a:rPr>
              <a:t>:</a:t>
            </a:r>
            <a:r>
              <a:rPr lang="pt-BR" sz="2000" dirty="0">
                <a:solidFill>
                  <a:schemeClr val="tx1"/>
                </a:solidFill>
              </a:rPr>
              <a:t> Chaves de busca que possuem similaridade com as </a:t>
            </a:r>
            <a:r>
              <a:rPr lang="pt-BR" sz="2000" i="1" dirty="0" err="1">
                <a:solidFill>
                  <a:srgbClr val="7030A0"/>
                </a:solidFill>
              </a:rPr>
              <a:t>querys</a:t>
            </a:r>
            <a:endParaRPr lang="pt-BR" sz="2000" i="1" dirty="0">
              <a:solidFill>
                <a:srgbClr val="7030A0"/>
              </a:solidFill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000" i="1" dirty="0" err="1">
                <a:solidFill>
                  <a:srgbClr val="00B0F0"/>
                </a:solidFill>
              </a:rPr>
              <a:t>Values</a:t>
            </a:r>
            <a:r>
              <a:rPr lang="pt-BR" sz="2000" i="1" dirty="0">
                <a:solidFill>
                  <a:schemeClr val="tx1"/>
                </a:solidFill>
              </a:rPr>
              <a:t>: </a:t>
            </a:r>
            <a:r>
              <a:rPr lang="pt-BR" sz="2000" dirty="0">
                <a:solidFill>
                  <a:schemeClr val="tx1"/>
                </a:solidFill>
              </a:rPr>
              <a:t>Valor que deve ser retornado quando um par de </a:t>
            </a:r>
            <a:r>
              <a:rPr lang="pt-BR" sz="2000" i="1" dirty="0">
                <a:solidFill>
                  <a:srgbClr val="7030A0"/>
                </a:solidFill>
              </a:rPr>
              <a:t>query</a:t>
            </a:r>
            <a:r>
              <a:rPr lang="pt-BR" sz="2000" dirty="0">
                <a:solidFill>
                  <a:schemeClr val="tx1"/>
                </a:solidFill>
              </a:rPr>
              <a:t> e </a:t>
            </a:r>
            <a:r>
              <a:rPr lang="pt-BR" sz="2000" i="1" dirty="0" err="1">
                <a:solidFill>
                  <a:schemeClr val="accent4">
                    <a:lumMod val="75000"/>
                  </a:schemeClr>
                </a:solidFill>
              </a:rPr>
              <a:t>key</a:t>
            </a:r>
            <a:r>
              <a:rPr lang="pt-BR" sz="2000" dirty="0">
                <a:solidFill>
                  <a:schemeClr val="tx1"/>
                </a:solidFill>
              </a:rPr>
              <a:t> é similar</a:t>
            </a:r>
            <a:endParaRPr lang="pt-BR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2552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1A3644-FE91-4BFF-E229-0F0DA1E5D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416A-B57A-BC6E-45B4-24163DD0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0818E-05ED-091D-7D2D-14E50B97F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0818E-05ED-091D-7D2D-14E50B97F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6DD83-5417-06FE-C141-4904B9AE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36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760FC4F-C55D-A613-3BE0-C7D57D8D671C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24C582-81F4-589B-8759-C0BE4D7FBB12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866F3D1-516F-C17D-A86C-2BCC43D6CBD5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7BD62F0-BDD6-183E-11F6-95CFACD6EDD1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AD2EA0B-F116-0D22-CC18-F22FB1E05325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46F15EF0-717B-A29E-E156-1B68C2FEE3CE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0006B18-0722-2EC9-FBC8-19C1BBE91FA3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4529D09-6960-0866-B5F4-E3FD5640762B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B46ACC3-934E-A86D-BDD3-5E31266F426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B75CC6F2-971E-B354-A029-9AE2A9A456C8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A52FA02-0CD1-D826-A97F-50CFA8C05C41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AB1C4C-9D8D-45A7-9327-BBB2950F1E0F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AB1C4C-9D8D-45A7-9327-BBB2950F1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6C568C-1B40-C332-61E6-1BB29B676D56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6C568C-1B40-C332-61E6-1BB29B676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E57A8C-9D26-F6B9-E6C4-974F6FF33087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E57A8C-9D26-F6B9-E6C4-974F6FF33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B9D683A-7A8C-747A-10A9-C695BB024B0C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AB950CE-E4C8-ABD4-9076-B10E7E27C30C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E4F2189-8D20-CB7A-3B24-B809964019C7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D9DDB3AD-D640-42DB-6287-17EA6D0D5735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CD4D2D2-702A-218E-96A7-544762082762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3B415631-335B-2616-4583-F7AA20710165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8ED2907C-D5BD-7476-0B9C-556DCD2BEDA8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DC07A2CD-110A-1F84-FE7D-52F7DEBD791C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A754A9-6A57-568F-C535-652CB8F008DC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A754A9-6A57-568F-C535-652CB8F00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AB050A1-3C28-7269-778B-65B84C66FD3E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AB050A1-3C28-7269-778B-65B84C66F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8C3BAF-C3AC-80B5-7B18-904918A9865B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8C3BAF-C3AC-80B5-7B18-904918A98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06800-0B2B-C17D-F45C-4CEE778505C5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06800-0B2B-C17D-F45C-4CEE77850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A26620D-A9FA-CE29-A07E-8A96AB066279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831F9FAC-BDFC-B42A-3F8A-41BAF5B5AF8C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294BEF-E71B-B40B-7879-BCA27E8D902B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294BEF-E71B-B40B-7879-BCA27E8D9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B0C4FE4-73D7-9182-9747-F38CF7FB54A8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B0C4FE4-73D7-9182-9747-F38CF7FB5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708AB92-9D09-7757-4DF4-147153627EDC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CF6E9244-ECE7-8AC3-F668-907F7C6A6036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F0D54F7-48EE-81AE-E48E-4B1A5C603EB7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EFAE4C0-2F14-EFBF-7321-58CCA6CD62C7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E63C5B-DA5B-4F70-5668-4788AE01CC97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4EDA084-35B8-6194-CB7D-AA13E494A4FF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E11033-DF30-2973-9A9E-68B47FBDDB8C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065264-F3C0-9B51-89B3-F7A6405C8769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A70131D-5B69-240F-7D89-1CF6D2A2C9CD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0A2B12-149E-267A-3F21-381A73EB8B23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76004E-551A-B786-7D95-F0CB22BABEFD}"/>
              </a:ext>
            </a:extLst>
          </p:cNvPr>
          <p:cNvSpPr/>
          <p:nvPr/>
        </p:nvSpPr>
        <p:spPr>
          <a:xfrm>
            <a:off x="0" y="1"/>
            <a:ext cx="12181397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9F6474-CBA2-093C-374A-38814ACCCD40}"/>
              </a:ext>
            </a:extLst>
          </p:cNvPr>
          <p:cNvSpPr/>
          <p:nvPr/>
        </p:nvSpPr>
        <p:spPr>
          <a:xfrm>
            <a:off x="2129071" y="1829311"/>
            <a:ext cx="7038507" cy="1010687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Nós Podemos </a:t>
            </a:r>
            <a:r>
              <a:rPr lang="en-US" sz="3200" dirty="0" err="1">
                <a:solidFill>
                  <a:schemeClr val="tx1"/>
                </a:solidFill>
              </a:rPr>
              <a:t>fazer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melhor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5BC45E-D54E-BE03-48D1-823A7B51D52E}"/>
              </a:ext>
            </a:extLst>
          </p:cNvPr>
          <p:cNvSpPr txBox="1"/>
          <p:nvPr/>
        </p:nvSpPr>
        <p:spPr>
          <a:xfrm>
            <a:off x="1528732" y="3571747"/>
            <a:ext cx="8772257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A implementação vista até agora está processando cada uma das </a:t>
            </a:r>
            <a:r>
              <a:rPr lang="pt-BR" sz="2400" dirty="0" err="1">
                <a:solidFill>
                  <a:schemeClr val="tx1"/>
                </a:solidFill>
              </a:rPr>
              <a:t>querys</a:t>
            </a:r>
            <a:r>
              <a:rPr lang="pt-BR" sz="2400" dirty="0">
                <a:solidFill>
                  <a:schemeClr val="tx1"/>
                </a:solidFill>
              </a:rPr>
              <a:t> de maneira independente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Porém o resultado de </a:t>
            </a:r>
            <a:r>
              <a:rPr lang="pt-BR" sz="2400" dirty="0"/>
              <a:t>cada </a:t>
            </a:r>
            <a:r>
              <a:rPr lang="pt-BR" sz="2400" i="1" dirty="0"/>
              <a:t>query</a:t>
            </a:r>
            <a:r>
              <a:rPr lang="pt-BR" sz="2400" dirty="0"/>
              <a:t> é independente das demais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schemeClr val="tx1"/>
                </a:solidFill>
              </a:rPr>
              <a:t>Vamos transformar isso em uma multiplicação de matrizes</a:t>
            </a:r>
          </a:p>
        </p:txBody>
      </p:sp>
    </p:spTree>
    <p:extLst>
      <p:ext uri="{BB962C8B-B14F-4D97-AF65-F5344CB8AC3E}">
        <p14:creationId xmlns:p14="http://schemas.microsoft.com/office/powerpoint/2010/main" val="265832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0A92B-5CFB-327F-1316-95E188809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1EBE5-F4AB-258F-9297-3D7CDA0E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BE5140-B3CE-BBD1-69C1-BE8CF1B89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80818E-05ED-091D-7D2D-14E50B97F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754B8-5A5E-9E2C-9D45-22ECED17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37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843E058-54B7-C953-B26B-9C9A92F2E8E6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F91A245-98BB-699A-CD3A-DDC9AB92A08A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EAD5FC-567D-BD1F-7750-00DFB369BEFC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EF7BC4B-5ED5-00A8-A661-8CEE17416701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D53074A-1E9E-9CC5-AC95-D1D41B41D4D9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688533F-CDB7-3C92-CCA9-80F4DE76D8AB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D75DE354-F561-BB95-DA37-9691452E5984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5208082-056F-1145-0549-24C31ACD0517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2E441ED-7339-2DA3-C2C3-40986D28F154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0CFC727-2E0C-5F5D-8737-E09CEFD2A8DA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52E44866-03CC-3B86-3D34-6181A6B5D2A4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96BB66F-D9AB-A6C1-528D-5270DD2A49B3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4AB1C4C-9D8D-45A7-9327-BBB2950F1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5A91194-D6EC-21AB-FE77-DDD21F7EEC95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66C568C-1B40-C332-61E6-1BB29B676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403D0F8-191E-FAFD-EE71-7FFBCB2769A1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7E57A8C-9D26-F6B9-E6C4-974F6FF33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632E330-EC58-A2F1-6315-A1BBB5D03D5D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190D811-0750-1752-DA9C-E0D05441F31E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A7032C2-76DE-29A3-5A4E-29A45E8041FF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A3AB39A-5CBA-6964-27E5-3776BB443C86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A662DC0-96AC-2C1F-FC3F-EB552E76609B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2CA17B2E-1F61-A349-62DC-483EECE7C175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3FE233A8-1AA2-40DA-2DBD-0448A238FAB5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FD065656-B288-F4E0-B231-5E87EB40A9CE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B7F4B2D-89D1-864A-F234-C8C303118A7F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EA754A9-6A57-568F-C535-652CB8F008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233EC64-C003-E212-84F8-45A008700D70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FAB050A1-3C28-7269-778B-65B84C66F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7EAFA60-4C35-536A-E443-21A7AAE9D006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8C3BAF-C3AC-80B5-7B18-904918A98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E9B3D3F-83F8-8F60-68B1-4E87A605E7DF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006800-0B2B-C17D-F45C-4CEE77850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4B4C346D-D826-72D8-C569-9B2CD519AFD5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4C5FF0C-3A3B-6521-2963-8B74EE39137B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919FBA5-80DC-C5F1-23FF-57B773357C27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E294BEF-E71B-B40B-7879-BCA27E8D9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C1C3FEF-FCA9-416E-38C1-2FF008FF853B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B0C4FE4-73D7-9182-9747-F38CF7FB54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C67B4DF7-8BBD-D2B2-2A83-321F0E0E9961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230927DB-1669-6408-B028-ED0C340227CF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E5E64B-4B91-4731-B387-9F21671B142E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C7270E8-6052-2001-89F6-425D52657E3F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12F884-232A-5062-0D34-F7D5A7C412EB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40387E-641B-5D32-28A2-D312464D821A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BC7B823-1410-1ABC-5A77-67945088B598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F494E8-1C7D-452A-34B6-C1DB97423059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B9D8BD-7286-E95F-23AB-DFAC541BC159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69DE75-7790-466D-C21F-90A861481BB0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4C569-217A-6684-07B2-8C122E9107B9}"/>
              </a:ext>
            </a:extLst>
          </p:cNvPr>
          <p:cNvSpPr/>
          <p:nvPr/>
        </p:nvSpPr>
        <p:spPr>
          <a:xfrm>
            <a:off x="0" y="1"/>
            <a:ext cx="12181397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4F479E-EF3C-8B94-2B98-5101A7C903F0}"/>
              </a:ext>
            </a:extLst>
          </p:cNvPr>
          <p:cNvSpPr/>
          <p:nvPr/>
        </p:nvSpPr>
        <p:spPr>
          <a:xfrm>
            <a:off x="2129071" y="1829311"/>
            <a:ext cx="7038507" cy="1010687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Nós Podemos </a:t>
            </a:r>
            <a:r>
              <a:rPr lang="en-US" sz="3200" dirty="0" err="1">
                <a:solidFill>
                  <a:schemeClr val="tx1"/>
                </a:solidFill>
              </a:rPr>
              <a:t>fazer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melhor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B9AF5C-8981-A730-606D-CC35A552AC9E}"/>
                  </a:ext>
                </a:extLst>
              </p:cNvPr>
              <p:cNvSpPr txBox="1"/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32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3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D5BC45E-D54E-BE03-48D1-823A7B51D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0023150A-AFBF-AA21-1FA7-0B8E1FCBBCAB}"/>
              </a:ext>
            </a:extLst>
          </p:cNvPr>
          <p:cNvSpPr/>
          <p:nvPr/>
        </p:nvSpPr>
        <p:spPr>
          <a:xfrm rot="5400000">
            <a:off x="3970762" y="4497788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B1B9CD7-E263-5F64-0E52-2F24F936E931}"/>
                  </a:ext>
                </a:extLst>
              </p:cNvPr>
              <p:cNvSpPr txBox="1"/>
              <p:nvPr/>
            </p:nvSpPr>
            <p:spPr>
              <a:xfrm>
                <a:off x="2862126" y="4982829"/>
                <a:ext cx="2682336" cy="556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D34ABF0-B720-C57F-41AC-39782AB71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26" y="4982829"/>
                <a:ext cx="2682336" cy="556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421A52CF-E167-00EB-A737-B0623A094210}"/>
              </a:ext>
            </a:extLst>
          </p:cNvPr>
          <p:cNvSpPr/>
          <p:nvPr/>
        </p:nvSpPr>
        <p:spPr>
          <a:xfrm rot="5400000">
            <a:off x="3583578" y="5490135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5684FE9-4764-81A3-4837-0CFD10A45CCD}"/>
                  </a:ext>
                </a:extLst>
              </p:cNvPr>
              <p:cNvSpPr txBox="1"/>
              <p:nvPr/>
            </p:nvSpPr>
            <p:spPr>
              <a:xfrm>
                <a:off x="2097305" y="5908308"/>
                <a:ext cx="2017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seq_size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 err="1"/>
                  <a:t>emb_size</a:t>
                </a:r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B88AA3-86FA-ABD6-2F7F-DE2FC93BCA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05" y="5908308"/>
                <a:ext cx="2017732" cy="369332"/>
              </a:xfrm>
              <a:prstGeom prst="rect">
                <a:avLst/>
              </a:prstGeom>
              <a:blipFill>
                <a:blip r:embed="rId14"/>
                <a:stretch>
                  <a:fillRect l="-2417" t="-8197" r="-2719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347EC8-00C7-E624-15C1-76BF317E79E9}"/>
                  </a:ext>
                </a:extLst>
              </p:cNvPr>
              <p:cNvSpPr txBox="1"/>
              <p:nvPr/>
            </p:nvSpPr>
            <p:spPr>
              <a:xfrm>
                <a:off x="4188426" y="5911268"/>
                <a:ext cx="1410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emb_size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1E021CA-6798-CE64-A400-8011525D3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426" y="5911268"/>
                <a:ext cx="1410579" cy="369332"/>
              </a:xfrm>
              <a:prstGeom prst="rect">
                <a:avLst/>
              </a:prstGeom>
              <a:blipFill>
                <a:blip r:embed="rId15"/>
                <a:stretch>
                  <a:fillRect l="-3463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A13CB2D6-BC90-51AB-26CC-0DCDFFCE6F6A}"/>
              </a:ext>
            </a:extLst>
          </p:cNvPr>
          <p:cNvSpPr/>
          <p:nvPr/>
        </p:nvSpPr>
        <p:spPr>
          <a:xfrm rot="5400000">
            <a:off x="4174435" y="5490135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4333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4EC2-37EE-AECA-A87B-6641600F8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74C38-375C-F2A9-1B39-7DAFA3D5E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98D4E6-65E1-BCA9-DE73-8EB5D5392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98D4E6-65E1-BCA9-DE73-8EB5D5392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466F4-ABDB-D78D-E5B6-1E7F9F76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38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C5FC364-4D82-59F5-1048-9781493A2643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55E17D4-BC57-3F9E-37AE-C164284FDFA6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3CA67A5-2144-4A97-2462-96B4B47A012D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0E8A5E2-BCB4-3C9D-A322-EF235ABBDC5B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A3AB0C0-58E5-3707-408C-3A554E0CC771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6F515BF-8FD4-3B50-244C-131DB99D42EE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91ADFE4-4A98-2904-0543-07D12609D67D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76493FF-CB25-0A22-004A-E4DD95EF6EA9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54D10777-6EB9-9196-4C4D-F31C0BB1C677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DA29A09-E164-9C48-D901-5C9D9D723290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306B5D0-C35B-94FE-DE56-8CE2CA594BFB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EC0FF2-176B-48A8-A385-25C45C27E423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7EC0FF2-176B-48A8-A385-25C45C27E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C3068E1-19EB-266D-F80A-F5FD83AFDAE9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C3068E1-19EB-266D-F80A-F5FD83AFD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B7EC62-3F69-7171-C5FC-AEF6680F105F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DB7EC62-3F69-7171-C5FC-AEF6680F1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872DB62-8D73-17C2-D154-8E1B339845A3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5A5C253-3DB3-61A2-C1E3-01C25083C9BA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60A5F1A-3643-07D8-D26F-CDBDFA27AC9B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764A011-9889-9D5B-4EAD-2659A858E9A6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8DD697C-86E2-D1BA-A810-479727DF467F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FDB808F5-5F7A-6D40-6748-C41672EB1F1B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5FA9133-ADE3-FEBD-1289-486F07098A8B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26DA0104-FEEC-09EC-32CB-5E7EEF013146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6667414-53DA-2ADB-4F8D-DD6D9BD4B38C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6667414-53DA-2ADB-4F8D-DD6D9BD4B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571A20-C185-5222-926E-9AE890660456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9571A20-C185-5222-926E-9AE890660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F984D69-409A-A345-1F8E-279A8E7070BE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F984D69-409A-A345-1F8E-279A8E707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26795F-2781-DC26-1E84-A9EF158232C5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A26795F-2781-DC26-1E84-A9EF15823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40CC941D-798E-2445-FA30-CA58C2372749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59B4524A-7088-63D1-28FB-CF5D37DB28DD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B537BD5-41A5-6451-399E-75881EFE7480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B537BD5-41A5-6451-399E-75881EFE74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F4F820F-70AD-C746-5326-F10A09EFE0F0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F4F820F-70AD-C746-5326-F10A09EFE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864811B1-37FE-2AD2-75B1-000B7CE2A942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7317DACA-E56C-5904-CD08-F1D9720ACCC1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41C5B90-36C5-60A3-2668-129EE37C3217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B01EC2-1314-FB59-B431-E02A4D8306F7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F95E310-1070-4DEE-B491-C94644D9C830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0F24066-F2E3-CE1C-0320-8BD84B52FC86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78109C-6632-2C97-1E63-1E45A0F80114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001B74-C676-A8F8-7B86-1C4D749B772E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EEA77C-F254-D010-69F1-BC911C784FF3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2ABB3C-6907-97AF-6681-3A4EF13A0767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28688-FEB0-B03F-AAF3-1B6EE4A23DAE}"/>
              </a:ext>
            </a:extLst>
          </p:cNvPr>
          <p:cNvSpPr/>
          <p:nvPr/>
        </p:nvSpPr>
        <p:spPr>
          <a:xfrm>
            <a:off x="0" y="1"/>
            <a:ext cx="12181397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C26AB4-407B-D89A-9AD3-56CBB1B94B38}"/>
              </a:ext>
            </a:extLst>
          </p:cNvPr>
          <p:cNvSpPr/>
          <p:nvPr/>
        </p:nvSpPr>
        <p:spPr>
          <a:xfrm>
            <a:off x="2129071" y="1829311"/>
            <a:ext cx="7038507" cy="1010687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Nós Podemos </a:t>
            </a:r>
            <a:r>
              <a:rPr lang="en-US" sz="3200" dirty="0" err="1">
                <a:solidFill>
                  <a:schemeClr val="tx1"/>
                </a:solidFill>
              </a:rPr>
              <a:t>fazer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melhor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1939B9-196A-1FEF-08B4-F858A5578B1E}"/>
                  </a:ext>
                </a:extLst>
              </p:cNvPr>
              <p:cNvSpPr txBox="1"/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32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3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71939B9-196A-1FEF-08B4-F858A5578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2F0FEC9B-C21A-2B8A-A3B2-A46423863C2F}"/>
              </a:ext>
            </a:extLst>
          </p:cNvPr>
          <p:cNvSpPr/>
          <p:nvPr/>
        </p:nvSpPr>
        <p:spPr>
          <a:xfrm rot="5400000">
            <a:off x="4442244" y="4457559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27CAE9-E990-4C66-0F7C-471444114B06}"/>
                  </a:ext>
                </a:extLst>
              </p:cNvPr>
              <p:cNvSpPr txBox="1"/>
              <p:nvPr/>
            </p:nvSpPr>
            <p:spPr>
              <a:xfrm>
                <a:off x="2862126" y="4982829"/>
                <a:ext cx="2752227" cy="556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627CAE9-E990-4C66-0F7C-471444114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26" y="4982829"/>
                <a:ext cx="2752227" cy="556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875200C0-A122-EAE1-DD2B-73AA2D002EA4}"/>
              </a:ext>
            </a:extLst>
          </p:cNvPr>
          <p:cNvSpPr/>
          <p:nvPr/>
        </p:nvSpPr>
        <p:spPr>
          <a:xfrm rot="5400000">
            <a:off x="3583578" y="5490135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610949-A818-2CAB-2891-B7DA6636E65A}"/>
                  </a:ext>
                </a:extLst>
              </p:cNvPr>
              <p:cNvSpPr txBox="1"/>
              <p:nvPr/>
            </p:nvSpPr>
            <p:spPr>
              <a:xfrm>
                <a:off x="2097305" y="5908308"/>
                <a:ext cx="2017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seq_size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 err="1"/>
                  <a:t>emb_size</a:t>
                </a:r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2610949-A818-2CAB-2891-B7DA6636E6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05" y="5908308"/>
                <a:ext cx="2017732" cy="369332"/>
              </a:xfrm>
              <a:prstGeom prst="rect">
                <a:avLst/>
              </a:prstGeom>
              <a:blipFill>
                <a:blip r:embed="rId14"/>
                <a:stretch>
                  <a:fillRect l="-2417" t="-8197" r="-2719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505743-2C94-13E4-C69B-D3FC59BEE55B}"/>
                  </a:ext>
                </a:extLst>
              </p:cNvPr>
              <p:cNvSpPr txBox="1"/>
              <p:nvPr/>
            </p:nvSpPr>
            <p:spPr>
              <a:xfrm>
                <a:off x="4188426" y="5911268"/>
                <a:ext cx="1410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emb_size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3505743-2C94-13E4-C69B-D3FC59BEE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426" y="5911268"/>
                <a:ext cx="1410579" cy="369332"/>
              </a:xfrm>
              <a:prstGeom prst="rect">
                <a:avLst/>
              </a:prstGeom>
              <a:blipFill>
                <a:blip r:embed="rId15"/>
                <a:stretch>
                  <a:fillRect l="-3463" t="-10000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20704A38-5EFC-76B1-AA27-CA660DE3EDFA}"/>
              </a:ext>
            </a:extLst>
          </p:cNvPr>
          <p:cNvSpPr/>
          <p:nvPr/>
        </p:nvSpPr>
        <p:spPr>
          <a:xfrm rot="5400000">
            <a:off x="4174435" y="5490135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46007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4DE65-DCD5-2239-AF33-0111352C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E8615-C989-102D-47AC-AE4C28AE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B42AEC-AEC3-36C9-F372-098D5AE202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0B42AEC-AEC3-36C9-F372-098D5AE202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629B3-B27E-C7C6-441D-396E0395B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39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410355-7C2C-9F89-B4DF-08CF28DF2E7F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A9B6ABA-17E7-F11E-F585-F23777F72EF8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90529E-37EF-FF90-B67A-25E4757D7EC3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5BA7A7D-8D87-7809-F240-346F211B2A58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05755DE-FC35-0A8A-98FF-96C0320F3D4F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2004678-BDC4-94E1-9C95-8BFAF45FA0DC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D15D816-B4CB-376D-7A35-C4F2490961A0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0458C6A-9AB3-276A-CFC5-AA5BE6F4D8E1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7A1785F-6966-8017-7621-00E68B6F5BB3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723CCF1-D92E-1433-233E-81BE43E0F3DD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8B26440-F42C-1AC0-79AD-9B0EF2942DFC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1C016C5-A333-3561-456D-C69359A828B5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1C016C5-A333-3561-456D-C69359A82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632F52-BEE0-D3FD-5A53-B7A651814F2B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632F52-BEE0-D3FD-5A53-B7A651814F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D01A317-C910-E6E3-CC1A-E0748D8862F4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D01A317-C910-E6E3-CC1A-E0748D886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6A3C223-D69A-F7C1-6561-B9DB3C833AB0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118C2F9-84C5-0B86-17D1-D07338037CEF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64CB582-659C-504B-50F3-D8267C893151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D68AC18-7011-0A2F-2A95-EBEA2FD720EA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3505D34-8CE8-A035-DC08-F1EF5695DC45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EF580ED3-8FC6-78CE-C670-5BDEF61B91B7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5C161402-7632-3EED-1C51-1BB85703ABCA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52E48621-4384-5864-D15A-900223AC40CB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E12384-8417-A61F-B87B-C9D6CC421A9B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E12384-8417-A61F-B87B-C9D6CC421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DAB96B4-2A76-2008-8990-DF28D1A90856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DAB96B4-2A76-2008-8990-DF28D1A90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0DACA7F-FF48-B266-CC6E-F586146DF605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0DACA7F-FF48-B266-CC6E-F586146DF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B9E0540-A5ED-744F-C43D-A2A9B5263B33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B9E0540-A5ED-744F-C43D-A2A9B5263B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773B2F50-7953-FFF7-0CC8-F2673A7EB193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75E4FEE1-BC6B-C354-52A4-2B7114EADB7D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76F67D-AD35-A3E8-8C2C-FF7FC787FE21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76F67D-AD35-A3E8-8C2C-FF7FC787F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7EB214-002E-F366-EE8E-EFC72F66EE85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7EB214-002E-F366-EE8E-EFC72F66E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BD370FDD-F619-24A1-EA16-BF9A8619AF44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4F5E8999-D9C6-F327-6177-78F8F84BC5C2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BDB550-A55E-2887-D531-E2DF61A8784F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9EC8DA5-1E21-3F14-ACC4-DB544A495191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6441BA-220E-AB75-6EC2-667C176725F2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60B0F5-D53C-9AF7-5389-8DDBC9D98E85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BDAC4F-AE9F-FC5C-7B38-335D0ABA1341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C344FB6-D2A6-5A18-266A-93253E83A126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C88064-43FE-E554-E68B-D1055058DBD0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21A9ED-4A15-1552-8ACC-715426B2DF0B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B22F94-EE6A-8E87-937C-7F6EFF8B07E6}"/>
              </a:ext>
            </a:extLst>
          </p:cNvPr>
          <p:cNvSpPr/>
          <p:nvPr/>
        </p:nvSpPr>
        <p:spPr>
          <a:xfrm>
            <a:off x="0" y="1"/>
            <a:ext cx="12181397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10A34A-AF6A-5E74-A66C-449C9D9A0B2C}"/>
              </a:ext>
            </a:extLst>
          </p:cNvPr>
          <p:cNvSpPr/>
          <p:nvPr/>
        </p:nvSpPr>
        <p:spPr>
          <a:xfrm>
            <a:off x="2129071" y="1829311"/>
            <a:ext cx="7038507" cy="1010687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Nós Podemos </a:t>
            </a:r>
            <a:r>
              <a:rPr lang="en-US" sz="3200" dirty="0" err="1">
                <a:solidFill>
                  <a:schemeClr val="tx1"/>
                </a:solidFill>
              </a:rPr>
              <a:t>fazer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melhor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6F020C-1D36-F735-91BC-E7F0C88FFFB5}"/>
                  </a:ext>
                </a:extLst>
              </p:cNvPr>
              <p:cNvSpPr txBox="1"/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32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3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F6F020C-1D36-F735-91BC-E7F0C88FF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ight Brace 12">
            <a:extLst>
              <a:ext uri="{FF2B5EF4-FFF2-40B4-BE49-F238E27FC236}">
                <a16:creationId xmlns:a16="http://schemas.microsoft.com/office/drawing/2014/main" id="{4A462249-7749-D622-6002-679B59EC9F97}"/>
              </a:ext>
            </a:extLst>
          </p:cNvPr>
          <p:cNvSpPr/>
          <p:nvPr/>
        </p:nvSpPr>
        <p:spPr>
          <a:xfrm rot="5400000">
            <a:off x="4881491" y="4457559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923D75-7F1A-FF76-3588-2BEA00080425}"/>
                  </a:ext>
                </a:extLst>
              </p:cNvPr>
              <p:cNvSpPr txBox="1"/>
              <p:nvPr/>
            </p:nvSpPr>
            <p:spPr>
              <a:xfrm>
                <a:off x="2862126" y="4982829"/>
                <a:ext cx="2752227" cy="55643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9923D75-7F1A-FF76-3588-2BEA00080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26" y="4982829"/>
                <a:ext cx="2752227" cy="55643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8AF291DF-0C63-0AA5-343A-F96E7056AAC4}"/>
              </a:ext>
            </a:extLst>
          </p:cNvPr>
          <p:cNvSpPr/>
          <p:nvPr/>
        </p:nvSpPr>
        <p:spPr>
          <a:xfrm rot="5400000">
            <a:off x="3583578" y="5490135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A48537-0313-C177-7AD5-C4003229689F}"/>
                  </a:ext>
                </a:extLst>
              </p:cNvPr>
              <p:cNvSpPr txBox="1"/>
              <p:nvPr/>
            </p:nvSpPr>
            <p:spPr>
              <a:xfrm>
                <a:off x="2097305" y="5908308"/>
                <a:ext cx="20177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/>
                  <a:t>seq_size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 err="1"/>
                  <a:t>emb_size</a:t>
                </a:r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A48537-0313-C177-7AD5-C40032296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305" y="5908308"/>
                <a:ext cx="2017732" cy="369332"/>
              </a:xfrm>
              <a:prstGeom prst="rect">
                <a:avLst/>
              </a:prstGeom>
              <a:blipFill>
                <a:blip r:embed="rId14"/>
                <a:stretch>
                  <a:fillRect l="-2417" t="-8197" r="-2719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E0ED64-63B4-B763-97BD-B2A549D012D8}"/>
                  </a:ext>
                </a:extLst>
              </p:cNvPr>
              <p:cNvSpPr txBox="1"/>
              <p:nvPr/>
            </p:nvSpPr>
            <p:spPr>
              <a:xfrm>
                <a:off x="4188426" y="5911268"/>
                <a:ext cx="21922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emb_size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 err="1"/>
                  <a:t>value_size</a:t>
                </a:r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2E0ED64-63B4-B763-97BD-B2A549D012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8426" y="5911268"/>
                <a:ext cx="2192267" cy="369332"/>
              </a:xfrm>
              <a:prstGeom prst="rect">
                <a:avLst/>
              </a:prstGeom>
              <a:blipFill>
                <a:blip r:embed="rId15"/>
                <a:stretch>
                  <a:fillRect l="-2222" t="-10000" r="-2222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ight Brace 19">
            <a:extLst>
              <a:ext uri="{FF2B5EF4-FFF2-40B4-BE49-F238E27FC236}">
                <a16:creationId xmlns:a16="http://schemas.microsoft.com/office/drawing/2014/main" id="{6F16134F-201A-6750-2910-FF0B2B6E7E4E}"/>
              </a:ext>
            </a:extLst>
          </p:cNvPr>
          <p:cNvSpPr/>
          <p:nvPr/>
        </p:nvSpPr>
        <p:spPr>
          <a:xfrm rot="5400000">
            <a:off x="4231034" y="5490135"/>
            <a:ext cx="491442" cy="387184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5656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1B3C-1B38-13D4-6743-9EF776A15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FD23-E8AD-7EF4-D366-9D5731955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ED4ED-CFB8-6B71-B1E9-1BF141819A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Vamos </a:t>
                </a:r>
                <a:r>
                  <a:rPr lang="en-US" sz="2400" dirty="0" err="1"/>
                  <a:t>ver</a:t>
                </a:r>
                <a:r>
                  <a:rPr lang="en-US" sz="2400" dirty="0"/>
                  <a:t> um </a:t>
                </a:r>
                <a:r>
                  <a:rPr lang="en-US" sz="2400" dirty="0" err="1"/>
                  <a:t>exemplo</a:t>
                </a:r>
                <a:r>
                  <a:rPr lang="en-US" sz="2400" dirty="0"/>
                  <a:t>:</a:t>
                </a:r>
                <a:endParaRPr lang="pt-BR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C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4ED4ED-CFB8-6B71-B1E9-1BF141819A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3" y="1286661"/>
                <a:ext cx="10515600" cy="4351338"/>
              </a:xfrm>
              <a:blipFill>
                <a:blip r:embed="rId2"/>
                <a:stretch>
                  <a:fillRect l="-812" t="-19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49FC5-A07D-A021-72A7-EEB7B4F4E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40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AACBC48-31CD-A03D-BF3D-CF207B6AC82B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89196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FAC136-0BC7-F51A-1667-2BDB70F9C369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97281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A9581EF-546D-4C8C-FC78-D8167AF4C321}"/>
              </a:ext>
            </a:extLst>
          </p:cNvPr>
          <p:cNvGraphicFramePr>
            <a:graphicFrameLocks noGrp="1"/>
          </p:cNvGraphicFramePr>
          <p:nvPr/>
        </p:nvGraphicFramePr>
        <p:xfrm>
          <a:off x="6668454" y="14323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E2327CF-3E0E-FC34-C7F1-8854B22F1A4C}"/>
              </a:ext>
            </a:extLst>
          </p:cNvPr>
          <p:cNvGraphicFramePr>
            <a:graphicFrameLocks noGrp="1"/>
          </p:cNvGraphicFramePr>
          <p:nvPr/>
        </p:nvGraphicFramePr>
        <p:xfrm>
          <a:off x="6668455" y="183833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EF77471-1BE7-A01C-5520-351425A890E0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2245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81D8718-83B6-9FBC-113A-76409392845B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16958CB-03DB-C912-5F75-734C3232F4F7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0C21B137-6A27-2DF5-E228-3F727373B51C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20F0952F-B11B-6241-46B5-86392CFE524B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89387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5F3396A-B9EE-7921-6A94-F3D24AD07A0E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97472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77C3B6A-9F44-9D09-A49C-3720C60FEBA1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1434299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FD3735-AE1B-B5FE-B84B-605E01C98945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2FD3735-AE1B-B5FE-B84B-605E01C98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3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10E7A2-101E-F966-C09B-B34268D68B7F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310E7A2-101E-F966-C09B-B34268D68B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6F5D547-35D0-77D7-B8C6-AD34C2C69E04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6F5D547-35D0-77D7-B8C6-AD34C2C69E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5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799525AB-8AC2-E0B0-AD9A-5538921C645D}"/>
              </a:ext>
            </a:extLst>
          </p:cNvPr>
          <p:cNvGraphicFramePr>
            <a:graphicFrameLocks noGrp="1"/>
          </p:cNvGraphicFramePr>
          <p:nvPr/>
        </p:nvGraphicFramePr>
        <p:xfrm>
          <a:off x="5255163" y="3037061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C737FCD-09A3-A425-6650-42965A56561A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3037061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64DD781E-F574-CF2A-598F-511A7EF86D60}"/>
              </a:ext>
            </a:extLst>
          </p:cNvPr>
          <p:cNvGraphicFramePr>
            <a:graphicFrameLocks noGrp="1"/>
          </p:cNvGraphicFramePr>
          <p:nvPr/>
        </p:nvGraphicFramePr>
        <p:xfrm>
          <a:off x="8477010" y="307279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D7A3441-B8DD-E768-12B3-D9AD40B0CA41}"/>
              </a:ext>
            </a:extLst>
          </p:cNvPr>
          <p:cNvGraphicFramePr>
            <a:graphicFrameLocks noGrp="1"/>
          </p:cNvGraphicFramePr>
          <p:nvPr/>
        </p:nvGraphicFramePr>
        <p:xfrm>
          <a:off x="9791460" y="3072794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7BD1595-EBD0-986A-E8AC-8BAEF78F3F98}"/>
              </a:ext>
            </a:extLst>
          </p:cNvPr>
          <p:cNvGraphicFramePr>
            <a:graphicFrameLocks noGrp="1"/>
          </p:cNvGraphicFramePr>
          <p:nvPr/>
        </p:nvGraphicFramePr>
        <p:xfrm>
          <a:off x="7317596" y="3037061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0DE0AD25-2408-FE2F-D831-C1B97B2017F8}"/>
              </a:ext>
            </a:extLst>
          </p:cNvPr>
          <p:cNvGraphicFramePr>
            <a:graphicFrameLocks noGrp="1"/>
          </p:cNvGraphicFramePr>
          <p:nvPr/>
        </p:nvGraphicFramePr>
        <p:xfrm>
          <a:off x="10526203" y="307279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275D262B-4E33-4CE6-B63C-12084C37A673}"/>
              </a:ext>
            </a:extLst>
          </p:cNvPr>
          <p:cNvGraphicFramePr>
            <a:graphicFrameLocks noGrp="1"/>
          </p:cNvGraphicFramePr>
          <p:nvPr/>
        </p:nvGraphicFramePr>
        <p:xfrm>
          <a:off x="6569613" y="4207062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4D4DD9BC-221C-2873-0801-A1B383E1A215}"/>
              </a:ext>
            </a:extLst>
          </p:cNvPr>
          <p:cNvGraphicFramePr>
            <a:graphicFrameLocks noGrp="1"/>
          </p:cNvGraphicFramePr>
          <p:nvPr/>
        </p:nvGraphicFramePr>
        <p:xfrm>
          <a:off x="9778220" y="424279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07BE89C-8E93-8F11-2BDB-421DC4610BA0}"/>
                  </a:ext>
                </a:extLst>
              </p:cNvPr>
              <p:cNvSpPr txBox="1"/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=7.07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07BE89C-8E93-8F11-2BDB-421DC4610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286" y="4057639"/>
                <a:ext cx="1415067" cy="6646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F0C25DA-7F79-9FE4-6665-D48593740533}"/>
                  </a:ext>
                </a:extLst>
              </p:cNvPr>
              <p:cNvSpPr txBox="1"/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=−4.95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F0C25DA-7F79-9FE4-6665-D48593740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0089" y="4088384"/>
                <a:ext cx="1588192" cy="66460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A6776C-E4DC-5989-31F7-D2C5DF9301A3}"/>
                  </a:ext>
                </a:extLst>
              </p:cNvPr>
              <p:cNvSpPr txBox="1"/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CA6776C-E4DC-5989-31F7-D2C5DF930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397" y="5414400"/>
                <a:ext cx="8338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FC336CD-4536-6B51-FA5A-C5159E8E061E}"/>
                  </a:ext>
                </a:extLst>
              </p:cNvPr>
              <p:cNvSpPr txBox="1"/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FC336CD-4536-6B51-FA5A-C5159E8E0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7243" y="5395121"/>
                <a:ext cx="83388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E7A41F1-3B0C-DFD9-A292-FDCD4B46779E}"/>
              </a:ext>
            </a:extLst>
          </p:cNvPr>
          <p:cNvGraphicFramePr>
            <a:graphicFrameLocks noGrp="1"/>
          </p:cNvGraphicFramePr>
          <p:nvPr/>
        </p:nvGraphicFramePr>
        <p:xfrm>
          <a:off x="6003037" y="53986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7594A65-6D57-836B-9F66-EE6006BAF7D7}"/>
              </a:ext>
            </a:extLst>
          </p:cNvPr>
          <p:cNvGraphicFramePr>
            <a:graphicFrameLocks noGrp="1"/>
          </p:cNvGraphicFramePr>
          <p:nvPr/>
        </p:nvGraphicFramePr>
        <p:xfrm>
          <a:off x="9508883" y="541797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19948C0-AFA1-CCD8-7CCA-38001E17E63B}"/>
                  </a:ext>
                </a:extLst>
              </p:cNvPr>
              <p:cNvSpPr txBox="1"/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19948C0-AFA1-CCD8-7CCA-38001E17E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614" y="4887927"/>
                <a:ext cx="6703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F8917C-07D6-F448-F0C7-A91F0B4F0BCE}"/>
                  </a:ext>
                </a:extLst>
              </p:cNvPr>
              <p:cNvSpPr txBox="1"/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4F8917C-07D6-F448-F0C7-A91F0B4F0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751" y="4827382"/>
                <a:ext cx="6703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9B661D24-CD3F-6428-09CC-5BBADC02962B}"/>
              </a:ext>
            </a:extLst>
          </p:cNvPr>
          <p:cNvGraphicFramePr>
            <a:graphicFrameLocks noGrp="1"/>
          </p:cNvGraphicFramePr>
          <p:nvPr/>
        </p:nvGraphicFramePr>
        <p:xfrm>
          <a:off x="8071926" y="6200666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01D6FEE2-7749-13F2-2E29-AA4CF18430E9}"/>
              </a:ext>
            </a:extLst>
          </p:cNvPr>
          <p:cNvSpPr txBox="1"/>
          <p:nvPr/>
        </p:nvSpPr>
        <p:spPr>
          <a:xfrm>
            <a:off x="3876204" y="17867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464E09-6EA6-4A45-90B5-0D0257C45BBB}"/>
              </a:ext>
            </a:extLst>
          </p:cNvPr>
          <p:cNvSpPr txBox="1"/>
          <p:nvPr/>
        </p:nvSpPr>
        <p:spPr>
          <a:xfrm>
            <a:off x="3876203" y="96924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6FA6C4-409C-E5F9-AE46-D1DFADF733E5}"/>
              </a:ext>
            </a:extLst>
          </p:cNvPr>
          <p:cNvSpPr txBox="1"/>
          <p:nvPr/>
        </p:nvSpPr>
        <p:spPr>
          <a:xfrm>
            <a:off x="3888051" y="143509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1A8B08-A7D7-2494-B781-CD8086A92208}"/>
              </a:ext>
            </a:extLst>
          </p:cNvPr>
          <p:cNvSpPr txBox="1"/>
          <p:nvPr/>
        </p:nvSpPr>
        <p:spPr>
          <a:xfrm>
            <a:off x="3888051" y="193641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D16CA4-8EAC-A1F8-3B10-59D962A13E75}"/>
              </a:ext>
            </a:extLst>
          </p:cNvPr>
          <p:cNvSpPr txBox="1"/>
          <p:nvPr/>
        </p:nvSpPr>
        <p:spPr>
          <a:xfrm>
            <a:off x="3876202" y="3024268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51EB58-A662-CE9A-FD1B-92F59D951215}"/>
              </a:ext>
            </a:extLst>
          </p:cNvPr>
          <p:cNvSpPr txBox="1"/>
          <p:nvPr/>
        </p:nvSpPr>
        <p:spPr>
          <a:xfrm>
            <a:off x="3888023" y="409243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B13D616-BE21-99BA-311B-6B33B3CFAB6C}"/>
              </a:ext>
            </a:extLst>
          </p:cNvPr>
          <p:cNvSpPr txBox="1"/>
          <p:nvPr/>
        </p:nvSpPr>
        <p:spPr>
          <a:xfrm>
            <a:off x="3880019" y="4778867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4BAB91E-633A-F862-4522-6768923094E1}"/>
              </a:ext>
            </a:extLst>
          </p:cNvPr>
          <p:cNvSpPr txBox="1"/>
          <p:nvPr/>
        </p:nvSpPr>
        <p:spPr>
          <a:xfrm>
            <a:off x="3876201" y="5672585"/>
            <a:ext cx="177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8A9D93-74F6-A167-884D-3E02D5B50B26}"/>
              </a:ext>
            </a:extLst>
          </p:cNvPr>
          <p:cNvSpPr/>
          <p:nvPr/>
        </p:nvSpPr>
        <p:spPr>
          <a:xfrm>
            <a:off x="6635651" y="869727"/>
            <a:ext cx="1130256" cy="52719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F65E5-5254-4B5D-8BDE-3C9BFFE2EDDB}"/>
              </a:ext>
            </a:extLst>
          </p:cNvPr>
          <p:cNvSpPr/>
          <p:nvPr/>
        </p:nvSpPr>
        <p:spPr>
          <a:xfrm>
            <a:off x="0" y="1"/>
            <a:ext cx="12181397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2C2CDC-42EA-40B8-508B-A3FA3B135494}"/>
              </a:ext>
            </a:extLst>
          </p:cNvPr>
          <p:cNvSpPr/>
          <p:nvPr/>
        </p:nvSpPr>
        <p:spPr>
          <a:xfrm>
            <a:off x="2129071" y="1829311"/>
            <a:ext cx="7038507" cy="1010687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Nós Podemos </a:t>
            </a:r>
            <a:r>
              <a:rPr lang="en-US" sz="3200" dirty="0" err="1">
                <a:solidFill>
                  <a:schemeClr val="tx1"/>
                </a:solidFill>
              </a:rPr>
              <a:t>fazer</a:t>
            </a:r>
            <a:r>
              <a:rPr lang="en-US" sz="3200" dirty="0">
                <a:solidFill>
                  <a:schemeClr val="tx1"/>
                </a:solidFill>
              </a:rPr>
              <a:t> </a:t>
            </a:r>
            <a:r>
              <a:rPr lang="en-US" sz="3200" dirty="0" err="1">
                <a:solidFill>
                  <a:schemeClr val="tx1"/>
                </a:solidFill>
              </a:rPr>
              <a:t>melhor</a:t>
            </a:r>
            <a:r>
              <a:rPr lang="en-US" sz="3200" dirty="0">
                <a:solidFill>
                  <a:schemeClr val="tx1"/>
                </a:solidFill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287DA0-0335-D78F-9186-0421245C6FB1}"/>
                  </a:ext>
                </a:extLst>
              </p:cNvPr>
              <p:cNvSpPr txBox="1"/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𝑎𝑡𝑡𝑒𝑛𝑡𝑖𝑜𝑛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FF00FF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chemeClr val="accent4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d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 smtClean="0">
                                  <a:solidFill>
                                    <a:srgbClr val="FF00FF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p>
                                <m:sSupPr>
                                  <m:ctrlPr>
                                    <a:rPr lang="en-US" sz="320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p>
                                  <m:r>
                                    <a:rPr lang="en-US" sz="3200" i="1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rad>
                            </m:den>
                          </m:f>
                        </m:e>
                      </m:d>
                      <m:r>
                        <a:rPr lang="en-US" sz="3200" b="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pt-BR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1287DA0-0335-D78F-9186-0421245C6F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732" y="3571747"/>
                <a:ext cx="8772257" cy="12091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5D990C-87DC-F558-3D33-2355B4C590E5}"/>
                  </a:ext>
                </a:extLst>
              </p:cNvPr>
              <p:cNvSpPr txBox="1"/>
              <p:nvPr/>
            </p:nvSpPr>
            <p:spPr>
              <a:xfrm>
                <a:off x="6509472" y="5232690"/>
                <a:ext cx="13281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FF"/>
                    </a:solidFill>
                  </a:rPr>
                  <a:t>s</a:t>
                </a:r>
                <a:r>
                  <a:rPr lang="en-US" dirty="0" err="1">
                    <a:solidFill>
                      <a:srgbClr val="FF00FF"/>
                    </a:solidFill>
                  </a:rPr>
                  <a:t>eq_size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solidFill>
                          <a:srgbClr val="FF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</m:oMath>
                </a14:m>
                <a:endParaRPr lang="en-US" dirty="0">
                  <a:solidFill>
                    <a:srgbClr val="FF00FF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35D990C-87DC-F558-3D33-2355B4C59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9472" y="5232690"/>
                <a:ext cx="1328120" cy="369332"/>
              </a:xfrm>
              <a:prstGeom prst="rect">
                <a:avLst/>
              </a:prstGeom>
              <a:blipFill>
                <a:blip r:embed="rId13"/>
                <a:stretch>
                  <a:fillRect l="-4128" t="-819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06870E-00C8-0717-7A2D-BEF29B68F467}"/>
                  </a:ext>
                </a:extLst>
              </p:cNvPr>
              <p:cNvSpPr txBox="1"/>
              <p:nvPr/>
            </p:nvSpPr>
            <p:spPr>
              <a:xfrm>
                <a:off x="7903372" y="5242094"/>
                <a:ext cx="13160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i="1" smtClean="0">
                        <a:solidFill>
                          <a:schemeClr val="accent4">
                            <a:lumMod val="75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chemeClr val="accent4">
                        <a:lumMod val="75000"/>
                      </a:schemeClr>
                    </a:solidFill>
                  </a:rPr>
                  <a:t>seq_</a:t>
                </a:r>
                <a:r>
                  <a:rPr lang="en-US" dirty="0" err="1">
                    <a:solidFill>
                      <a:schemeClr val="accent4">
                        <a:lumMod val="75000"/>
                      </a:schemeClr>
                    </a:solidFill>
                  </a:rPr>
                  <a:t>size</a:t>
                </a:r>
                <a:endParaRPr lang="en-US" dirty="0">
                  <a:solidFill>
                    <a:schemeClr val="accent4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06870E-00C8-0717-7A2D-BEF29B68F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3372" y="5242094"/>
                <a:ext cx="1316001" cy="369332"/>
              </a:xfrm>
              <a:prstGeom prst="rect">
                <a:avLst/>
              </a:prstGeom>
              <a:blipFill>
                <a:blip r:embed="rId14"/>
                <a:stretch>
                  <a:fillRect t="-9836" r="-4167" b="-245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F6F846-8D59-0E7B-DEA1-7A053A91DC94}"/>
                  </a:ext>
                </a:extLst>
              </p:cNvPr>
              <p:cNvSpPr txBox="1"/>
              <p:nvPr/>
            </p:nvSpPr>
            <p:spPr>
              <a:xfrm>
                <a:off x="9271365" y="5252111"/>
                <a:ext cx="20976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s</a:t>
                </a:r>
                <a:r>
                  <a:rPr lang="en-US" dirty="0" err="1">
                    <a:solidFill>
                      <a:srgbClr val="00B0F0"/>
                    </a:solidFill>
                    <a:ea typeface="Cambria Math" panose="02040503050406030204" pitchFamily="18" charset="0"/>
                  </a:rPr>
                  <a:t>eq_size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value_</a:t>
                </a:r>
                <a:r>
                  <a:rPr lang="en-US" dirty="0" err="1">
                    <a:solidFill>
                      <a:srgbClr val="00B0F0"/>
                    </a:solidFill>
                  </a:rPr>
                  <a:t>size</a:t>
                </a:r>
                <a:endParaRPr lang="en-US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3F6F846-8D59-0E7B-DEA1-7A053A91D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365" y="5252111"/>
                <a:ext cx="2097690" cy="369332"/>
              </a:xfrm>
              <a:prstGeom prst="rect">
                <a:avLst/>
              </a:prstGeom>
              <a:blipFill>
                <a:blip r:embed="rId15"/>
                <a:stretch>
                  <a:fillRect l="-2616" t="-10000" r="-2326" b="-2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ight Brace 17">
            <a:extLst>
              <a:ext uri="{FF2B5EF4-FFF2-40B4-BE49-F238E27FC236}">
                <a16:creationId xmlns:a16="http://schemas.microsoft.com/office/drawing/2014/main" id="{6B02A0E5-FAD5-64AF-0D98-C00E9EC2D9DC}"/>
              </a:ext>
            </a:extLst>
          </p:cNvPr>
          <p:cNvSpPr/>
          <p:nvPr/>
        </p:nvSpPr>
        <p:spPr>
          <a:xfrm rot="5400000">
            <a:off x="7517976" y="4304048"/>
            <a:ext cx="491442" cy="3192668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3E96E5-59C1-07F0-A7ED-706E0E46F263}"/>
              </a:ext>
            </a:extLst>
          </p:cNvPr>
          <p:cNvSpPr txBox="1"/>
          <p:nvPr/>
        </p:nvSpPr>
        <p:spPr>
          <a:xfrm>
            <a:off x="6382235" y="6107731"/>
            <a:ext cx="27386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attention weights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380816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6887A-F23C-C79B-B630-46161E13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C4AB-BACD-2A07-E593-E220D1CC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8B838-1726-182D-1FFC-D1BD86F7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41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DD7122-FF15-C481-93F2-72295C08E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373901"/>
              </p:ext>
            </p:extLst>
          </p:nvPr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3F4B4F1-BC02-DE3F-9D63-F054E646FB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8196449"/>
              </p:ext>
            </p:extLst>
          </p:nvPr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4407FCDB-FF2A-ED0D-0EF3-3538E401C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763209"/>
              </p:ext>
            </p:extLst>
          </p:nvPr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B25314F-BD3F-D068-719F-176484FAD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21966"/>
              </p:ext>
            </p:extLst>
          </p:nvPr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4CEDAED-7E13-DC8F-DFC4-0DE1B91D93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221874"/>
              </p:ext>
            </p:extLst>
          </p:nvPr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49AE101-92BB-E65B-6C6C-274ED874AFD1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7F61B0D1-6E4F-93D2-9DF7-FB2572E3EB76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BF68A644-E475-5E3C-202A-64D1BAC5A22C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8670F25-EE30-0C05-87AF-3A7A78BCC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996511"/>
              </p:ext>
            </p:extLst>
          </p:nvPr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FE3DAF7-00D0-8248-276E-BFC209B459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400128"/>
              </p:ext>
            </p:extLst>
          </p:nvPr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5FBC10B-F6CD-7901-363B-0F8BBEF82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035121"/>
              </p:ext>
            </p:extLst>
          </p:nvPr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64662C-CDAC-7739-1339-83D202C31E6E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A64662C-CDAC-7739-1339-83D202C31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DCC1A7-B630-CB06-F0D0-583F248F8A17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DDCC1A7-B630-CB06-F0D0-583F248F8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33BDB5-7BDA-90B8-0F42-AC05AEECBC12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E33BDB5-7BDA-90B8-0F42-AC05AEECB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444EBAD-529B-A52A-54ED-F99B29043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484824"/>
              </p:ext>
            </p:extLst>
          </p:nvPr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8FB2ECD-D2FC-8A85-56BC-118769565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848558"/>
              </p:ext>
            </p:extLst>
          </p:nvPr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B0D58D7-9952-7698-D237-96271C457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11118"/>
              </p:ext>
            </p:extLst>
          </p:nvPr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6EADFDDD-93E7-2855-6004-F354825A44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082056"/>
              </p:ext>
            </p:extLst>
          </p:nvPr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DAAE3A-7F36-71AC-117C-24E79952BA7A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2DAAE3A-7F36-71AC-117C-24E79952B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D5E6641-0AC1-97AF-7BBA-9E1D5117B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726837"/>
              </p:ext>
            </p:extLst>
          </p:nvPr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BF972221-B084-CD20-4449-DA9463D6A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7559768"/>
              </p:ext>
            </p:extLst>
          </p:nvPr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54B21FF-480A-A6F3-C10C-DA85BF103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4630666"/>
              </p:ext>
            </p:extLst>
          </p:nvPr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BDA750BC-E2D2-A0E9-3979-7CC6C266DDAB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E46D39-3B21-7FE2-8418-1B25C6CD5B56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71525F-29A4-6574-F7F7-7272044627C4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0A4C0B-3275-69DB-2FDD-EDCBFCEC5875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748BFD-4408-E84D-647F-2E399C37E979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2BAED3-430A-F7BB-522A-E387022822C4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D5D0858-F758-0834-D2F7-11CEED906400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776BDD-D866-3B11-205B-9B5CBED23D2A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8D39D3A-1B17-A896-8691-ACBB13CC16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6390851"/>
              </p:ext>
            </p:extLst>
          </p:nvPr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41042CA-7A41-5E66-05DD-C63E16A17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6324588"/>
              </p:ext>
            </p:extLst>
          </p:nvPr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4D9EA93-C4CB-29B5-0144-3159AFC6F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732320"/>
              </p:ext>
            </p:extLst>
          </p:nvPr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504B44-21E6-C32F-8EED-7213BADC5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137737"/>
              </p:ext>
            </p:extLst>
          </p:nvPr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DAECEB8-B58E-DADD-E7B1-684042C69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422504"/>
              </p:ext>
            </p:extLst>
          </p:nvPr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514E37F-4050-5E1C-051F-737F3B3E67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721258"/>
              </p:ext>
            </p:extLst>
          </p:nvPr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DE45CC6-F96B-781A-2D98-B1B730128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011217"/>
              </p:ext>
            </p:extLst>
          </p:nvPr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83AB3BA-C15D-E18B-557F-3F99371FD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861319"/>
              </p:ext>
            </p:extLst>
          </p:nvPr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6B4B4DB-BDD1-4D33-1F45-45BE003708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119396"/>
              </p:ext>
            </p:extLst>
          </p:nvPr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1D68B99-531A-AD4C-9AF8-C02DA92EE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143972"/>
              </p:ext>
            </p:extLst>
          </p:nvPr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FE72727-C022-7200-7747-1A62911BE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022316"/>
              </p:ext>
            </p:extLst>
          </p:nvPr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665B176-B16E-1B82-6417-7EFD8875F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044600"/>
              </p:ext>
            </p:extLst>
          </p:nvPr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21E257E-F25A-9EB4-C6A8-E89F2156D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538829"/>
              </p:ext>
            </p:extLst>
          </p:nvPr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EDBBBE1-2EDF-88F5-2AEF-29AF9B4F8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43330"/>
              </p:ext>
            </p:extLst>
          </p:nvPr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9C5F125-CE78-09BE-F470-2B4398966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263100"/>
              </p:ext>
            </p:extLst>
          </p:nvPr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CF5FEC6A-E614-507C-7CBB-F66E4761A1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0913641"/>
              </p:ext>
            </p:extLst>
          </p:nvPr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65C979F9-EFD8-2741-4B51-FD410C2C76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838569"/>
              </p:ext>
            </p:extLst>
          </p:nvPr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9BED89EA-15A3-866C-D751-F51778ECA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226159"/>
              </p:ext>
            </p:extLst>
          </p:nvPr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B6B30FA-8CCE-E6CC-C561-D8E7BCB9E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8472534"/>
              </p:ext>
            </p:extLst>
          </p:nvPr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3FE51127-8C7D-BD8A-EDF9-C5F431AAE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209176"/>
              </p:ext>
            </p:extLst>
          </p:nvPr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6D728BCC-E3CB-F1CE-3DFD-DCE2EE056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941258"/>
              </p:ext>
            </p:extLst>
          </p:nvPr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B1EACC8-B575-C4B9-99BF-01D1C3DDD960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B1EACC8-B575-C4B9-99BF-01D1C3DDD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2B953B7-A76C-11FE-8086-6F1D9B5512CC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2B953B7-A76C-11FE-8086-6F1D9B5512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FA523756-5D75-A0F9-7259-0F3B8AC3A9D2}"/>
              </a:ext>
            </a:extLst>
          </p:cNvPr>
          <p:cNvSpPr/>
          <p:nvPr/>
        </p:nvSpPr>
        <p:spPr>
          <a:xfrm>
            <a:off x="3154100" y="2"/>
            <a:ext cx="9037900" cy="685799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059DC9E-6677-1E9F-3515-4F1CC8437D82}"/>
              </a:ext>
            </a:extLst>
          </p:cNvPr>
          <p:cNvSpPr/>
          <p:nvPr/>
        </p:nvSpPr>
        <p:spPr>
          <a:xfrm>
            <a:off x="3999084" y="1713502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Concatenamos todos os </a:t>
            </a:r>
            <a:r>
              <a:rPr lang="pt-BR" i="1" dirty="0" err="1">
                <a:solidFill>
                  <a:schemeClr val="tx1"/>
                </a:solidFill>
              </a:rPr>
              <a:t>embeddings</a:t>
            </a:r>
            <a:r>
              <a:rPr lang="pt-BR" dirty="0">
                <a:solidFill>
                  <a:schemeClr val="tx1"/>
                </a:solidFill>
              </a:rPr>
              <a:t> da sequência em uma única matriz</a:t>
            </a:r>
          </a:p>
        </p:txBody>
      </p:sp>
    </p:spTree>
    <p:extLst>
      <p:ext uri="{BB962C8B-B14F-4D97-AF65-F5344CB8AC3E}">
        <p14:creationId xmlns:p14="http://schemas.microsoft.com/office/powerpoint/2010/main" val="5316281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4802B-F72E-375D-6614-CEED9328F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30B39-D03B-79C7-9C7F-24B4096BA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5A00C-FD45-076A-4ECA-36DE1BA41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42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0E3F85-416E-C377-9D11-78B0A17378A7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3DAAC6-5586-306B-6D0E-B7596CCB6E33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4F4D12E-F137-0EE8-7C27-EF163B43D7DA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EC8DFBC-DB6E-74A5-E1A6-F73F3CCAE3C5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BC5A41B-DA26-A202-AFCE-F011E98D5A3A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26B69A3-FA54-CE95-6F24-45CDD46DB02C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169C576-3E7C-D94D-07AD-54CD48D0247F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99C21F46-0F5A-9E53-0259-A51397A9B680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E0F1956-EEFD-4982-2248-8F41998C79C5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DDF794E-903E-051C-4491-7D50DAF80E60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04E96481-1A6C-9444-116D-3A11E4DB7DEB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3D1EA55-EE65-B74C-7144-5B251AA61A75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3D1EA55-EE65-B74C-7144-5B251AA61A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D44160F-CA83-29DA-F73B-F651DBF70E07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D44160F-CA83-29DA-F73B-F651DBF70E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C17E1D-D263-BF52-8838-08132BC1F2FB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2C17E1D-D263-BF52-8838-08132BC1F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D9BB640-5DCA-F247-8EAD-EB6914444EEC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26CEA78-B346-823F-E916-3E781587AA54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EBAE64D5-B76F-9090-A0BE-CECCADFF22A0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8C448596-3E78-709D-2CE7-BC8FB34CE1C6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6B4441-1E8D-68D4-5C0D-4EC63567166E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F6B4441-1E8D-68D4-5C0D-4EC635671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148D364-A49D-8B21-BAAA-5191FF72CBB6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AC3B885C-D139-D7FE-A901-F066B32E70EE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3249747A-0975-EB64-5D14-5077FD15EDD5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87F259AE-8EC5-2E32-A4DD-A2CCBAE138A7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A92061E-BF96-2508-CE8F-2141D378ED5A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CBC3EC2-FED5-4D05-3031-82795149BBBA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7FB1AD-58A1-92E8-1607-51F68456AFE0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8F76544-2C93-4FE1-7AFE-DEFD71F227CB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0441978-1187-CD55-7BF2-8A2D94E21DC2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6BED82-6B9D-7ED6-F564-EE9996A535DC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612A125-7630-E559-30E8-9E346B57F382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FA8334-496A-C854-95B6-6FAEBFADBD9F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70F32DB-DDF7-6F42-1E67-F86A1ACD79EB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C4149A3C-FC06-A700-505F-F10113A49B2C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C4CCFE5-F1BA-3033-AC0B-2E3BD9B0380E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892FB77-B1DB-A803-684E-51BE32A1478B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8BBD05E-509E-E9ED-F484-1BE63CC97FFB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E50FFA1-7DF3-F3CD-C743-6AB11AEDEBC1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0C13F9B8-13F9-69FC-500D-35D7F5B27267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5FC7CE0-03B8-CC3F-A439-C50A774CA699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DE3E7FF-2686-E78E-F89C-97C56DE70E9B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77D07AC-BA30-E39E-8AB3-D14B2D34FDD4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BB1179B6-B36F-24A1-30F5-62A8912EA65C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ABFDF54-1E5E-52A1-EB7C-C1665FC3EA11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236906D-D5F7-3C5A-BE68-426021D00795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F7CFA13-FBBF-DA22-F92F-B7214E853EA5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57259CA9-5260-996C-8005-AE76D51F3EE5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71A93698-BD19-07C8-F3A4-653BDEA7C0EA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2C2EC800-0411-CC5C-E615-E4A14F259695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9148636-24D0-ACC8-0AFE-726E650B6C32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28D774CB-B1C9-56BE-05DD-A9C9ADC769A7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BBDC8981-CFDB-AC1A-4B24-D3B323CD1E29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1048435-D065-FA7C-DCC4-239DD6A69BE3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1048435-D065-FA7C-DCC4-239DD6A69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07869D8-17E4-47E4-A8AD-286C2549D688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D07869D8-17E4-47E4-A8AD-286C2549D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113B0E85-108D-8B54-8673-1959A710C433}"/>
              </a:ext>
            </a:extLst>
          </p:cNvPr>
          <p:cNvSpPr/>
          <p:nvPr/>
        </p:nvSpPr>
        <p:spPr>
          <a:xfrm>
            <a:off x="3154100" y="2019628"/>
            <a:ext cx="9037900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DFB9F-E342-A234-1652-547238977763}"/>
              </a:ext>
            </a:extLst>
          </p:cNvPr>
          <p:cNvSpPr/>
          <p:nvPr/>
        </p:nvSpPr>
        <p:spPr>
          <a:xfrm>
            <a:off x="6930185" y="13315"/>
            <a:ext cx="5271921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7C431B-5345-1936-6431-32B68E64A574}"/>
              </a:ext>
            </a:extLst>
          </p:cNvPr>
          <p:cNvSpPr/>
          <p:nvPr/>
        </p:nvSpPr>
        <p:spPr>
          <a:xfrm>
            <a:off x="4098285" y="2767511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Multiplicamos os </a:t>
            </a:r>
            <a:r>
              <a:rPr lang="pt-BR" i="1" dirty="0" err="1">
                <a:solidFill>
                  <a:srgbClr val="00B050"/>
                </a:solidFill>
              </a:rPr>
              <a:t>embeddings</a:t>
            </a:r>
            <a:r>
              <a:rPr lang="pt-BR" i="1" dirty="0">
                <a:solidFill>
                  <a:srgbClr val="00B050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pelos pesos da </a:t>
            </a:r>
            <a:r>
              <a:rPr lang="pt-BR" i="1" dirty="0">
                <a:solidFill>
                  <a:srgbClr val="7030A0"/>
                </a:solidFill>
              </a:rPr>
              <a:t>query</a:t>
            </a:r>
            <a:r>
              <a:rPr lang="pt-BR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6156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A1B12-D260-9201-C364-263E89907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9E2F9-4916-0965-1E4E-46C50050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A725A-CB0D-9096-E651-2944F117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43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1BD1D6B-11E3-7F31-773B-55C4EDA1BDAF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700A467-39BF-C058-6C0E-4314E26B76C6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FB9693D-A9C4-BF90-96D3-3DA5C936D93E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611717A-9ECC-2ADF-251C-F5B50707A667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476FC11-D9BA-BB2C-60D5-27D26F6061D4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D5F10982-2215-9AF7-C9A9-BEC7D54E897D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2DBEDBF2-0C97-1868-BA50-F6FC867970AC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561BA4CD-D6BC-5165-4035-D9E53D054C63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E7A73EA-23C9-CA13-5881-21B6DD67D02F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F410F95A-27F1-70FB-FAD5-C84C4517D6B4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64EA55D-FF6F-EBDB-B8CB-54CC149C6997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957E086-5DA2-1ED6-9883-65360AC3CECC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863323A5-E130-341D-1B23-08351E2DAD26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465F512-D7E0-E41E-D278-E75AEF6E04E7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DA6FBAFC-8C35-A9BC-EE09-8286F78A0B01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0989F605-0AD7-640C-B384-A78178D645A8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2E674BC5-2715-EC49-D3CC-CE6BEB4934DE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2C0D3FA-5CFC-694F-E8F5-DFD4EBFF6DA0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1124A0EF-A64A-6327-B2DB-A168C5063AB9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61DA3C-13B5-8776-9021-804550C5A834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88E829-72DE-97C5-9993-62F969DBF8B5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D6CD414-9AF7-0B69-976B-E2D4DEE3BBE3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9027F77-D75D-E1B6-171C-5F26A9E7307D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42D990-A121-FB36-B559-A0465FA2970F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518D52-5E78-6F2B-F633-1762B42F8A95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D9BC58-57D7-18B2-67C0-DE176EB2E880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6E81D10-1F2E-E6F7-CD2F-F1921DE3ADC0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7C7F128-1762-1CBB-DD75-FA6841835DBA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AC210F-84AA-BB72-0F08-88325E74D9C6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B7D33434-7D23-2C81-739F-E5065F2E3457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6C21472-33FD-058F-37A9-7F283A7C3308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40D2DFB-F9A9-7D49-C6E7-63382B09FB62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DD96DA3-1C73-CEBA-A678-77E550B0F7DE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C724F33-9AD6-24DC-033D-E58C9F83BC0A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D26D344-7280-BFFE-8CAD-987B2A33D223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D20DC39-4874-9C45-643F-3BAA60814E38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3EAE7D8-A085-7DC3-4AEF-28430A36FFD1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A38E0A6-8619-C1CD-3A2E-19243B3BC9B0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80CEAF7-0CA1-12B8-65E9-4EA9CD36F26D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7FDE9FE4-C412-ECDA-5E2E-19FA10009548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A17B5FF-E11E-F7F0-76EA-C1AF90E6A216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A3C2F07C-F8B9-2C23-9B8B-222F5F8C8745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11F1A843-658A-B327-FED4-EAA9DE5C1DA4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90210FA0-71FD-F566-BE9D-9287201E9315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58D9650F-F4E2-A18C-AD80-37C4D2300843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B2698478-69AC-687A-3ADC-F2087C883648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69F4C195-8900-6075-C624-F6E8967528A3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2891EC2D-1897-09D9-EDC6-55BCE35D1A91}"/>
              </a:ext>
            </a:extLst>
          </p:cNvPr>
          <p:cNvSpPr/>
          <p:nvPr/>
        </p:nvSpPr>
        <p:spPr>
          <a:xfrm>
            <a:off x="3154100" y="2019628"/>
            <a:ext cx="9037900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7135C3-EA98-E709-2BFD-AE38947AA2A4}"/>
              </a:ext>
            </a:extLst>
          </p:cNvPr>
          <p:cNvSpPr/>
          <p:nvPr/>
        </p:nvSpPr>
        <p:spPr>
          <a:xfrm>
            <a:off x="8530228" y="13315"/>
            <a:ext cx="3671878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84C3AE-83A6-430E-8361-850BC4A38298}"/>
              </a:ext>
            </a:extLst>
          </p:cNvPr>
          <p:cNvSpPr/>
          <p:nvPr/>
        </p:nvSpPr>
        <p:spPr>
          <a:xfrm>
            <a:off x="4098285" y="2767511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Multiplicamos os </a:t>
            </a:r>
            <a:r>
              <a:rPr lang="pt-BR" i="1" dirty="0" err="1">
                <a:solidFill>
                  <a:srgbClr val="00B050"/>
                </a:solidFill>
              </a:rPr>
              <a:t>embeddings</a:t>
            </a:r>
            <a:r>
              <a:rPr lang="pt-BR" i="1" dirty="0">
                <a:solidFill>
                  <a:srgbClr val="00B050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pelos pesos das </a:t>
            </a:r>
            <a:r>
              <a:rPr lang="pt-BR" i="1" dirty="0" err="1">
                <a:solidFill>
                  <a:schemeClr val="accent4">
                    <a:lumMod val="75000"/>
                  </a:schemeClr>
                </a:solidFill>
              </a:rPr>
              <a:t>keys</a:t>
            </a:r>
            <a:r>
              <a:rPr lang="pt-BR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54888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3E02-A700-315D-878D-B7BF12BD4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CC1F0-6B2E-6086-DDD2-327B1B78A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3298C-FF3E-F8EC-107E-E72E10D1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44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E6A732A-1008-9D3F-F7A6-53FF0497C1D2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2D1EC02-7E4C-1DDA-8CFC-48DB4BE365B4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01E3CB6A-C3B1-29C3-047E-2B3673BBCACD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8F2AB76-876A-0FD8-DA57-D950A65F5359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0A8EE7B4-7E5E-7EF7-8302-F55B74D3E558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E6C76D92-C48E-FAF1-4C27-121B676F493D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0623D89E-5A0D-03F3-CFA3-243D534D5484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DA06B19-EE1C-A150-2EA3-5F79BAE5C239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CAC8ED3F-C0C3-D2FE-7B6F-E7ECFCD6C9E2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19E23DA-55A3-9744-69BF-78CE6CFC04CF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1501E01B-C019-03BA-A988-B945513724F7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F1DFEBB-D7FD-A724-8A62-7D7BE84FDA8B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90CB5B0-1075-3647-DECB-1277B5930548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EE78A7-9782-C902-AE92-649448D27970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C6BC6CE-6FF0-BE5A-20EC-5B94E8DEA665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CAF32F8-AD9D-EB4F-F2E7-62081BEFCF8B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B7461F0-211E-965D-4014-FDA371F03239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F1FC4190-84CF-1215-0078-EDFCBF125FE8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9528B97-9AA7-7FBF-4933-4651BD4063C8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1E68E1A8-5553-35BF-7848-CFD50E32D0D7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EDDF2DDB-9FFA-DEEB-2FFA-EE4A92DC8EB8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D12E01D1-9C1E-560C-882E-9AED912C62B6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7CE54BE8-74F0-3884-A1BC-C2FB52146729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61F9E36-D48A-DFB6-EDD6-A1D0DA4A6DAC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48CD6AD-38A0-1236-9AC6-27048EFA71CE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8427D5-E063-1C01-7558-D5AF0BB0BF03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BDBD51-01A6-595F-E9EF-510B1C4A587E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214D42D-D6DE-9FF9-E170-4896E53E3035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752D6BD-7F9D-D221-3DE9-10B1D9D4A217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498940-476B-EE41-99B2-19EB87C1E5DA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726B6B95-1EEC-3645-7510-E3D4501D0C63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B73F558-B8B0-B017-4806-275D74348AE5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A65221-9FEA-5A5F-1765-16CF5E3BAF26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D5A23CF-B8AF-2913-D6A5-5363DC562CEE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995365FC-B507-26E3-2399-D2D307E4B8D4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2A15F74-9FA9-9307-E2D6-CC1302FC1CC1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518F2227-60F1-C716-FB30-B3510AE032A1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31FAC1B-3AE5-007E-0E14-10F3DEBA0E19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88BF205-A834-AEBF-DFAA-8A96B7E58FB5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4BA625C-0080-C168-757C-F89F7DB77744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C7337BE-33DE-9EDB-04B9-2770B62D11C5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FB7FAE27-81F1-91E2-6C37-171E7D76B595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475A9B7-9522-4562-0888-432B6F69DBF3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67878DE7-347B-9BF4-2A8C-5F90F62B2AF4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91F354E-CF5D-4442-DF15-C773D197639F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6255393D-E553-D3ED-02EA-636D1C109BFD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87E494E4-3330-7C82-EEE3-08BF301A7025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80E4B876-6A9A-790E-7FB6-7743E49BAA08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BFA7E175-DFEF-6335-6623-F6EDBBD7B9C1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B48A7465-3206-154B-B5A8-8DAA7A8BA943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8D670C6F-254A-1550-4E77-0E7D5010498E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2991001-EDC6-DDC4-705A-78A6816EFABF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20684FF-93D3-3922-294C-84E7D68069F9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C522195A-04F7-1518-F409-1CCC3E5DE3AB}"/>
              </a:ext>
            </a:extLst>
          </p:cNvPr>
          <p:cNvSpPr/>
          <p:nvPr/>
        </p:nvSpPr>
        <p:spPr>
          <a:xfrm>
            <a:off x="3154100" y="2019628"/>
            <a:ext cx="9037900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147FDB-136A-905C-7D06-43F89D96784B}"/>
              </a:ext>
            </a:extLst>
          </p:cNvPr>
          <p:cNvSpPr/>
          <p:nvPr/>
        </p:nvSpPr>
        <p:spPr>
          <a:xfrm>
            <a:off x="11335066" y="13315"/>
            <a:ext cx="867039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B7C39-089D-4BBD-30C7-59BEDCFBB9A7}"/>
              </a:ext>
            </a:extLst>
          </p:cNvPr>
          <p:cNvSpPr/>
          <p:nvPr/>
        </p:nvSpPr>
        <p:spPr>
          <a:xfrm>
            <a:off x="4098285" y="2767511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Multiplicamos os </a:t>
            </a:r>
            <a:r>
              <a:rPr lang="pt-BR" i="1" dirty="0" err="1">
                <a:solidFill>
                  <a:srgbClr val="00B050"/>
                </a:solidFill>
              </a:rPr>
              <a:t>embeddings</a:t>
            </a:r>
            <a:r>
              <a:rPr lang="pt-BR" i="1" dirty="0">
                <a:solidFill>
                  <a:srgbClr val="00B050"/>
                </a:solidFill>
              </a:rPr>
              <a:t> </a:t>
            </a:r>
            <a:r>
              <a:rPr lang="pt-BR" dirty="0">
                <a:solidFill>
                  <a:schemeClr val="tx1"/>
                </a:solidFill>
              </a:rPr>
              <a:t>pelos pesos dos </a:t>
            </a:r>
            <a:r>
              <a:rPr lang="pt-BR" i="1" dirty="0" err="1">
                <a:solidFill>
                  <a:srgbClr val="00B0F0"/>
                </a:solidFill>
              </a:rPr>
              <a:t>values</a:t>
            </a:r>
            <a:endParaRPr lang="pt-BR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92197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2933C-748D-FE7B-281F-D8056D91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3F99B-DEC4-83C7-32C3-5872D88E4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9BCD3-1192-5592-765F-ED13EC8A4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45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04DA6E4-1D68-D3C8-1779-320C14262BA5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D6A8D1C-4CD0-E277-BD5D-337EA76EA72E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EC2586B-51EE-A630-EF99-8575925B1BD5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3BE5A5E-46E8-5116-254A-D5E9D82484A1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BC5E349C-6480-A8CF-123C-D1659825D525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5CA6F354-D6C7-4F97-9E51-669DAC16889D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41D30F19-40C0-6695-5772-4F52A584BF14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8725B8C-F8CA-FCEA-BB3C-AE9D3E60FE91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3700EC61-071D-AB56-5E47-7CDE657FB8EA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7306E2B5-EAFF-BE12-AC3A-C9E0538A3980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BF16D65-2BE5-D66E-E8CB-2C947888266A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A756760-7AB5-5992-9AA6-4006F48D2BBC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21EA7B1B-0925-8373-DA80-A4B05AA15343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9722A2-EA80-C58B-90E5-D2E9BBF5B0DB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ED5F4796-4A08-E02B-F34E-74F16DA8B2B4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B8CCBEF-F3F3-46D9-D023-3B25AF5E10B9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0ABA856-C61B-2C6F-1C92-5B3F304D6E14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78291D5-A903-3B8A-698B-690C989431FF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E5CA2E1E-484D-BDC0-441C-26C3116478BB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F58EE88-24DA-9BBA-974D-B24657174318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D848201C-A4A9-9B43-65D4-0F69BBF5A9DE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8C4235C9-FF01-5592-1431-273E9270AE30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A293A224-79EB-E0DF-E3AD-8BAA3649F341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479513A-5088-1248-20D5-124C791B9612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5530925-C6C6-8C77-8F19-3083D3E2AA42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5EF8999-2B6D-05F2-A25B-0470484369EA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71B8A79-D445-E5B7-CCFA-79C61B29BB95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D01467C-BCF6-88F5-B100-066BCC7194CE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80446F-66D5-BB8A-E2EC-8BA55EC5AA94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D10A49-E0BC-DB78-A95C-A0A99C456BFC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638E207-CC69-D7E3-7B23-F61132D3292A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D3BD9D9-5BCC-50AB-8D57-BFC6D712103A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A3F939-C130-E8C7-F028-BD2DC17C5D9B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7A590A2-FDFC-6348-E2B4-D49B466CF028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F139570-849D-D5A4-EC5E-EBA657D2E145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1EB03E2-9F90-CB83-C51A-10D7B0A72016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D9C3271-6D50-EF88-878C-4E9685BE22CF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84CC56A-14AE-D8D7-A6E5-AD0B6E8D0698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03B285C-0370-BBFE-CB10-1962BE6200DF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02CCEE2-D310-AF7C-6DAF-FB069597AE2E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70D8030D-E2E0-4296-F696-621CE9D9235C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78D1BF7E-7B5D-153A-463C-F5BE4F2BD511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419991B-1D73-7835-DF9A-EAA909487675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E88935A-1CC1-4E42-598D-ACF82F336708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791F62E-DC5C-0B05-F6A2-148FF0F94859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F85543B2-F835-1AA5-6684-14C84BFDF3A5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37F21717-B853-C759-5940-5B8AD3A1ABA2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09183518-084C-823B-26DF-18834E2E5509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C3881BF6-A790-DAFF-87B3-C8A7CA37953B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A478DBED-2C7C-0D59-E777-1269A6DBC798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3D2F0FBC-8BAE-2A13-4430-2F639D112942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D1206D93-9479-F809-5961-1205C2A0EFCA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A6BAA3A-E60C-9EF8-77D2-3D900890DB8B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DD205E39-1717-8072-68AC-6B8943A54CB0}"/>
              </a:ext>
            </a:extLst>
          </p:cNvPr>
          <p:cNvSpPr/>
          <p:nvPr/>
        </p:nvSpPr>
        <p:spPr>
          <a:xfrm>
            <a:off x="3154100" y="3365728"/>
            <a:ext cx="9037900" cy="3492271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A81A48-D3F6-D0D2-984D-31A6BE94FC99}"/>
              </a:ext>
            </a:extLst>
          </p:cNvPr>
          <p:cNvSpPr/>
          <p:nvPr/>
        </p:nvSpPr>
        <p:spPr>
          <a:xfrm>
            <a:off x="11335066" y="13315"/>
            <a:ext cx="867039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D62AAA-1A25-14D0-D63C-B6B810A19D0F}"/>
                  </a:ext>
                </a:extLst>
              </p:cNvPr>
              <p:cNvSpPr/>
              <p:nvPr/>
            </p:nvSpPr>
            <p:spPr>
              <a:xfrm>
                <a:off x="4006245" y="4217534"/>
                <a:ext cx="7038507" cy="521118"/>
              </a:xfrm>
              <a:prstGeom prst="rect">
                <a:avLst/>
              </a:prstGeom>
              <a:solidFill>
                <a:schemeClr val="bg1">
                  <a:lumMod val="85000"/>
                  <a:alpha val="9098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Computamos os scores não normalizados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pt-BR" i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B9D62AAA-1A25-14D0-D63C-B6B810A19D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245" y="4217534"/>
                <a:ext cx="7038507" cy="521118"/>
              </a:xfrm>
              <a:prstGeom prst="rect">
                <a:avLst/>
              </a:prstGeom>
              <a:blipFill>
                <a:blip r:embed="rId8"/>
                <a:stretch>
                  <a:fillRect b="-47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19887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714DA-C902-283F-CD24-6CC8F9552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6D8B-0F73-2B99-CDDF-125AA2998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D0079-1B28-36BD-864B-968385D7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46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250495C-1612-C95D-9ED3-BC3A3E07B131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89D4EB-B35A-963A-5705-2ABFCDF5D2FD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E8E32C1-5473-4738-3C5C-14126F452C57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97B4ECA-7995-40C6-322B-7DF851423B93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5707B70-662C-68A7-3F64-8711451E089F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B2EBBB54-937B-8C66-C1BD-996198E703C1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8B8C391-B4AF-7A3D-D951-3670980EDAC5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7FA59E65-B03A-FBB5-9EAA-77267ADBB063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69D9A99D-D7CB-5A2E-85B2-2D183BC0C429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8F4774E7-A626-BE99-4FB4-34F8FE7AD434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BAD5402-1C95-B1FD-D834-8D0E4CD6DEC2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C620B9E-E7C9-8650-3ED7-139973A691F3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FD9D6D65-9F2F-6DB8-599A-40A9B806BC4F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47FD254-BDDE-7835-C5EB-9189EB62F27D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5E7218C-7EA8-81C9-0BB5-710175BF3CBF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7B102BF-EEE8-42A5-45CC-BD332E0E24BD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EE25E18-56AF-AD59-EBC4-82D9F345AFA4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6C479ED0-EB1D-8602-2F07-78F2C942E362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C7EF2A5-6DFA-4D5D-D28E-108DB73DFD23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FA0DFD48-97B0-4586-1705-E84022F71903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9E9F0E3A-62EE-131A-B44A-D051BE2CF91C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BCFEF1CF-8CFE-3191-528A-7E63539BC037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2841C893-8A77-4500-10C3-C4625EB14E99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E37D4DF-AEAB-CEE3-0199-A29E760855B5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3331C5-2B99-D584-8683-E52E5CE79FE9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584395-ADA2-42F4-72F6-5ECB3B86299B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3DA0CF-F128-5248-C147-7CE3EB995C74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616FE6-C179-E083-98BE-F750A85304FC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70E941-A017-32CD-9F19-98625D305692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C52250-C132-0A10-4CD7-BB141FEC56DE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E9CEDC3-8BE5-247F-0341-E3A64486E5BB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ED1DDDE-91C1-3BAB-6291-C2412B2E7692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EAEFC2D-83BF-A887-E788-8D658293CEA0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D4EBABB-8597-8ECC-AE84-E6D83C670CD2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7CF8313E-1729-257D-A0E0-1C29B6D8122B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3DCAFB21-E048-EDA2-578F-95A1D5A58318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4E765D27-B80B-41F1-EA9C-E80D4F6EDD88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D2D63E2-F372-2145-A099-16F21F015088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9B6D655-D930-773A-AB12-23C26EEE3705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901B1CAE-BDD2-DB03-8E37-5D785133EA07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189F6A0-68E9-121F-B90E-E9DEA004AF1D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DAEB3BA-871A-1278-29D0-5AEBD324C657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DD218F4-5473-B1AA-9DD9-DB428F69F990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F81B5D8-5C6B-3245-33E9-3FA7D8B25758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AEFB666-9DA1-E73B-B4E5-A5FFC54D1272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37884AFE-41FC-7A3C-33F2-34AA177AC119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2E4CE724-9AD8-6555-51D9-57752D2F95EA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342FD210-7678-5A44-A87F-0CBCAC77989D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ADD62409-9BBD-5DC5-A52F-6A73735F7F3B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81DE26CB-5F76-3B02-DEC5-D76E1E4F81B4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3A84EF5B-7C45-CF02-FA2A-0989854B8D73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AAA0641-F483-52A6-E13E-73056D458216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EEB9A3D-D101-D1BE-ABE3-7F78BE86A3A7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43EF676E-CE92-BE65-B1CE-05E9B3519423}"/>
              </a:ext>
            </a:extLst>
          </p:cNvPr>
          <p:cNvSpPr/>
          <p:nvPr/>
        </p:nvSpPr>
        <p:spPr>
          <a:xfrm>
            <a:off x="3154100" y="4304581"/>
            <a:ext cx="9037900" cy="2553418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BEBA6C-2811-E21E-43E9-698C0117DB2D}"/>
              </a:ext>
            </a:extLst>
          </p:cNvPr>
          <p:cNvSpPr/>
          <p:nvPr/>
        </p:nvSpPr>
        <p:spPr>
          <a:xfrm>
            <a:off x="11335066" y="13315"/>
            <a:ext cx="867039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1EC5A-1A3D-0AC7-841D-E59B84D66439}"/>
              </a:ext>
            </a:extLst>
          </p:cNvPr>
          <p:cNvSpPr/>
          <p:nvPr/>
        </p:nvSpPr>
        <p:spPr>
          <a:xfrm>
            <a:off x="3999084" y="4941046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Normalizamos os scores</a:t>
            </a:r>
            <a:endParaRPr lang="pt-BR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99041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B5552-7E92-F270-C047-F3482E643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1B1A-B8B0-68EF-4A9B-4CC2A76CA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E6E2C-736B-0B3B-3F7D-E6C5D776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47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8F823B3-6EE2-CA8C-3D39-FBCE83C11EDB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9E0FB36-BBC3-9769-E9BD-1545B173CC5C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E5FF6E2-7ADA-2114-8E02-FAB73231E8EB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6AE2EC6-F5FD-A28B-34F9-2FD2B24A22FB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DD243B3-465C-3558-9870-B9DAE84F36A7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2D62B023-F01B-FAA6-FDCF-AFEB3B829D08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6CFFBC2-8BDE-F59C-C76B-AD629A945FA4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2B9C1095-F41B-8E6C-05FD-4FD8829AA98A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8D63695-B4DA-19F0-9E2C-EBEF8051BCA2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3C8926F7-3BCF-3F55-3A69-A31839950FAF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36DEF3B0-0A40-5372-31B4-DCFCE90056FB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3079BD8-677A-599F-4F68-AFDA0E2352E0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DFB1E74-613A-07CF-C61E-E65398D45014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9F9ACF6-041E-B24D-937E-E216DA35879B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28B13E3-483C-AEEB-D521-CC5B5C7A95E5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AF82EDA-31DB-4908-BB73-DA55271F62C2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B5E7166B-34D6-0182-05EE-1C9AAD51AAB0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1181AB04-87CE-4138-6477-5FCE33383B3E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70DFE4B-7BBD-E7C1-DC0D-132F21DF2231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C0055A35-B5B0-F7E8-2CC7-E257A489E309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3E9681EB-6767-78BC-A106-E94AAE42E440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992C79AA-ECF8-7514-BCBE-06EFA080BFB9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6E67A3C6-50E7-D3CA-BFD7-36F8FBD6624B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FE40A9-3F29-EE36-F51F-B6C81E06F9CB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411CFE-974D-4EC5-3539-2C7623A31DD5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F94406-4F48-A2A4-BF1A-2AD98A89AD00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6C2DA-BB1C-9BD9-6FD9-D3649E2300E4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6A552AA-EF1B-94A5-717B-8D47A4E70CDB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DFD236-B797-FC98-601B-89F009A606B3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6310FF3-6C43-D310-BCC8-C4F1DD0E3547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AE769B98-D4DF-11F1-C4D4-41A88FA66066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F47D3AD-E9A1-8DA2-CE2A-2C771BFEB317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B32C770-841E-685E-1A16-AC98F99FF0A2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056B953-E6AE-F092-7B77-575CE912891D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E35B32B4-0531-1021-5148-C7959BB7BC82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D8543D8-A052-4824-1766-0047409A2D0F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48295FC-B131-7308-F38F-B8517DB839D5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103DCB72-24ED-0459-8285-F31D6A7D0FCC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AA0D9F6-50A2-7446-01A0-25FEA49B224D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CD9DA72-A2CE-7B70-99EC-DC75D48342D3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7BE5FF8-A63F-3A6C-343A-E84A8C6CEBE8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84BC36A2-04C7-27EA-83DF-62115EA69E64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FF84A183-B750-B3CE-AC24-6B4F70CB951F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4774864A-755A-C559-494B-37B1550F5C3C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F63D014-84A2-8F92-C3B2-4F168760754B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D58CD16D-41BB-0414-23EA-1B94F55BB3C7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6EDE31F3-936C-A52F-B700-8C893BADEDD8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1EDD1CA6-4B63-937F-1152-3128926FFAB4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2A399FF2-3B5E-CA84-DC48-6F99792BDBA3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A7FE09C7-C967-1919-B872-B60D0F29890E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8AAA910C-77BE-628C-9CFB-0E0D6BDA15C2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2699FCAD-E4F0-FB55-B751-1C3E81C22E4C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4B75AD97-1CC9-1621-7E81-2F0353C7C9A6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02587D58-B46D-15C1-FF8F-AB1DE674E947}"/>
              </a:ext>
            </a:extLst>
          </p:cNvPr>
          <p:cNvSpPr/>
          <p:nvPr/>
        </p:nvSpPr>
        <p:spPr>
          <a:xfrm>
            <a:off x="3154100" y="5230603"/>
            <a:ext cx="9037900" cy="1627395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1BFD16-F0C1-5C08-6D21-0D33C858F499}"/>
              </a:ext>
            </a:extLst>
          </p:cNvPr>
          <p:cNvSpPr/>
          <p:nvPr/>
        </p:nvSpPr>
        <p:spPr>
          <a:xfrm>
            <a:off x="11335066" y="13315"/>
            <a:ext cx="867039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2DA47-FD58-B44C-1E81-216C300C7156}"/>
              </a:ext>
            </a:extLst>
          </p:cNvPr>
          <p:cNvSpPr/>
          <p:nvPr/>
        </p:nvSpPr>
        <p:spPr>
          <a:xfrm>
            <a:off x="3999084" y="5641423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Computamos a </a:t>
            </a:r>
            <a:r>
              <a:rPr lang="pt-BR" i="1" dirty="0" err="1">
                <a:solidFill>
                  <a:schemeClr val="tx1"/>
                </a:solidFill>
              </a:rPr>
              <a:t>softmax</a:t>
            </a:r>
            <a:r>
              <a:rPr lang="pt-BR" dirty="0">
                <a:solidFill>
                  <a:schemeClr val="tx1"/>
                </a:solidFill>
              </a:rPr>
              <a:t> dos scores para obter os pesos da atenção (cuidar com as dimensões!)</a:t>
            </a:r>
            <a:endParaRPr lang="pt-BR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6732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5C3F9-9C7E-3E71-F424-1A6180A4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6B1-CF4D-BC9A-1639-BE044BDB9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D9842-A345-1595-4118-C30E1837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48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9D0F021-3859-D5B1-EFC8-CA851D65FAF1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D01558-567C-BCA8-E30C-F46776ED617E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967A63-958C-EAB7-BD5C-CA444D729A93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3332A29-2BF7-AA43-2D5A-0AF9302410A3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8FA1546-96E1-87E6-0F0D-571D4C4DF2E8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FC53650B-683A-8476-D4AE-2F1CD774D221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AA9CF4EA-6E46-7DA8-086B-96A1FB2F753E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DBBC0E87-2320-73C1-4471-026C987E03E0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DE221342-7968-8722-85AF-3A63B178C5AB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1000093E-E4CB-CC95-463F-BCD7FD992E8A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7F5DF7FA-6863-8347-FB56-1BBD2A4B0376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335C8C8-4027-0AF9-3707-10BDF9C1E6F3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5C94713-E1D4-8CA0-7881-1BDEBDE9D622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6DABE1-F6FB-CC68-6F5D-7BE10245E6D2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0747D6D-607C-6386-320F-5670B4B8BD7E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333C876-C662-7F31-734E-6AB932F4331A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A1B249CD-5F0F-F49C-B259-E9D4E2003D67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49D54C15-1EBF-EACC-13EF-9EEA36737ED0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DA7C2F1-A6E1-874A-679E-337EB37F876C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EC2F1699-9BF0-2FBE-6CA7-4E8CC4DC7179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6A3B0FD8-A131-9FAB-0907-DFEA3F71AC47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09C42AE8-27AC-F36A-9666-AB952B9959C8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2586781F-0245-EA86-990B-4107FD0700BE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56F46E8-A4E3-DC4E-EECA-C87FBD2A46B3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621F32-042D-384C-5C8E-669590262A38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1FC1DE-1E36-BA66-53C2-BFA01A7D9D1C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F5F81F-5B96-B68D-5993-8A34F6B180BA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2A979C-4BB3-C720-40A1-8EC0933438AE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91D33B-C53E-E259-3F37-6C9AE82A1E6F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63246E-6916-A2BE-7457-EAD70E5FD9B6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77F5037-0F21-8D3D-5836-61F9755B33CB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CCC631E-6375-5F37-5AE6-B51A5456D862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BCA8497-323B-72A5-BEB3-D6B8DB4A445B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6FC8DDE7-A854-2870-18B1-23F381C0EC64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F3EB9537-E349-2E76-5322-F3F8D6B6DB12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F79446-6016-D2E6-8526-59D5EE754552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F86AC66-EAE2-7B32-85EA-5DEDC1020082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56618BA-88C8-38DD-1A71-8CFBA729389E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22677263-9AFB-C5D4-76A8-F59AFC6C3705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6865C1D0-784B-0B47-16E2-A3D571B34C45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A103E92C-3F8A-3AFB-2954-4DA40613D86D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A89F2BE-4BDC-B985-7727-4CE87D82A6CE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B7C8B7A5-45C0-B634-5622-3C0620DC7926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075A6E82-9FC7-8072-1058-1F82644FFE50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1D5FB9A-15B7-E1A9-5A2B-D297EA5C97A8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92BAD2A0-9D77-5D0D-9A4A-2E85F4316DF5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59751DC4-B3F4-4398-7A35-3D59D43F6288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668915E6-10CD-04A4-B7FC-906C03929D21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503C011E-F78B-7324-B22A-B003B5B2AF42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2C16BAFA-2327-E494-E692-8798B985B034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EB6F5394-B12F-4C07-D3D5-12F56E5D3A45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48D2B9F1-8DB9-27BC-D3DD-BD4738EFEC0C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AFD16E86-67A6-E88F-EBF9-8B0CC62ADE80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Rectangle 72">
            <a:extLst>
              <a:ext uri="{FF2B5EF4-FFF2-40B4-BE49-F238E27FC236}">
                <a16:creationId xmlns:a16="http://schemas.microsoft.com/office/drawing/2014/main" id="{948E09A6-BCE1-193F-834B-6038AA76C9F4}"/>
              </a:ext>
            </a:extLst>
          </p:cNvPr>
          <p:cNvSpPr/>
          <p:nvPr/>
        </p:nvSpPr>
        <p:spPr>
          <a:xfrm>
            <a:off x="3154100" y="5230603"/>
            <a:ext cx="9037900" cy="1627395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C0057C-765C-AC33-51F6-6474F6C28983}"/>
              </a:ext>
            </a:extLst>
          </p:cNvPr>
          <p:cNvSpPr/>
          <p:nvPr/>
        </p:nvSpPr>
        <p:spPr>
          <a:xfrm>
            <a:off x="11335066" y="13315"/>
            <a:ext cx="867039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B58AE0-EC0C-3E68-4064-654E4D053E92}"/>
              </a:ext>
            </a:extLst>
          </p:cNvPr>
          <p:cNvSpPr/>
          <p:nvPr/>
        </p:nvSpPr>
        <p:spPr>
          <a:xfrm>
            <a:off x="3999084" y="5641423"/>
            <a:ext cx="7038507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Normalizamos os scores (cuidado com as dimensões da </a:t>
            </a:r>
            <a:r>
              <a:rPr lang="pt-BR" i="1" dirty="0" err="1">
                <a:solidFill>
                  <a:schemeClr val="tx1"/>
                </a:solidFill>
              </a:rPr>
              <a:t>softmax</a:t>
            </a:r>
            <a:r>
              <a:rPr lang="pt-BR" dirty="0">
                <a:solidFill>
                  <a:schemeClr val="tx1"/>
                </a:solidFill>
              </a:rPr>
              <a:t>!)</a:t>
            </a:r>
            <a:endParaRPr lang="pt-BR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1980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3798-BE69-BC6B-F8E4-491290F9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C41C-4E69-C8FE-112E-B88C72B5A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14780" y="-22453"/>
            <a:ext cx="10515600" cy="1325563"/>
          </a:xfrm>
        </p:spPr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D0B6C-9E51-5BB7-841E-6DBD05464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49</a:t>
            </a:fld>
            <a:endParaRPr lang="pt-BR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66B9984-4B31-E210-822E-81204AEE67C3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904128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CC44C64-D3AC-11BC-C5AE-A2795922FAC0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33184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31BFAB0-9591-D629-4B23-0C37C84E0AB0}"/>
              </a:ext>
            </a:extLst>
          </p:cNvPr>
          <p:cNvGraphicFramePr>
            <a:graphicFrameLocks noGrp="1"/>
          </p:cNvGraphicFramePr>
          <p:nvPr/>
        </p:nvGraphicFramePr>
        <p:xfrm>
          <a:off x="7220594" y="94314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C4EB7FBA-B252-883C-4938-2C5C7467A10C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526209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D3058A-8B34-0D0D-8113-2A2D2FE7ACB9}"/>
              </a:ext>
            </a:extLst>
          </p:cNvPr>
          <p:cNvGraphicFramePr>
            <a:graphicFrameLocks noGrp="1"/>
          </p:cNvGraphicFramePr>
          <p:nvPr/>
        </p:nvGraphicFramePr>
        <p:xfrm>
          <a:off x="568509" y="1880142"/>
          <a:ext cx="11444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247743450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0527C278-816D-B554-EF68-0CB4C5DD0A32}"/>
              </a:ext>
            </a:extLst>
          </p:cNvPr>
          <p:cNvGraphicFramePr>
            <a:graphicFrameLocks noGrp="1"/>
          </p:cNvGraphicFramePr>
          <p:nvPr/>
        </p:nvGraphicFramePr>
        <p:xfrm>
          <a:off x="344225" y="362971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539779E8-9B7B-480C-B798-455AF0531F90}"/>
              </a:ext>
            </a:extLst>
          </p:cNvPr>
          <p:cNvGraphicFramePr>
            <a:graphicFrameLocks noGrp="1"/>
          </p:cNvGraphicFramePr>
          <p:nvPr/>
        </p:nvGraphicFramePr>
        <p:xfrm>
          <a:off x="133434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375A943-424F-4AF2-62FA-A02A1AA7293E}"/>
              </a:ext>
            </a:extLst>
          </p:cNvPr>
          <p:cNvGraphicFramePr>
            <a:graphicFrameLocks noGrp="1"/>
          </p:cNvGraphicFramePr>
          <p:nvPr/>
        </p:nvGraphicFramePr>
        <p:xfrm>
          <a:off x="2324465" y="3624965"/>
          <a:ext cx="762960" cy="10972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480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381480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7625570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8800533"/>
                  </a:ext>
                </a:extLst>
              </a:tr>
            </a:tbl>
          </a:graphicData>
        </a:graphic>
      </p:graphicFrame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E0A29D53-5607-7AEF-4320-2E66544C3F4A}"/>
              </a:ext>
            </a:extLst>
          </p:cNvPr>
          <p:cNvGraphicFramePr>
            <a:graphicFrameLocks noGrp="1"/>
          </p:cNvGraphicFramePr>
          <p:nvPr/>
        </p:nvGraphicFramePr>
        <p:xfrm>
          <a:off x="9925218" y="1262965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D1EBFCC2-0C25-D032-F40E-B7E8EC090041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2687754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F3CD2FEA-4959-5943-949A-5C43D60D3C06}"/>
              </a:ext>
            </a:extLst>
          </p:cNvPr>
          <p:cNvGraphicFramePr>
            <a:graphicFrameLocks noGrp="1"/>
          </p:cNvGraphicFramePr>
          <p:nvPr/>
        </p:nvGraphicFramePr>
        <p:xfrm>
          <a:off x="7222659" y="1285522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</a:t>
                      </a:r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44171ED-7CC8-B60F-8AB5-98295E9AB036}"/>
                  </a:ext>
                </a:extLst>
              </p:cNvPr>
              <p:cNvSpPr txBox="1"/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38239E0-1B1E-B70F-7FAD-5925B7839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667" y="4794966"/>
                <a:ext cx="460075" cy="556434"/>
              </a:xfrm>
              <a:prstGeom prst="rect">
                <a:avLst/>
              </a:prstGeom>
              <a:blipFill>
                <a:blip r:embed="rId2"/>
                <a:stretch>
                  <a:fillRect r="-7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F8CB956-1199-4933-33FE-7128F606359D}"/>
                  </a:ext>
                </a:extLst>
              </p:cNvPr>
              <p:cNvSpPr txBox="1"/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FFC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FFC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85B2C89-2453-310B-C3FA-6DD3C8791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2" y="4794966"/>
                <a:ext cx="460075" cy="523220"/>
              </a:xfrm>
              <a:prstGeom prst="rect">
                <a:avLst/>
              </a:prstGeom>
              <a:blipFill>
                <a:blip r:embed="rId3"/>
                <a:stretch>
                  <a:fillRect r="-1447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E9A792-780D-1052-1A5F-162B01B8E1CD}"/>
                  </a:ext>
                </a:extLst>
              </p:cNvPr>
              <p:cNvSpPr txBox="1"/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</m:oMath>
                  </m:oMathPara>
                </a14:m>
                <a:endParaRPr lang="pt-BR" sz="2800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C6CD33D-63AC-243D-384F-F8AC6597B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5907" y="4794966"/>
                <a:ext cx="460075" cy="523220"/>
              </a:xfrm>
              <a:prstGeom prst="rect">
                <a:avLst/>
              </a:prstGeom>
              <a:blipFill>
                <a:blip r:embed="rId4"/>
                <a:stretch>
                  <a:fillRect r="-65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9FD03C0-22A8-8A1D-C524-3C171833B454}"/>
              </a:ext>
            </a:extLst>
          </p:cNvPr>
          <p:cNvGraphicFramePr>
            <a:graphicFrameLocks noGrp="1"/>
          </p:cNvGraphicFramePr>
          <p:nvPr/>
        </p:nvGraphicFramePr>
        <p:xfrm>
          <a:off x="6358319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377AA9D-355A-CFF4-084B-2861000E3C3E}"/>
              </a:ext>
            </a:extLst>
          </p:cNvPr>
          <p:cNvGraphicFramePr>
            <a:graphicFrameLocks noGrp="1"/>
          </p:cNvGraphicFramePr>
          <p:nvPr/>
        </p:nvGraphicFramePr>
        <p:xfrm>
          <a:off x="6917508" y="2331673"/>
          <a:ext cx="538673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-2</a:t>
                      </a: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-3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238060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2BAFD14-487A-FECE-00B3-6BDBCE9F659A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77AD9747-1445-7CBD-BFA2-865FB86F1825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333826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16C2FF2-80F1-F6D5-7006-7B81E8F14685}"/>
                  </a:ext>
                </a:extLst>
              </p:cNvPr>
              <p:cNvSpPr txBox="1"/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42EDE75-DA66-0E5A-A0CE-757E462F1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9756" y="3403807"/>
                <a:ext cx="918135" cy="6646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43FA1873-A781-4C5F-534A-C0B1BEB9673A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47330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-10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41638D88-246D-57E9-A772-3226F50B96C1}"/>
              </a:ext>
            </a:extLst>
          </p:cNvPr>
          <p:cNvGraphicFramePr>
            <a:graphicFrameLocks noGrp="1"/>
          </p:cNvGraphicFramePr>
          <p:nvPr/>
        </p:nvGraphicFramePr>
        <p:xfrm>
          <a:off x="6979665" y="5838893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5D9FAF9B-4A35-0A02-7AD0-7536C6B8A3BE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450771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10.93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-9.95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sp>
        <p:nvSpPr>
          <p:cNvPr id="56" name="TextBox 55">
            <a:extLst>
              <a:ext uri="{FF2B5EF4-FFF2-40B4-BE49-F238E27FC236}">
                <a16:creationId xmlns:a16="http://schemas.microsoft.com/office/drawing/2014/main" id="{25F78739-A211-DC03-E9CC-60E3345FF865}"/>
              </a:ext>
            </a:extLst>
          </p:cNvPr>
          <p:cNvSpPr txBox="1"/>
          <p:nvPr/>
        </p:nvSpPr>
        <p:spPr>
          <a:xfrm>
            <a:off x="505438" y="2216742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embeddings</a:t>
            </a:r>
            <a:endParaRPr lang="pt-BR" i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12BA6EC-A7FF-BA50-6B25-7D1D838AF093}"/>
              </a:ext>
            </a:extLst>
          </p:cNvPr>
          <p:cNvSpPr txBox="1"/>
          <p:nvPr/>
        </p:nvSpPr>
        <p:spPr>
          <a:xfrm>
            <a:off x="5224699" y="1627396"/>
            <a:ext cx="871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queries</a:t>
            </a:r>
            <a:endParaRPr lang="pt-BR" i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A4A070A-3BF8-34B1-277A-14C2B39FBDDA}"/>
              </a:ext>
            </a:extLst>
          </p:cNvPr>
          <p:cNvSpPr txBox="1"/>
          <p:nvPr/>
        </p:nvSpPr>
        <p:spPr>
          <a:xfrm>
            <a:off x="7518338" y="1636532"/>
            <a:ext cx="70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keys</a:t>
            </a:r>
            <a:endParaRPr lang="pt-BR" i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50A56E-93B6-9E0D-AFA9-B99E989FFFBF}"/>
              </a:ext>
            </a:extLst>
          </p:cNvPr>
          <p:cNvSpPr txBox="1"/>
          <p:nvPr/>
        </p:nvSpPr>
        <p:spPr>
          <a:xfrm>
            <a:off x="10095799" y="1630265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values</a:t>
            </a:r>
            <a:endParaRPr lang="pt-BR" i="1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18C875E-26AC-ED1F-8DEB-4E2658D18F32}"/>
              </a:ext>
            </a:extLst>
          </p:cNvPr>
          <p:cNvSpPr txBox="1"/>
          <p:nvPr/>
        </p:nvSpPr>
        <p:spPr>
          <a:xfrm>
            <a:off x="3664908" y="2318880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scores</a:t>
            </a:r>
            <a:endParaRPr lang="pt-BR" i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40F5226-2C92-980B-844E-E930786D4241}"/>
              </a:ext>
            </a:extLst>
          </p:cNvPr>
          <p:cNvSpPr txBox="1"/>
          <p:nvPr/>
        </p:nvSpPr>
        <p:spPr>
          <a:xfrm>
            <a:off x="3664908" y="3411164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normalize</a:t>
            </a:r>
            <a:endParaRPr lang="pt-BR" i="1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6BE329-BC29-21E7-457F-EAE4052E0ECC}"/>
              </a:ext>
            </a:extLst>
          </p:cNvPr>
          <p:cNvSpPr txBox="1"/>
          <p:nvPr/>
        </p:nvSpPr>
        <p:spPr>
          <a:xfrm>
            <a:off x="3664908" y="4434293"/>
            <a:ext cx="1437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err="1"/>
              <a:t>softmax</a:t>
            </a:r>
            <a:endParaRPr lang="pt-BR" i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59213D6-3C5A-A92D-1A7F-9EAE57DF5047}"/>
              </a:ext>
            </a:extLst>
          </p:cNvPr>
          <p:cNvSpPr txBox="1"/>
          <p:nvPr/>
        </p:nvSpPr>
        <p:spPr>
          <a:xfrm>
            <a:off x="3078213" y="5560043"/>
            <a:ext cx="204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Weighted Sum</a:t>
            </a:r>
            <a:endParaRPr lang="pt-BR" i="1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5138CC5-8E42-1AC8-A868-A78774112518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35686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B8B072D-9A8D-EE1A-2A58-BE45110410D9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35686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47EB9F0-4D4E-E8BC-37F0-FD4526318C40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471907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759C17E-8DAB-1E2A-750B-AC353A70E6EC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471907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936862E-8EA2-4947-EC28-82E1D54D2818}"/>
              </a:ext>
            </a:extLst>
          </p:cNvPr>
          <p:cNvGraphicFramePr>
            <a:graphicFrameLocks noGrp="1"/>
          </p:cNvGraphicFramePr>
          <p:nvPr/>
        </p:nvGraphicFramePr>
        <p:xfrm>
          <a:off x="8399306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B55999B-7406-65B2-B9A9-22315B470CF2}"/>
              </a:ext>
            </a:extLst>
          </p:cNvPr>
          <p:cNvGraphicFramePr>
            <a:graphicFrameLocks noGrp="1"/>
          </p:cNvGraphicFramePr>
          <p:nvPr/>
        </p:nvGraphicFramePr>
        <p:xfrm>
          <a:off x="8936663" y="2686904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868B971-7374-5ACC-DBC7-98FD87DC3F04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B3420542-106D-CCDE-FE71-E1EFFD918A87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403807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F8D90F4C-9F04-95E5-0F4D-0B62B7E1BD53}"/>
              </a:ext>
            </a:extLst>
          </p:cNvPr>
          <p:cNvGraphicFramePr>
            <a:graphicFrameLocks noGrp="1"/>
          </p:cNvGraphicFramePr>
          <p:nvPr/>
        </p:nvGraphicFramePr>
        <p:xfrm>
          <a:off x="5091952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DAEA5552-E1BB-E3DC-33B6-D1717366021E}"/>
              </a:ext>
            </a:extLst>
          </p:cNvPr>
          <p:cNvGraphicFramePr>
            <a:graphicFrameLocks noGrp="1"/>
          </p:cNvGraphicFramePr>
          <p:nvPr/>
        </p:nvGraphicFramePr>
        <p:xfrm>
          <a:off x="5629309" y="3756885"/>
          <a:ext cx="53867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0E313E6A-8FFD-5BD5-8222-93F0DB8A21B4}"/>
              </a:ext>
            </a:extLst>
          </p:cNvPr>
          <p:cNvGraphicFramePr>
            <a:graphicFrameLocks noGrp="1"/>
          </p:cNvGraphicFramePr>
          <p:nvPr/>
        </p:nvGraphicFramePr>
        <p:xfrm>
          <a:off x="8393166" y="371905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-4.24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D4F87723-4DE7-4ABB-983D-AE6D40701EE4}"/>
              </a:ext>
            </a:extLst>
          </p:cNvPr>
          <p:cNvGraphicFramePr>
            <a:graphicFrameLocks noGrp="1"/>
          </p:cNvGraphicFramePr>
          <p:nvPr/>
        </p:nvGraphicFramePr>
        <p:xfrm>
          <a:off x="9157500" y="371905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4.95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9BAB2743-7684-E29E-82D7-F8062D9FDA11}"/>
              </a:ext>
            </a:extLst>
          </p:cNvPr>
          <p:cNvGraphicFramePr>
            <a:graphicFrameLocks noGrp="1"/>
          </p:cNvGraphicFramePr>
          <p:nvPr/>
        </p:nvGraphicFramePr>
        <p:xfrm>
          <a:off x="5256479" y="5834091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3B7CB05-80FB-16EA-9885-7FE8D476FC6E}"/>
              </a:ext>
            </a:extLst>
          </p:cNvPr>
          <p:cNvGraphicFramePr>
            <a:graphicFrameLocks noGrp="1"/>
          </p:cNvGraphicFramePr>
          <p:nvPr/>
        </p:nvGraphicFramePr>
        <p:xfrm>
          <a:off x="6020813" y="5834091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49707E3-5C4D-EFA1-DB3C-CF83974DEA02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942046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-1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4" name="Table 63">
            <a:extLst>
              <a:ext uri="{FF2B5EF4-FFF2-40B4-BE49-F238E27FC236}">
                <a16:creationId xmlns:a16="http://schemas.microsoft.com/office/drawing/2014/main" id="{81F0A659-98DA-E6F6-63C3-3F8E08750FF5}"/>
              </a:ext>
            </a:extLst>
          </p:cNvPr>
          <p:cNvGraphicFramePr>
            <a:graphicFrameLocks noGrp="1"/>
          </p:cNvGraphicFramePr>
          <p:nvPr/>
        </p:nvGraphicFramePr>
        <p:xfrm>
          <a:off x="5102457" y="1297957"/>
          <a:ext cx="107734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867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538673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-5</a:t>
                      </a:r>
                    </a:p>
                  </a:txBody>
                  <a:tcPr>
                    <a:solidFill>
                      <a:srgbClr val="C39BE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C39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5" name="Table 64">
            <a:extLst>
              <a:ext uri="{FF2B5EF4-FFF2-40B4-BE49-F238E27FC236}">
                <a16:creationId xmlns:a16="http://schemas.microsoft.com/office/drawing/2014/main" id="{FEBD00B7-6C0D-28CB-BA26-D653C1289EAA}"/>
              </a:ext>
            </a:extLst>
          </p:cNvPr>
          <p:cNvGraphicFramePr>
            <a:graphicFrameLocks noGrp="1"/>
          </p:cNvGraphicFramePr>
          <p:nvPr/>
        </p:nvGraphicFramePr>
        <p:xfrm>
          <a:off x="8393334" y="5793497"/>
          <a:ext cx="15586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34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  <a:gridCol w="779344">
                  <a:extLst>
                    <a:ext uri="{9D8B030D-6E8A-4147-A177-3AD203B41FA5}">
                      <a16:colId xmlns:a16="http://schemas.microsoft.com/office/drawing/2014/main" val="690519536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4.14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-5.1</a:t>
                      </a:r>
                      <a:endParaRPr lang="pt-BR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F4B5BBBF-BA83-7B90-1B6C-9C10C918D553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443458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3C85640-3E54-3E20-BE9E-E6F01B5E58BA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443458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F973EC91-52DA-0904-41D2-6096AAB1E8B8}"/>
              </a:ext>
            </a:extLst>
          </p:cNvPr>
          <p:cNvGraphicFramePr>
            <a:graphicFrameLocks noGrp="1"/>
          </p:cNvGraphicFramePr>
          <p:nvPr/>
        </p:nvGraphicFramePr>
        <p:xfrm>
          <a:off x="5088489" y="4805642"/>
          <a:ext cx="733103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3103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0.02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p:graphicFrame>
        <p:nvGraphicFramePr>
          <p:cNvPr id="69" name="Table 68">
            <a:extLst>
              <a:ext uri="{FF2B5EF4-FFF2-40B4-BE49-F238E27FC236}">
                <a16:creationId xmlns:a16="http://schemas.microsoft.com/office/drawing/2014/main" id="{83FA6D55-28CE-B57A-98B3-DC9ABD0094CB}"/>
              </a:ext>
            </a:extLst>
          </p:cNvPr>
          <p:cNvGraphicFramePr>
            <a:graphicFrameLocks noGrp="1"/>
          </p:cNvGraphicFramePr>
          <p:nvPr/>
        </p:nvGraphicFramePr>
        <p:xfrm>
          <a:off x="5852823" y="4805642"/>
          <a:ext cx="775594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594">
                  <a:extLst>
                    <a:ext uri="{9D8B030D-6E8A-4147-A177-3AD203B41FA5}">
                      <a16:colId xmlns:a16="http://schemas.microsoft.com/office/drawing/2014/main" val="2569997255"/>
                    </a:ext>
                  </a:extLst>
                </a:gridCol>
              </a:tblGrid>
              <a:tr h="210209">
                <a:tc>
                  <a:txBody>
                    <a:bodyPr/>
                    <a:lstStyle/>
                    <a:p>
                      <a:pPr algn="r"/>
                      <a:r>
                        <a:rPr lang="pt-BR" b="0" dirty="0">
                          <a:solidFill>
                            <a:schemeClr val="tx1"/>
                          </a:solidFill>
                        </a:rPr>
                        <a:t>0.98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8664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B405D95E-4319-EC18-1BC3-EC64E2F49F9C}"/>
                  </a:ext>
                </a:extLst>
              </p:cNvPr>
              <p:cNvSpPr txBox="1"/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38BE48A2-DECA-F6D7-15E7-B8A5F61840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926" y="2523334"/>
                <a:ext cx="38838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FE7DB033-1E96-C6DF-D316-5CB398BFE390}"/>
                  </a:ext>
                </a:extLst>
              </p:cNvPr>
              <p:cNvSpPr txBox="1"/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5B68BD1-AF99-6B72-C92C-CAA865F5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4785" y="5618562"/>
                <a:ext cx="388381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41192193-55CD-B37E-6A05-52DE4457EF12}"/>
              </a:ext>
            </a:extLst>
          </p:cNvPr>
          <p:cNvSpPr/>
          <p:nvPr/>
        </p:nvSpPr>
        <p:spPr>
          <a:xfrm>
            <a:off x="11335066" y="13315"/>
            <a:ext cx="867039" cy="4838372"/>
          </a:xfrm>
          <a:prstGeom prst="rect">
            <a:avLst/>
          </a:prstGeom>
          <a:solidFill>
            <a:srgbClr val="FFFFFF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05B89-F4DC-09A5-17C7-345755021E50}"/>
              </a:ext>
            </a:extLst>
          </p:cNvPr>
          <p:cNvSpPr/>
          <p:nvPr/>
        </p:nvSpPr>
        <p:spPr>
          <a:xfrm>
            <a:off x="115884" y="6290127"/>
            <a:ext cx="5245404" cy="521118"/>
          </a:xfrm>
          <a:prstGeom prst="rect">
            <a:avLst/>
          </a:prstGeom>
          <a:solidFill>
            <a:schemeClr val="bg1">
              <a:lumMod val="85000"/>
              <a:alpha val="9098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Multiplicamos os pesos da atenção pelos valores</a:t>
            </a:r>
            <a:endParaRPr lang="pt-BR" i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77655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10225-BAB9-09BA-3653-A0B87F121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5CF29-B39D-39C5-B96B-07A60C63B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9B590-5174-61BD-7B29-F07A379A3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0C1F2-BA6C-F54D-67AA-27D01EDED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88843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961A-50C1-8B5F-947B-905BB1EE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3B0D3-C7B9-EFE0-8DB3-8DA5F5E4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4C05-58AE-6CD9-DEB2-B0FD3D3C6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6F34B-67ED-BF03-BF24-6BB6BC66E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86971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25A49-8444-72C5-D895-0462B2558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9316-0734-B2A5-FB45-839496FA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28C0F-5FF5-B323-7C03-B4FDBE4EA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Qual a vantagem em relação a um MLP?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155D7-AAAF-0CDD-2F89-B23AA293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99305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5DD16-09C4-8D1F-4581-C30BFFF8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ADA5A-79C7-982A-45EF-206678571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D0F7C-CBC4-EFF7-DA61-8B60B8B3F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Qual a vantagem em relação a um MLP?</a:t>
            </a:r>
          </a:p>
          <a:p>
            <a:pPr lvl="2"/>
            <a:r>
              <a:rPr lang="pt-BR" dirty="0"/>
              <a:t>O tamanho dos vetores de parâmetros não escala com o tamanho da sequência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33D7B-FF2B-0DD4-24F8-6DC38C481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77901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3437-10D9-26C3-13B9-ED28660D3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DF6F-0337-4129-2686-6772C91F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63EC6-7181-33BC-8277-5F821122C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Qual a vantagem em relação a um MLP?</a:t>
            </a:r>
          </a:p>
          <a:p>
            <a:pPr lvl="2"/>
            <a:r>
              <a:rPr lang="pt-BR" dirty="0"/>
              <a:t>O tamanho dos vetores de parâmetros não escala com o tamanho da sequência</a:t>
            </a:r>
          </a:p>
          <a:p>
            <a:pPr lvl="1"/>
            <a:r>
              <a:rPr lang="pt-BR" dirty="0"/>
              <a:t>Qual a vantagem em relação a </a:t>
            </a:r>
            <a:r>
              <a:rPr lang="pt-BR" dirty="0" err="1"/>
              <a:t>RNNs</a:t>
            </a:r>
            <a:r>
              <a:rPr lang="pt-BR" dirty="0"/>
              <a:t>?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D41B2-6219-A75C-15A2-FB09C692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815139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618D8-376C-D3E5-F5B8-773F5CC1B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DA8C-38A1-AF06-73D1-8A12A86BE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91FE0-0D4D-7148-5376-6894F3572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Qual a vantagem em relação a um MLP?</a:t>
            </a:r>
          </a:p>
          <a:p>
            <a:pPr lvl="2"/>
            <a:r>
              <a:rPr lang="pt-BR" dirty="0"/>
              <a:t>O tamanho dos vetores de parâmetros não escala com o tamanho da sequência</a:t>
            </a:r>
          </a:p>
          <a:p>
            <a:pPr lvl="1"/>
            <a:r>
              <a:rPr lang="pt-BR" dirty="0"/>
              <a:t>Qual a vantagem em relação a </a:t>
            </a:r>
            <a:r>
              <a:rPr lang="pt-BR" dirty="0" err="1"/>
              <a:t>RNNs</a:t>
            </a:r>
            <a:r>
              <a:rPr lang="pt-BR" dirty="0"/>
              <a:t>?</a:t>
            </a:r>
          </a:p>
          <a:p>
            <a:pPr lvl="2"/>
            <a:r>
              <a:rPr lang="pt-BR" dirty="0"/>
              <a:t>Muito mais fácil de paralelizar o processamento</a:t>
            </a:r>
          </a:p>
          <a:p>
            <a:pPr lvl="2"/>
            <a:r>
              <a:rPr lang="pt-BR" dirty="0"/>
              <a:t>Consegue considerar sequências mais longas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A0561-8450-2D84-41EC-6A8D87BD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1770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5862-C107-218E-5DD7-762B6E81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4EE74-1EB7-F9A5-D649-C778B0A82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02F92-7CD1-FA9A-16C7-86617B8F0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Qual a vantagem em relação a um MLP?</a:t>
            </a:r>
          </a:p>
          <a:p>
            <a:pPr lvl="2"/>
            <a:r>
              <a:rPr lang="pt-BR" dirty="0"/>
              <a:t>O tamanho dos vetores de parâmetros não escala com o tamanho da sequência</a:t>
            </a:r>
          </a:p>
          <a:p>
            <a:pPr lvl="1"/>
            <a:r>
              <a:rPr lang="pt-BR" dirty="0"/>
              <a:t>Qual a vantagem em relação a </a:t>
            </a:r>
            <a:r>
              <a:rPr lang="pt-BR" dirty="0" err="1"/>
              <a:t>RNNs</a:t>
            </a:r>
            <a:r>
              <a:rPr lang="pt-BR" dirty="0"/>
              <a:t>?</a:t>
            </a:r>
          </a:p>
          <a:p>
            <a:pPr lvl="2"/>
            <a:r>
              <a:rPr lang="pt-BR" dirty="0"/>
              <a:t>Muito mais fácil de paralelizar o processamento</a:t>
            </a:r>
          </a:p>
          <a:p>
            <a:pPr lvl="2"/>
            <a:r>
              <a:rPr lang="pt-BR" dirty="0"/>
              <a:t>Consegue considerar sequências mais longas</a:t>
            </a:r>
          </a:p>
          <a:p>
            <a:pPr lvl="1"/>
            <a:r>
              <a:rPr lang="pt-BR" dirty="0"/>
              <a:t>Produz soluções explicáveis?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46547-972B-DD50-A7E7-95DA46082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43435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71EE0-F985-D440-E576-7F591071C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62D2-E120-FD0E-87B6-6EE809996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98AA-3233-5E3F-76B0-B47AA6F82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É não linear?</a:t>
            </a:r>
          </a:p>
          <a:p>
            <a:pPr lvl="2"/>
            <a:r>
              <a:rPr lang="pt-BR" dirty="0"/>
              <a:t>Sim. É ao menos um polinômio de terceiro grau (sem contar a </a:t>
            </a:r>
            <a:r>
              <a:rPr lang="pt-BR" i="1" dirty="0" err="1"/>
              <a:t>softmax</a:t>
            </a:r>
            <a:r>
              <a:rPr lang="pt-BR" i="1" dirty="0"/>
              <a:t> que também introduz não-linearidades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Qual a vantagem em relação a um MLP?</a:t>
            </a:r>
          </a:p>
          <a:p>
            <a:pPr lvl="2"/>
            <a:r>
              <a:rPr lang="pt-BR" dirty="0"/>
              <a:t>O tamanho dos vetores de parâmetros não escala com o tamanho da sequência</a:t>
            </a:r>
          </a:p>
          <a:p>
            <a:pPr lvl="1"/>
            <a:r>
              <a:rPr lang="pt-BR" dirty="0"/>
              <a:t>Qual a vantagem em relação a </a:t>
            </a:r>
            <a:r>
              <a:rPr lang="pt-BR" dirty="0" err="1"/>
              <a:t>RNNs</a:t>
            </a:r>
            <a:r>
              <a:rPr lang="pt-BR" dirty="0"/>
              <a:t>?</a:t>
            </a:r>
          </a:p>
          <a:p>
            <a:pPr lvl="2"/>
            <a:r>
              <a:rPr lang="pt-BR" dirty="0"/>
              <a:t>Muito mais fácil de paralelizar o processamento</a:t>
            </a:r>
          </a:p>
          <a:p>
            <a:pPr lvl="2"/>
            <a:r>
              <a:rPr lang="pt-BR" dirty="0"/>
              <a:t>Consegue considerar sequências mais longas</a:t>
            </a:r>
          </a:p>
          <a:p>
            <a:pPr lvl="1"/>
            <a:r>
              <a:rPr lang="pt-BR" dirty="0"/>
              <a:t>Produz soluções explicáveis?</a:t>
            </a:r>
          </a:p>
          <a:p>
            <a:pPr lvl="2"/>
            <a:r>
              <a:rPr lang="pt-BR" dirty="0"/>
              <a:t>Podemos plotar os pesos da atenção e ver em quais partes da sequência a rede está considerando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F9E0F-F397-03BA-F998-7CBBD9C56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3786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CB98-885F-1DB3-53A7-13D5E88C7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DA59-03F6-497C-C85B-B4EB9704F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8B67C-AD4F-452D-1B7D-129C52B5A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Consegue pensar em alguma desvantagem em relação as RNN?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B3F49-D889-DA6C-BC2F-21EF4B5B2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56701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BA226-5F45-84AC-2F5E-6D4E4E913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131D-7832-63A8-2BFF-36ECAD79C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6CFF3-4112-6D8D-1FD1-C2468B76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Consegue pensar em alguma desvantagem em relação as RNN?</a:t>
            </a:r>
          </a:p>
          <a:p>
            <a:pPr lvl="2"/>
            <a:r>
              <a:rPr lang="pt-BR" dirty="0"/>
              <a:t>Da forma como está agora não tem informação sobre a posição da palavra na frase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61DF7-B5A0-CAEE-0221-B183D6793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59</a:t>
            </a:fld>
            <a:endParaRPr lang="pt-BR"/>
          </a:p>
        </p:txBody>
      </p:sp>
      <p:pic>
        <p:nvPicPr>
          <p:cNvPr id="1026" name="Picture 2" descr="Star Trek | Fizeram uma estatueta do facepalm do Capitão Picard - NerdBunker">
            <a:extLst>
              <a:ext uri="{FF2B5EF4-FFF2-40B4-BE49-F238E27FC236}">
                <a16:creationId xmlns:a16="http://schemas.microsoft.com/office/drawing/2014/main" id="{50F4D55D-BFF8-99A4-D8DC-2BE93ADF2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05" y="4374023"/>
            <a:ext cx="3529589" cy="18029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5141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D4F1E-A90F-9094-3366-E10BDD2D6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4E97-3DA0-3342-18F3-B7C0FEAA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5D5D9-3207-AD4D-5188-E047D1BE0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Vamos parar e refletir um pouco sobre </a:t>
            </a:r>
            <a:r>
              <a:rPr lang="pt-BR" i="1" dirty="0"/>
              <a:t>Self </a:t>
            </a:r>
            <a:r>
              <a:rPr lang="pt-BR" i="1" dirty="0" err="1"/>
              <a:t>Attention</a:t>
            </a:r>
            <a:endParaRPr lang="pt-BR" i="1" dirty="0"/>
          </a:p>
          <a:p>
            <a:pPr lvl="1"/>
            <a:r>
              <a:rPr lang="pt-BR" dirty="0"/>
              <a:t>Consegue pensar em alguma desvantagem em relação as RNN?</a:t>
            </a:r>
          </a:p>
          <a:p>
            <a:pPr lvl="2"/>
            <a:r>
              <a:rPr lang="pt-BR" dirty="0"/>
              <a:t>Da forma como está agora não tem informação sobre a posição da palavra na frase</a:t>
            </a:r>
          </a:p>
          <a:p>
            <a:pPr lvl="2"/>
            <a:endParaRPr lang="pt-BR" dirty="0"/>
          </a:p>
          <a:p>
            <a:pPr lvl="1"/>
            <a:r>
              <a:rPr lang="pt-BR" dirty="0"/>
              <a:t>Precisamos adaptar os </a:t>
            </a:r>
            <a:r>
              <a:rPr lang="pt-BR" i="1" dirty="0" err="1"/>
              <a:t>embeddings</a:t>
            </a:r>
            <a:r>
              <a:rPr lang="pt-BR" dirty="0"/>
              <a:t> para que levem informações sobre a posição do </a:t>
            </a:r>
            <a:r>
              <a:rPr lang="pt-BR" i="1" dirty="0"/>
              <a:t>token</a:t>
            </a:r>
            <a:r>
              <a:rPr lang="pt-BR" dirty="0"/>
              <a:t> na sequência</a:t>
            </a:r>
          </a:p>
          <a:p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51D2F-44F4-D520-0C08-2C6259AB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E6AF0-DA65-4AAF-B1B6-D34C9150970C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22946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17525</TotalTime>
  <Words>5055</Words>
  <Application>Microsoft Office PowerPoint</Application>
  <PresentationFormat>Widescreen</PresentationFormat>
  <Paragraphs>2222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8" baseType="lpstr">
      <vt:lpstr>-apple-system</vt:lpstr>
      <vt:lpstr>Arial</vt:lpstr>
      <vt:lpstr>Calibri</vt:lpstr>
      <vt:lpstr>Calibri Light</vt:lpstr>
      <vt:lpstr>Cambria Math</vt:lpstr>
      <vt:lpstr>Consolas</vt:lpstr>
      <vt:lpstr>Wingdings</vt:lpstr>
      <vt:lpstr>Tema do Office</vt:lpstr>
      <vt:lpstr>Aprendizado Profundo</vt:lpstr>
      <vt:lpstr>Conteúdo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Attention</vt:lpstr>
      <vt:lpstr>Dot Product Attention</vt:lpstr>
      <vt:lpstr>Dot Product Attention</vt:lpstr>
      <vt:lpstr>Dot Product Attention</vt:lpstr>
      <vt:lpstr>Dot Product Attention</vt:lpstr>
      <vt:lpstr>Dot Product Attention</vt:lpstr>
      <vt:lpstr>Dot Product Attention</vt:lpstr>
      <vt:lpstr>Dot Product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  <vt:lpstr>Self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Aprendizado de Máquina Turma 010 - 2021/2</dc:title>
  <dc:creator>Lucas Silveira Kupssinsku</dc:creator>
  <cp:lastModifiedBy>Lucas Silveira Kupssinsku</cp:lastModifiedBy>
  <cp:revision>203</cp:revision>
  <dcterms:created xsi:type="dcterms:W3CDTF">2021-08-01T11:35:46Z</dcterms:created>
  <dcterms:modified xsi:type="dcterms:W3CDTF">2024-03-01T16:35:43Z</dcterms:modified>
</cp:coreProperties>
</file>