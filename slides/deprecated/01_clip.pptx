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97" r:id="rId3"/>
    <p:sldId id="298" r:id="rId4"/>
    <p:sldId id="300" r:id="rId5"/>
    <p:sldId id="299" r:id="rId6"/>
    <p:sldId id="301" r:id="rId7"/>
    <p:sldId id="302" r:id="rId8"/>
    <p:sldId id="305" r:id="rId9"/>
    <p:sldId id="303" r:id="rId10"/>
    <p:sldId id="304" r:id="rId11"/>
    <p:sldId id="308" r:id="rId12"/>
    <p:sldId id="309" r:id="rId13"/>
    <p:sldId id="311" r:id="rId14"/>
    <p:sldId id="310" r:id="rId15"/>
    <p:sldId id="313" r:id="rId16"/>
    <p:sldId id="312" r:id="rId17"/>
    <p:sldId id="306" r:id="rId18"/>
    <p:sldId id="307" r:id="rId19"/>
    <p:sldId id="296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C39BE1"/>
    <a:srgbClr val="FFB9FF"/>
    <a:srgbClr val="FF00FF"/>
    <a:srgbClr val="FF9B9B"/>
    <a:srgbClr val="FFFFDD"/>
    <a:srgbClr val="245A8C"/>
    <a:srgbClr val="DAE9F6"/>
    <a:srgbClr val="9BC2E5"/>
    <a:srgbClr val="428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DBEC8-B7CD-4879-87AE-64AF7BD7DF30}" type="datetimeFigureOut">
              <a:rPr lang="pt-BR" smtClean="0"/>
              <a:t>30/04/2024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50156-6885-4B39-8E78-85D0C1AED0F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15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36A27-9130-4759-A47A-23D3EAB30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1A88DD-808F-4F8D-84A5-3916FE3D8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AD0587-6BA5-4755-A254-BA8BAB6A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3EE8-82C7-4BB9-8AE0-A839B9F0439B}" type="datetime1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54C2AD-8133-48B1-A30D-493AEB54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85C79A-F85A-4516-A45F-AA8BEF57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69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6CC7B-9026-47F0-A53D-971D687F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79AE47-E774-440E-BB95-261546E48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D0AA4-83FF-4C0C-8613-B3D0E937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079A-94C2-45A1-88AB-6250F7D03304}" type="datetime1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984507-0CE8-4D65-8720-EE422B95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CF4AD-DDBF-4D80-A019-F4FEC8F4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77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7D888-DBC5-4160-A401-DF4296CF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41015C-6433-4AA1-82DC-E038C8C7C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375D2A-D6E9-4EA5-9A79-B0200907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87A7-29BF-49EF-AFD5-EA48A803025A}" type="datetime1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B65A21-5BD0-48CC-9633-CD3EBDDB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8FF30-0E8C-4739-A740-930FD7CE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58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98A0D-47CA-4BF5-8A53-03DEDDB1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6693E7-97F4-43B7-A4A2-B26156714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A5FED8-E805-40F8-AED2-2B37F607D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2B54B3-3070-46A9-BB16-347D6E91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B6DB7-59BC-4CD2-BD08-E2943D1EF069}" type="datetime1">
              <a:rPr lang="pt-BR" smtClean="0"/>
              <a:t>30/04/2024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695434-EDA8-4C3C-8BF0-E097E53C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483E8E-C241-4C26-AD63-8E114572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41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86158-79AD-47BA-94A0-7B5C1B2F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F05BE3-8146-47FD-B959-DE98B68C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A55466-A0D9-4326-8C0B-11D9ECB99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8DD07B-B6ED-4D98-9C41-AB40AAD2E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0E32ED-0580-4733-8A15-EF1A54EE7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B57CC4-6BEE-4C56-B5A7-8348FFBA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93418-6918-484A-8421-0D025D0D8A67}" type="datetime1">
              <a:rPr lang="pt-BR" smtClean="0"/>
              <a:t>30/04/2024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8A9786-CC6C-453F-88B8-EDE8FEEE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ACE4B8-7B8A-4602-8AC9-3F4E66D7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03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1E33F-43CC-4BCB-A00F-C169AF13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9A7E1A-8845-4FE6-ADDC-740512EC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CAA2-036D-405F-9538-4B646274D645}" type="datetime1">
              <a:rPr lang="pt-BR" smtClean="0"/>
              <a:t>30/04/2024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5CA399-4971-4420-B53F-37EB8ACF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B00EC4-0A80-464E-9415-C3F96738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7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EE76B2-7187-484D-B134-A77D8B30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13415-C3D3-416A-BA17-3FEFA32702EE}" type="datetime1">
              <a:rPr lang="pt-BR" smtClean="0"/>
              <a:t>30/04/2024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38519-4661-42E6-A172-40EEF015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D207DA-461C-448E-83A6-5E42627C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1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9BC73-075F-4C57-B083-A2A53A76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53C72F-F7F4-4065-B66E-03AF5711E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830101-D942-46FF-BA69-E5E55509A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5132C4-FE9A-407F-A499-CB1C142D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4281-F446-41F4-852D-AF0C5F0FB8E5}" type="datetime1">
              <a:rPr lang="pt-BR" smtClean="0"/>
              <a:t>30/04/2024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C6E7AD-95AD-4059-AE42-AA92FD2F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15626A-7012-4235-A6D7-A1A75234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65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42BC7-D688-430F-A256-18657B5F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3CB283-3B59-4BAD-87DF-1422F776B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3F9CF2-5A0D-4F0C-9FD8-7DB051EB0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76D9E3-8099-4187-BE37-EBC90D53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ACD1-8F4F-450B-9F25-92B5A7643D6C}" type="datetime1">
              <a:rPr lang="pt-BR" smtClean="0"/>
              <a:t>30/04/2024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FBBD30-A1E3-4861-9D26-E9EED18B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C0BD16-792A-45CC-8B4D-E0A7A883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215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3F8C5-185D-49E1-A53C-2E55BD5A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D78D96-867E-469F-983A-80ACE3023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86A972-7A5F-4745-BB5E-7D0DDADC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5C635-A7DF-42C1-A820-15BA95751108}" type="datetime1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C18A6-57BF-49F1-97EA-7F9ACD0B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FE4627-EAD2-4008-B1FA-614849F5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79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E7A39B-F7E2-4A69-942C-6AEFE2C7B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298851-909A-4BB7-9514-2A3766F2D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06C408-EEE6-4851-8B3F-CBF1451B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CA80-3A23-4BED-BFDD-EC237E1C9920}" type="datetime1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E5DE8C-E893-46D9-9054-DB6F88FD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22E16A-56BB-4B7D-8AA6-C3A5B376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38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1A29FE-D65E-4440-A657-262577AA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67D270-2A8A-433A-93D9-8D998D06B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C1113-45B0-4701-87FE-8C670E000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95C9C-EC44-4A90-8C72-29D4E173E628}" type="datetime1">
              <a:rPr lang="pt-BR" smtClean="0"/>
              <a:t>30/04/2024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72D9F7-AA55-448C-B21A-88D367431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BF8157-6D2F-4A31-942D-5AE190A4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40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cobmarks/awesome-clip-paper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4B37C-3C8E-4FDE-9CD8-8FDBB9948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212529"/>
                </a:solidFill>
                <a:effectLst/>
                <a:latin typeface="-apple-system"/>
              </a:rPr>
              <a:t>Aprendizado Profundo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46BC0D-1C18-420A-8181-4599D8380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Modelos Multimodais - CLIP</a:t>
            </a:r>
          </a:p>
          <a:p>
            <a:r>
              <a:rPr lang="pt-BR" dirty="0"/>
              <a:t>Professor: Lucas Silveira Kupssinskü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5EE3B-E0A9-0563-6E9A-DC0A22FB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0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3FA4F-4FA7-66F7-7386-F5888165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018EA-A6A5-D1CE-9338-8AB38E619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Contexto</a:t>
            </a:r>
          </a:p>
          <a:p>
            <a:r>
              <a:rPr lang="pt-BR" dirty="0"/>
              <a:t>CLIP</a:t>
            </a:r>
          </a:p>
          <a:p>
            <a:pPr lvl="1"/>
            <a:r>
              <a:rPr lang="pt-BR" dirty="0"/>
              <a:t>Múltiplas modalidades</a:t>
            </a:r>
          </a:p>
          <a:p>
            <a:pPr lvl="1"/>
            <a:r>
              <a:rPr lang="pt-BR" dirty="0"/>
              <a:t>Diferentes </a:t>
            </a:r>
            <a:r>
              <a:rPr lang="pt-BR" dirty="0" err="1"/>
              <a:t>Backends</a:t>
            </a:r>
            <a:endParaRPr lang="pt-BR" dirty="0"/>
          </a:p>
          <a:p>
            <a:pPr lvl="1"/>
            <a:r>
              <a:rPr lang="pt-BR" dirty="0"/>
              <a:t>Conjunto de Dados</a:t>
            </a:r>
          </a:p>
          <a:p>
            <a:pPr lvl="1"/>
            <a:r>
              <a:rPr lang="pt-BR" dirty="0"/>
              <a:t>Função de Custo</a:t>
            </a:r>
          </a:p>
          <a:p>
            <a:r>
              <a:rPr lang="pt-BR" dirty="0"/>
              <a:t>Tarefas</a:t>
            </a:r>
          </a:p>
          <a:p>
            <a:r>
              <a:rPr lang="pt-BR" dirty="0"/>
              <a:t>Limitações </a:t>
            </a:r>
          </a:p>
          <a:p>
            <a:pPr lvl="1"/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26904-279B-260C-C6FE-2DABA0005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1606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5196-FA0E-C4A2-AA60-9D9BD600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D34B2-F835-6C79-7B45-E47E680F1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Uso de </a:t>
            </a:r>
            <a:r>
              <a:rPr lang="pt-BR" dirty="0" err="1"/>
              <a:t>Transfer</a:t>
            </a:r>
            <a:r>
              <a:rPr lang="pt-BR" dirty="0"/>
              <a:t> Learning para visão computacional já era uma realidade antes de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5E5A4-BD2C-F89D-979C-2722E67F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</a:t>
            </a:fld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C535C0-0C1F-20AE-2CCA-BC1EBA194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91" y="4111522"/>
            <a:ext cx="3620655" cy="2306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62ECE70-02C7-A938-E174-D203EFBF5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788" y="4954183"/>
            <a:ext cx="6117070" cy="1648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0DA4ADF-2506-FCB2-FE5E-33E56EF16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6" y="2619497"/>
            <a:ext cx="60960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EC58100-36A4-4EEA-1F89-B346DB154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417" y="2781744"/>
            <a:ext cx="5142057" cy="2056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54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5196-FA0E-C4A2-AA60-9D9BD600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D34B2-F835-6C79-7B45-E47E680F1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Ideia típica era reaproveitar as camadas </a:t>
            </a:r>
            <a:r>
              <a:rPr lang="pt-BR" dirty="0" err="1"/>
              <a:t>convolucionais</a:t>
            </a:r>
            <a:r>
              <a:rPr lang="pt-BR" dirty="0"/>
              <a:t> e treinar apenas o classificador no final da rede</a:t>
            </a:r>
          </a:p>
          <a:p>
            <a:pPr lvl="1"/>
            <a:r>
              <a:rPr lang="pt-BR" dirty="0"/>
              <a:t>Ou fazer um treinamento de mais camadas com uma taxa de aprendizado pequena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5E5A4-BD2C-F89D-979C-2722E67F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</a:t>
            </a:fld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C535C0-0C1F-20AE-2CCA-BC1EBA194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592" y="3609604"/>
            <a:ext cx="4883907" cy="3111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18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5196-FA0E-C4A2-AA60-9D9BD600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D34B2-F835-6C79-7B45-E47E680F1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Visão Computacional </a:t>
            </a:r>
            <a:r>
              <a:rPr lang="pt-BR" dirty="0" err="1"/>
              <a:t>vs</a:t>
            </a:r>
            <a:r>
              <a:rPr lang="pt-BR" dirty="0"/>
              <a:t> PLN</a:t>
            </a:r>
          </a:p>
          <a:p>
            <a:pPr lvl="1"/>
            <a:r>
              <a:rPr lang="pt-BR" dirty="0"/>
              <a:t>Enquanto PLN já estava se beneficiando do uso de </a:t>
            </a:r>
            <a:r>
              <a:rPr lang="pt-BR" dirty="0" err="1"/>
              <a:t>datasets</a:t>
            </a:r>
            <a:r>
              <a:rPr lang="pt-BR" dirty="0"/>
              <a:t> imensos em um setup de treinamento </a:t>
            </a:r>
            <a:r>
              <a:rPr lang="pt-BR" dirty="0" err="1"/>
              <a:t>auto-supervisionado</a:t>
            </a:r>
            <a:r>
              <a:rPr lang="pt-BR" dirty="0"/>
              <a:t>, a visão computacional ainda dependia de pré-treino em grandes conjuntos de dados manualmente anotados</a:t>
            </a:r>
          </a:p>
          <a:p>
            <a:pPr lvl="1"/>
            <a:r>
              <a:rPr lang="pt-BR" dirty="0"/>
              <a:t>O desafio é tentar criar uma forma de utilizar dados coletados da web em um processo de pré-treino sem necessidade de supervisão</a:t>
            </a:r>
          </a:p>
          <a:p>
            <a:pPr lvl="1"/>
            <a:r>
              <a:rPr lang="pt-BR" dirty="0"/>
              <a:t>Que favoreça Zero-shot para classes não conhecidas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5E5A4-BD2C-F89D-979C-2722E67F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372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A876-97EF-B655-5053-D22E1D719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Contrastive</a:t>
            </a:r>
            <a:r>
              <a:rPr lang="pt-BR" dirty="0"/>
              <a:t> </a:t>
            </a:r>
            <a:r>
              <a:rPr lang="pt-BR" dirty="0" err="1"/>
              <a:t>Language-Image</a:t>
            </a:r>
            <a:r>
              <a:rPr lang="pt-BR" dirty="0"/>
              <a:t> </a:t>
            </a:r>
            <a:r>
              <a:rPr lang="pt-BR" dirty="0" err="1"/>
              <a:t>Pre</a:t>
            </a:r>
            <a:r>
              <a:rPr lang="pt-BR" dirty="0"/>
              <a:t>-training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EAE15-BD8F-2B4E-743C-01EEFA61A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Ao invés de fazer uma classificação em um conjunto de classes pré-definidas </a:t>
            </a:r>
          </a:p>
          <a:p>
            <a:r>
              <a:rPr lang="pt-BR" sz="2400" dirty="0"/>
              <a:t>Vamos pegar um par (imagem, descrição) e aproximar os </a:t>
            </a:r>
            <a:r>
              <a:rPr lang="pt-BR" sz="2400" dirty="0" err="1"/>
              <a:t>embeddings</a:t>
            </a:r>
            <a:r>
              <a:rPr lang="pt-BR" sz="2400" dirty="0"/>
              <a:t> de cada uma das modalidades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112B3-C309-8144-EAB3-A2B73CDC0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</a:t>
            </a:fld>
            <a:endParaRPr lang="pt-BR" dirty="0"/>
          </a:p>
        </p:txBody>
      </p:sp>
      <p:pic>
        <p:nvPicPr>
          <p:cNvPr id="2050" name="Picture 2" descr="8 curiosidades incríveis sobre a raça shih-tzu que muita gente não sabe">
            <a:extLst>
              <a:ext uri="{FF2B5EF4-FFF2-40B4-BE49-F238E27FC236}">
                <a16:creationId xmlns:a16="http://schemas.microsoft.com/office/drawing/2014/main" id="{D52EE096-B077-E0F8-E4DC-9328CB919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94" t="11043" r="27451" b="7315"/>
          <a:stretch/>
        </p:blipFill>
        <p:spPr bwMode="auto">
          <a:xfrm>
            <a:off x="1151179" y="3506280"/>
            <a:ext cx="2568801" cy="2384648"/>
          </a:xfrm>
          <a:prstGeom prst="rect">
            <a:avLst/>
          </a:prstGeom>
          <a:noFill/>
          <a:ln w="762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7EE7E6-2F76-835F-BA38-07325FDC415E}"/>
              </a:ext>
            </a:extLst>
          </p:cNvPr>
          <p:cNvSpPr txBox="1"/>
          <p:nvPr/>
        </p:nvSpPr>
        <p:spPr>
          <a:xfrm>
            <a:off x="4142153" y="5478968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B0F0"/>
                </a:solidFill>
              </a:rPr>
              <a:t>Um lobo feroz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E6ACF-8451-D088-DDC3-0E024D72A54C}"/>
              </a:ext>
            </a:extLst>
          </p:cNvPr>
          <p:cNvSpPr txBox="1"/>
          <p:nvPr/>
        </p:nvSpPr>
        <p:spPr>
          <a:xfrm>
            <a:off x="4142153" y="3398490"/>
            <a:ext cx="2900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FF0000"/>
                </a:solidFill>
              </a:rPr>
              <a:t>Um cachorrinho fofo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DA2C70-1EB3-773E-7D0C-9B3D836CF988}"/>
              </a:ext>
            </a:extLst>
          </p:cNvPr>
          <p:cNvGrpSpPr/>
          <p:nvPr/>
        </p:nvGrpSpPr>
        <p:grpSpPr>
          <a:xfrm>
            <a:off x="7616695" y="3506280"/>
            <a:ext cx="3183397" cy="2571580"/>
            <a:chOff x="8183418" y="4507345"/>
            <a:chExt cx="2120053" cy="17126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AAA07FB-8522-27E3-16A0-16ECB42C5EFE}"/>
                </a:ext>
              </a:extLst>
            </p:cNvPr>
            <p:cNvCxnSpPr>
              <a:cxnSpLocks/>
            </p:cNvCxnSpPr>
            <p:nvPr/>
          </p:nvCxnSpPr>
          <p:spPr>
            <a:xfrm>
              <a:off x="8183418" y="6029607"/>
              <a:ext cx="19950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683FF1-D093-B628-6360-36BA4A2362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3409" y="4507345"/>
              <a:ext cx="0" cy="1712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48FB8D7-8C93-A70B-C0F0-9984A9CC7E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3409" y="4668414"/>
              <a:ext cx="1090062" cy="1361193"/>
            </a:xfrm>
            <a:prstGeom prst="line">
              <a:avLst/>
            </a:prstGeom>
            <a:ln w="28575">
              <a:solidFill>
                <a:srgbClr val="00B05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7ECCC23-C09C-B5D5-D6A2-BA5D825C0A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20975" y="5301399"/>
              <a:ext cx="835753" cy="749699"/>
            </a:xfrm>
            <a:prstGeom prst="line">
              <a:avLst/>
            </a:prstGeom>
            <a:ln w="28575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F4C87DE-697A-BBB8-C39A-E5EFEA8135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82502" y="5047217"/>
              <a:ext cx="340142" cy="1030968"/>
            </a:xfrm>
            <a:prstGeom prst="line">
              <a:avLst/>
            </a:prstGeom>
            <a:ln w="28575">
              <a:solidFill>
                <a:srgbClr val="00B0F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5321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1FD9-AE6C-3E0C-9C5F-468D1EC57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CLIP – </a:t>
            </a:r>
            <a:r>
              <a:rPr lang="pt-BR" i="1" dirty="0" err="1"/>
              <a:t>Contrastive</a:t>
            </a:r>
            <a:r>
              <a:rPr lang="pt-BR" i="1" dirty="0"/>
              <a:t> Learning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98360F-7DB5-C50E-86C8-293AB59FD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0456" y="1416429"/>
            <a:ext cx="7692469" cy="507644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A0D87-D32B-6091-3CA7-7935940A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</a:t>
            </a:fld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65F99-3FA6-1D9E-62FF-2B56F17575FA}"/>
              </a:ext>
            </a:extLst>
          </p:cNvPr>
          <p:cNvSpPr txBox="1"/>
          <p:nvPr/>
        </p:nvSpPr>
        <p:spPr>
          <a:xfrm>
            <a:off x="219075" y="1905000"/>
            <a:ext cx="42042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O CLIP é formado um </a:t>
            </a:r>
            <a:r>
              <a:rPr lang="pt-BR" sz="2400" i="1" dirty="0" err="1">
                <a:solidFill>
                  <a:srgbClr val="FF0000"/>
                </a:solidFill>
              </a:rPr>
              <a:t>encoder</a:t>
            </a:r>
            <a:r>
              <a:rPr lang="pt-BR" sz="2400" dirty="0">
                <a:solidFill>
                  <a:srgbClr val="FF0000"/>
                </a:solidFill>
              </a:rPr>
              <a:t> de texto </a:t>
            </a:r>
            <a:r>
              <a:rPr lang="pt-BR" sz="2400" dirty="0"/>
              <a:t>e um </a:t>
            </a:r>
            <a:r>
              <a:rPr lang="pt-BR" sz="2400" i="1" dirty="0" err="1">
                <a:solidFill>
                  <a:srgbClr val="FF0000"/>
                </a:solidFill>
              </a:rPr>
              <a:t>encoder</a:t>
            </a:r>
            <a:r>
              <a:rPr lang="pt-BR" sz="2400" dirty="0">
                <a:solidFill>
                  <a:srgbClr val="FF0000"/>
                </a:solidFill>
              </a:rPr>
              <a:t> de imagem </a:t>
            </a:r>
            <a:r>
              <a:rPr lang="pt-BR" sz="2400" dirty="0"/>
              <a:t>que são treinados simultaneamente com objetivo de ter </a:t>
            </a:r>
            <a:r>
              <a:rPr lang="pt-BR" sz="2400" i="1" dirty="0" err="1">
                <a:solidFill>
                  <a:srgbClr val="00B0F0"/>
                </a:solidFill>
              </a:rPr>
              <a:t>embeddings</a:t>
            </a:r>
            <a:r>
              <a:rPr lang="pt-BR" sz="2400" dirty="0">
                <a:solidFill>
                  <a:srgbClr val="00B0F0"/>
                </a:solidFill>
              </a:rPr>
              <a:t> similares</a:t>
            </a:r>
          </a:p>
        </p:txBody>
      </p:sp>
    </p:spTree>
    <p:extLst>
      <p:ext uri="{BB962C8B-B14F-4D97-AF65-F5344CB8AC3E}">
        <p14:creationId xmlns:p14="http://schemas.microsoft.com/office/powerpoint/2010/main" val="3757921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1FD9-AE6C-3E0C-9C5F-468D1EC57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CLIP – </a:t>
            </a:r>
            <a:r>
              <a:rPr lang="pt-BR" i="1" dirty="0" err="1"/>
              <a:t>Contrastive</a:t>
            </a:r>
            <a:r>
              <a:rPr lang="pt-BR" i="1" dirty="0"/>
              <a:t> Learning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98360F-7DB5-C50E-86C8-293AB59FD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0456" y="1416429"/>
            <a:ext cx="7692469" cy="507644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A0D87-D32B-6091-3CA7-7935940A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8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865F99-3FA6-1D9E-62FF-2B56F17575FA}"/>
                  </a:ext>
                </a:extLst>
              </p:cNvPr>
              <p:cNvSpPr txBox="1"/>
              <p:nvPr/>
            </p:nvSpPr>
            <p:spPr>
              <a:xfrm>
                <a:off x="219075" y="1905000"/>
                <a:ext cx="4204256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Computamos a similaridade do cosseno entre </a:t>
                </a:r>
                <a:r>
                  <a:rPr lang="pt-BR" sz="2400" i="1" dirty="0" err="1"/>
                  <a:t>embeddings</a:t>
                </a:r>
                <a:r>
                  <a:rPr lang="pt-BR" sz="2400" dirty="0"/>
                  <a:t> de texto e </a:t>
                </a:r>
                <a:r>
                  <a:rPr lang="pt-BR" sz="2400" i="1" dirty="0" err="1"/>
                  <a:t>embeddings</a:t>
                </a:r>
                <a:r>
                  <a:rPr lang="pt-BR" sz="2400" dirty="0"/>
                  <a:t> de imagem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Em um </a:t>
                </a:r>
                <a:r>
                  <a:rPr lang="pt-BR" sz="2400" i="1" dirty="0"/>
                  <a:t>batch</a:t>
                </a:r>
                <a:r>
                  <a:rPr lang="pt-BR" sz="2400" dirty="0"/>
                  <a:t> de tamanho N</a:t>
                </a:r>
                <a:r>
                  <a:rPr lang="pt-BR" sz="2400" dirty="0">
                    <a:solidFill>
                      <a:srgbClr val="00B0F0"/>
                    </a:solidFill>
                  </a:rPr>
                  <a:t> </a:t>
                </a:r>
                <a:r>
                  <a:rPr lang="pt-BR" sz="2400" dirty="0"/>
                  <a:t>vão existir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400" dirty="0"/>
                  <a:t> pares positivos para treinamento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400" dirty="0"/>
                  <a:t> pares negativos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6865F99-3FA6-1D9E-62FF-2B56F1757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5" y="1905000"/>
                <a:ext cx="4204256" cy="3046988"/>
              </a:xfrm>
              <a:prstGeom prst="rect">
                <a:avLst/>
              </a:prstGeom>
              <a:blipFill>
                <a:blip r:embed="rId3"/>
                <a:stretch>
                  <a:fillRect l="-2029" t="-1603" b="-36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74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1FD9-AE6C-3E0C-9C5F-468D1EC57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A0D87-D32B-6091-3CA7-7935940A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9</a:t>
            </a:fld>
            <a:endParaRPr lang="pt-BR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E0EF746-843F-8692-EC5A-603545EBE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4065" y="56922"/>
            <a:ext cx="7432102" cy="6801077"/>
          </a:xfrm>
        </p:spPr>
      </p:pic>
    </p:spTree>
    <p:extLst>
      <p:ext uri="{BB962C8B-B14F-4D97-AF65-F5344CB8AC3E}">
        <p14:creationId xmlns:p14="http://schemas.microsoft.com/office/powerpoint/2010/main" val="2565710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1FD9-AE6C-3E0C-9C5F-468D1EC57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CLIP – </a:t>
            </a:r>
            <a:r>
              <a:rPr lang="pt-BR" i="1" dirty="0" err="1"/>
              <a:t>Contrastive</a:t>
            </a:r>
            <a:r>
              <a:rPr lang="pt-BR" i="1" dirty="0"/>
              <a:t>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A0D87-D32B-6091-3CA7-7935940A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10</a:t>
            </a:fld>
            <a:endParaRPr lang="pt-BR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71E7FEE-77AA-42E5-FD65-A5A08FEC1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796" y="1640268"/>
            <a:ext cx="7286408" cy="5217732"/>
          </a:xfrm>
        </p:spPr>
      </p:pic>
    </p:spTree>
    <p:extLst>
      <p:ext uri="{BB962C8B-B14F-4D97-AF65-F5344CB8AC3E}">
        <p14:creationId xmlns:p14="http://schemas.microsoft.com/office/powerpoint/2010/main" val="1707916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D98F-D240-2719-FA0A-E1282F32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CLIP – </a:t>
            </a:r>
            <a:r>
              <a:rPr lang="pt-BR" dirty="0" err="1"/>
              <a:t>Dataset</a:t>
            </a:r>
            <a:r>
              <a:rPr lang="pt-BR" dirty="0"/>
              <a:t> e Treinamento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B29E9-F443-8747-6673-E1E068FE3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err="1"/>
              <a:t>Dataset</a:t>
            </a:r>
            <a:r>
              <a:rPr lang="pt-BR" sz="2400" dirty="0"/>
              <a:t> fechado de 500M de pares (imagem, descrição)</a:t>
            </a:r>
          </a:p>
          <a:p>
            <a:r>
              <a:rPr lang="pt-BR" sz="2400" dirty="0" err="1"/>
              <a:t>Hiperparâmetros</a:t>
            </a:r>
            <a:r>
              <a:rPr lang="pt-BR" sz="2400" dirty="0"/>
              <a:t> definidos com “</a:t>
            </a:r>
            <a:r>
              <a:rPr lang="pt-BR" sz="2400" i="1" dirty="0"/>
              <a:t>uma mistura de</a:t>
            </a:r>
            <a:r>
              <a:rPr lang="pt-BR" sz="2400" dirty="0"/>
              <a:t>” </a:t>
            </a:r>
            <a:r>
              <a:rPr lang="pt-BR" sz="2400" i="1" dirty="0"/>
              <a:t>Grid Search</a:t>
            </a:r>
            <a:r>
              <a:rPr lang="pt-BR" sz="2400" dirty="0"/>
              <a:t>, </a:t>
            </a:r>
            <a:r>
              <a:rPr lang="pt-BR" sz="2400" i="1" dirty="0"/>
              <a:t>Random Search</a:t>
            </a:r>
            <a:r>
              <a:rPr lang="pt-BR" sz="2400" dirty="0"/>
              <a:t> e </a:t>
            </a:r>
            <a:r>
              <a:rPr lang="pt-BR" sz="2400" i="1" dirty="0"/>
              <a:t>Manual </a:t>
            </a:r>
            <a:r>
              <a:rPr lang="pt-BR" sz="2400" i="1" dirty="0" err="1"/>
              <a:t>Tuning</a:t>
            </a:r>
            <a:r>
              <a:rPr lang="pt-BR" sz="2400" i="1" dirty="0"/>
              <a:t> </a:t>
            </a:r>
            <a:r>
              <a:rPr lang="pt-BR" sz="2400" dirty="0"/>
              <a:t> na primeira época de treinamento</a:t>
            </a:r>
          </a:p>
          <a:p>
            <a:pPr lvl="1"/>
            <a:r>
              <a:rPr lang="pt-BR" sz="2000" dirty="0"/>
              <a:t>Treinamento </a:t>
            </a:r>
          </a:p>
          <a:p>
            <a:pPr lvl="2"/>
            <a:r>
              <a:rPr lang="pt-BR" sz="1800" dirty="0"/>
              <a:t>Com </a:t>
            </a:r>
            <a:r>
              <a:rPr lang="pt-BR" sz="1800" dirty="0" err="1"/>
              <a:t>backend</a:t>
            </a:r>
            <a:r>
              <a:rPr lang="pt-BR" sz="1800" dirty="0"/>
              <a:t> </a:t>
            </a:r>
            <a:r>
              <a:rPr lang="pt-BR" sz="1800" dirty="0" err="1"/>
              <a:t>ResNet</a:t>
            </a:r>
            <a:r>
              <a:rPr lang="pt-BR" sz="1800" dirty="0"/>
              <a:t> durou 18 dias em 592 </a:t>
            </a:r>
            <a:r>
              <a:rPr lang="pt-BR" sz="1800" dirty="0" err="1"/>
              <a:t>GPUs</a:t>
            </a:r>
            <a:r>
              <a:rPr lang="pt-BR" sz="1800" dirty="0"/>
              <a:t> V100</a:t>
            </a:r>
          </a:p>
          <a:p>
            <a:pPr lvl="2"/>
            <a:r>
              <a:rPr lang="pt-BR" sz="1800" dirty="0"/>
              <a:t>Com </a:t>
            </a:r>
            <a:r>
              <a:rPr lang="pt-BR" sz="1800" dirty="0" err="1"/>
              <a:t>backend</a:t>
            </a:r>
            <a:r>
              <a:rPr lang="pt-BR" sz="1800" dirty="0"/>
              <a:t> </a:t>
            </a:r>
            <a:r>
              <a:rPr lang="pt-BR" sz="1800" dirty="0" err="1"/>
              <a:t>ViT</a:t>
            </a:r>
            <a:r>
              <a:rPr lang="pt-BR" sz="1800" dirty="0"/>
              <a:t>-L/14 durou 12 dias em 256 </a:t>
            </a:r>
            <a:r>
              <a:rPr lang="pt-BR" sz="1800" dirty="0" err="1"/>
              <a:t>GPUs</a:t>
            </a:r>
            <a:r>
              <a:rPr lang="pt-BR" sz="1800" dirty="0"/>
              <a:t> V100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DF5FF-AB2B-9CF6-B6FE-58642314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11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7C1369-261F-CD55-E86F-3E9897277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32" y="4562762"/>
            <a:ext cx="3513334" cy="20550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1AC0B6-E7AF-EE8C-EF93-46261939E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442" y="4164440"/>
            <a:ext cx="4977577" cy="266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092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8BAC-17FE-50C0-7FD4-70660E4A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CLIP – Linear </a:t>
            </a:r>
            <a:r>
              <a:rPr lang="pt-BR" dirty="0" err="1"/>
              <a:t>Probe</a:t>
            </a:r>
            <a:r>
              <a:rPr lang="pt-BR" dirty="0"/>
              <a:t> </a:t>
            </a:r>
            <a:r>
              <a:rPr lang="pt-BR" dirty="0" err="1"/>
              <a:t>Evaluation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17B61-4CB8-255B-63E0-2CB8498F5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00453" cy="4351338"/>
          </a:xfrm>
        </p:spPr>
        <p:txBody>
          <a:bodyPr/>
          <a:lstStyle/>
          <a:p>
            <a:r>
              <a:rPr lang="pt-BR" dirty="0"/>
              <a:t>Para </a:t>
            </a:r>
            <a:r>
              <a:rPr lang="pt-BR" dirty="0">
                <a:solidFill>
                  <a:srgbClr val="FF0000"/>
                </a:solidFill>
              </a:rPr>
              <a:t>avaliar a qualidade</a:t>
            </a:r>
            <a:r>
              <a:rPr lang="pt-BR" dirty="0"/>
              <a:t> dos </a:t>
            </a:r>
            <a:r>
              <a:rPr lang="pt-BR" i="1" dirty="0" err="1"/>
              <a:t>embeddings</a:t>
            </a:r>
            <a:r>
              <a:rPr lang="pt-BR" dirty="0"/>
              <a:t> utilizou-se um processo de </a:t>
            </a:r>
            <a:r>
              <a:rPr lang="pt-BR" i="1" dirty="0"/>
              <a:t>Linear </a:t>
            </a:r>
            <a:r>
              <a:rPr lang="pt-BR" i="1" dirty="0" err="1"/>
              <a:t>Probe</a:t>
            </a:r>
            <a:endParaRPr lang="pt-BR" i="1" dirty="0"/>
          </a:p>
          <a:p>
            <a:pPr lvl="1"/>
            <a:r>
              <a:rPr lang="pt-BR" dirty="0"/>
              <a:t>Treinar uma </a:t>
            </a:r>
            <a:r>
              <a:rPr lang="pt-BR" dirty="0">
                <a:solidFill>
                  <a:srgbClr val="00B0F0"/>
                </a:solidFill>
              </a:rPr>
              <a:t>Regressão Logística</a:t>
            </a:r>
            <a:r>
              <a:rPr lang="pt-BR" dirty="0"/>
              <a:t> usando os </a:t>
            </a:r>
            <a:r>
              <a:rPr lang="pt-BR" i="1" dirty="0" err="1"/>
              <a:t>embeddings</a:t>
            </a:r>
            <a:r>
              <a:rPr lang="pt-BR" dirty="0"/>
              <a:t> gerados em diversos </a:t>
            </a:r>
            <a:r>
              <a:rPr lang="pt-BR" dirty="0" err="1"/>
              <a:t>datasets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BD15C-3618-AB83-0244-EDB52FFF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12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5ABE3F-BA21-121A-DCA3-8E1EC68B3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204" y="51547"/>
            <a:ext cx="3514024" cy="3328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7FE89B-EE28-B492-0163-683CCCE3D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13" y="3380396"/>
            <a:ext cx="11814773" cy="347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509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8BAC-17FE-50C0-7FD4-70660E4A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CLIP – Linear </a:t>
            </a:r>
            <a:r>
              <a:rPr lang="pt-BR" dirty="0" err="1"/>
              <a:t>Probe</a:t>
            </a:r>
            <a:r>
              <a:rPr lang="pt-BR" dirty="0"/>
              <a:t> </a:t>
            </a:r>
            <a:r>
              <a:rPr lang="pt-BR" dirty="0" err="1"/>
              <a:t>Evaluation</a:t>
            </a:r>
            <a:endParaRPr lang="pt-BR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6D01DE-AF0A-551B-238F-AE931325B9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6968"/>
          <a:stretch/>
        </p:blipFill>
        <p:spPr>
          <a:xfrm>
            <a:off x="2463936" y="1482095"/>
            <a:ext cx="4688744" cy="523938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BD15C-3618-AB83-0244-EDB52FFF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13</a:t>
            </a:fld>
            <a:endParaRPr lang="pt-BR"/>
          </a:p>
        </p:txBody>
      </p:sp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C4ECCE6F-BAAB-06C3-616B-B13F0BB6EA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558"/>
          <a:stretch/>
        </p:blipFill>
        <p:spPr>
          <a:xfrm>
            <a:off x="7383693" y="3362036"/>
            <a:ext cx="4631251" cy="90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934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3E86-7CAE-C232-542A-AEF3323B8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Usos do CLIP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BC137-7F92-7F60-7C47-426545ED5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i="1" dirty="0"/>
              <a:t>Zero-Shot </a:t>
            </a:r>
            <a:r>
              <a:rPr lang="pt-BR" sz="2400" i="1" dirty="0" err="1"/>
              <a:t>Classification</a:t>
            </a:r>
            <a:endParaRPr lang="pt-BR" sz="2400" i="1" dirty="0"/>
          </a:p>
          <a:p>
            <a:r>
              <a:rPr lang="pt-BR" sz="2400" i="1" dirty="0"/>
              <a:t>Fine </a:t>
            </a:r>
            <a:r>
              <a:rPr lang="pt-BR" sz="2400" i="1" dirty="0" err="1"/>
              <a:t>Tuning</a:t>
            </a:r>
            <a:r>
              <a:rPr lang="pt-BR" sz="2400" i="1" dirty="0"/>
              <a:t> </a:t>
            </a:r>
            <a:r>
              <a:rPr lang="pt-BR" sz="2400" i="1" dirty="0" err="1"/>
              <a:t>Classification</a:t>
            </a:r>
            <a:r>
              <a:rPr lang="pt-BR" sz="2400" dirty="0"/>
              <a:t>: basta adicionar um classificador nos </a:t>
            </a:r>
            <a:r>
              <a:rPr lang="pt-BR" sz="2400" i="1" dirty="0" err="1"/>
              <a:t>embeddings</a:t>
            </a:r>
            <a:r>
              <a:rPr lang="pt-BR" sz="2400" i="1" dirty="0"/>
              <a:t> </a:t>
            </a:r>
            <a:r>
              <a:rPr lang="pt-BR" sz="2400" dirty="0"/>
              <a:t>gerados e realizar fine </a:t>
            </a:r>
            <a:r>
              <a:rPr lang="pt-BR" sz="2400" dirty="0" err="1"/>
              <a:t>tuning</a:t>
            </a:r>
            <a:r>
              <a:rPr lang="pt-BR" sz="2400" dirty="0"/>
              <a:t> do classificador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A5813-FF19-3875-7D57-69913D3A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907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3E86-7CAE-C232-542A-AEF3323B8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Usos do CLIP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BC137-7F92-7F60-7C47-426545ED5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i="1" dirty="0"/>
              <a:t>Zero-Shot </a:t>
            </a:r>
            <a:r>
              <a:rPr lang="pt-BR" sz="2400" i="1" dirty="0" err="1"/>
              <a:t>Classification</a:t>
            </a:r>
            <a:endParaRPr lang="pt-BR" sz="2400" i="1" dirty="0"/>
          </a:p>
          <a:p>
            <a:r>
              <a:rPr lang="pt-BR" sz="2400" i="1" dirty="0"/>
              <a:t>Fine </a:t>
            </a:r>
            <a:r>
              <a:rPr lang="pt-BR" sz="2400" i="1" dirty="0" err="1"/>
              <a:t>Tuning</a:t>
            </a:r>
            <a:r>
              <a:rPr lang="pt-BR" sz="2400" i="1" dirty="0"/>
              <a:t> </a:t>
            </a:r>
            <a:r>
              <a:rPr lang="pt-BR" sz="2400" i="1" dirty="0" err="1"/>
              <a:t>Classification</a:t>
            </a:r>
            <a:r>
              <a:rPr lang="pt-BR" sz="2400" dirty="0"/>
              <a:t>: basta adicionar um classificador nos </a:t>
            </a:r>
            <a:r>
              <a:rPr lang="pt-BR" sz="2400" i="1" dirty="0" err="1"/>
              <a:t>embeddings</a:t>
            </a:r>
            <a:r>
              <a:rPr lang="pt-BR" sz="2400" i="1" dirty="0"/>
              <a:t> </a:t>
            </a:r>
            <a:r>
              <a:rPr lang="pt-BR" sz="2400" dirty="0"/>
              <a:t>gerados e realizar fine </a:t>
            </a:r>
            <a:r>
              <a:rPr lang="pt-BR" sz="2400" dirty="0" err="1"/>
              <a:t>tuning</a:t>
            </a:r>
            <a:r>
              <a:rPr lang="pt-BR" sz="2400" dirty="0"/>
              <a:t> do classificador</a:t>
            </a:r>
          </a:p>
          <a:p>
            <a:r>
              <a:rPr lang="pt-BR" sz="2400" i="1" dirty="0" err="1"/>
              <a:t>Semantic</a:t>
            </a:r>
            <a:r>
              <a:rPr lang="pt-BR" sz="2400" i="1" dirty="0"/>
              <a:t> </a:t>
            </a:r>
            <a:r>
              <a:rPr lang="pt-BR" sz="2400" i="1" dirty="0" err="1"/>
              <a:t>Retrieval</a:t>
            </a:r>
            <a:r>
              <a:rPr lang="pt-BR" sz="2400" dirty="0"/>
              <a:t>: Buscar imagens a partir de texto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A5813-FF19-3875-7D57-69913D3A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15</a:t>
            </a:fld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9756CA-24C0-F223-6995-76017DAF3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163" y="3638116"/>
            <a:ext cx="5724237" cy="321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561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B3E86-7CAE-C232-542A-AEF3323B8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Usos do CLIP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BC137-7F92-7F60-7C47-426545ED5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i="1" dirty="0"/>
              <a:t>Zero-Shot </a:t>
            </a:r>
            <a:r>
              <a:rPr lang="pt-BR" sz="2400" i="1" dirty="0" err="1"/>
              <a:t>Classification</a:t>
            </a:r>
            <a:endParaRPr lang="pt-BR" sz="2400" i="1" dirty="0"/>
          </a:p>
          <a:p>
            <a:r>
              <a:rPr lang="pt-BR" sz="2400" i="1" dirty="0"/>
              <a:t>Fine </a:t>
            </a:r>
            <a:r>
              <a:rPr lang="pt-BR" sz="2400" i="1" dirty="0" err="1"/>
              <a:t>Tuning</a:t>
            </a:r>
            <a:r>
              <a:rPr lang="pt-BR" sz="2400" i="1" dirty="0"/>
              <a:t> </a:t>
            </a:r>
            <a:r>
              <a:rPr lang="pt-BR" sz="2400" i="1" dirty="0" err="1"/>
              <a:t>Classification</a:t>
            </a:r>
            <a:r>
              <a:rPr lang="pt-BR" sz="2400" dirty="0"/>
              <a:t>: basta adicionar um classificador nos </a:t>
            </a:r>
            <a:r>
              <a:rPr lang="pt-BR" sz="2400" i="1" dirty="0" err="1"/>
              <a:t>embeddings</a:t>
            </a:r>
            <a:r>
              <a:rPr lang="pt-BR" sz="2400" i="1" dirty="0"/>
              <a:t> </a:t>
            </a:r>
            <a:r>
              <a:rPr lang="pt-BR" sz="2400" dirty="0"/>
              <a:t>gerados e realizar fine </a:t>
            </a:r>
            <a:r>
              <a:rPr lang="pt-BR" sz="2400" dirty="0" err="1"/>
              <a:t>tuning</a:t>
            </a:r>
            <a:r>
              <a:rPr lang="pt-BR" sz="2400" dirty="0"/>
              <a:t> do classificador</a:t>
            </a:r>
          </a:p>
          <a:p>
            <a:r>
              <a:rPr lang="pt-BR" sz="2400" i="1" dirty="0" err="1"/>
              <a:t>Semantic</a:t>
            </a:r>
            <a:r>
              <a:rPr lang="pt-BR" sz="2400" i="1" dirty="0"/>
              <a:t> </a:t>
            </a:r>
            <a:r>
              <a:rPr lang="pt-BR" sz="2400" i="1" dirty="0" err="1"/>
              <a:t>Retrieval</a:t>
            </a:r>
            <a:r>
              <a:rPr lang="pt-BR" sz="2400" dirty="0"/>
              <a:t>: Buscar imagens a partir de texto</a:t>
            </a:r>
          </a:p>
          <a:p>
            <a:r>
              <a:rPr lang="pt-BR" sz="2400" i="1" dirty="0" err="1"/>
              <a:t>Captioning</a:t>
            </a:r>
            <a:r>
              <a:rPr lang="pt-BR" sz="2400" i="1" dirty="0"/>
              <a:t>:</a:t>
            </a:r>
            <a:r>
              <a:rPr lang="pt-BR" sz="2400" dirty="0"/>
              <a:t> Gerar </a:t>
            </a:r>
            <a:r>
              <a:rPr lang="pt-BR" sz="2400" i="1" dirty="0" err="1"/>
              <a:t>captions</a:t>
            </a:r>
            <a:r>
              <a:rPr lang="pt-BR" sz="2400" dirty="0"/>
              <a:t> de imagens</a:t>
            </a:r>
            <a:endParaRPr lang="pt-BR" sz="24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A5813-FF19-3875-7D57-69913D3A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16</a:t>
            </a:fld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CE331F-3B99-AA2D-1A29-02428C8FE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61" y="4352771"/>
            <a:ext cx="9144078" cy="25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7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1E91-1D53-C132-0EA1-FAF8E77D8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Limitações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B757B-837D-685A-2D8E-35E1C1087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1145" cy="4351338"/>
          </a:xfrm>
        </p:spPr>
        <p:txBody>
          <a:bodyPr/>
          <a:lstStyle/>
          <a:p>
            <a:r>
              <a:rPr lang="pt-BR" dirty="0"/>
              <a:t>É sensível a texto na imagem</a:t>
            </a:r>
          </a:p>
          <a:p>
            <a:r>
              <a:rPr lang="pt-BR" dirty="0"/>
              <a:t>Generalização Zero-Shot é baixa para imagens diferentes do que consta no </a:t>
            </a:r>
            <a:r>
              <a:rPr lang="pt-BR" dirty="0" err="1"/>
              <a:t>dataset</a:t>
            </a:r>
            <a:r>
              <a:rPr lang="pt-BR" dirty="0"/>
              <a:t> (MNIST)</a:t>
            </a:r>
          </a:p>
          <a:p>
            <a:r>
              <a:rPr lang="pt-BR" dirty="0"/>
              <a:t>Contagem de objetos na imagem</a:t>
            </a:r>
          </a:p>
          <a:p>
            <a:r>
              <a:rPr lang="pt-BR" dirty="0"/>
              <a:t>Necessita de “</a:t>
            </a:r>
            <a:r>
              <a:rPr lang="pt-BR" i="1" dirty="0"/>
              <a:t>prompt </a:t>
            </a:r>
            <a:r>
              <a:rPr lang="pt-BR" i="1" dirty="0" err="1"/>
              <a:t>engineering</a:t>
            </a:r>
            <a:r>
              <a:rPr lang="pt-BR" dirty="0"/>
              <a:t>” para algumas classificações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2E1F0-C248-80DA-68BF-604A5328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17</a:t>
            </a:fld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C84CD7-A004-65C8-1CFB-1D9E016C3C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4" r="13022"/>
          <a:stretch/>
        </p:blipFill>
        <p:spPr bwMode="auto">
          <a:xfrm>
            <a:off x="6696364" y="1793875"/>
            <a:ext cx="5273964" cy="456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0397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24E83-B940-238A-2D8E-7996C051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Outros modelos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54186-91D8-8575-4D30-68E70D3FA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ALIGN: Scaling Up Visual and Vision-Language Representation Learning With Noisy Text Supervision</a:t>
            </a:r>
          </a:p>
          <a:p>
            <a:r>
              <a:rPr lang="en-US" dirty="0" err="1"/>
              <a:t>OpenCLIP</a:t>
            </a:r>
            <a:r>
              <a:rPr lang="en-US" dirty="0"/>
              <a:t>: Reproducible scaling laws for contrastive language-image learning</a:t>
            </a:r>
          </a:p>
          <a:p>
            <a:pPr lvl="1"/>
            <a:r>
              <a:rPr lang="en-US" dirty="0"/>
              <a:t>Dataset LAION5B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275AD-DCF3-F3F1-FAA3-2CCA0FC4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624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9E0A8-DEA4-50FD-323F-E819B8F4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Referências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3150B-D570-BD6F-9E00-12E0C9AC6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RADFORD, Alec et al. Learning transferable visual models from natural language supervision. In: </a:t>
            </a:r>
            <a:r>
              <a:rPr lang="en-US" sz="18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International conference on machine learning</a:t>
            </a: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. PMLR, 2021. p. 8748-8763.</a:t>
            </a:r>
          </a:p>
          <a:p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MOKADY, Ron; HERTZ, Amir; BERMANO, Amit H. </a:t>
            </a:r>
            <a:r>
              <a:rPr lang="en-US" sz="18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Clipcap</a:t>
            </a: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: Clip prefix for image captioning. </a:t>
            </a:r>
            <a:r>
              <a:rPr lang="en-US" sz="1800" b="1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arXiv</a:t>
            </a:r>
            <a:r>
              <a:rPr lang="en-US" sz="18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preprint arXiv:2111.09734</a:t>
            </a: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, 2021.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pt-BR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SCHUHMANN, Christoph et al. Laion-5b: </a:t>
            </a:r>
            <a:r>
              <a:rPr lang="pt-BR" sz="18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An</a:t>
            </a:r>
            <a:r>
              <a:rPr lang="pt-BR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open </a:t>
            </a:r>
            <a:r>
              <a:rPr lang="pt-BR" sz="18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large-scale</a:t>
            </a:r>
            <a:r>
              <a:rPr lang="pt-BR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pt-BR" sz="18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dataset</a:t>
            </a:r>
            <a:r>
              <a:rPr lang="pt-BR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for training </a:t>
            </a:r>
            <a:r>
              <a:rPr lang="pt-BR" sz="18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next</a:t>
            </a:r>
            <a:r>
              <a:rPr lang="pt-BR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pt-BR" sz="18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generation</a:t>
            </a:r>
            <a:r>
              <a:rPr lang="pt-BR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pt-BR" sz="1800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image-text</a:t>
            </a:r>
            <a:r>
              <a:rPr lang="pt-BR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models. </a:t>
            </a:r>
            <a:r>
              <a:rPr lang="pt-BR" sz="1800" b="1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Advances</a:t>
            </a:r>
            <a:r>
              <a:rPr lang="pt-BR" sz="18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in Neural </a:t>
            </a:r>
            <a:r>
              <a:rPr lang="pt-BR" sz="1800" b="1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Information</a:t>
            </a:r>
            <a:r>
              <a:rPr lang="pt-BR" sz="18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pt-BR" sz="1800" b="1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Processing</a:t>
            </a:r>
            <a:r>
              <a:rPr lang="pt-BR" sz="18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Systems</a:t>
            </a:r>
            <a:r>
              <a:rPr lang="pt-BR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, v. 35, p. 25278-25294, 2022.</a:t>
            </a:r>
            <a:r>
              <a:rPr lang="en-US" sz="1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</a:t>
            </a:r>
            <a:endParaRPr lang="en-US" sz="1800" dirty="0">
              <a:solidFill>
                <a:srgbClr val="222222"/>
              </a:solidFill>
              <a:highlight>
                <a:srgbClr val="FFFFFF"/>
              </a:highlight>
            </a:endParaRPr>
          </a:p>
          <a:p>
            <a:r>
              <a:rPr lang="pt-BR" sz="1800" dirty="0">
                <a:hlinkClick r:id="rId2"/>
              </a:rPr>
              <a:t>https://github.com/jacobmarks/awesome-clip-papers</a:t>
            </a:r>
            <a:r>
              <a:rPr lang="en-US" sz="1800" dirty="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endParaRPr lang="pt-BR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24A0C-F56D-1F0C-AC82-3E51D08D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9027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28308</TotalTime>
  <Words>614</Words>
  <Application>Microsoft Office PowerPoint</Application>
  <PresentationFormat>Widescreen</PresentationFormat>
  <Paragraphs>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-apple-system</vt:lpstr>
      <vt:lpstr>Arial</vt:lpstr>
      <vt:lpstr>Calibri</vt:lpstr>
      <vt:lpstr>Calibri Light</vt:lpstr>
      <vt:lpstr>Cambria Math</vt:lpstr>
      <vt:lpstr>Tema do Office</vt:lpstr>
      <vt:lpstr>Aprendizado Profundo</vt:lpstr>
      <vt:lpstr>Agenda</vt:lpstr>
      <vt:lpstr>Contexto</vt:lpstr>
      <vt:lpstr>Contexto</vt:lpstr>
      <vt:lpstr>Contexto</vt:lpstr>
      <vt:lpstr>Contrastive Language-Image Pre-training </vt:lpstr>
      <vt:lpstr>CLIP – Contrastive Learning</vt:lpstr>
      <vt:lpstr>CLIP – Contrastive Learning</vt:lpstr>
      <vt:lpstr>CLIP</vt:lpstr>
      <vt:lpstr>CLIP – Contrastive Learning</vt:lpstr>
      <vt:lpstr>CLIP – Dataset e Treinamento</vt:lpstr>
      <vt:lpstr>CLIP – Linear Probe Evaluation</vt:lpstr>
      <vt:lpstr>CLIP – Linear Probe Evaluation</vt:lpstr>
      <vt:lpstr>Usos do CLIP</vt:lpstr>
      <vt:lpstr>Usos do CLIP</vt:lpstr>
      <vt:lpstr>Usos do CLIP</vt:lpstr>
      <vt:lpstr>Limitações</vt:lpstr>
      <vt:lpstr>Outros modelos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de Máquina Turma 010 - 2021/2</dc:title>
  <dc:creator>Lucas Silveira Kupssinsku</dc:creator>
  <cp:lastModifiedBy>Lucas Silveira Kupssinsku</cp:lastModifiedBy>
  <cp:revision>248</cp:revision>
  <dcterms:created xsi:type="dcterms:W3CDTF">2021-08-01T11:35:46Z</dcterms:created>
  <dcterms:modified xsi:type="dcterms:W3CDTF">2024-04-30T18:46:21Z</dcterms:modified>
</cp:coreProperties>
</file>