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358" r:id="rId3"/>
    <p:sldId id="423" r:id="rId4"/>
    <p:sldId id="424" r:id="rId5"/>
    <p:sldId id="425" r:id="rId6"/>
    <p:sldId id="426" r:id="rId7"/>
    <p:sldId id="427" r:id="rId8"/>
    <p:sldId id="428" r:id="rId9"/>
    <p:sldId id="430" r:id="rId10"/>
    <p:sldId id="431" r:id="rId11"/>
    <p:sldId id="432" r:id="rId12"/>
    <p:sldId id="433" r:id="rId13"/>
    <p:sldId id="434" r:id="rId14"/>
    <p:sldId id="435" r:id="rId15"/>
    <p:sldId id="436" r:id="rId16"/>
    <p:sldId id="437" r:id="rId17"/>
    <p:sldId id="438" r:id="rId18"/>
    <p:sldId id="439" r:id="rId19"/>
    <p:sldId id="444" r:id="rId20"/>
    <p:sldId id="445" r:id="rId21"/>
    <p:sldId id="446" r:id="rId22"/>
    <p:sldId id="447" r:id="rId23"/>
    <p:sldId id="448" r:id="rId24"/>
    <p:sldId id="449" r:id="rId25"/>
    <p:sldId id="450" r:id="rId26"/>
    <p:sldId id="451" r:id="rId27"/>
    <p:sldId id="452" r:id="rId28"/>
    <p:sldId id="453" r:id="rId29"/>
    <p:sldId id="454" r:id="rId30"/>
    <p:sldId id="455" r:id="rId31"/>
    <p:sldId id="456" r:id="rId32"/>
    <p:sldId id="457" r:id="rId33"/>
    <p:sldId id="458" r:id="rId34"/>
    <p:sldId id="459" r:id="rId35"/>
    <p:sldId id="293" r:id="rId3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AE9F6"/>
    <a:srgbClr val="FFB9FF"/>
    <a:srgbClr val="FF9B9B"/>
    <a:srgbClr val="FF00FF"/>
    <a:srgbClr val="FFFFDD"/>
    <a:srgbClr val="245A8C"/>
    <a:srgbClr val="9BC2E5"/>
    <a:srgbClr val="428BCE"/>
    <a:srgbClr val="AF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DBEC8-B7CD-4879-87AE-64AF7BD7DF30}" type="datetimeFigureOut">
              <a:rPr lang="pt-BR" smtClean="0"/>
              <a:t>27/02/2024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50156-6885-4B39-8E78-85D0C1AED0F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715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36A27-9130-4759-A47A-23D3EAB30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1A88DD-808F-4F8D-84A5-3916FE3D8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AD0587-6BA5-4755-A254-BA8BAB6A2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23EE8-82C7-4BB9-8AE0-A839B9F0439B}" type="datetime1">
              <a:rPr lang="pt-BR" smtClean="0"/>
              <a:t>27/02/2024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54C2AD-8133-48B1-A30D-493AEB54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85C79A-F85A-4516-A45F-AA8BEF57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696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6CC7B-9026-47F0-A53D-971D687FF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79AE47-E774-440E-BB95-261546E48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6D0AA4-83FF-4C0C-8613-B3D0E937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079A-94C2-45A1-88AB-6250F7D03304}" type="datetime1">
              <a:rPr lang="pt-BR" smtClean="0"/>
              <a:t>27/02/2024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984507-0CE8-4D65-8720-EE422B955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BCF4AD-DDBF-4D80-A019-F4FEC8F4C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777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7D888-DBC5-4160-A401-DF4296CF8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41015C-6433-4AA1-82DC-E038C8C7C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375D2A-D6E9-4EA5-9A79-B0200907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87A7-29BF-49EF-AFD5-EA48A803025A}" type="datetime1">
              <a:rPr lang="pt-BR" smtClean="0"/>
              <a:t>27/02/2024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B65A21-5BD0-48CC-9633-CD3EBDDB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18FF30-0E8C-4739-A740-930FD7CE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580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98A0D-47CA-4BF5-8A53-03DEDDB1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6693E7-97F4-43B7-A4A2-B26156714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BA5FED8-E805-40F8-AED2-2B37F607D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2B54B3-3070-46A9-BB16-347D6E91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B6DB7-59BC-4CD2-BD08-E2943D1EF069}" type="datetime1">
              <a:rPr lang="pt-BR" smtClean="0"/>
              <a:t>27/02/2024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695434-EDA8-4C3C-8BF0-E097E53C0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483E8E-C241-4C26-AD63-8E114572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441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86158-79AD-47BA-94A0-7B5C1B2F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F05BE3-8146-47FD-B959-DE98B68C2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A55466-A0D9-4326-8C0B-11D9ECB99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D8DD07B-B6ED-4D98-9C41-AB40AAD2E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E0E32ED-0580-4733-8A15-EF1A54EE76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0B57CC4-6BEE-4C56-B5A7-8348FFBA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93418-6918-484A-8421-0D025D0D8A67}" type="datetime1">
              <a:rPr lang="pt-BR" smtClean="0"/>
              <a:t>27/02/2024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F8A9786-CC6C-453F-88B8-EDE8FEEEE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ACE4B8-7B8A-4602-8AC9-3F4E66D7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03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1E33F-43CC-4BCB-A00F-C169AF13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9A7E1A-8845-4FE6-ADDC-740512EC6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CAA2-036D-405F-9538-4B646274D645}" type="datetime1">
              <a:rPr lang="pt-BR" smtClean="0"/>
              <a:t>27/02/2024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95CA399-4971-4420-B53F-37EB8ACF2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B00EC4-0A80-464E-9415-C3F96738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578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9EE76B2-7187-484D-B134-A77D8B30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13415-C3D3-416A-BA17-3FEFA32702EE}" type="datetime1">
              <a:rPr lang="pt-BR" smtClean="0"/>
              <a:t>27/02/2024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9238519-4661-42E6-A172-40EEF015F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D207DA-461C-448E-83A6-5E42627CC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14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9BC73-075F-4C57-B083-A2A53A76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53C72F-F7F4-4065-B66E-03AF5711E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830101-D942-46FF-BA69-E5E55509A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5132C4-FE9A-407F-A499-CB1C142D9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4281-F446-41F4-852D-AF0C5F0FB8E5}" type="datetime1">
              <a:rPr lang="pt-BR" smtClean="0"/>
              <a:t>27/02/2024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C6E7AD-95AD-4059-AE42-AA92FD2F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15626A-7012-4235-A6D7-A1A75234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653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42BC7-D688-430F-A256-18657B5F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33CB283-3B59-4BAD-87DF-1422F776B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3F9CF2-5A0D-4F0C-9FD8-7DB051EB0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76D9E3-8099-4187-BE37-EBC90D53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ACD1-8F4F-450B-9F25-92B5A7643D6C}" type="datetime1">
              <a:rPr lang="pt-BR" smtClean="0"/>
              <a:t>27/02/2024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FBBD30-A1E3-4861-9D26-E9EED18B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C0BD16-792A-45CC-8B4D-E0A7A8839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215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3F8C5-185D-49E1-A53C-2E55BD5A1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D78D96-867E-469F-983A-80ACE3023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86A972-7A5F-4745-BB5E-7D0DDADC0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5C635-A7DF-42C1-A820-15BA95751108}" type="datetime1">
              <a:rPr lang="pt-BR" smtClean="0"/>
              <a:t>27/02/2024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2C18A6-57BF-49F1-97EA-7F9ACD0B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FE4627-EAD2-4008-B1FA-614849F55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796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E7A39B-F7E2-4A69-942C-6AEFE2C7B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298851-909A-4BB7-9514-2A3766F2D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06C408-EEE6-4851-8B3F-CBF1451B7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CA80-3A23-4BED-BFDD-EC237E1C9920}" type="datetime1">
              <a:rPr lang="pt-BR" smtClean="0"/>
              <a:t>27/02/2024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E5DE8C-E893-46D9-9054-DB6F88FD0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22E16A-56BB-4B7D-8AA6-C3A5B376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7387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1A29FE-D65E-4440-A657-262577AA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67D270-2A8A-433A-93D9-8D998D06B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BC1113-45B0-4701-87FE-8C670E000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95C9C-EC44-4A90-8C72-29D4E173E628}" type="datetime1">
              <a:rPr lang="pt-BR" smtClean="0"/>
              <a:t>27/02/2024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72D9F7-AA55-448C-B21A-88D367431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BF8157-6D2F-4A31-942D-5AE190A46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540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18" Type="http://schemas.openxmlformats.org/officeDocument/2006/relationships/image" Target="../media/image14.png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3.png"/><Relationship Id="rId2" Type="http://schemas.openxmlformats.org/officeDocument/2006/relationships/image" Target="../media/image18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5.png"/><Relationship Id="rId5" Type="http://schemas.openxmlformats.org/officeDocument/2006/relationships/image" Target="../media/image11.png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18" Type="http://schemas.openxmlformats.org/officeDocument/2006/relationships/image" Target="../media/image14.png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3.png"/><Relationship Id="rId2" Type="http://schemas.openxmlformats.org/officeDocument/2006/relationships/image" Target="../media/image18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4B37C-3C8E-4FDE-9CD8-8FDBB9948A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212529"/>
                </a:solidFill>
                <a:effectLst/>
                <a:latin typeface="-apple-system"/>
              </a:rPr>
              <a:t>Aprendizado Profundo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46BC0D-1C18-420A-8181-4599D8380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r>
              <a:rPr lang="pt-BR" dirty="0"/>
              <a:t> e </a:t>
            </a:r>
            <a:r>
              <a:rPr lang="pt-BR" dirty="0" err="1"/>
              <a:t>GRUs</a:t>
            </a:r>
            <a:endParaRPr lang="pt-BR" dirty="0"/>
          </a:p>
          <a:p>
            <a:r>
              <a:rPr lang="pt-BR" dirty="0"/>
              <a:t>Professor: Lucas Silveira Kupssinskü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5EE3B-E0A9-0563-6E9A-DC0A22FB0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02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DD5D8-21EA-D8C4-D1A9-58A7ED235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8CBDB-71AB-71C1-D108-4321E1B8E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redes </a:t>
            </a:r>
            <a:r>
              <a:rPr lang="en-US" dirty="0" err="1"/>
              <a:t>recorrentes</a:t>
            </a:r>
            <a:endParaRPr lang="en-US" dirty="0"/>
          </a:p>
          <a:p>
            <a:r>
              <a:rPr lang="en-US" dirty="0"/>
              <a:t>LSTMs</a:t>
            </a:r>
          </a:p>
          <a:p>
            <a:r>
              <a:rPr lang="en-US" dirty="0"/>
              <a:t>GRUs</a:t>
            </a:r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i="1" dirty="0"/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F0B91-1014-3AD9-1DA9-99A34BF45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4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40660-BEC4-2A11-6EC7-3EDA3BAB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 em redes recorrentes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9849C-DD5C-5F0C-A030-D9E0AA5C7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“</a:t>
            </a:r>
            <a:r>
              <a:rPr lang="pt-BR" sz="2400" b="1" i="1" dirty="0">
                <a:solidFill>
                  <a:srgbClr val="FF0000"/>
                </a:solidFill>
              </a:rPr>
              <a:t>O filme é péssimo e ninguém deveria perder tempo assistindo. </a:t>
            </a:r>
            <a:r>
              <a:rPr lang="pt-BR" sz="2400" i="1" dirty="0">
                <a:solidFill>
                  <a:srgbClr val="0070C0"/>
                </a:solidFill>
              </a:rPr>
              <a:t>Contudo eu admiro a tentativa de </a:t>
            </a:r>
            <a:r>
              <a:rPr lang="pt-BR" sz="2400" i="1" dirty="0" err="1">
                <a:solidFill>
                  <a:srgbClr val="0070C0"/>
                </a:solidFill>
              </a:rPr>
              <a:t>hollywood</a:t>
            </a:r>
            <a:r>
              <a:rPr lang="pt-BR" sz="2400" i="1" dirty="0">
                <a:solidFill>
                  <a:srgbClr val="0070C0"/>
                </a:solidFill>
              </a:rPr>
              <a:t> de aumentar a representatividade em termos de história e atores, certamente será possível colher frutos sobre essas tentativa em outras obras no futuro</a:t>
            </a:r>
            <a:r>
              <a:rPr lang="pt-BR" dirty="0"/>
              <a:t>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47885-E699-B616-8D49-44343F41F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5280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40660-BEC4-2A11-6EC7-3EDA3BAB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 em redes recorrentes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9849C-DD5C-5F0C-A030-D9E0AA5C7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“</a:t>
            </a:r>
            <a:r>
              <a:rPr lang="pt-BR" sz="2400" b="1" i="1" dirty="0">
                <a:solidFill>
                  <a:srgbClr val="FF0000"/>
                </a:solidFill>
              </a:rPr>
              <a:t>O filme é péssimo e ninguém deveria perder tempo assistindo. </a:t>
            </a:r>
            <a:r>
              <a:rPr lang="pt-BR" sz="2400" i="1" dirty="0">
                <a:solidFill>
                  <a:srgbClr val="0070C0"/>
                </a:solidFill>
              </a:rPr>
              <a:t>Contudo eu admiro a tentativa de </a:t>
            </a:r>
            <a:r>
              <a:rPr lang="pt-BR" sz="2400" i="1" dirty="0" err="1">
                <a:solidFill>
                  <a:srgbClr val="0070C0"/>
                </a:solidFill>
              </a:rPr>
              <a:t>hollywood</a:t>
            </a:r>
            <a:r>
              <a:rPr lang="pt-BR" sz="2400" i="1" dirty="0">
                <a:solidFill>
                  <a:srgbClr val="0070C0"/>
                </a:solidFill>
              </a:rPr>
              <a:t> de aumentar a representatividade em termos de história e atores, certamente será possível colher frutos sobre essas tentativa em outras obras no futuro</a:t>
            </a:r>
            <a:r>
              <a:rPr lang="pt-BR" dirty="0"/>
              <a:t>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47885-E699-B616-8D49-44343F41F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D2586B6-982B-7A5E-47CD-CD08D11A829F}"/>
              </a:ext>
            </a:extLst>
          </p:cNvPr>
          <p:cNvGrpSpPr/>
          <p:nvPr/>
        </p:nvGrpSpPr>
        <p:grpSpPr>
          <a:xfrm>
            <a:off x="1197216" y="4708583"/>
            <a:ext cx="4242755" cy="1160920"/>
            <a:chOff x="2227056" y="2886389"/>
            <a:chExt cx="7131177" cy="180307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090255E-35DC-0759-F8BC-34D29E4C9AF1}"/>
                </a:ext>
              </a:extLst>
            </p:cNvPr>
            <p:cNvGrpSpPr/>
            <p:nvPr/>
          </p:nvGrpSpPr>
          <p:grpSpPr>
            <a:xfrm>
              <a:off x="2227056" y="2968874"/>
              <a:ext cx="1390302" cy="1720587"/>
              <a:chOff x="8610600" y="3540312"/>
              <a:chExt cx="1390302" cy="17205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Elipse 23">
                    <a:extLst>
                      <a:ext uri="{FF2B5EF4-FFF2-40B4-BE49-F238E27FC236}">
                        <a16:creationId xmlns:a16="http://schemas.microsoft.com/office/drawing/2014/main" id="{DBC5F355-8586-C44D-7046-1BF9C37AB7FC}"/>
                      </a:ext>
                    </a:extLst>
                  </p:cNvPr>
                  <p:cNvSpPr/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solidFill>
                    <a:srgbClr val="AFEBF7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49" name="Elipse 23">
                    <a:extLst>
                      <a:ext uri="{FF2B5EF4-FFF2-40B4-BE49-F238E27FC236}">
                        <a16:creationId xmlns:a16="http://schemas.microsoft.com/office/drawing/2014/main" id="{DDCD9A7B-9EED-967F-9671-0A54D284E27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177973F1-3A5A-063A-01CA-5E8ED111FAEE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07ADF5C6-B3D2-C6E1-EE19-A2026099B416}"/>
                  </a:ext>
                </a:extLst>
              </p:cNvPr>
              <p:cNvCxnSpPr>
                <a:cxnSpLocks/>
                <a:stCxn id="19" idx="0"/>
                <a:endCxn id="20" idx="2"/>
              </p:cNvCxnSpPr>
              <p:nvPr/>
            </p:nvCxnSpPr>
            <p:spPr>
              <a:xfrm flipH="1" flipV="1">
                <a:off x="9305751" y="4298672"/>
                <a:ext cx="1" cy="42981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DFC547C-35F2-12BC-BB2F-120A974F4CC6}"/>
                </a:ext>
              </a:extLst>
            </p:cNvPr>
            <p:cNvSpPr/>
            <p:nvPr/>
          </p:nvSpPr>
          <p:spPr>
            <a:xfrm>
              <a:off x="4140682" y="2968874"/>
              <a:ext cx="1390302" cy="75835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C684F31-68C0-4668-19ED-A20A15CD170A}"/>
                </a:ext>
              </a:extLst>
            </p:cNvPr>
            <p:cNvSpPr/>
            <p:nvPr/>
          </p:nvSpPr>
          <p:spPr>
            <a:xfrm>
              <a:off x="6054306" y="2968874"/>
              <a:ext cx="1390302" cy="75835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A460F9E-640F-EB38-9A50-97E6B9A7AC16}"/>
                </a:ext>
              </a:extLst>
            </p:cNvPr>
            <p:cNvSpPr/>
            <p:nvPr/>
          </p:nvSpPr>
          <p:spPr>
            <a:xfrm>
              <a:off x="7967931" y="2970116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31344F0-E63A-6271-B1B4-C7534921C5E0}"/>
                </a:ext>
              </a:extLst>
            </p:cNvPr>
            <p:cNvCxnSpPr>
              <a:cxnSpLocks/>
              <a:stCxn id="20" idx="3"/>
              <a:endCxn id="7" idx="1"/>
            </p:cNvCxnSpPr>
            <p:nvPr/>
          </p:nvCxnSpPr>
          <p:spPr>
            <a:xfrm>
              <a:off x="3617358" y="3348054"/>
              <a:ext cx="5233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BE539B2-2FD4-16E6-0DAC-07A4530935CE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>
              <a:off x="5530983" y="3348054"/>
              <a:ext cx="5233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6F93FD6-D586-1DC1-CDB5-6AF5874918F7}"/>
                </a:ext>
              </a:extLst>
            </p:cNvPr>
            <p:cNvCxnSpPr>
              <a:cxnSpLocks/>
              <a:stCxn id="8" idx="3"/>
              <a:endCxn id="16" idx="1"/>
            </p:cNvCxnSpPr>
            <p:nvPr/>
          </p:nvCxnSpPr>
          <p:spPr>
            <a:xfrm>
              <a:off x="7444608" y="3348054"/>
              <a:ext cx="523323" cy="12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DD2C643-6DD3-2CAF-7248-CB763683C05A}"/>
                    </a:ext>
                  </a:extLst>
                </p:cNvPr>
                <p:cNvSpPr txBox="1"/>
                <p:nvPr/>
              </p:nvSpPr>
              <p:spPr>
                <a:xfrm>
                  <a:off x="3550436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2C71D18-3236-C209-CAEF-5C5F9041BC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436" y="2886389"/>
                  <a:ext cx="485339" cy="396778"/>
                </a:xfrm>
                <a:prstGeom prst="rect">
                  <a:avLst/>
                </a:prstGeom>
                <a:blipFill>
                  <a:blip r:embed="rId4"/>
                  <a:stretch>
                    <a:fillRect r="-6383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48444AE-5C65-5205-04C6-A6B65E3BAA78}"/>
                    </a:ext>
                  </a:extLst>
                </p:cNvPr>
                <p:cNvSpPr txBox="1"/>
                <p:nvPr/>
              </p:nvSpPr>
              <p:spPr>
                <a:xfrm>
                  <a:off x="5487670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ED04AF6-5A01-056A-806C-072128B5E6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7670" y="2886389"/>
                  <a:ext cx="485339" cy="396778"/>
                </a:xfrm>
                <a:prstGeom prst="rect">
                  <a:avLst/>
                </a:prstGeom>
                <a:blipFill>
                  <a:blip r:embed="rId5"/>
                  <a:stretch>
                    <a:fillRect r="-4255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5A24F9F-5B59-7D14-0F01-D11510AA4878}"/>
                    </a:ext>
                  </a:extLst>
                </p:cNvPr>
                <p:cNvSpPr txBox="1"/>
                <p:nvPr/>
              </p:nvSpPr>
              <p:spPr>
                <a:xfrm>
                  <a:off x="7377686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C040108-FEF4-7078-2285-9EBB0814C7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7686" y="2886389"/>
                  <a:ext cx="485339" cy="396778"/>
                </a:xfrm>
                <a:prstGeom prst="rect">
                  <a:avLst/>
                </a:prstGeom>
                <a:blipFill>
                  <a:blip r:embed="rId6"/>
                  <a:stretch>
                    <a:fillRect r="-6383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Elipse 23">
                <a:extLst>
                  <a:ext uri="{FF2B5EF4-FFF2-40B4-BE49-F238E27FC236}">
                    <a16:creationId xmlns:a16="http://schemas.microsoft.com/office/drawing/2014/main" id="{99C3B4E0-A43C-3BA3-257F-EE15E9468C9D}"/>
                  </a:ext>
                </a:extLst>
              </p:cNvPr>
              <p:cNvSpPr/>
              <p:nvPr/>
            </p:nvSpPr>
            <p:spPr>
              <a:xfrm>
                <a:off x="1452421" y="5526707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28" name="Elipse 23">
                <a:extLst>
                  <a:ext uri="{FF2B5EF4-FFF2-40B4-BE49-F238E27FC236}">
                    <a16:creationId xmlns:a16="http://schemas.microsoft.com/office/drawing/2014/main" id="{99C3B4E0-A43C-3BA3-257F-EE15E9468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421" y="5526707"/>
                <a:ext cx="316762" cy="342797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Elipse 23">
                <a:extLst>
                  <a:ext uri="{FF2B5EF4-FFF2-40B4-BE49-F238E27FC236}">
                    <a16:creationId xmlns:a16="http://schemas.microsoft.com/office/drawing/2014/main" id="{D95D9E6C-85BA-55B0-A619-46028F7F09DD}"/>
                  </a:ext>
                </a:extLst>
              </p:cNvPr>
              <p:cNvSpPr/>
              <p:nvPr/>
            </p:nvSpPr>
            <p:spPr>
              <a:xfrm>
                <a:off x="2590949" y="5526707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29" name="Elipse 23">
                <a:extLst>
                  <a:ext uri="{FF2B5EF4-FFF2-40B4-BE49-F238E27FC236}">
                    <a16:creationId xmlns:a16="http://schemas.microsoft.com/office/drawing/2014/main" id="{D95D9E6C-85BA-55B0-A619-46028F7F09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949" y="5526707"/>
                <a:ext cx="316762" cy="342797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4769B37-9714-AECE-EBB2-2A42AA70002D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2749330" y="5249967"/>
            <a:ext cx="1" cy="2767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Elipse 23">
                <a:extLst>
                  <a:ext uri="{FF2B5EF4-FFF2-40B4-BE49-F238E27FC236}">
                    <a16:creationId xmlns:a16="http://schemas.microsoft.com/office/drawing/2014/main" id="{36C44B2B-B6AF-3961-9054-0D379D9B4953}"/>
                  </a:ext>
                </a:extLst>
              </p:cNvPr>
              <p:cNvSpPr/>
              <p:nvPr/>
            </p:nvSpPr>
            <p:spPr>
              <a:xfrm>
                <a:off x="3729476" y="5526707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31" name="Elipse 23">
                <a:extLst>
                  <a:ext uri="{FF2B5EF4-FFF2-40B4-BE49-F238E27FC236}">
                    <a16:creationId xmlns:a16="http://schemas.microsoft.com/office/drawing/2014/main" id="{36C44B2B-B6AF-3961-9054-0D379D9B49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476" y="5526707"/>
                <a:ext cx="316762" cy="342797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3F4FE21-97CC-9516-D5BE-9FE75FA646D1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3887857" y="5249967"/>
            <a:ext cx="1" cy="2767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Elipse 23">
                <a:extLst>
                  <a:ext uri="{FF2B5EF4-FFF2-40B4-BE49-F238E27FC236}">
                    <a16:creationId xmlns:a16="http://schemas.microsoft.com/office/drawing/2014/main" id="{EC1F5518-7CF8-0FC6-D56A-1EA04FB23167}"/>
                  </a:ext>
                </a:extLst>
              </p:cNvPr>
              <p:cNvSpPr/>
              <p:nvPr/>
            </p:nvSpPr>
            <p:spPr>
              <a:xfrm>
                <a:off x="4868004" y="5527507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33" name="Elipse 23">
                <a:extLst>
                  <a:ext uri="{FF2B5EF4-FFF2-40B4-BE49-F238E27FC236}">
                    <a16:creationId xmlns:a16="http://schemas.microsoft.com/office/drawing/2014/main" id="{EC1F5518-7CF8-0FC6-D56A-1EA04FB231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004" y="5527507"/>
                <a:ext cx="316762" cy="342797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D4C2962-0F08-64A9-8661-8A419011A16D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5026385" y="5250767"/>
            <a:ext cx="1" cy="2767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76B4782-98D4-19BD-3E82-E9BDEC86B1D2}"/>
              </a:ext>
            </a:extLst>
          </p:cNvPr>
          <p:cNvGrpSpPr/>
          <p:nvPr/>
        </p:nvGrpSpPr>
        <p:grpSpPr>
          <a:xfrm>
            <a:off x="5798987" y="4142956"/>
            <a:ext cx="4242755" cy="1726548"/>
            <a:chOff x="2227056" y="2007890"/>
            <a:chExt cx="7131177" cy="2681571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10A8F60-0447-92E9-D434-BD585419CD97}"/>
                </a:ext>
              </a:extLst>
            </p:cNvPr>
            <p:cNvGrpSpPr/>
            <p:nvPr/>
          </p:nvGrpSpPr>
          <p:grpSpPr>
            <a:xfrm>
              <a:off x="2227056" y="2968874"/>
              <a:ext cx="1390302" cy="1720587"/>
              <a:chOff x="8610600" y="3540312"/>
              <a:chExt cx="1390302" cy="17205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Elipse 23">
                    <a:extLst>
                      <a:ext uri="{FF2B5EF4-FFF2-40B4-BE49-F238E27FC236}">
                        <a16:creationId xmlns:a16="http://schemas.microsoft.com/office/drawing/2014/main" id="{17E30F6F-4137-F0EE-4631-C48B370923D0}"/>
                      </a:ext>
                    </a:extLst>
                  </p:cNvPr>
                  <p:cNvSpPr/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solidFill>
                    <a:srgbClr val="AFEBF7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49" name="Elipse 23">
                    <a:extLst>
                      <a:ext uri="{FF2B5EF4-FFF2-40B4-BE49-F238E27FC236}">
                        <a16:creationId xmlns:a16="http://schemas.microsoft.com/office/drawing/2014/main" id="{DDCD9A7B-9EED-967F-9671-0A54D284E27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2C2FBE3-DBA9-0ED7-DB84-C70F7AD57B14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8A616D4A-4A57-5259-A085-5794FD84F92F}"/>
                  </a:ext>
                </a:extLst>
              </p:cNvPr>
              <p:cNvCxnSpPr>
                <a:cxnSpLocks/>
                <a:stCxn id="49" idx="0"/>
                <a:endCxn id="50" idx="2"/>
              </p:cNvCxnSpPr>
              <p:nvPr/>
            </p:nvCxnSpPr>
            <p:spPr>
              <a:xfrm flipH="1" flipV="1">
                <a:off x="9305751" y="4298672"/>
                <a:ext cx="1" cy="42981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4E182125-4C66-DB9F-845A-039206156C44}"/>
                </a:ext>
              </a:extLst>
            </p:cNvPr>
            <p:cNvSpPr/>
            <p:nvPr/>
          </p:nvSpPr>
          <p:spPr>
            <a:xfrm>
              <a:off x="4140682" y="2968874"/>
              <a:ext cx="1390302" cy="75835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834B50D-0962-09AC-8260-468548FF8A51}"/>
                </a:ext>
              </a:extLst>
            </p:cNvPr>
            <p:cNvGrpSpPr/>
            <p:nvPr/>
          </p:nvGrpSpPr>
          <p:grpSpPr>
            <a:xfrm>
              <a:off x="7967931" y="2007890"/>
              <a:ext cx="1390302" cy="1720586"/>
              <a:chOff x="8610600" y="2578086"/>
              <a:chExt cx="1390302" cy="1720586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349BD481-A0BC-DC43-0AE9-684EEBB9D593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Elipse 23">
                    <a:extLst>
                      <a:ext uri="{FF2B5EF4-FFF2-40B4-BE49-F238E27FC236}">
                        <a16:creationId xmlns:a16="http://schemas.microsoft.com/office/drawing/2014/main" id="{9577DB6E-6E29-DDD3-720E-341F83E4B210}"/>
                      </a:ext>
                    </a:extLst>
                  </p:cNvPr>
                  <p:cNvSpPr/>
                  <p:nvPr/>
                </p:nvSpPr>
                <p:spPr>
                  <a:xfrm>
                    <a:off x="9039546" y="2578086"/>
                    <a:ext cx="532411" cy="532411"/>
                  </a:xfrm>
                  <a:prstGeom prst="ellipse">
                    <a:avLst/>
                  </a:prstGeom>
                  <a:solidFill>
                    <a:srgbClr val="FFB9FF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47" name="Elipse 23">
                    <a:extLst>
                      <a:ext uri="{FF2B5EF4-FFF2-40B4-BE49-F238E27FC236}">
                        <a16:creationId xmlns:a16="http://schemas.microsoft.com/office/drawing/2014/main" id="{9577DB6E-6E29-DDD3-720E-341F83E4B21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2578086"/>
                    <a:ext cx="532411" cy="532411"/>
                  </a:xfrm>
                  <a:prstGeom prst="ellipse">
                    <a:avLst/>
                  </a:prstGeom>
                  <a:blipFill>
                    <a:blip r:embed="rId11"/>
                    <a:stretch>
                      <a:fillRect l="-3846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86186B5F-D856-FBCA-5D86-59BD252EBEED}"/>
                  </a:ext>
                </a:extLst>
              </p:cNvPr>
              <p:cNvCxnSpPr>
                <a:cxnSpLocks/>
                <a:stCxn id="46" idx="0"/>
                <a:endCxn id="47" idx="4"/>
              </p:cNvCxnSpPr>
              <p:nvPr/>
            </p:nvCxnSpPr>
            <p:spPr>
              <a:xfrm flipV="1">
                <a:off x="9305751" y="3110497"/>
                <a:ext cx="1" cy="42981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E847AAF-181B-5B8B-249D-E1BDB4D5372E}"/>
                </a:ext>
              </a:extLst>
            </p:cNvPr>
            <p:cNvCxnSpPr>
              <a:cxnSpLocks/>
              <a:stCxn id="50" idx="3"/>
              <a:endCxn id="37" idx="1"/>
            </p:cNvCxnSpPr>
            <p:nvPr/>
          </p:nvCxnSpPr>
          <p:spPr>
            <a:xfrm>
              <a:off x="3617358" y="3348054"/>
              <a:ext cx="5233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54BEACD-1D92-2203-FA4C-C3ABA56222F8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>
              <a:off x="5530983" y="3348054"/>
              <a:ext cx="5233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A3A4C67-3D83-BAAD-D3F3-9F2D23E70E75}"/>
                </a:ext>
              </a:extLst>
            </p:cNvPr>
            <p:cNvCxnSpPr>
              <a:cxnSpLocks/>
              <a:endCxn id="46" idx="1"/>
            </p:cNvCxnSpPr>
            <p:nvPr/>
          </p:nvCxnSpPr>
          <p:spPr>
            <a:xfrm>
              <a:off x="7444608" y="3348054"/>
              <a:ext cx="523323" cy="12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2154ECE-3C0B-B6D1-484E-3937F777AC94}"/>
                    </a:ext>
                  </a:extLst>
                </p:cNvPr>
                <p:cNvSpPr txBox="1"/>
                <p:nvPr/>
              </p:nvSpPr>
              <p:spPr>
                <a:xfrm>
                  <a:off x="3550436" y="2886390"/>
                  <a:ext cx="485340" cy="4780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2154ECE-3C0B-B6D1-484E-3937F777AC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436" y="2886390"/>
                  <a:ext cx="485340" cy="478021"/>
                </a:xfrm>
                <a:prstGeom prst="rect">
                  <a:avLst/>
                </a:prstGeom>
                <a:blipFill>
                  <a:blip r:embed="rId12"/>
                  <a:stretch>
                    <a:fillRect r="-41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412BB3A-BDA0-04E0-74CF-C5BFA77FB918}"/>
                    </a:ext>
                  </a:extLst>
                </p:cNvPr>
                <p:cNvSpPr txBox="1"/>
                <p:nvPr/>
              </p:nvSpPr>
              <p:spPr>
                <a:xfrm>
                  <a:off x="5487669" y="2886390"/>
                  <a:ext cx="485340" cy="4780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412BB3A-BDA0-04E0-74CF-C5BFA77FB9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7669" y="2886390"/>
                  <a:ext cx="485340" cy="478021"/>
                </a:xfrm>
                <a:prstGeom prst="rect">
                  <a:avLst/>
                </a:prstGeom>
                <a:blipFill>
                  <a:blip r:embed="rId13"/>
                  <a:stretch>
                    <a:fillRect r="-638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32FFD0D-7AE5-DB51-4E3A-0360DD087020}"/>
                    </a:ext>
                  </a:extLst>
                </p:cNvPr>
                <p:cNvSpPr txBox="1"/>
                <p:nvPr/>
              </p:nvSpPr>
              <p:spPr>
                <a:xfrm>
                  <a:off x="7377687" y="2886390"/>
                  <a:ext cx="485340" cy="4780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32FFD0D-7AE5-DB51-4E3A-0360DD0870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7687" y="2886390"/>
                  <a:ext cx="485340" cy="478021"/>
                </a:xfrm>
                <a:prstGeom prst="rect">
                  <a:avLst/>
                </a:prstGeom>
                <a:blipFill>
                  <a:blip r:embed="rId14"/>
                  <a:stretch>
                    <a:fillRect r="-638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Elipse 23">
                <a:extLst>
                  <a:ext uri="{FF2B5EF4-FFF2-40B4-BE49-F238E27FC236}">
                    <a16:creationId xmlns:a16="http://schemas.microsoft.com/office/drawing/2014/main" id="{E371C1F0-66E5-C42B-A27D-D7353A05C77D}"/>
                  </a:ext>
                </a:extLst>
              </p:cNvPr>
              <p:cNvSpPr/>
              <p:nvPr/>
            </p:nvSpPr>
            <p:spPr>
              <a:xfrm>
                <a:off x="6054192" y="5526707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58" name="Elipse 23">
                <a:extLst>
                  <a:ext uri="{FF2B5EF4-FFF2-40B4-BE49-F238E27FC236}">
                    <a16:creationId xmlns:a16="http://schemas.microsoft.com/office/drawing/2014/main" id="{E371C1F0-66E5-C42B-A27D-D7353A05C7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4192" y="5526707"/>
                <a:ext cx="316762" cy="342797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Elipse 23">
                <a:extLst>
                  <a:ext uri="{FF2B5EF4-FFF2-40B4-BE49-F238E27FC236}">
                    <a16:creationId xmlns:a16="http://schemas.microsoft.com/office/drawing/2014/main" id="{2FE32CE6-FED6-2CE8-B607-94ED4BF418D5}"/>
                  </a:ext>
                </a:extLst>
              </p:cNvPr>
              <p:cNvSpPr/>
              <p:nvPr/>
            </p:nvSpPr>
            <p:spPr>
              <a:xfrm>
                <a:off x="7192720" y="5526707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59" name="Elipse 23">
                <a:extLst>
                  <a:ext uri="{FF2B5EF4-FFF2-40B4-BE49-F238E27FC236}">
                    <a16:creationId xmlns:a16="http://schemas.microsoft.com/office/drawing/2014/main" id="{2FE32CE6-FED6-2CE8-B607-94ED4BF418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720" y="5526707"/>
                <a:ext cx="316762" cy="342797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0883F16-DC68-7A3C-26DD-23BDC622ACD7}"/>
              </a:ext>
            </a:extLst>
          </p:cNvPr>
          <p:cNvCxnSpPr>
            <a:cxnSpLocks/>
            <a:stCxn id="59" idx="0"/>
          </p:cNvCxnSpPr>
          <p:nvPr/>
        </p:nvCxnSpPr>
        <p:spPr>
          <a:xfrm flipH="1" flipV="1">
            <a:off x="7351101" y="5249967"/>
            <a:ext cx="1" cy="2767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Elipse 23">
                <a:extLst>
                  <a:ext uri="{FF2B5EF4-FFF2-40B4-BE49-F238E27FC236}">
                    <a16:creationId xmlns:a16="http://schemas.microsoft.com/office/drawing/2014/main" id="{172A5AB6-FF33-DD16-3603-6CA5CBB58EC0}"/>
                  </a:ext>
                </a:extLst>
              </p:cNvPr>
              <p:cNvSpPr/>
              <p:nvPr/>
            </p:nvSpPr>
            <p:spPr>
              <a:xfrm>
                <a:off x="9469775" y="5527507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63" name="Elipse 23">
                <a:extLst>
                  <a:ext uri="{FF2B5EF4-FFF2-40B4-BE49-F238E27FC236}">
                    <a16:creationId xmlns:a16="http://schemas.microsoft.com/office/drawing/2014/main" id="{172A5AB6-FF33-DD16-3603-6CA5CBB58E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9775" y="5527507"/>
                <a:ext cx="316762" cy="342797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3D75147-EAE8-0BCC-09E1-CCC787B5AABE}"/>
              </a:ext>
            </a:extLst>
          </p:cNvPr>
          <p:cNvCxnSpPr>
            <a:cxnSpLocks/>
            <a:stCxn id="63" idx="0"/>
          </p:cNvCxnSpPr>
          <p:nvPr/>
        </p:nvCxnSpPr>
        <p:spPr>
          <a:xfrm flipH="1" flipV="1">
            <a:off x="9628156" y="5250767"/>
            <a:ext cx="1" cy="2767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C5CD229-AA25-C786-7408-3D2AE33EA364}"/>
              </a:ext>
            </a:extLst>
          </p:cNvPr>
          <p:cNvCxnSpPr>
            <a:cxnSpLocks/>
            <a:stCxn id="16" idx="3"/>
            <a:endCxn id="50" idx="1"/>
          </p:cNvCxnSpPr>
          <p:nvPr/>
        </p:nvCxnSpPr>
        <p:spPr>
          <a:xfrm flipV="1">
            <a:off x="5439971" y="5005830"/>
            <a:ext cx="359016" cy="8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C63805F4-AAB2-7622-3577-5D8C0FE83657}"/>
              </a:ext>
            </a:extLst>
          </p:cNvPr>
          <p:cNvSpPr txBox="1"/>
          <p:nvPr/>
        </p:nvSpPr>
        <p:spPr>
          <a:xfrm>
            <a:off x="8269951" y="4704189"/>
            <a:ext cx="702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3C2AE72-4802-6463-4EC8-C9CEBDED384D}"/>
                  </a:ext>
                </a:extLst>
              </p:cNvPr>
              <p:cNvSpPr txBox="1"/>
              <p:nvPr/>
            </p:nvSpPr>
            <p:spPr>
              <a:xfrm>
                <a:off x="5439971" y="4704189"/>
                <a:ext cx="28875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3C2AE72-4802-6463-4EC8-C9CEBDED3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971" y="4704189"/>
                <a:ext cx="288757" cy="307777"/>
              </a:xfrm>
              <a:prstGeom prst="rect">
                <a:avLst/>
              </a:prstGeom>
              <a:blipFill>
                <a:blip r:embed="rId18"/>
                <a:stretch>
                  <a:fillRect r="-41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524C5938-42CE-9956-7EDC-411D195FE382}"/>
              </a:ext>
            </a:extLst>
          </p:cNvPr>
          <p:cNvSpPr txBox="1"/>
          <p:nvPr/>
        </p:nvSpPr>
        <p:spPr>
          <a:xfrm>
            <a:off x="1391009" y="5987018"/>
            <a:ext cx="288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1" dirty="0">
                <a:solidFill>
                  <a:srgbClr val="FF0000"/>
                </a:solidFill>
              </a:rPr>
              <a:t>O</a:t>
            </a:r>
            <a:endParaRPr lang="pt-BR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E97FBC-1E9E-F822-78F3-28EF9A085151}"/>
              </a:ext>
            </a:extLst>
          </p:cNvPr>
          <p:cNvSpPr txBox="1"/>
          <p:nvPr/>
        </p:nvSpPr>
        <p:spPr>
          <a:xfrm>
            <a:off x="2408232" y="5987018"/>
            <a:ext cx="682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1" dirty="0">
                <a:solidFill>
                  <a:srgbClr val="FF0000"/>
                </a:solidFill>
              </a:rPr>
              <a:t>filme</a:t>
            </a:r>
            <a:endParaRPr lang="pt-BR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4B6F065-CF0B-BE37-6EFE-5B3A130C44A2}"/>
              </a:ext>
            </a:extLst>
          </p:cNvPr>
          <p:cNvSpPr txBox="1"/>
          <p:nvPr/>
        </p:nvSpPr>
        <p:spPr>
          <a:xfrm>
            <a:off x="3729476" y="5996692"/>
            <a:ext cx="316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1" dirty="0">
                <a:solidFill>
                  <a:srgbClr val="FF0000"/>
                </a:solidFill>
              </a:rPr>
              <a:t>é</a:t>
            </a:r>
            <a:endParaRPr lang="pt-BR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56D6736-9F95-A730-53EB-D16669251F40}"/>
              </a:ext>
            </a:extLst>
          </p:cNvPr>
          <p:cNvSpPr txBox="1"/>
          <p:nvPr/>
        </p:nvSpPr>
        <p:spPr>
          <a:xfrm>
            <a:off x="4587755" y="5996692"/>
            <a:ext cx="998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1" dirty="0">
                <a:solidFill>
                  <a:srgbClr val="FF0000"/>
                </a:solidFill>
              </a:rPr>
              <a:t>péssimo</a:t>
            </a:r>
            <a:endParaRPr lang="pt-BR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734834F-DD1C-EA72-8803-E3C9694CF48E}"/>
              </a:ext>
            </a:extLst>
          </p:cNvPr>
          <p:cNvSpPr txBox="1"/>
          <p:nvPr/>
        </p:nvSpPr>
        <p:spPr>
          <a:xfrm>
            <a:off x="6054294" y="6002511"/>
            <a:ext cx="316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1" dirty="0">
                <a:solidFill>
                  <a:srgbClr val="FF0000"/>
                </a:solidFill>
              </a:rPr>
              <a:t>e</a:t>
            </a:r>
            <a:endParaRPr lang="pt-BR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927465F-A173-FD20-B85E-774DF66C0019}"/>
              </a:ext>
            </a:extLst>
          </p:cNvPr>
          <p:cNvSpPr txBox="1"/>
          <p:nvPr/>
        </p:nvSpPr>
        <p:spPr>
          <a:xfrm>
            <a:off x="6875100" y="6007159"/>
            <a:ext cx="1070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1" dirty="0">
                <a:solidFill>
                  <a:srgbClr val="FF0000"/>
                </a:solidFill>
              </a:rPr>
              <a:t>ninguém</a:t>
            </a:r>
            <a:endParaRPr lang="pt-BR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9239761-2388-D202-6CAC-33D951815B0A}"/>
              </a:ext>
            </a:extLst>
          </p:cNvPr>
          <p:cNvSpPr txBox="1"/>
          <p:nvPr/>
        </p:nvSpPr>
        <p:spPr>
          <a:xfrm>
            <a:off x="9233903" y="5987018"/>
            <a:ext cx="827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i="1" dirty="0">
                <a:solidFill>
                  <a:srgbClr val="0070C0"/>
                </a:solidFill>
              </a:rPr>
              <a:t>futuro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06926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40660-BEC4-2A11-6EC7-3EDA3BAB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 em redes recorrentes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9849C-DD5C-5F0C-A030-D9E0AA5C7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“</a:t>
            </a:r>
            <a:r>
              <a:rPr lang="pt-BR" sz="2400" b="1" i="1" dirty="0">
                <a:solidFill>
                  <a:srgbClr val="FF0000"/>
                </a:solidFill>
              </a:rPr>
              <a:t>O filme é péssimo e ninguém deveria perder tempo assistindo. </a:t>
            </a:r>
            <a:r>
              <a:rPr lang="pt-BR" sz="2400" i="1" dirty="0">
                <a:solidFill>
                  <a:srgbClr val="0070C0"/>
                </a:solidFill>
              </a:rPr>
              <a:t>Contudo eu admiro a tentativa de </a:t>
            </a:r>
            <a:r>
              <a:rPr lang="pt-BR" sz="2400" i="1" dirty="0" err="1">
                <a:solidFill>
                  <a:srgbClr val="0070C0"/>
                </a:solidFill>
              </a:rPr>
              <a:t>hollywood</a:t>
            </a:r>
            <a:r>
              <a:rPr lang="pt-BR" sz="2400" i="1" dirty="0">
                <a:solidFill>
                  <a:srgbClr val="0070C0"/>
                </a:solidFill>
              </a:rPr>
              <a:t> de aumentar a representatividade em termos de história e atores, certamente será possível colher frutos sobre essas tentativa em outras obras no futuro</a:t>
            </a:r>
            <a:r>
              <a:rPr lang="pt-BR" dirty="0"/>
              <a:t>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47885-E699-B616-8D49-44343F41F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</a:t>
            </a:fld>
            <a:endParaRPr lang="pt-B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D2586B6-982B-7A5E-47CD-CD08D11A829F}"/>
              </a:ext>
            </a:extLst>
          </p:cNvPr>
          <p:cNvGrpSpPr/>
          <p:nvPr/>
        </p:nvGrpSpPr>
        <p:grpSpPr>
          <a:xfrm>
            <a:off x="1197216" y="4708583"/>
            <a:ext cx="4242755" cy="1160920"/>
            <a:chOff x="2227056" y="2886389"/>
            <a:chExt cx="7131177" cy="180307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090255E-35DC-0759-F8BC-34D29E4C9AF1}"/>
                </a:ext>
              </a:extLst>
            </p:cNvPr>
            <p:cNvGrpSpPr/>
            <p:nvPr/>
          </p:nvGrpSpPr>
          <p:grpSpPr>
            <a:xfrm>
              <a:off x="2227056" y="2968874"/>
              <a:ext cx="1390302" cy="1720587"/>
              <a:chOff x="8610600" y="3540312"/>
              <a:chExt cx="1390302" cy="17205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Elipse 23">
                    <a:extLst>
                      <a:ext uri="{FF2B5EF4-FFF2-40B4-BE49-F238E27FC236}">
                        <a16:creationId xmlns:a16="http://schemas.microsoft.com/office/drawing/2014/main" id="{DBC5F355-8586-C44D-7046-1BF9C37AB7FC}"/>
                      </a:ext>
                    </a:extLst>
                  </p:cNvPr>
                  <p:cNvSpPr/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solidFill>
                    <a:srgbClr val="AFEBF7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49" name="Elipse 23">
                    <a:extLst>
                      <a:ext uri="{FF2B5EF4-FFF2-40B4-BE49-F238E27FC236}">
                        <a16:creationId xmlns:a16="http://schemas.microsoft.com/office/drawing/2014/main" id="{DDCD9A7B-9EED-967F-9671-0A54D284E27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177973F1-3A5A-063A-01CA-5E8ED111FAEE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07ADF5C6-B3D2-C6E1-EE19-A2026099B416}"/>
                  </a:ext>
                </a:extLst>
              </p:cNvPr>
              <p:cNvCxnSpPr>
                <a:cxnSpLocks/>
                <a:stCxn id="19" idx="0"/>
                <a:endCxn id="20" idx="2"/>
              </p:cNvCxnSpPr>
              <p:nvPr/>
            </p:nvCxnSpPr>
            <p:spPr>
              <a:xfrm flipH="1" flipV="1">
                <a:off x="9305751" y="4298672"/>
                <a:ext cx="1" cy="42981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DFC547C-35F2-12BC-BB2F-120A974F4CC6}"/>
                </a:ext>
              </a:extLst>
            </p:cNvPr>
            <p:cNvSpPr/>
            <p:nvPr/>
          </p:nvSpPr>
          <p:spPr>
            <a:xfrm>
              <a:off x="4140682" y="2968874"/>
              <a:ext cx="1390302" cy="75835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C684F31-68C0-4668-19ED-A20A15CD170A}"/>
                </a:ext>
              </a:extLst>
            </p:cNvPr>
            <p:cNvSpPr/>
            <p:nvPr/>
          </p:nvSpPr>
          <p:spPr>
            <a:xfrm>
              <a:off x="6054306" y="2968874"/>
              <a:ext cx="1390302" cy="75835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A460F9E-640F-EB38-9A50-97E6B9A7AC16}"/>
                </a:ext>
              </a:extLst>
            </p:cNvPr>
            <p:cNvSpPr/>
            <p:nvPr/>
          </p:nvSpPr>
          <p:spPr>
            <a:xfrm>
              <a:off x="7967931" y="2970116"/>
              <a:ext cx="1390302" cy="75836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31344F0-E63A-6271-B1B4-C7534921C5E0}"/>
                </a:ext>
              </a:extLst>
            </p:cNvPr>
            <p:cNvCxnSpPr>
              <a:cxnSpLocks/>
              <a:stCxn id="20" idx="3"/>
              <a:endCxn id="7" idx="1"/>
            </p:cNvCxnSpPr>
            <p:nvPr/>
          </p:nvCxnSpPr>
          <p:spPr>
            <a:xfrm>
              <a:off x="3617358" y="3348054"/>
              <a:ext cx="5233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BE539B2-2FD4-16E6-0DAC-07A4530935CE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>
              <a:off x="5530983" y="3348054"/>
              <a:ext cx="5233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6F93FD6-D586-1DC1-CDB5-6AF5874918F7}"/>
                </a:ext>
              </a:extLst>
            </p:cNvPr>
            <p:cNvCxnSpPr>
              <a:cxnSpLocks/>
              <a:stCxn id="8" idx="3"/>
              <a:endCxn id="16" idx="1"/>
            </p:cNvCxnSpPr>
            <p:nvPr/>
          </p:nvCxnSpPr>
          <p:spPr>
            <a:xfrm>
              <a:off x="7444608" y="3348054"/>
              <a:ext cx="523323" cy="12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DD2C643-6DD3-2CAF-7248-CB763683C05A}"/>
                    </a:ext>
                  </a:extLst>
                </p:cNvPr>
                <p:cNvSpPr txBox="1"/>
                <p:nvPr/>
              </p:nvSpPr>
              <p:spPr>
                <a:xfrm>
                  <a:off x="3550436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2C71D18-3236-C209-CAEF-5C5F9041BC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436" y="2886389"/>
                  <a:ext cx="485339" cy="396778"/>
                </a:xfrm>
                <a:prstGeom prst="rect">
                  <a:avLst/>
                </a:prstGeom>
                <a:blipFill>
                  <a:blip r:embed="rId4"/>
                  <a:stretch>
                    <a:fillRect r="-6383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48444AE-5C65-5205-04C6-A6B65E3BAA78}"/>
                    </a:ext>
                  </a:extLst>
                </p:cNvPr>
                <p:cNvSpPr txBox="1"/>
                <p:nvPr/>
              </p:nvSpPr>
              <p:spPr>
                <a:xfrm>
                  <a:off x="5487670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ED04AF6-5A01-056A-806C-072128B5E6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7670" y="2886389"/>
                  <a:ext cx="485339" cy="396778"/>
                </a:xfrm>
                <a:prstGeom prst="rect">
                  <a:avLst/>
                </a:prstGeom>
                <a:blipFill>
                  <a:blip r:embed="rId5"/>
                  <a:stretch>
                    <a:fillRect r="-4255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5A24F9F-5B59-7D14-0F01-D11510AA4878}"/>
                    </a:ext>
                  </a:extLst>
                </p:cNvPr>
                <p:cNvSpPr txBox="1"/>
                <p:nvPr/>
              </p:nvSpPr>
              <p:spPr>
                <a:xfrm>
                  <a:off x="7377686" y="2886389"/>
                  <a:ext cx="485339" cy="39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C040108-FEF4-7078-2285-9EBB0814C7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7686" y="2886389"/>
                  <a:ext cx="485339" cy="396778"/>
                </a:xfrm>
                <a:prstGeom prst="rect">
                  <a:avLst/>
                </a:prstGeom>
                <a:blipFill>
                  <a:blip r:embed="rId6"/>
                  <a:stretch>
                    <a:fillRect r="-6383" b="-1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Elipse 23">
                <a:extLst>
                  <a:ext uri="{FF2B5EF4-FFF2-40B4-BE49-F238E27FC236}">
                    <a16:creationId xmlns:a16="http://schemas.microsoft.com/office/drawing/2014/main" id="{99C3B4E0-A43C-3BA3-257F-EE15E9468C9D}"/>
                  </a:ext>
                </a:extLst>
              </p:cNvPr>
              <p:cNvSpPr/>
              <p:nvPr/>
            </p:nvSpPr>
            <p:spPr>
              <a:xfrm>
                <a:off x="1452421" y="5526707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28" name="Elipse 23">
                <a:extLst>
                  <a:ext uri="{FF2B5EF4-FFF2-40B4-BE49-F238E27FC236}">
                    <a16:creationId xmlns:a16="http://schemas.microsoft.com/office/drawing/2014/main" id="{99C3B4E0-A43C-3BA3-257F-EE15E9468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421" y="5526707"/>
                <a:ext cx="316762" cy="342797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Elipse 23">
                <a:extLst>
                  <a:ext uri="{FF2B5EF4-FFF2-40B4-BE49-F238E27FC236}">
                    <a16:creationId xmlns:a16="http://schemas.microsoft.com/office/drawing/2014/main" id="{D95D9E6C-85BA-55B0-A619-46028F7F09DD}"/>
                  </a:ext>
                </a:extLst>
              </p:cNvPr>
              <p:cNvSpPr/>
              <p:nvPr/>
            </p:nvSpPr>
            <p:spPr>
              <a:xfrm>
                <a:off x="2590949" y="5526707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29" name="Elipse 23">
                <a:extLst>
                  <a:ext uri="{FF2B5EF4-FFF2-40B4-BE49-F238E27FC236}">
                    <a16:creationId xmlns:a16="http://schemas.microsoft.com/office/drawing/2014/main" id="{D95D9E6C-85BA-55B0-A619-46028F7F09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949" y="5526707"/>
                <a:ext cx="316762" cy="342797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4769B37-9714-AECE-EBB2-2A42AA70002D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2749330" y="5249967"/>
            <a:ext cx="1" cy="2767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Elipse 23">
                <a:extLst>
                  <a:ext uri="{FF2B5EF4-FFF2-40B4-BE49-F238E27FC236}">
                    <a16:creationId xmlns:a16="http://schemas.microsoft.com/office/drawing/2014/main" id="{36C44B2B-B6AF-3961-9054-0D379D9B4953}"/>
                  </a:ext>
                </a:extLst>
              </p:cNvPr>
              <p:cNvSpPr/>
              <p:nvPr/>
            </p:nvSpPr>
            <p:spPr>
              <a:xfrm>
                <a:off x="3729476" y="5526707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31" name="Elipse 23">
                <a:extLst>
                  <a:ext uri="{FF2B5EF4-FFF2-40B4-BE49-F238E27FC236}">
                    <a16:creationId xmlns:a16="http://schemas.microsoft.com/office/drawing/2014/main" id="{36C44B2B-B6AF-3961-9054-0D379D9B49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476" y="5526707"/>
                <a:ext cx="316762" cy="342797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3F4FE21-97CC-9516-D5BE-9FE75FA646D1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3887857" y="5249967"/>
            <a:ext cx="1" cy="2767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Elipse 23">
                <a:extLst>
                  <a:ext uri="{FF2B5EF4-FFF2-40B4-BE49-F238E27FC236}">
                    <a16:creationId xmlns:a16="http://schemas.microsoft.com/office/drawing/2014/main" id="{EC1F5518-7CF8-0FC6-D56A-1EA04FB23167}"/>
                  </a:ext>
                </a:extLst>
              </p:cNvPr>
              <p:cNvSpPr/>
              <p:nvPr/>
            </p:nvSpPr>
            <p:spPr>
              <a:xfrm>
                <a:off x="4868004" y="5527507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33" name="Elipse 23">
                <a:extLst>
                  <a:ext uri="{FF2B5EF4-FFF2-40B4-BE49-F238E27FC236}">
                    <a16:creationId xmlns:a16="http://schemas.microsoft.com/office/drawing/2014/main" id="{EC1F5518-7CF8-0FC6-D56A-1EA04FB231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004" y="5527507"/>
                <a:ext cx="316762" cy="342797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D4C2962-0F08-64A9-8661-8A419011A16D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5026385" y="5250767"/>
            <a:ext cx="1" cy="2767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76B4782-98D4-19BD-3E82-E9BDEC86B1D2}"/>
              </a:ext>
            </a:extLst>
          </p:cNvPr>
          <p:cNvGrpSpPr/>
          <p:nvPr/>
        </p:nvGrpSpPr>
        <p:grpSpPr>
          <a:xfrm>
            <a:off x="5798987" y="4142956"/>
            <a:ext cx="4242755" cy="1726548"/>
            <a:chOff x="2227056" y="2007890"/>
            <a:chExt cx="7131177" cy="2681571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10A8F60-0447-92E9-D434-BD585419CD97}"/>
                </a:ext>
              </a:extLst>
            </p:cNvPr>
            <p:cNvGrpSpPr/>
            <p:nvPr/>
          </p:nvGrpSpPr>
          <p:grpSpPr>
            <a:xfrm>
              <a:off x="2227056" y="2968874"/>
              <a:ext cx="1390302" cy="1720587"/>
              <a:chOff x="8610600" y="3540312"/>
              <a:chExt cx="1390302" cy="17205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Elipse 23">
                    <a:extLst>
                      <a:ext uri="{FF2B5EF4-FFF2-40B4-BE49-F238E27FC236}">
                        <a16:creationId xmlns:a16="http://schemas.microsoft.com/office/drawing/2014/main" id="{17E30F6F-4137-F0EE-4631-C48B370923D0}"/>
                      </a:ext>
                    </a:extLst>
                  </p:cNvPr>
                  <p:cNvSpPr/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solidFill>
                    <a:srgbClr val="AFEBF7"/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49" name="Elipse 23">
                    <a:extLst>
                      <a:ext uri="{FF2B5EF4-FFF2-40B4-BE49-F238E27FC236}">
                        <a16:creationId xmlns:a16="http://schemas.microsoft.com/office/drawing/2014/main" id="{DDCD9A7B-9EED-967F-9671-0A54D284E27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4728488"/>
                    <a:ext cx="532411" cy="532411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2C2FBE3-DBA9-0ED7-DB84-C70F7AD57B14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8A616D4A-4A57-5259-A085-5794FD84F92F}"/>
                  </a:ext>
                </a:extLst>
              </p:cNvPr>
              <p:cNvCxnSpPr>
                <a:cxnSpLocks/>
                <a:stCxn id="49" idx="0"/>
                <a:endCxn id="50" idx="2"/>
              </p:cNvCxnSpPr>
              <p:nvPr/>
            </p:nvCxnSpPr>
            <p:spPr>
              <a:xfrm flipH="1" flipV="1">
                <a:off x="9305751" y="4298672"/>
                <a:ext cx="1" cy="42981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4E182125-4C66-DB9F-845A-039206156C44}"/>
                </a:ext>
              </a:extLst>
            </p:cNvPr>
            <p:cNvSpPr/>
            <p:nvPr/>
          </p:nvSpPr>
          <p:spPr>
            <a:xfrm>
              <a:off x="4140682" y="2968874"/>
              <a:ext cx="1390302" cy="75835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834B50D-0962-09AC-8260-468548FF8A51}"/>
                </a:ext>
              </a:extLst>
            </p:cNvPr>
            <p:cNvGrpSpPr/>
            <p:nvPr/>
          </p:nvGrpSpPr>
          <p:grpSpPr>
            <a:xfrm>
              <a:off x="7967931" y="2007890"/>
              <a:ext cx="1390302" cy="1720586"/>
              <a:chOff x="8610600" y="2578086"/>
              <a:chExt cx="1390302" cy="1720586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349BD481-A0BC-DC43-0AE9-684EEBB9D593}"/>
                  </a:ext>
                </a:extLst>
              </p:cNvPr>
              <p:cNvSpPr/>
              <p:nvPr/>
            </p:nvSpPr>
            <p:spPr>
              <a:xfrm>
                <a:off x="8610600" y="3540312"/>
                <a:ext cx="1390302" cy="75836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Elipse 23">
                    <a:extLst>
                      <a:ext uri="{FF2B5EF4-FFF2-40B4-BE49-F238E27FC236}">
                        <a16:creationId xmlns:a16="http://schemas.microsoft.com/office/drawing/2014/main" id="{9577DB6E-6E29-DDD3-720E-341F83E4B210}"/>
                      </a:ext>
                    </a:extLst>
                  </p:cNvPr>
                  <p:cNvSpPr/>
                  <p:nvPr/>
                </p:nvSpPr>
                <p:spPr>
                  <a:xfrm>
                    <a:off x="9039546" y="2578086"/>
                    <a:ext cx="532411" cy="532411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pt-BR" sz="1100" dirty="0"/>
                  </a:p>
                </p:txBody>
              </p:sp>
            </mc:Choice>
            <mc:Fallback xmlns="">
              <p:sp>
                <p:nvSpPr>
                  <p:cNvPr id="47" name="Elipse 23">
                    <a:extLst>
                      <a:ext uri="{FF2B5EF4-FFF2-40B4-BE49-F238E27FC236}">
                        <a16:creationId xmlns:a16="http://schemas.microsoft.com/office/drawing/2014/main" id="{9577DB6E-6E29-DDD3-720E-341F83E4B21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9546" y="2578086"/>
                    <a:ext cx="532411" cy="532411"/>
                  </a:xfrm>
                  <a:prstGeom prst="ellipse">
                    <a:avLst/>
                  </a:prstGeom>
                  <a:blipFill>
                    <a:blip r:embed="rId11"/>
                    <a:stretch>
                      <a:fillRect l="-3846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86186B5F-D856-FBCA-5D86-59BD252EBEED}"/>
                  </a:ext>
                </a:extLst>
              </p:cNvPr>
              <p:cNvCxnSpPr>
                <a:cxnSpLocks/>
                <a:stCxn id="46" idx="0"/>
                <a:endCxn id="47" idx="4"/>
              </p:cNvCxnSpPr>
              <p:nvPr/>
            </p:nvCxnSpPr>
            <p:spPr>
              <a:xfrm flipV="1">
                <a:off x="9305751" y="3110497"/>
                <a:ext cx="1" cy="42981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E847AAF-181B-5B8B-249D-E1BDB4D5372E}"/>
                </a:ext>
              </a:extLst>
            </p:cNvPr>
            <p:cNvCxnSpPr>
              <a:cxnSpLocks/>
              <a:stCxn id="50" idx="3"/>
              <a:endCxn id="37" idx="1"/>
            </p:cNvCxnSpPr>
            <p:nvPr/>
          </p:nvCxnSpPr>
          <p:spPr>
            <a:xfrm>
              <a:off x="3617358" y="3348054"/>
              <a:ext cx="5233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54BEACD-1D92-2203-FA4C-C3ABA56222F8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>
              <a:off x="5530983" y="3348054"/>
              <a:ext cx="5233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A3A4C67-3D83-BAAD-D3F3-9F2D23E70E75}"/>
                </a:ext>
              </a:extLst>
            </p:cNvPr>
            <p:cNvCxnSpPr>
              <a:cxnSpLocks/>
              <a:endCxn id="46" idx="1"/>
            </p:cNvCxnSpPr>
            <p:nvPr/>
          </p:nvCxnSpPr>
          <p:spPr>
            <a:xfrm>
              <a:off x="7444608" y="3348054"/>
              <a:ext cx="523323" cy="12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2154ECE-3C0B-B6D1-484E-3937F777AC94}"/>
                    </a:ext>
                  </a:extLst>
                </p:cNvPr>
                <p:cNvSpPr txBox="1"/>
                <p:nvPr/>
              </p:nvSpPr>
              <p:spPr>
                <a:xfrm>
                  <a:off x="3550436" y="2886390"/>
                  <a:ext cx="485340" cy="4780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2154ECE-3C0B-B6D1-484E-3937F777AC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436" y="2886390"/>
                  <a:ext cx="485340" cy="478021"/>
                </a:xfrm>
                <a:prstGeom prst="rect">
                  <a:avLst/>
                </a:prstGeom>
                <a:blipFill>
                  <a:blip r:embed="rId12"/>
                  <a:stretch>
                    <a:fillRect r="-41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412BB3A-BDA0-04E0-74CF-C5BFA77FB918}"/>
                    </a:ext>
                  </a:extLst>
                </p:cNvPr>
                <p:cNvSpPr txBox="1"/>
                <p:nvPr/>
              </p:nvSpPr>
              <p:spPr>
                <a:xfrm>
                  <a:off x="5487669" y="2886390"/>
                  <a:ext cx="485340" cy="4780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412BB3A-BDA0-04E0-74CF-C5BFA77FB9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7669" y="2886390"/>
                  <a:ext cx="485340" cy="478021"/>
                </a:xfrm>
                <a:prstGeom prst="rect">
                  <a:avLst/>
                </a:prstGeom>
                <a:blipFill>
                  <a:blip r:embed="rId13"/>
                  <a:stretch>
                    <a:fillRect r="-638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32FFD0D-7AE5-DB51-4E3A-0360DD087020}"/>
                    </a:ext>
                  </a:extLst>
                </p:cNvPr>
                <p:cNvSpPr txBox="1"/>
                <p:nvPr/>
              </p:nvSpPr>
              <p:spPr>
                <a:xfrm>
                  <a:off x="7377687" y="2886390"/>
                  <a:ext cx="485340" cy="4780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32FFD0D-7AE5-DB51-4E3A-0360DD0870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7687" y="2886390"/>
                  <a:ext cx="485340" cy="478021"/>
                </a:xfrm>
                <a:prstGeom prst="rect">
                  <a:avLst/>
                </a:prstGeom>
                <a:blipFill>
                  <a:blip r:embed="rId14"/>
                  <a:stretch>
                    <a:fillRect r="-638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Elipse 23">
                <a:extLst>
                  <a:ext uri="{FF2B5EF4-FFF2-40B4-BE49-F238E27FC236}">
                    <a16:creationId xmlns:a16="http://schemas.microsoft.com/office/drawing/2014/main" id="{E371C1F0-66E5-C42B-A27D-D7353A05C77D}"/>
                  </a:ext>
                </a:extLst>
              </p:cNvPr>
              <p:cNvSpPr/>
              <p:nvPr/>
            </p:nvSpPr>
            <p:spPr>
              <a:xfrm>
                <a:off x="6054192" y="5526707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58" name="Elipse 23">
                <a:extLst>
                  <a:ext uri="{FF2B5EF4-FFF2-40B4-BE49-F238E27FC236}">
                    <a16:creationId xmlns:a16="http://schemas.microsoft.com/office/drawing/2014/main" id="{E371C1F0-66E5-C42B-A27D-D7353A05C7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4192" y="5526707"/>
                <a:ext cx="316762" cy="342797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Elipse 23">
                <a:extLst>
                  <a:ext uri="{FF2B5EF4-FFF2-40B4-BE49-F238E27FC236}">
                    <a16:creationId xmlns:a16="http://schemas.microsoft.com/office/drawing/2014/main" id="{2FE32CE6-FED6-2CE8-B607-94ED4BF418D5}"/>
                  </a:ext>
                </a:extLst>
              </p:cNvPr>
              <p:cNvSpPr/>
              <p:nvPr/>
            </p:nvSpPr>
            <p:spPr>
              <a:xfrm>
                <a:off x="7192720" y="5526707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59" name="Elipse 23">
                <a:extLst>
                  <a:ext uri="{FF2B5EF4-FFF2-40B4-BE49-F238E27FC236}">
                    <a16:creationId xmlns:a16="http://schemas.microsoft.com/office/drawing/2014/main" id="{2FE32CE6-FED6-2CE8-B607-94ED4BF418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720" y="5526707"/>
                <a:ext cx="316762" cy="342797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0883F16-DC68-7A3C-26DD-23BDC622ACD7}"/>
              </a:ext>
            </a:extLst>
          </p:cNvPr>
          <p:cNvCxnSpPr>
            <a:cxnSpLocks/>
            <a:stCxn id="59" idx="0"/>
          </p:cNvCxnSpPr>
          <p:nvPr/>
        </p:nvCxnSpPr>
        <p:spPr>
          <a:xfrm flipH="1" flipV="1">
            <a:off x="7351101" y="5249967"/>
            <a:ext cx="1" cy="2767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Elipse 23">
                <a:extLst>
                  <a:ext uri="{FF2B5EF4-FFF2-40B4-BE49-F238E27FC236}">
                    <a16:creationId xmlns:a16="http://schemas.microsoft.com/office/drawing/2014/main" id="{172A5AB6-FF33-DD16-3603-6CA5CBB58EC0}"/>
                  </a:ext>
                </a:extLst>
              </p:cNvPr>
              <p:cNvSpPr/>
              <p:nvPr/>
            </p:nvSpPr>
            <p:spPr>
              <a:xfrm>
                <a:off x="9469775" y="5527507"/>
                <a:ext cx="316762" cy="342797"/>
              </a:xfrm>
              <a:prstGeom prst="ellipse">
                <a:avLst/>
              </a:prstGeom>
              <a:solidFill>
                <a:srgbClr val="AFEBF7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63" name="Elipse 23">
                <a:extLst>
                  <a:ext uri="{FF2B5EF4-FFF2-40B4-BE49-F238E27FC236}">
                    <a16:creationId xmlns:a16="http://schemas.microsoft.com/office/drawing/2014/main" id="{172A5AB6-FF33-DD16-3603-6CA5CBB58E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9775" y="5527507"/>
                <a:ext cx="316762" cy="342797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3D75147-EAE8-0BCC-09E1-CCC787B5AABE}"/>
              </a:ext>
            </a:extLst>
          </p:cNvPr>
          <p:cNvCxnSpPr>
            <a:cxnSpLocks/>
            <a:stCxn id="63" idx="0"/>
          </p:cNvCxnSpPr>
          <p:nvPr/>
        </p:nvCxnSpPr>
        <p:spPr>
          <a:xfrm flipH="1" flipV="1">
            <a:off x="9628156" y="5250767"/>
            <a:ext cx="1" cy="2767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C5CD229-AA25-C786-7408-3D2AE33EA364}"/>
              </a:ext>
            </a:extLst>
          </p:cNvPr>
          <p:cNvCxnSpPr>
            <a:cxnSpLocks/>
            <a:stCxn id="16" idx="3"/>
            <a:endCxn id="50" idx="1"/>
          </p:cNvCxnSpPr>
          <p:nvPr/>
        </p:nvCxnSpPr>
        <p:spPr>
          <a:xfrm flipV="1">
            <a:off x="5439971" y="5005830"/>
            <a:ext cx="359016" cy="8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C63805F4-AAB2-7622-3577-5D8C0FE83657}"/>
              </a:ext>
            </a:extLst>
          </p:cNvPr>
          <p:cNvSpPr txBox="1"/>
          <p:nvPr/>
        </p:nvSpPr>
        <p:spPr>
          <a:xfrm>
            <a:off x="8269951" y="4704189"/>
            <a:ext cx="702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3C2AE72-4802-6463-4EC8-C9CEBDED384D}"/>
                  </a:ext>
                </a:extLst>
              </p:cNvPr>
              <p:cNvSpPr txBox="1"/>
              <p:nvPr/>
            </p:nvSpPr>
            <p:spPr>
              <a:xfrm>
                <a:off x="5439971" y="4704189"/>
                <a:ext cx="28875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3C2AE72-4802-6463-4EC8-C9CEBDED3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971" y="4704189"/>
                <a:ext cx="288757" cy="307777"/>
              </a:xfrm>
              <a:prstGeom prst="rect">
                <a:avLst/>
              </a:prstGeom>
              <a:blipFill>
                <a:blip r:embed="rId18"/>
                <a:stretch>
                  <a:fillRect r="-41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524C5938-42CE-9956-7EDC-411D195FE382}"/>
              </a:ext>
            </a:extLst>
          </p:cNvPr>
          <p:cNvSpPr txBox="1"/>
          <p:nvPr/>
        </p:nvSpPr>
        <p:spPr>
          <a:xfrm>
            <a:off x="1391009" y="5987018"/>
            <a:ext cx="288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1" dirty="0">
                <a:solidFill>
                  <a:srgbClr val="FF0000"/>
                </a:solidFill>
              </a:rPr>
              <a:t>O</a:t>
            </a:r>
            <a:endParaRPr lang="pt-BR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E97FBC-1E9E-F822-78F3-28EF9A085151}"/>
              </a:ext>
            </a:extLst>
          </p:cNvPr>
          <p:cNvSpPr txBox="1"/>
          <p:nvPr/>
        </p:nvSpPr>
        <p:spPr>
          <a:xfrm>
            <a:off x="2408232" y="5987018"/>
            <a:ext cx="682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1" dirty="0">
                <a:solidFill>
                  <a:srgbClr val="FF0000"/>
                </a:solidFill>
              </a:rPr>
              <a:t>filme</a:t>
            </a:r>
            <a:endParaRPr lang="pt-BR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4B6F065-CF0B-BE37-6EFE-5B3A130C44A2}"/>
              </a:ext>
            </a:extLst>
          </p:cNvPr>
          <p:cNvSpPr txBox="1"/>
          <p:nvPr/>
        </p:nvSpPr>
        <p:spPr>
          <a:xfrm>
            <a:off x="3729476" y="5996692"/>
            <a:ext cx="316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1" dirty="0">
                <a:solidFill>
                  <a:srgbClr val="FF0000"/>
                </a:solidFill>
              </a:rPr>
              <a:t>é</a:t>
            </a:r>
            <a:endParaRPr lang="pt-BR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56D6736-9F95-A730-53EB-D16669251F40}"/>
              </a:ext>
            </a:extLst>
          </p:cNvPr>
          <p:cNvSpPr txBox="1"/>
          <p:nvPr/>
        </p:nvSpPr>
        <p:spPr>
          <a:xfrm>
            <a:off x="4587755" y="5996692"/>
            <a:ext cx="998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1" dirty="0">
                <a:solidFill>
                  <a:srgbClr val="FF0000"/>
                </a:solidFill>
              </a:rPr>
              <a:t>péssimo</a:t>
            </a:r>
            <a:endParaRPr lang="pt-BR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734834F-DD1C-EA72-8803-E3C9694CF48E}"/>
              </a:ext>
            </a:extLst>
          </p:cNvPr>
          <p:cNvSpPr txBox="1"/>
          <p:nvPr/>
        </p:nvSpPr>
        <p:spPr>
          <a:xfrm>
            <a:off x="6054294" y="6002511"/>
            <a:ext cx="316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1" dirty="0">
                <a:solidFill>
                  <a:srgbClr val="FF0000"/>
                </a:solidFill>
              </a:rPr>
              <a:t>e</a:t>
            </a:r>
            <a:endParaRPr lang="pt-BR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927465F-A173-FD20-B85E-774DF66C0019}"/>
              </a:ext>
            </a:extLst>
          </p:cNvPr>
          <p:cNvSpPr txBox="1"/>
          <p:nvPr/>
        </p:nvSpPr>
        <p:spPr>
          <a:xfrm>
            <a:off x="6875100" y="6007159"/>
            <a:ext cx="1070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1" dirty="0">
                <a:solidFill>
                  <a:srgbClr val="FF0000"/>
                </a:solidFill>
              </a:rPr>
              <a:t>ninguém</a:t>
            </a:r>
            <a:endParaRPr lang="pt-BR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9239761-2388-D202-6CAC-33D951815B0A}"/>
              </a:ext>
            </a:extLst>
          </p:cNvPr>
          <p:cNvSpPr txBox="1"/>
          <p:nvPr/>
        </p:nvSpPr>
        <p:spPr>
          <a:xfrm>
            <a:off x="9233903" y="5987018"/>
            <a:ext cx="827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i="1" dirty="0">
                <a:solidFill>
                  <a:srgbClr val="0070C0"/>
                </a:solidFill>
              </a:rPr>
              <a:t>futuro</a:t>
            </a:r>
            <a:endParaRPr lang="pt-BR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2616DEA-6973-093F-41E5-142DF5A24ACC}"/>
              </a:ext>
            </a:extLst>
          </p:cNvPr>
          <p:cNvSpPr/>
          <p:nvPr/>
        </p:nvSpPr>
        <p:spPr>
          <a:xfrm>
            <a:off x="1964606" y="4320457"/>
            <a:ext cx="415555" cy="405249"/>
          </a:xfrm>
          <a:prstGeom prst="downArrow">
            <a:avLst>
              <a:gd name="adj1" fmla="val 32200"/>
              <a:gd name="adj2" fmla="val 5072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290F37BD-7526-064A-029A-9A0123B6CE5C}"/>
              </a:ext>
            </a:extLst>
          </p:cNvPr>
          <p:cNvSpPr/>
          <p:nvPr/>
        </p:nvSpPr>
        <p:spPr>
          <a:xfrm>
            <a:off x="3106591" y="4320457"/>
            <a:ext cx="415555" cy="405249"/>
          </a:xfrm>
          <a:prstGeom prst="downArrow">
            <a:avLst>
              <a:gd name="adj1" fmla="val 32200"/>
              <a:gd name="adj2" fmla="val 5072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BF8879D0-6781-EC77-633F-D5F18331290B}"/>
              </a:ext>
            </a:extLst>
          </p:cNvPr>
          <p:cNvSpPr/>
          <p:nvPr/>
        </p:nvSpPr>
        <p:spPr>
          <a:xfrm>
            <a:off x="4248576" y="4320457"/>
            <a:ext cx="415555" cy="405249"/>
          </a:xfrm>
          <a:prstGeom prst="downArrow">
            <a:avLst>
              <a:gd name="adj1" fmla="val 32200"/>
              <a:gd name="adj2" fmla="val 5072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A23BD0F9-19A4-E604-C9B9-38BF9879768C}"/>
              </a:ext>
            </a:extLst>
          </p:cNvPr>
          <p:cNvSpPr/>
          <p:nvPr/>
        </p:nvSpPr>
        <p:spPr>
          <a:xfrm>
            <a:off x="5390561" y="4320457"/>
            <a:ext cx="415555" cy="405249"/>
          </a:xfrm>
          <a:prstGeom prst="downArrow">
            <a:avLst>
              <a:gd name="adj1" fmla="val 32200"/>
              <a:gd name="adj2" fmla="val 5072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769C45E1-DD5B-585C-A3D8-12FCAF4FFB0D}"/>
              </a:ext>
            </a:extLst>
          </p:cNvPr>
          <p:cNvSpPr/>
          <p:nvPr/>
        </p:nvSpPr>
        <p:spPr>
          <a:xfrm>
            <a:off x="6532546" y="4320457"/>
            <a:ext cx="415555" cy="405249"/>
          </a:xfrm>
          <a:prstGeom prst="downArrow">
            <a:avLst>
              <a:gd name="adj1" fmla="val 32200"/>
              <a:gd name="adj2" fmla="val 5072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E769D5F9-2488-E7BE-D054-CD0CBE58E2EC}"/>
              </a:ext>
            </a:extLst>
          </p:cNvPr>
          <p:cNvSpPr/>
          <p:nvPr/>
        </p:nvSpPr>
        <p:spPr>
          <a:xfrm>
            <a:off x="7674533" y="4320457"/>
            <a:ext cx="415555" cy="405249"/>
          </a:xfrm>
          <a:prstGeom prst="downArrow">
            <a:avLst>
              <a:gd name="adj1" fmla="val 32200"/>
              <a:gd name="adj2" fmla="val 5072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F90AC5-D198-9416-5259-0FBBE39ADC95}"/>
              </a:ext>
            </a:extLst>
          </p:cNvPr>
          <p:cNvSpPr txBox="1"/>
          <p:nvPr/>
        </p:nvSpPr>
        <p:spPr>
          <a:xfrm>
            <a:off x="8227438" y="4176834"/>
            <a:ext cx="702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FF0000"/>
                </a:solidFill>
              </a:rPr>
              <a:t>.</a:t>
            </a:r>
            <a:r>
              <a:rPr lang="pt-BR" sz="3200" b="1" dirty="0">
                <a:solidFill>
                  <a:srgbClr val="DAE9F6"/>
                </a:solidFill>
              </a:rPr>
              <a:t>.</a:t>
            </a:r>
            <a:r>
              <a:rPr lang="pt-BR" sz="3200" b="1" dirty="0">
                <a:solidFill>
                  <a:srgbClr val="00B0F0"/>
                </a:solidFill>
              </a:rPr>
              <a:t>.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22706B10-474C-F2FA-8AB4-268B2B218B59}"/>
              </a:ext>
            </a:extLst>
          </p:cNvPr>
          <p:cNvSpPr/>
          <p:nvPr/>
        </p:nvSpPr>
        <p:spPr>
          <a:xfrm>
            <a:off x="8852908" y="4329889"/>
            <a:ext cx="415555" cy="405249"/>
          </a:xfrm>
          <a:prstGeom prst="downArrow">
            <a:avLst>
              <a:gd name="adj1" fmla="val 32200"/>
              <a:gd name="adj2" fmla="val 50726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2F548B5-B6DB-BE7B-CB1F-1F6B71E24011}"/>
              </a:ext>
            </a:extLst>
          </p:cNvPr>
          <p:cNvSpPr/>
          <p:nvPr/>
        </p:nvSpPr>
        <p:spPr>
          <a:xfrm>
            <a:off x="796392" y="1864723"/>
            <a:ext cx="10515600" cy="1499278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solidFill>
              <a:srgbClr val="FFFFFF">
                <a:alpha val="8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3EB8A9-466D-92C7-87E5-9C825038D800}"/>
              </a:ext>
            </a:extLst>
          </p:cNvPr>
          <p:cNvSpPr txBox="1"/>
          <p:nvPr/>
        </p:nvSpPr>
        <p:spPr>
          <a:xfrm>
            <a:off x="1964606" y="3292435"/>
            <a:ext cx="7790406" cy="64633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Repare que, em todos os passos da RNN o estado interno passa por atualizações. Isso dificulta a manutenção de informações por longos períodos de tempo.</a:t>
            </a:r>
          </a:p>
        </p:txBody>
      </p:sp>
    </p:spTree>
    <p:extLst>
      <p:ext uri="{BB962C8B-B14F-4D97-AF65-F5344CB8AC3E}">
        <p14:creationId xmlns:p14="http://schemas.microsoft.com/office/powerpoint/2010/main" val="618408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3AEF5-27CA-5939-4B6F-3F0D41C70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Solução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9F6BE-DCB3-1FDF-4B1E-6186B2098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Permitir que a unidade aprenda quando deve ser atualizado e quando deve ser esquecido o estado interno</a:t>
            </a:r>
          </a:p>
          <a:p>
            <a:pPr lvl="1"/>
            <a:r>
              <a:rPr lang="pt-BR" i="1" dirty="0" err="1"/>
              <a:t>Long</a:t>
            </a:r>
            <a:r>
              <a:rPr lang="pt-BR" i="1" dirty="0"/>
              <a:t> Short </a:t>
            </a:r>
            <a:r>
              <a:rPr lang="pt-BR" i="1" dirty="0" err="1"/>
              <a:t>Term</a:t>
            </a:r>
            <a:r>
              <a:rPr lang="pt-BR" i="1" dirty="0"/>
              <a:t> </a:t>
            </a:r>
            <a:r>
              <a:rPr lang="pt-BR" i="1" dirty="0" err="1"/>
              <a:t>Memory</a:t>
            </a:r>
            <a:endParaRPr lang="pt-BR" i="1" dirty="0"/>
          </a:p>
          <a:p>
            <a:r>
              <a:rPr lang="pt-BR" dirty="0"/>
              <a:t>É a arquitetura com mais “partes” dentre todas as vistas até agora</a:t>
            </a:r>
          </a:p>
          <a:p>
            <a:pPr lvl="1"/>
            <a:r>
              <a:rPr lang="pt-BR" dirty="0"/>
              <a:t>Contudo, todas as partes se reduzem a operações já conhecidas: multiplicação de matrizes e funções de ativação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4241C-F1AE-85C1-0F7A-6E39CF53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27A430-72C9-ABA2-863B-2E9D40A90163}"/>
              </a:ext>
            </a:extLst>
          </p:cNvPr>
          <p:cNvSpPr txBox="1"/>
          <p:nvPr/>
        </p:nvSpPr>
        <p:spPr>
          <a:xfrm>
            <a:off x="0" y="6573287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HOCHREITER, Sepp; SCHMIDHUBER, Jürgen. </a:t>
            </a:r>
            <a:r>
              <a:rPr lang="pt-BR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Long</a:t>
            </a:r>
            <a:r>
              <a:rPr lang="pt-BR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short-</a:t>
            </a:r>
            <a:r>
              <a:rPr lang="pt-BR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term</a:t>
            </a:r>
            <a:r>
              <a:rPr lang="pt-BR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memory</a:t>
            </a:r>
            <a:r>
              <a:rPr lang="pt-BR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Neural </a:t>
            </a:r>
            <a:r>
              <a:rPr lang="pt-BR" sz="14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computation</a:t>
            </a:r>
            <a:r>
              <a:rPr lang="pt-BR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v. 9, n. 8, p. 1735-1780, 1997.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076916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Revisitando </a:t>
            </a:r>
            <a:r>
              <a:rPr lang="pt-BR" dirty="0" err="1"/>
              <a:t>RNNs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Em RNN temos que o estado oculto de um passo anterior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pt-BR" sz="2400" dirty="0"/>
                  <a:t> é usado como entrada para o computar o próximo estado oculto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pt-BR" sz="2400" dirty="0"/>
                  <a:t>Repare que a RNN tem “uma rede densa” dentro </a:t>
                </a:r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7</a:t>
            </a:fld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5D5A3D2-AE4C-446E-4BAD-DB9B28DDD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236" y="3450232"/>
            <a:ext cx="8741527" cy="327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D014619-D51C-55AE-E563-4B95837FD6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2418737" y="4778477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7AB37EFD-B610-3193-CCB9-193D793565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8342673" y="4778476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7237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Mesma ideia da recorrência, mas agora temos um estado oculto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400" dirty="0"/>
                  <a:t> e uma memória (</a:t>
                </a:r>
                <a:r>
                  <a:rPr lang="pt-BR" sz="2400" i="1" dirty="0"/>
                  <a:t>cell state</a:t>
                </a:r>
                <a:r>
                  <a:rPr lang="pt-BR" sz="2400" dirty="0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pt-BR" sz="2400" dirty="0"/>
              </a:p>
              <a:p>
                <a:pPr lvl="1"/>
                <a:r>
                  <a:rPr lang="pt-BR" sz="2000" dirty="0"/>
                  <a:t>Temos </a:t>
                </a:r>
                <a:r>
                  <a:rPr lang="pt-BR" sz="2000" i="1" dirty="0" err="1"/>
                  <a:t>gates</a:t>
                </a:r>
                <a:r>
                  <a:rPr lang="pt-BR" sz="2000" i="1" dirty="0"/>
                  <a:t> </a:t>
                </a:r>
                <a:r>
                  <a:rPr lang="pt-BR" sz="2000" dirty="0"/>
                  <a:t>que tem como objetivo controlar o quanto de cada informação deve ser atualizada (usando uma multiplicação com o resultado de uma </a:t>
                </a:r>
                <a:r>
                  <a:rPr lang="pt-BR" sz="2000" dirty="0" err="1"/>
                  <a:t>sigmoid</a:t>
                </a:r>
                <a:r>
                  <a:rPr lang="pt-BR" sz="2000" dirty="0"/>
                  <a:t>)</a:t>
                </a:r>
              </a:p>
              <a:p>
                <a:pPr lvl="1"/>
                <a:r>
                  <a:rPr lang="pt-BR" sz="2000" dirty="0"/>
                  <a:t>Temos uma camada densa com </a:t>
                </a:r>
                <a:r>
                  <a:rPr lang="pt-BR" sz="2000" dirty="0" err="1"/>
                  <a:t>tanh</a:t>
                </a:r>
                <a:r>
                  <a:rPr lang="pt-BR" sz="2000" dirty="0"/>
                  <a:t> para produzir um novo </a:t>
                </a:r>
                <a:r>
                  <a:rPr lang="pt-BR" sz="2000" i="1" dirty="0" err="1"/>
                  <a:t>cell</a:t>
                </a:r>
                <a:r>
                  <a:rPr lang="pt-BR" sz="2000" i="1" dirty="0"/>
                  <a:t> </a:t>
                </a:r>
                <a:r>
                  <a:rPr lang="pt-BR" sz="2000" i="1" dirty="0" err="1"/>
                  <a:t>state</a:t>
                </a:r>
                <a:r>
                  <a:rPr lang="pt-BR" sz="2000" i="1" dirty="0"/>
                  <a:t> </a:t>
                </a:r>
                <a:r>
                  <a:rPr lang="pt-BR" sz="2000" dirty="0"/>
                  <a:t>e um novo </a:t>
                </a:r>
                <a:r>
                  <a:rPr lang="pt-BR" sz="2000" i="1" dirty="0" err="1"/>
                  <a:t>hidden</a:t>
                </a:r>
                <a:r>
                  <a:rPr lang="pt-BR" sz="2000" i="1" dirty="0"/>
                  <a:t> </a:t>
                </a:r>
                <a:r>
                  <a:rPr lang="pt-BR" sz="2000" i="1" dirty="0" err="1"/>
                  <a:t>state</a:t>
                </a:r>
                <a:endParaRPr lang="pt-BR" sz="20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 r="-1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8</a:t>
            </a:fld>
            <a:endParaRPr lang="pt-BR"/>
          </a:p>
        </p:txBody>
      </p:sp>
      <p:pic>
        <p:nvPicPr>
          <p:cNvPr id="1026" name="Picture 2" descr="O que é e como funciona uma LSTM passo-a-passo">
            <a:extLst>
              <a:ext uri="{FF2B5EF4-FFF2-40B4-BE49-F238E27FC236}">
                <a16:creationId xmlns:a16="http://schemas.microsoft.com/office/drawing/2014/main" id="{54B28F9C-665F-7FF2-0828-AB119CBC5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304" y="3637532"/>
            <a:ext cx="3544757" cy="3046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D35ED0-DCEE-1279-0DAE-D60B0283B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671" y="18094"/>
            <a:ext cx="4508329" cy="69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70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3E888-9389-1631-FD24-889B5925F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Mesma ideia da recorrência, mas agora temos quatro camadas densas</a:t>
            </a:r>
          </a:p>
          <a:p>
            <a:pPr lvl="1"/>
            <a:r>
              <a:rPr lang="pt-BR" sz="2000" dirty="0"/>
              <a:t>Três delas fazem função de </a:t>
            </a:r>
            <a:r>
              <a:rPr lang="pt-BR" sz="2000" i="1" dirty="0" err="1"/>
              <a:t>gates</a:t>
            </a:r>
            <a:r>
              <a:rPr lang="pt-BR" sz="2000" i="1" dirty="0"/>
              <a:t> </a:t>
            </a:r>
            <a:r>
              <a:rPr lang="pt-BR" sz="2000" dirty="0"/>
              <a:t>usando ativação </a:t>
            </a:r>
            <a:r>
              <a:rPr lang="pt-BR" sz="2000" dirty="0" err="1"/>
              <a:t>sigmoid</a:t>
            </a:r>
            <a:endParaRPr lang="pt-BR" sz="2000" i="1" dirty="0"/>
          </a:p>
          <a:p>
            <a:pPr lvl="2"/>
            <a:r>
              <a:rPr lang="pt-BR" sz="1600" i="1" dirty="0"/>
              <a:t>Forget </a:t>
            </a:r>
            <a:r>
              <a:rPr lang="pt-BR" sz="1600" i="1" dirty="0" err="1"/>
              <a:t>gate</a:t>
            </a:r>
            <a:r>
              <a:rPr lang="pt-BR" sz="1600" dirty="0"/>
              <a:t> – esquecer  memória (</a:t>
            </a:r>
            <a:r>
              <a:rPr lang="pt-BR" sz="1600" i="1" dirty="0" err="1"/>
              <a:t>cell</a:t>
            </a:r>
            <a:r>
              <a:rPr lang="pt-BR" sz="1600" i="1" dirty="0"/>
              <a:t> </a:t>
            </a:r>
            <a:r>
              <a:rPr lang="pt-BR" sz="1600" i="1" dirty="0" err="1"/>
              <a:t>state</a:t>
            </a:r>
            <a:r>
              <a:rPr lang="pt-BR" sz="1600" dirty="0"/>
              <a:t>)</a:t>
            </a:r>
          </a:p>
          <a:p>
            <a:pPr lvl="2"/>
            <a:r>
              <a:rPr lang="pt-BR" sz="1600" i="1" dirty="0"/>
              <a:t>Input </a:t>
            </a:r>
            <a:r>
              <a:rPr lang="pt-BR" sz="1600" i="1" dirty="0" err="1"/>
              <a:t>gate</a:t>
            </a:r>
            <a:r>
              <a:rPr lang="pt-BR" sz="1600" i="1" dirty="0"/>
              <a:t> – </a:t>
            </a:r>
            <a:r>
              <a:rPr lang="pt-BR" sz="1600" dirty="0"/>
              <a:t>escolher quais partes da entrada devem atualizar o estado atual</a:t>
            </a:r>
          </a:p>
          <a:p>
            <a:pPr lvl="2"/>
            <a:r>
              <a:rPr lang="pt-BR" sz="1600" i="1" dirty="0"/>
              <a:t>Output </a:t>
            </a:r>
            <a:r>
              <a:rPr lang="pt-BR" sz="1600" i="1" dirty="0" err="1"/>
              <a:t>gate</a:t>
            </a:r>
            <a:r>
              <a:rPr lang="pt-BR" sz="1600" i="1" dirty="0"/>
              <a:t> – </a:t>
            </a:r>
            <a:r>
              <a:rPr lang="pt-BR" sz="1600" dirty="0"/>
              <a:t>escolher quais partes da saída devem fazer parte do próximo estado oculto</a:t>
            </a:r>
          </a:p>
          <a:p>
            <a:pPr lvl="2"/>
            <a:endParaRPr lang="pt-BR" sz="1600" dirty="0"/>
          </a:p>
          <a:p>
            <a:endParaRPr lang="pt-B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9</a:t>
            </a:fld>
            <a:endParaRPr lang="pt-BR"/>
          </a:p>
        </p:txBody>
      </p:sp>
      <p:pic>
        <p:nvPicPr>
          <p:cNvPr id="2050" name="Picture 2" descr="A LSTM neural network.">
            <a:extLst>
              <a:ext uri="{FF2B5EF4-FFF2-40B4-BE49-F238E27FC236}">
                <a16:creationId xmlns:a16="http://schemas.microsoft.com/office/drawing/2014/main" id="{59712C94-42AC-CB37-D163-BAE593426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860" y="3877302"/>
            <a:ext cx="7568691" cy="284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88718B3-344A-3494-D319-AADA324FD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2532457" y="4984080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BB9462A-92E0-4D35-33F4-6B77173B12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7765026" y="4984079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78B5102-5066-B6C1-9428-C7BF54BA47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2684857" y="5136480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576617-C2D1-D3B1-F649-8C30EE769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671" y="18094"/>
            <a:ext cx="4508329" cy="69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830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3E888-9389-1631-FD24-889B5925F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Mesma ideia da recorrência, mas agora temos quatro camadas densas</a:t>
            </a:r>
          </a:p>
          <a:p>
            <a:pPr lvl="1"/>
            <a:r>
              <a:rPr lang="pt-BR" sz="2000" dirty="0"/>
              <a:t>Três delas fazem função de </a:t>
            </a:r>
            <a:r>
              <a:rPr lang="pt-BR" sz="2000" i="1" dirty="0" err="1"/>
              <a:t>gates</a:t>
            </a:r>
            <a:r>
              <a:rPr lang="pt-BR" sz="2000" i="1" dirty="0"/>
              <a:t> </a:t>
            </a:r>
            <a:r>
              <a:rPr lang="pt-BR" sz="2000" dirty="0"/>
              <a:t>usando ativação </a:t>
            </a:r>
            <a:r>
              <a:rPr lang="pt-BR" sz="2000" dirty="0" err="1"/>
              <a:t>sigmoid</a:t>
            </a:r>
            <a:endParaRPr lang="pt-BR" sz="2000" i="1" dirty="0"/>
          </a:p>
          <a:p>
            <a:pPr lvl="2"/>
            <a:r>
              <a:rPr lang="pt-BR" sz="1600" i="1" dirty="0"/>
              <a:t>Forget </a:t>
            </a:r>
            <a:r>
              <a:rPr lang="pt-BR" sz="1600" i="1" dirty="0" err="1"/>
              <a:t>gate</a:t>
            </a:r>
            <a:r>
              <a:rPr lang="pt-BR" sz="1600" dirty="0"/>
              <a:t> – esquecer  memória (</a:t>
            </a:r>
            <a:r>
              <a:rPr lang="pt-BR" sz="1600" i="1" dirty="0" err="1"/>
              <a:t>cell</a:t>
            </a:r>
            <a:r>
              <a:rPr lang="pt-BR" sz="1600" i="1" dirty="0"/>
              <a:t> </a:t>
            </a:r>
            <a:r>
              <a:rPr lang="pt-BR" sz="1600" i="1" dirty="0" err="1"/>
              <a:t>state</a:t>
            </a:r>
            <a:r>
              <a:rPr lang="pt-BR" sz="1600" dirty="0"/>
              <a:t>)</a:t>
            </a:r>
          </a:p>
          <a:p>
            <a:pPr lvl="2"/>
            <a:r>
              <a:rPr lang="pt-BR" sz="1600" i="1" dirty="0"/>
              <a:t>Input </a:t>
            </a:r>
            <a:r>
              <a:rPr lang="pt-BR" sz="1600" i="1" dirty="0" err="1"/>
              <a:t>gate</a:t>
            </a:r>
            <a:r>
              <a:rPr lang="pt-BR" sz="1600" i="1" dirty="0"/>
              <a:t> – </a:t>
            </a:r>
            <a:r>
              <a:rPr lang="pt-BR" sz="1600" dirty="0"/>
              <a:t>escolher quais partes da entrada devem atualizar o estado atual</a:t>
            </a:r>
          </a:p>
          <a:p>
            <a:pPr lvl="2"/>
            <a:r>
              <a:rPr lang="pt-BR" sz="1600" i="1" dirty="0"/>
              <a:t>Output </a:t>
            </a:r>
            <a:r>
              <a:rPr lang="pt-BR" sz="1600" i="1" dirty="0" err="1"/>
              <a:t>gate</a:t>
            </a:r>
            <a:r>
              <a:rPr lang="pt-BR" sz="1600" i="1" dirty="0"/>
              <a:t> – </a:t>
            </a:r>
            <a:r>
              <a:rPr lang="pt-BR" sz="1600" dirty="0"/>
              <a:t>escolher quais partes da saída devem fazer parte do próximo estado oculto</a:t>
            </a:r>
          </a:p>
          <a:p>
            <a:pPr lvl="2"/>
            <a:endParaRPr lang="pt-BR" sz="1600" dirty="0"/>
          </a:p>
          <a:p>
            <a:endParaRPr lang="pt-B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10</a:t>
            </a:fld>
            <a:endParaRPr lang="pt-BR"/>
          </a:p>
        </p:txBody>
      </p:sp>
      <p:pic>
        <p:nvPicPr>
          <p:cNvPr id="2050" name="Picture 2" descr="A LSTM neural network.">
            <a:extLst>
              <a:ext uri="{FF2B5EF4-FFF2-40B4-BE49-F238E27FC236}">
                <a16:creationId xmlns:a16="http://schemas.microsoft.com/office/drawing/2014/main" id="{59712C94-42AC-CB37-D163-BAE593426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860" y="3877302"/>
            <a:ext cx="7568691" cy="284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88718B3-344A-3494-D319-AADA324FD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2532457" y="4984080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BB9462A-92E0-4D35-33F4-6B77173B12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7765026" y="4984079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78B5102-5066-B6C1-9428-C7BF54BA47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2684857" y="5136480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C626562-B279-9A72-91F9-8DDB5831E2BA}"/>
              </a:ext>
            </a:extLst>
          </p:cNvPr>
          <p:cNvSpPr/>
          <p:nvPr/>
        </p:nvSpPr>
        <p:spPr>
          <a:xfrm>
            <a:off x="4572000" y="4804913"/>
            <a:ext cx="396815" cy="11378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0A9C9C-94EC-A35B-5503-29238D7B3724}"/>
              </a:ext>
            </a:extLst>
          </p:cNvPr>
          <p:cNvSpPr/>
          <p:nvPr/>
        </p:nvSpPr>
        <p:spPr>
          <a:xfrm>
            <a:off x="2058837" y="2560103"/>
            <a:ext cx="3677729" cy="3124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0757F0-B52C-1A27-8F7F-43FC5F4CC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671" y="18094"/>
            <a:ext cx="4508329" cy="69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42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3E888-9389-1631-FD24-889B5925F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Mesma ideia da recorrência, mas agora temos quatro camadas densas</a:t>
            </a:r>
          </a:p>
          <a:p>
            <a:pPr lvl="1"/>
            <a:r>
              <a:rPr lang="pt-BR" sz="2000" dirty="0"/>
              <a:t>Três delas fazem função de </a:t>
            </a:r>
            <a:r>
              <a:rPr lang="pt-BR" sz="2000" i="1" dirty="0" err="1"/>
              <a:t>gates</a:t>
            </a:r>
            <a:r>
              <a:rPr lang="pt-BR" sz="2000" i="1" dirty="0"/>
              <a:t> </a:t>
            </a:r>
            <a:r>
              <a:rPr lang="pt-BR" sz="2000" dirty="0"/>
              <a:t>usando ativação </a:t>
            </a:r>
            <a:r>
              <a:rPr lang="pt-BR" sz="2000" dirty="0" err="1"/>
              <a:t>sigmoid</a:t>
            </a:r>
            <a:endParaRPr lang="pt-BR" sz="2000" i="1" dirty="0"/>
          </a:p>
          <a:p>
            <a:pPr lvl="2"/>
            <a:r>
              <a:rPr lang="pt-BR" sz="1600" i="1" dirty="0"/>
              <a:t>Forget </a:t>
            </a:r>
            <a:r>
              <a:rPr lang="pt-BR" sz="1600" i="1" dirty="0" err="1"/>
              <a:t>gate</a:t>
            </a:r>
            <a:r>
              <a:rPr lang="pt-BR" sz="1600" dirty="0"/>
              <a:t> – esquecer  memória (</a:t>
            </a:r>
            <a:r>
              <a:rPr lang="pt-BR" sz="1600" i="1" dirty="0" err="1"/>
              <a:t>cell</a:t>
            </a:r>
            <a:r>
              <a:rPr lang="pt-BR" sz="1600" i="1" dirty="0"/>
              <a:t> </a:t>
            </a:r>
            <a:r>
              <a:rPr lang="pt-BR" sz="1600" i="1" dirty="0" err="1"/>
              <a:t>state</a:t>
            </a:r>
            <a:r>
              <a:rPr lang="pt-BR" sz="1600" dirty="0"/>
              <a:t>)</a:t>
            </a:r>
          </a:p>
          <a:p>
            <a:pPr lvl="2"/>
            <a:r>
              <a:rPr lang="pt-BR" sz="1600" i="1" dirty="0"/>
              <a:t>Input </a:t>
            </a:r>
            <a:r>
              <a:rPr lang="pt-BR" sz="1600" i="1" dirty="0" err="1"/>
              <a:t>gate</a:t>
            </a:r>
            <a:r>
              <a:rPr lang="pt-BR" sz="1600" i="1" dirty="0"/>
              <a:t> – </a:t>
            </a:r>
            <a:r>
              <a:rPr lang="pt-BR" sz="1600" dirty="0"/>
              <a:t>escolher quais partes da entrada devem atualizar o estado atual</a:t>
            </a:r>
          </a:p>
          <a:p>
            <a:pPr lvl="2"/>
            <a:r>
              <a:rPr lang="pt-BR" sz="1600" i="1" dirty="0"/>
              <a:t>Output </a:t>
            </a:r>
            <a:r>
              <a:rPr lang="pt-BR" sz="1600" i="1" dirty="0" err="1"/>
              <a:t>gate</a:t>
            </a:r>
            <a:r>
              <a:rPr lang="pt-BR" sz="1600" i="1" dirty="0"/>
              <a:t> – </a:t>
            </a:r>
            <a:r>
              <a:rPr lang="pt-BR" sz="1600" dirty="0"/>
              <a:t>escolher quais partes da saída devem fazer parte do próximo estado oculto</a:t>
            </a:r>
          </a:p>
          <a:p>
            <a:pPr lvl="2"/>
            <a:endParaRPr lang="pt-BR" sz="1600" dirty="0"/>
          </a:p>
          <a:p>
            <a:endParaRPr lang="pt-B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11</a:t>
            </a:fld>
            <a:endParaRPr lang="pt-BR"/>
          </a:p>
        </p:txBody>
      </p:sp>
      <p:pic>
        <p:nvPicPr>
          <p:cNvPr id="2050" name="Picture 2" descr="A LSTM neural network.">
            <a:extLst>
              <a:ext uri="{FF2B5EF4-FFF2-40B4-BE49-F238E27FC236}">
                <a16:creationId xmlns:a16="http://schemas.microsoft.com/office/drawing/2014/main" id="{59712C94-42AC-CB37-D163-BAE593426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860" y="3877302"/>
            <a:ext cx="7568691" cy="284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88718B3-344A-3494-D319-AADA324FD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2532457" y="4984080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BB9462A-92E0-4D35-33F4-6B77173B12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7765026" y="4984079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78B5102-5066-B6C1-9428-C7BF54BA47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2684857" y="5136480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C8891F-6884-78B9-27FD-247F91110F07}"/>
              </a:ext>
            </a:extLst>
          </p:cNvPr>
          <p:cNvSpPr/>
          <p:nvPr/>
        </p:nvSpPr>
        <p:spPr>
          <a:xfrm>
            <a:off x="4975517" y="4757908"/>
            <a:ext cx="769675" cy="11378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92DDC7-5EF5-7FDC-E03B-8C75F154DCAD}"/>
              </a:ext>
            </a:extLst>
          </p:cNvPr>
          <p:cNvSpPr/>
          <p:nvPr/>
        </p:nvSpPr>
        <p:spPr>
          <a:xfrm>
            <a:off x="2027208" y="2824451"/>
            <a:ext cx="6392173" cy="3124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6966B2-8F37-1177-9E80-00DF6B84D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671" y="18094"/>
            <a:ext cx="4508329" cy="69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765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3E888-9389-1631-FD24-889B5925F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Mesma ideia da recorrência, mas agora temos quatro camadas densas</a:t>
            </a:r>
          </a:p>
          <a:p>
            <a:pPr lvl="1"/>
            <a:r>
              <a:rPr lang="pt-BR" sz="2000" dirty="0"/>
              <a:t>Três delas fazem função de </a:t>
            </a:r>
            <a:r>
              <a:rPr lang="pt-BR" sz="2000" i="1" dirty="0" err="1"/>
              <a:t>gates</a:t>
            </a:r>
            <a:r>
              <a:rPr lang="pt-BR" sz="2000" i="1" dirty="0"/>
              <a:t> </a:t>
            </a:r>
            <a:r>
              <a:rPr lang="pt-BR" sz="2000" dirty="0"/>
              <a:t>usando ativação </a:t>
            </a:r>
            <a:r>
              <a:rPr lang="pt-BR" sz="2000" dirty="0" err="1"/>
              <a:t>sigmoid</a:t>
            </a:r>
            <a:endParaRPr lang="pt-BR" sz="2000" i="1" dirty="0"/>
          </a:p>
          <a:p>
            <a:pPr lvl="2"/>
            <a:r>
              <a:rPr lang="pt-BR" sz="1600" i="1" dirty="0"/>
              <a:t>Forget </a:t>
            </a:r>
            <a:r>
              <a:rPr lang="pt-BR" sz="1600" i="1" dirty="0" err="1"/>
              <a:t>gate</a:t>
            </a:r>
            <a:r>
              <a:rPr lang="pt-BR" sz="1600" dirty="0"/>
              <a:t> – esquecer  memória (</a:t>
            </a:r>
            <a:r>
              <a:rPr lang="pt-BR" sz="1600" i="1" dirty="0" err="1"/>
              <a:t>cell</a:t>
            </a:r>
            <a:r>
              <a:rPr lang="pt-BR" sz="1600" i="1" dirty="0"/>
              <a:t> </a:t>
            </a:r>
            <a:r>
              <a:rPr lang="pt-BR" sz="1600" i="1" dirty="0" err="1"/>
              <a:t>state</a:t>
            </a:r>
            <a:r>
              <a:rPr lang="pt-BR" sz="1600" dirty="0"/>
              <a:t>)</a:t>
            </a:r>
          </a:p>
          <a:p>
            <a:pPr lvl="2"/>
            <a:r>
              <a:rPr lang="pt-BR" sz="1600" i="1" dirty="0"/>
              <a:t>Input </a:t>
            </a:r>
            <a:r>
              <a:rPr lang="pt-BR" sz="1600" i="1" dirty="0" err="1"/>
              <a:t>gate</a:t>
            </a:r>
            <a:r>
              <a:rPr lang="pt-BR" sz="1600" i="1" dirty="0"/>
              <a:t> – </a:t>
            </a:r>
            <a:r>
              <a:rPr lang="pt-BR" sz="1600" dirty="0"/>
              <a:t>escolher quais partes da entrada devem atualizar o estado atual</a:t>
            </a:r>
          </a:p>
          <a:p>
            <a:pPr lvl="2"/>
            <a:r>
              <a:rPr lang="pt-BR" sz="1600" i="1" dirty="0"/>
              <a:t>Output </a:t>
            </a:r>
            <a:r>
              <a:rPr lang="pt-BR" sz="1600" i="1" dirty="0" err="1"/>
              <a:t>gate</a:t>
            </a:r>
            <a:r>
              <a:rPr lang="pt-BR" sz="1600" i="1" dirty="0"/>
              <a:t> – </a:t>
            </a:r>
            <a:r>
              <a:rPr lang="pt-BR" sz="1600" dirty="0"/>
              <a:t>escolher quais partes da saída devem fazer parte do próximo estado oculto</a:t>
            </a:r>
          </a:p>
          <a:p>
            <a:pPr lvl="2"/>
            <a:endParaRPr lang="pt-BR" sz="1600" dirty="0"/>
          </a:p>
          <a:p>
            <a:endParaRPr lang="pt-B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12</a:t>
            </a:fld>
            <a:endParaRPr lang="pt-BR"/>
          </a:p>
        </p:txBody>
      </p:sp>
      <p:pic>
        <p:nvPicPr>
          <p:cNvPr id="2050" name="Picture 2" descr="A LSTM neural network.">
            <a:extLst>
              <a:ext uri="{FF2B5EF4-FFF2-40B4-BE49-F238E27FC236}">
                <a16:creationId xmlns:a16="http://schemas.microsoft.com/office/drawing/2014/main" id="{59712C94-42AC-CB37-D163-BAE593426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860" y="3877302"/>
            <a:ext cx="7568691" cy="284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88718B3-344A-3494-D319-AADA324FD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2532457" y="4984080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BB9462A-92E0-4D35-33F4-6B77173B12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7765026" y="4984079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78B5102-5066-B6C1-9428-C7BF54BA47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2684857" y="5136480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C8891F-6884-78B9-27FD-247F91110F07}"/>
              </a:ext>
            </a:extLst>
          </p:cNvPr>
          <p:cNvSpPr/>
          <p:nvPr/>
        </p:nvSpPr>
        <p:spPr>
          <a:xfrm>
            <a:off x="5711162" y="4804913"/>
            <a:ext cx="1026068" cy="11378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92DDC7-5EF5-7FDC-E03B-8C75F154DCAD}"/>
              </a:ext>
            </a:extLst>
          </p:cNvPr>
          <p:cNvSpPr/>
          <p:nvPr/>
        </p:nvSpPr>
        <p:spPr>
          <a:xfrm>
            <a:off x="2027208" y="3124506"/>
            <a:ext cx="7487343" cy="3124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F092AE-AC81-1342-F0B0-C6C41660F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671" y="18094"/>
            <a:ext cx="4508329" cy="69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706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3E888-9389-1631-FD24-889B5925F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Mesma ideia da recorrência, mas agora temos quatro camadas densas</a:t>
            </a:r>
          </a:p>
          <a:p>
            <a:pPr lvl="1"/>
            <a:r>
              <a:rPr lang="pt-BR" sz="2000" dirty="0"/>
              <a:t>Uma delas aplica uma transformação não linear na entrada + estado oculto anterior</a:t>
            </a:r>
            <a:endParaRPr lang="pt-BR" sz="1600" dirty="0"/>
          </a:p>
          <a:p>
            <a:endParaRPr lang="pt-B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13</a:t>
            </a:fld>
            <a:endParaRPr lang="pt-BR"/>
          </a:p>
        </p:txBody>
      </p:sp>
      <p:pic>
        <p:nvPicPr>
          <p:cNvPr id="2050" name="Picture 2" descr="A LSTM neural network.">
            <a:extLst>
              <a:ext uri="{FF2B5EF4-FFF2-40B4-BE49-F238E27FC236}">
                <a16:creationId xmlns:a16="http://schemas.microsoft.com/office/drawing/2014/main" id="{59712C94-42AC-CB37-D163-BAE593426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860" y="3877302"/>
            <a:ext cx="7568691" cy="284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88718B3-344A-3494-D319-AADA324FD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2532457" y="4984080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BB9462A-92E0-4D35-33F4-6B77173B12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7765026" y="4984079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78B5102-5066-B6C1-9428-C7BF54BA47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2684857" y="5136480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C8891F-6884-78B9-27FD-247F91110F07}"/>
              </a:ext>
            </a:extLst>
          </p:cNvPr>
          <p:cNvSpPr/>
          <p:nvPr/>
        </p:nvSpPr>
        <p:spPr>
          <a:xfrm>
            <a:off x="5262113" y="5218538"/>
            <a:ext cx="483079" cy="7241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F092AE-AC81-1342-F0B0-C6C41660F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671" y="18094"/>
            <a:ext cx="4508329" cy="69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961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Vamos passar novamente por cada passo, porém agora vamos detalhar as operações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endParaRPr lang="pt-BR" sz="2000" dirty="0"/>
              </a:p>
              <a:p>
                <a:pPr lvl="2"/>
                <a:endParaRPr lang="pt-BR" sz="16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14</a:t>
            </a:fld>
            <a:endParaRPr lang="pt-BR"/>
          </a:p>
        </p:txBody>
      </p:sp>
      <p:pic>
        <p:nvPicPr>
          <p:cNvPr id="2050" name="Picture 2" descr="A LSTM neural network.">
            <a:extLst>
              <a:ext uri="{FF2B5EF4-FFF2-40B4-BE49-F238E27FC236}">
                <a16:creationId xmlns:a16="http://schemas.microsoft.com/office/drawing/2014/main" id="{59712C94-42AC-CB37-D163-BAE593426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860" y="3877302"/>
            <a:ext cx="7568691" cy="284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88718B3-344A-3494-D319-AADA324FD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2532457" y="4984080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BB9462A-92E0-4D35-33F4-6B77173B12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7765026" y="4984079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78B5102-5066-B6C1-9428-C7BF54BA47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2684857" y="5136480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C626562-B279-9A72-91F9-8DDB5831E2BA}"/>
              </a:ext>
            </a:extLst>
          </p:cNvPr>
          <p:cNvSpPr/>
          <p:nvPr/>
        </p:nvSpPr>
        <p:spPr>
          <a:xfrm>
            <a:off x="4572000" y="4804913"/>
            <a:ext cx="396815" cy="11378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0757F0-B52C-1A27-8F7F-43FC5F4CC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671" y="18094"/>
            <a:ext cx="4508329" cy="6940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3994B3-D8F5-F2E6-BFCB-6C9FFF78BA7E}"/>
                  </a:ext>
                </a:extLst>
              </p:cNvPr>
              <p:cNvSpPr txBox="1"/>
              <p:nvPr/>
            </p:nvSpPr>
            <p:spPr>
              <a:xfrm>
                <a:off x="4494317" y="5219930"/>
                <a:ext cx="33075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3994B3-D8F5-F2E6-BFCB-6C9FFF78B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317" y="5219930"/>
                <a:ext cx="330750" cy="307777"/>
              </a:xfrm>
              <a:prstGeom prst="rect">
                <a:avLst/>
              </a:prstGeom>
              <a:blipFill>
                <a:blip r:embed="rId6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7844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Vamos passar novamente por cada passo, porém agora vamos detalhar as operações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𝑡𝑎𝑛h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endParaRPr lang="pt-BR" sz="2000" dirty="0"/>
              </a:p>
              <a:p>
                <a:pPr lvl="1"/>
                <a:endParaRPr lang="pt-BR" sz="20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15</a:t>
            </a:fld>
            <a:endParaRPr lang="pt-BR"/>
          </a:p>
        </p:txBody>
      </p:sp>
      <p:pic>
        <p:nvPicPr>
          <p:cNvPr id="2050" name="Picture 2" descr="A LSTM neural network.">
            <a:extLst>
              <a:ext uri="{FF2B5EF4-FFF2-40B4-BE49-F238E27FC236}">
                <a16:creationId xmlns:a16="http://schemas.microsoft.com/office/drawing/2014/main" id="{59712C94-42AC-CB37-D163-BAE593426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860" y="3877302"/>
            <a:ext cx="7568691" cy="284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88718B3-344A-3494-D319-AADA324FD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2532457" y="4984080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BB9462A-92E0-4D35-33F4-6B77173B12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7765026" y="4984079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78B5102-5066-B6C1-9428-C7BF54BA47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2684857" y="5136480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C626562-B279-9A72-91F9-8DDB5831E2BA}"/>
              </a:ext>
            </a:extLst>
          </p:cNvPr>
          <p:cNvSpPr/>
          <p:nvPr/>
        </p:nvSpPr>
        <p:spPr>
          <a:xfrm>
            <a:off x="4937464" y="5136479"/>
            <a:ext cx="1015062" cy="8062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0757F0-B52C-1A27-8F7F-43FC5F4CC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671" y="18094"/>
            <a:ext cx="4508329" cy="6940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3994B3-D8F5-F2E6-BFCB-6C9FFF78BA7E}"/>
                  </a:ext>
                </a:extLst>
              </p:cNvPr>
              <p:cNvSpPr txBox="1"/>
              <p:nvPr/>
            </p:nvSpPr>
            <p:spPr>
              <a:xfrm>
                <a:off x="4901932" y="5124713"/>
                <a:ext cx="33075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pt-BR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3994B3-D8F5-F2E6-BFCB-6C9FFF78B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932" y="5124713"/>
                <a:ext cx="33075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9AC9DE-64EC-9CC5-55A5-84EB64C152B5}"/>
                  </a:ext>
                </a:extLst>
              </p:cNvPr>
              <p:cNvSpPr txBox="1"/>
              <p:nvPr/>
            </p:nvSpPr>
            <p:spPr>
              <a:xfrm>
                <a:off x="5564830" y="5189152"/>
                <a:ext cx="3307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acc>
                        </m:e>
                        <m:sub>
                          <m:r>
                            <a:rPr lang="en-US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pt-BR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9AC9DE-64EC-9CC5-55A5-84EB64C15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4830" y="5189152"/>
                <a:ext cx="330750" cy="369332"/>
              </a:xfrm>
              <a:prstGeom prst="rect">
                <a:avLst/>
              </a:prstGeom>
              <a:blipFill>
                <a:blip r:embed="rId7"/>
                <a:stretch>
                  <a:fillRect r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0695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Vamos passar novamente por cada passo, porém agora vamos detalhar as operações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endParaRPr lang="pt-BR" sz="2000" dirty="0"/>
              </a:p>
              <a:p>
                <a:pPr lvl="1"/>
                <a:endParaRPr lang="pt-BR" sz="20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16</a:t>
            </a:fld>
            <a:endParaRPr lang="pt-BR"/>
          </a:p>
        </p:txBody>
      </p:sp>
      <p:pic>
        <p:nvPicPr>
          <p:cNvPr id="2050" name="Picture 2" descr="A LSTM neural network.">
            <a:extLst>
              <a:ext uri="{FF2B5EF4-FFF2-40B4-BE49-F238E27FC236}">
                <a16:creationId xmlns:a16="http://schemas.microsoft.com/office/drawing/2014/main" id="{59712C94-42AC-CB37-D163-BAE593426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860" y="3877302"/>
            <a:ext cx="7568691" cy="284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88718B3-344A-3494-D319-AADA324FD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2532457" y="4984080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BB9462A-92E0-4D35-33F4-6B77173B12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7765026" y="4984079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78B5102-5066-B6C1-9428-C7BF54BA47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2684857" y="5136480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C626562-B279-9A72-91F9-8DDB5831E2BA}"/>
              </a:ext>
            </a:extLst>
          </p:cNvPr>
          <p:cNvSpPr/>
          <p:nvPr/>
        </p:nvSpPr>
        <p:spPr>
          <a:xfrm>
            <a:off x="4641010" y="4817301"/>
            <a:ext cx="1949571" cy="2550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0757F0-B52C-1A27-8F7F-43FC5F4CC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671" y="18094"/>
            <a:ext cx="4508329" cy="69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833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Vamos passar novamente por cada passo, porém agora vamos detalhar as operações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endParaRPr lang="pt-BR" sz="2000" dirty="0"/>
              </a:p>
              <a:p>
                <a:pPr lvl="1"/>
                <a:endParaRPr lang="pt-BR" sz="20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17</a:t>
            </a:fld>
            <a:endParaRPr lang="pt-BR"/>
          </a:p>
        </p:txBody>
      </p:sp>
      <p:pic>
        <p:nvPicPr>
          <p:cNvPr id="2050" name="Picture 2" descr="A LSTM neural network.">
            <a:extLst>
              <a:ext uri="{FF2B5EF4-FFF2-40B4-BE49-F238E27FC236}">
                <a16:creationId xmlns:a16="http://schemas.microsoft.com/office/drawing/2014/main" id="{59712C94-42AC-CB37-D163-BAE593426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860" y="3877302"/>
            <a:ext cx="7568691" cy="284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88718B3-344A-3494-D319-AADA324FD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2532457" y="4984080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BB9462A-92E0-4D35-33F4-6B77173B12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7765026" y="4984079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78B5102-5066-B6C1-9428-C7BF54BA47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0" t="46165" r="71877" b="29189"/>
          <a:stretch/>
        </p:blipFill>
        <p:spPr bwMode="auto">
          <a:xfrm>
            <a:off x="2684857" y="5136480"/>
            <a:ext cx="845574" cy="80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C626562-B279-9A72-91F9-8DDB5831E2BA}"/>
              </a:ext>
            </a:extLst>
          </p:cNvPr>
          <p:cNvSpPr/>
          <p:nvPr/>
        </p:nvSpPr>
        <p:spPr>
          <a:xfrm>
            <a:off x="5734100" y="4873925"/>
            <a:ext cx="727085" cy="1068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0757F0-B52C-1A27-8F7F-43FC5F4CC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671" y="18094"/>
            <a:ext cx="4508329" cy="69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486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Agora vamos usar alguns valores para ver as coisas acontecendo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−0.6,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=[0.8]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0.5,−0.5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0.3,−0.4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0.1,−0.3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−0.5, 0.4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2000" b="0" dirty="0"/>
              </a:p>
              <a:p>
                <a:pPr lvl="1"/>
                <a:endParaRPr lang="pt-BR" sz="2000" dirty="0"/>
              </a:p>
              <a:p>
                <a:pPr lvl="2"/>
                <a:endParaRPr lang="pt-BR" sz="16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18</a:t>
            </a:fld>
            <a:endParaRPr lang="pt-BR"/>
          </a:p>
        </p:txBody>
      </p:sp>
      <p:pic>
        <p:nvPicPr>
          <p:cNvPr id="2050" name="Picture 2" descr="A LSTM neural network.">
            <a:extLst>
              <a:ext uri="{FF2B5EF4-FFF2-40B4-BE49-F238E27FC236}">
                <a16:creationId xmlns:a16="http://schemas.microsoft.com/office/drawing/2014/main" id="{59712C94-42AC-CB37-D163-BAE593426F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69" r="33941"/>
          <a:stretch/>
        </p:blipFill>
        <p:spPr bwMode="auto">
          <a:xfrm>
            <a:off x="4251959" y="3877302"/>
            <a:ext cx="2693733" cy="284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0757F0-B52C-1A27-8F7F-43FC5F4CC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671" y="18094"/>
            <a:ext cx="4508329" cy="6940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53DB86-222D-3EEC-CE9D-8FA47A6E4F76}"/>
                  </a:ext>
                </a:extLst>
              </p:cNvPr>
              <p:cNvSpPr txBox="1"/>
              <p:nvPr/>
            </p:nvSpPr>
            <p:spPr>
              <a:xfrm>
                <a:off x="3124200" y="4752650"/>
                <a:ext cx="12115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53DB86-222D-3EEC-CE9D-8FA47A6E4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4752650"/>
                <a:ext cx="121158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BFAE02-F30B-19A2-5F49-0D9FFE9F1478}"/>
                  </a:ext>
                </a:extLst>
              </p:cNvPr>
              <p:cNvSpPr txBox="1"/>
              <p:nvPr/>
            </p:nvSpPr>
            <p:spPr>
              <a:xfrm>
                <a:off x="2477982" y="5612115"/>
                <a:ext cx="18577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−0.6</m:t>
                          </m:r>
                        </m:e>
                      </m:d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BFAE02-F30B-19A2-5F49-0D9FFE9F1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982" y="5612115"/>
                <a:ext cx="185779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182FCB-AD49-5662-38FF-B4CB5BAFD6EA}"/>
                  </a:ext>
                </a:extLst>
              </p:cNvPr>
              <p:cNvSpPr txBox="1"/>
              <p:nvPr/>
            </p:nvSpPr>
            <p:spPr>
              <a:xfrm>
                <a:off x="2897567" y="6449901"/>
                <a:ext cx="17621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=[0.8]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182FCB-AD49-5662-38FF-B4CB5BAFD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567" y="6449901"/>
                <a:ext cx="1762125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0298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flowchart&#10;&#10;Description automatically generated">
            <a:extLst>
              <a:ext uri="{FF2B5EF4-FFF2-40B4-BE49-F238E27FC236}">
                <a16:creationId xmlns:a16="http://schemas.microsoft.com/office/drawing/2014/main" id="{746B7158-24D2-9313-C747-B6F6A78D5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389" y="3851885"/>
            <a:ext cx="2764062" cy="2893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Agora vamos usar alguns valores para ver as coisas acontecendo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−0.6,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=[0.8]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0.5,−0.5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0.3,−0.4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0.1,−0.3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−0.5, 0.4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2000" b="0" dirty="0"/>
              </a:p>
              <a:p>
                <a:pPr lvl="1"/>
                <a:endParaRPr lang="pt-BR" sz="2000" dirty="0"/>
              </a:p>
              <a:p>
                <a:pPr lvl="2"/>
                <a:endParaRPr lang="pt-BR" sz="16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19</a:t>
            </a:fld>
            <a:endParaRPr lang="pt-B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0757F0-B52C-1A27-8F7F-43FC5F4CC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671" y="18094"/>
            <a:ext cx="4508329" cy="6940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53DB86-222D-3EEC-CE9D-8FA47A6E4F76}"/>
                  </a:ext>
                </a:extLst>
              </p:cNvPr>
              <p:cNvSpPr txBox="1"/>
              <p:nvPr/>
            </p:nvSpPr>
            <p:spPr>
              <a:xfrm>
                <a:off x="3124200" y="4752650"/>
                <a:ext cx="12115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53DB86-222D-3EEC-CE9D-8FA47A6E4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4752650"/>
                <a:ext cx="121158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BFAE02-F30B-19A2-5F49-0D9FFE9F1478}"/>
                  </a:ext>
                </a:extLst>
              </p:cNvPr>
              <p:cNvSpPr txBox="1"/>
              <p:nvPr/>
            </p:nvSpPr>
            <p:spPr>
              <a:xfrm>
                <a:off x="2477982" y="5612115"/>
                <a:ext cx="18577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−0.6</m:t>
                          </m:r>
                        </m:e>
                      </m:d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BFAE02-F30B-19A2-5F49-0D9FFE9F1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982" y="5612115"/>
                <a:ext cx="185779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182FCB-AD49-5662-38FF-B4CB5BAFD6EA}"/>
                  </a:ext>
                </a:extLst>
              </p:cNvPr>
              <p:cNvSpPr txBox="1"/>
              <p:nvPr/>
            </p:nvSpPr>
            <p:spPr>
              <a:xfrm>
                <a:off x="2897567" y="6449901"/>
                <a:ext cx="17621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=[0.8]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182FCB-AD49-5662-38FF-B4CB5BAFD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567" y="6449901"/>
                <a:ext cx="1762125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F5AC8D-EC8F-E037-F824-DCDBD87C6E9B}"/>
                  </a:ext>
                </a:extLst>
              </p:cNvPr>
              <p:cNvSpPr txBox="1"/>
              <p:nvPr/>
            </p:nvSpPr>
            <p:spPr>
              <a:xfrm>
                <a:off x="5495925" y="2558166"/>
                <a:ext cx="609600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0.5,−0.5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0.8,−0.6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+0.3</m:t>
                          </m:r>
                        </m:e>
                      </m:d>
                    </m:oMath>
                  </m:oMathPara>
                </a14:m>
                <a:endParaRPr lang="pt-B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=0.7311</m:t>
                      </m:r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F5AC8D-EC8F-E037-F824-DCDBD87C6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925" y="2558166"/>
                <a:ext cx="6096000" cy="15696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0066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tank system&#10;&#10;Description automatically generated">
            <a:extLst>
              <a:ext uri="{FF2B5EF4-FFF2-40B4-BE49-F238E27FC236}">
                <a16:creationId xmlns:a16="http://schemas.microsoft.com/office/drawing/2014/main" id="{0FC2B1D1-65E9-C965-0B22-FF50D93CB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988" y="3830128"/>
            <a:ext cx="2855833" cy="29891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Agora vamos usar alguns valores para ver as coisas acontecendo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−0.6,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=[0.8]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0.5,−0.5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0.3,−0.4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0.1,−0.3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−0.5, 0.4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2000" b="0" dirty="0"/>
              </a:p>
              <a:p>
                <a:pPr lvl="1"/>
                <a:endParaRPr lang="pt-BR" sz="2000" dirty="0"/>
              </a:p>
              <a:p>
                <a:pPr lvl="2"/>
                <a:endParaRPr lang="pt-BR" sz="16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20</a:t>
            </a:fld>
            <a:endParaRPr lang="pt-B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0757F0-B52C-1A27-8F7F-43FC5F4CC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671" y="18094"/>
            <a:ext cx="4508329" cy="6940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53DB86-222D-3EEC-CE9D-8FA47A6E4F76}"/>
                  </a:ext>
                </a:extLst>
              </p:cNvPr>
              <p:cNvSpPr txBox="1"/>
              <p:nvPr/>
            </p:nvSpPr>
            <p:spPr>
              <a:xfrm>
                <a:off x="3124200" y="4752650"/>
                <a:ext cx="12115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53DB86-222D-3EEC-CE9D-8FA47A6E4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4752650"/>
                <a:ext cx="121158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BFAE02-F30B-19A2-5F49-0D9FFE9F1478}"/>
                  </a:ext>
                </a:extLst>
              </p:cNvPr>
              <p:cNvSpPr txBox="1"/>
              <p:nvPr/>
            </p:nvSpPr>
            <p:spPr>
              <a:xfrm>
                <a:off x="2477982" y="5612115"/>
                <a:ext cx="18577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−0.6</m:t>
                          </m:r>
                        </m:e>
                      </m:d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BFAE02-F30B-19A2-5F49-0D9FFE9F1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982" y="5612115"/>
                <a:ext cx="185779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182FCB-AD49-5662-38FF-B4CB5BAFD6EA}"/>
                  </a:ext>
                </a:extLst>
              </p:cNvPr>
              <p:cNvSpPr txBox="1"/>
              <p:nvPr/>
            </p:nvSpPr>
            <p:spPr>
              <a:xfrm>
                <a:off x="2897567" y="6449901"/>
                <a:ext cx="17621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=[0.8]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182FCB-AD49-5662-38FF-B4CB5BAFD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567" y="6449901"/>
                <a:ext cx="1762125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F5AC8D-EC8F-E037-F824-DCDBD87C6E9B}"/>
                  </a:ext>
                </a:extLst>
              </p:cNvPr>
              <p:cNvSpPr txBox="1"/>
              <p:nvPr/>
            </p:nvSpPr>
            <p:spPr>
              <a:xfrm>
                <a:off x="6631221" y="2616299"/>
                <a:ext cx="5110836" cy="1692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,−0.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0.8,−0.6</m:t>
                                </m:r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+0.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lang="pt-BR" sz="20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0.98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=0.7271</m:t>
                    </m:r>
                  </m:oMath>
                </a14:m>
                <a:r>
                  <a:rPr lang="pt-BR" sz="2000" dirty="0"/>
                  <a:t> </a:t>
                </a:r>
              </a:p>
              <a:p>
                <a:pPr lvl="1"/>
                <a:r>
                  <a:rPr lang="pt-BR" sz="2000" dirty="0"/>
                  <a:t>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𝑡𝑎𝑛h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,−0.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0.8,−0.6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+0.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pt-BR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𝑡𝑎𝑛h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.96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=0.7443</m:t>
                    </m:r>
                  </m:oMath>
                </a14:m>
                <a:r>
                  <a:rPr lang="pt-BR" sz="24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F5AC8D-EC8F-E037-F824-DCDBD87C6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221" y="2616299"/>
                <a:ext cx="5110836" cy="169277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7529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flowchart&#10;&#10;Description automatically generated">
            <a:extLst>
              <a:ext uri="{FF2B5EF4-FFF2-40B4-BE49-F238E27FC236}">
                <a16:creationId xmlns:a16="http://schemas.microsoft.com/office/drawing/2014/main" id="{80C1EDAD-8533-0667-6B13-DF52DC0B2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260" y="3804249"/>
            <a:ext cx="2880558" cy="30149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Agora vamos usar alguns valores para ver as coisas acontecendo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−0.6,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=[0.8]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0.5,−0.5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0.3,−0.4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0.1,−0.3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−0.5, 0.4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2000" b="0" dirty="0"/>
              </a:p>
              <a:p>
                <a:pPr lvl="1"/>
                <a:endParaRPr lang="pt-BR" sz="2000" dirty="0"/>
              </a:p>
              <a:p>
                <a:pPr lvl="2"/>
                <a:endParaRPr lang="pt-BR" sz="16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21</a:t>
            </a:fld>
            <a:endParaRPr lang="pt-B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0757F0-B52C-1A27-8F7F-43FC5F4CC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671" y="18094"/>
            <a:ext cx="4508329" cy="6940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53DB86-222D-3EEC-CE9D-8FA47A6E4F76}"/>
                  </a:ext>
                </a:extLst>
              </p:cNvPr>
              <p:cNvSpPr txBox="1"/>
              <p:nvPr/>
            </p:nvSpPr>
            <p:spPr>
              <a:xfrm>
                <a:off x="3124200" y="4752650"/>
                <a:ext cx="12115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53DB86-222D-3EEC-CE9D-8FA47A6E4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4752650"/>
                <a:ext cx="121158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BFAE02-F30B-19A2-5F49-0D9FFE9F1478}"/>
                  </a:ext>
                </a:extLst>
              </p:cNvPr>
              <p:cNvSpPr txBox="1"/>
              <p:nvPr/>
            </p:nvSpPr>
            <p:spPr>
              <a:xfrm>
                <a:off x="2477982" y="5612115"/>
                <a:ext cx="18577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−0.6</m:t>
                          </m:r>
                        </m:e>
                      </m:d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BFAE02-F30B-19A2-5F49-0D9FFE9F1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982" y="5612115"/>
                <a:ext cx="185779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182FCB-AD49-5662-38FF-B4CB5BAFD6EA}"/>
                  </a:ext>
                </a:extLst>
              </p:cNvPr>
              <p:cNvSpPr txBox="1"/>
              <p:nvPr/>
            </p:nvSpPr>
            <p:spPr>
              <a:xfrm>
                <a:off x="2897567" y="6449901"/>
                <a:ext cx="17621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=[0.8]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182FCB-AD49-5662-38FF-B4CB5BAFD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567" y="6449901"/>
                <a:ext cx="1762125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F5AC8D-EC8F-E037-F824-DCDBD87C6E9B}"/>
                  </a:ext>
                </a:extLst>
              </p:cNvPr>
              <p:cNvSpPr txBox="1"/>
              <p:nvPr/>
            </p:nvSpPr>
            <p:spPr>
              <a:xfrm>
                <a:off x="6631221" y="2616299"/>
                <a:ext cx="511083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0.7311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0.7271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0.7443</m:t>
                      </m:r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0.9067</m:t>
                    </m:r>
                  </m:oMath>
                </a14:m>
                <a:r>
                  <a:rPr lang="en-US" sz="2000" i="1" dirty="0"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F5AC8D-EC8F-E037-F824-DCDBD87C6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221" y="2616299"/>
                <a:ext cx="5110836" cy="707886"/>
              </a:xfrm>
              <a:prstGeom prst="rect">
                <a:avLst/>
              </a:prstGeom>
              <a:blipFill>
                <a:blip r:embed="rId8"/>
                <a:stretch>
                  <a:fillRect b="-172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081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flowchart&#10;&#10;Description automatically generated">
            <a:extLst>
              <a:ext uri="{FF2B5EF4-FFF2-40B4-BE49-F238E27FC236}">
                <a16:creationId xmlns:a16="http://schemas.microsoft.com/office/drawing/2014/main" id="{D0251A80-EA6F-619B-B624-3E7FF9AA3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263" y="3818149"/>
            <a:ext cx="2867277" cy="3001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Agora vamos usar alguns valores para ver as coisas acontecendo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−0.6,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=[0.8]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0.5,−0.5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0.3,−0.4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0.1,−0.3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−0.5, 0.4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2000" b="0" dirty="0"/>
              </a:p>
              <a:p>
                <a:pPr lvl="1"/>
                <a:endParaRPr lang="pt-BR" sz="2000" dirty="0"/>
              </a:p>
              <a:p>
                <a:pPr lvl="2"/>
                <a:endParaRPr lang="pt-BR" sz="16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22</a:t>
            </a:fld>
            <a:endParaRPr lang="pt-B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0757F0-B52C-1A27-8F7F-43FC5F4CC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671" y="18094"/>
            <a:ext cx="4508329" cy="6940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53DB86-222D-3EEC-CE9D-8FA47A6E4F76}"/>
                  </a:ext>
                </a:extLst>
              </p:cNvPr>
              <p:cNvSpPr txBox="1"/>
              <p:nvPr/>
            </p:nvSpPr>
            <p:spPr>
              <a:xfrm>
                <a:off x="3124200" y="4752650"/>
                <a:ext cx="12115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53DB86-222D-3EEC-CE9D-8FA47A6E4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4752650"/>
                <a:ext cx="121158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BFAE02-F30B-19A2-5F49-0D9FFE9F1478}"/>
                  </a:ext>
                </a:extLst>
              </p:cNvPr>
              <p:cNvSpPr txBox="1"/>
              <p:nvPr/>
            </p:nvSpPr>
            <p:spPr>
              <a:xfrm>
                <a:off x="2477982" y="5612115"/>
                <a:ext cx="18577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−0.6</m:t>
                          </m:r>
                        </m:e>
                      </m:d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BFAE02-F30B-19A2-5F49-0D9FFE9F1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982" y="5612115"/>
                <a:ext cx="185779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182FCB-AD49-5662-38FF-B4CB5BAFD6EA}"/>
                  </a:ext>
                </a:extLst>
              </p:cNvPr>
              <p:cNvSpPr txBox="1"/>
              <p:nvPr/>
            </p:nvSpPr>
            <p:spPr>
              <a:xfrm>
                <a:off x="2897567" y="6449901"/>
                <a:ext cx="17621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=[0.8]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182FCB-AD49-5662-38FF-B4CB5BAFD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567" y="6449901"/>
                <a:ext cx="1762125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F5AC8D-EC8F-E037-F824-DCDBD87C6E9B}"/>
                  </a:ext>
                </a:extLst>
              </p:cNvPr>
              <p:cNvSpPr txBox="1"/>
              <p:nvPr/>
            </p:nvSpPr>
            <p:spPr>
              <a:xfrm>
                <a:off x="6631221" y="2616299"/>
                <a:ext cx="5110836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−0.5,0.4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0.8,−0.6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+0.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0.4651</m:t>
                    </m:r>
                  </m:oMath>
                </a14:m>
                <a:r>
                  <a:rPr lang="en-US" sz="2000" i="1" dirty="0">
                    <a:latin typeface="Cambria Math" panose="02040503050406030204" pitchFamily="18" charset="0"/>
                  </a:rPr>
                  <a:t>  </a:t>
                </a:r>
              </a:p>
              <a:p>
                <a:pPr lvl="1"/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0.4651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0,9067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0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0.7195</m:t>
                    </m:r>
                  </m:oMath>
                </a14:m>
                <a:r>
                  <a:rPr lang="en-US" sz="2000" i="1" dirty="0"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F5AC8D-EC8F-E037-F824-DCDBD87C6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221" y="2616299"/>
                <a:ext cx="5110836" cy="16312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5411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pt-BR" sz="2400" dirty="0"/>
                  <a:t>Podemos otimizar o </a:t>
                </a:r>
                <a:r>
                  <a:rPr lang="pt-BR" sz="2400" i="1" dirty="0" err="1"/>
                  <a:t>Forward</a:t>
                </a:r>
                <a:r>
                  <a:rPr lang="pt-BR" sz="2400" i="1" dirty="0"/>
                  <a:t> </a:t>
                </a:r>
                <a:r>
                  <a:rPr lang="pt-BR" sz="2400" i="1" dirty="0" err="1"/>
                  <a:t>Pass</a:t>
                </a:r>
                <a:r>
                  <a:rPr lang="pt-BR" sz="2400" dirty="0"/>
                  <a:t> para fazer apenas duas multiplicações de matrizes sem concatenação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𝑖𝑠</m:t>
                    </m:r>
                  </m:oMath>
                </a14:m>
                <a:r>
                  <a:rPr lang="pt-BR" sz="2400" dirty="0"/>
                  <a:t>: input </a:t>
                </a:r>
                <a:r>
                  <a:rPr lang="pt-BR" sz="2400" dirty="0" err="1"/>
                  <a:t>size</a:t>
                </a:r>
                <a:endParaRPr lang="pt-BR" sz="2400" dirty="0"/>
              </a:p>
              <a:p>
                <a:r>
                  <a:rPr lang="pt-BR" sz="2400" i="1" dirty="0" err="1">
                    <a:solidFill>
                      <a:srgbClr val="FF0000"/>
                    </a:solidFill>
                  </a:rPr>
                  <a:t>hs</a:t>
                </a:r>
                <a:r>
                  <a:rPr lang="pt-BR" sz="2400" dirty="0"/>
                  <a:t>: </a:t>
                </a:r>
                <a:r>
                  <a:rPr lang="pt-BR" sz="2400" dirty="0" err="1"/>
                  <a:t>hidden</a:t>
                </a:r>
                <a:r>
                  <a:rPr lang="pt-BR" sz="2400" dirty="0"/>
                  <a:t> </a:t>
                </a:r>
                <a:r>
                  <a:rPr lang="pt-BR" sz="2400" dirty="0" err="1"/>
                  <a:t>size</a:t>
                </a:r>
                <a:endParaRPr lang="pt-BR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h𝑠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en-US" sz="24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h𝑠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pt-BR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pt-BR" sz="2400" dirty="0"/>
              </a:p>
              <a:p>
                <a:endParaRPr lang="pt-BR" sz="2400" dirty="0"/>
              </a:p>
              <a:p>
                <a:pPr lvl="1"/>
                <a:endParaRPr lang="pt-BR" sz="20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−0.6,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0.8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=[0.5,0.3,0.1,−0.5]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=[−0.5,−0.4,−0.3,0.4]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=[0.3, 0.5, 0.7, 0.5]</m:t>
                    </m:r>
                  </m:oMath>
                </a14:m>
                <a:endParaRPr lang="en-US" sz="2000" b="0" dirty="0"/>
              </a:p>
              <a:p>
                <a:pPr lvl="1"/>
                <a:endParaRPr lang="pt-BR" sz="2000" dirty="0"/>
              </a:p>
              <a:p>
                <a:pPr lvl="2"/>
                <a:endParaRPr lang="pt-BR" sz="16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90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23</a:t>
            </a:fld>
            <a:endParaRPr lang="pt-B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0757F0-B52C-1A27-8F7F-43FC5F4CC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671" y="18094"/>
            <a:ext cx="4508329" cy="6940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AA30DC-751D-69CC-2FBE-7DFB238932A5}"/>
                  </a:ext>
                </a:extLst>
              </p:cNvPr>
              <p:cNvSpPr txBox="1"/>
              <p:nvPr/>
            </p:nvSpPr>
            <p:spPr>
              <a:xfrm>
                <a:off x="4383315" y="4103639"/>
                <a:ext cx="609600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:,0:</m:t>
                            </m:r>
                            <m: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∗2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∗3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𝑡𝑎𝑛h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∗4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:endParaRPr lang="pt-BR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AA30DC-751D-69CC-2FBE-7DFB23893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315" y="4103639"/>
                <a:ext cx="6096000" cy="23083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 descr="A LSTM neural network.">
            <a:extLst>
              <a:ext uri="{FF2B5EF4-FFF2-40B4-BE49-F238E27FC236}">
                <a16:creationId xmlns:a16="http://schemas.microsoft.com/office/drawing/2014/main" id="{58AFCC1D-124D-B8A6-CD6B-D711A3B636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69" r="33941"/>
          <a:stretch/>
        </p:blipFill>
        <p:spPr bwMode="auto">
          <a:xfrm>
            <a:off x="9317445" y="2990169"/>
            <a:ext cx="2693733" cy="284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6859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𝑖𝑠</m:t>
                    </m:r>
                  </m:oMath>
                </a14:m>
                <a:r>
                  <a:rPr lang="pt-BR" sz="2000" dirty="0"/>
                  <a:t>: input </a:t>
                </a:r>
                <a:r>
                  <a:rPr lang="pt-BR" sz="2000" dirty="0" err="1"/>
                  <a:t>size</a:t>
                </a:r>
                <a:endParaRPr lang="pt-BR" sz="2000" dirty="0"/>
              </a:p>
              <a:p>
                <a:pPr lvl="1"/>
                <a:r>
                  <a:rPr lang="pt-BR" sz="2000" i="1" dirty="0" err="1">
                    <a:solidFill>
                      <a:srgbClr val="FF0000"/>
                    </a:solidFill>
                  </a:rPr>
                  <a:t>hs</a:t>
                </a:r>
                <a:r>
                  <a:rPr lang="pt-BR" sz="2000" dirty="0"/>
                  <a:t>: </a:t>
                </a:r>
                <a:r>
                  <a:rPr lang="pt-BR" sz="2000" dirty="0" err="1"/>
                  <a:t>hidden</a:t>
                </a:r>
                <a:r>
                  <a:rPr lang="pt-BR" sz="2000" dirty="0"/>
                  <a:t> </a:t>
                </a:r>
                <a:r>
                  <a:rPr lang="pt-BR" sz="2000" dirty="0" err="1"/>
                  <a:t>size</a:t>
                </a:r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pt-BR" sz="2000" dirty="0"/>
              </a:p>
              <a:p>
                <a:endParaRPr lang="pt-BR" sz="2400" dirty="0"/>
              </a:p>
              <a:p>
                <a:pPr lvl="1"/>
                <a:endParaRPr lang="pt-BR" sz="2000" dirty="0"/>
              </a:p>
              <a:p>
                <a:pPr lvl="2"/>
                <a:endParaRPr lang="pt-BR" sz="16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24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AA30DC-751D-69CC-2FBE-7DFB238932A5}"/>
                  </a:ext>
                </a:extLst>
              </p:cNvPr>
              <p:cNvSpPr txBox="1"/>
              <p:nvPr/>
            </p:nvSpPr>
            <p:spPr>
              <a:xfrm>
                <a:off x="763989" y="4048026"/>
                <a:ext cx="609600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:,0:</m:t>
                            </m:r>
                            <m: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∗2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∗3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𝑡𝑎𝑛h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∗4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:endParaRPr lang="pt-BR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AA30DC-751D-69CC-2FBE-7DFB23893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89" y="4048026"/>
                <a:ext cx="6096000" cy="2308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43186A1-68D0-BAE7-E482-6F8627192FC5}"/>
              </a:ext>
            </a:extLst>
          </p:cNvPr>
          <p:cNvSpPr/>
          <p:nvPr/>
        </p:nvSpPr>
        <p:spPr>
          <a:xfrm>
            <a:off x="4707172" y="238538"/>
            <a:ext cx="7195931" cy="64075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class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MyLSTM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Module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super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().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W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U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init_weights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200" dirty="0" err="1">
                <a:solidFill>
                  <a:srgbClr val="008000"/>
                </a:solidFill>
                <a:latin typeface="CasKaydiaCove NF" panose="020B0509020204030204" pitchFamily="49" charset="0"/>
              </a:rPr>
              <a:t>n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ot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shown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forward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"""Assumes x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is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of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 shape (batch,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)"""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seq_sz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[]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zeros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.device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 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  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zeros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.device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for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in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range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seq_sz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:]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@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W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+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@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U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f_t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(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input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forget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tanh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3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3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output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f_t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g_t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tanh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append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unsqueeze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cat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dim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1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reshape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from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shape (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, batch,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)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(batch,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)</a:t>
            </a:r>
            <a:endParaRPr lang="pt-BR" sz="11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transpose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1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contiguous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return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pPr algn="ctr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0229695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𝑖𝑠</m:t>
                    </m:r>
                  </m:oMath>
                </a14:m>
                <a:r>
                  <a:rPr lang="pt-BR" sz="2000" dirty="0"/>
                  <a:t>: input </a:t>
                </a:r>
                <a:r>
                  <a:rPr lang="pt-BR" sz="2000" dirty="0" err="1"/>
                  <a:t>size</a:t>
                </a:r>
                <a:endParaRPr lang="pt-BR" sz="2000" dirty="0"/>
              </a:p>
              <a:p>
                <a:pPr lvl="1"/>
                <a:r>
                  <a:rPr lang="pt-BR" sz="2000" i="1" dirty="0" err="1">
                    <a:solidFill>
                      <a:srgbClr val="FF0000"/>
                    </a:solidFill>
                  </a:rPr>
                  <a:t>hs</a:t>
                </a:r>
                <a:r>
                  <a:rPr lang="pt-BR" sz="2000" dirty="0"/>
                  <a:t>: </a:t>
                </a:r>
                <a:r>
                  <a:rPr lang="pt-BR" sz="2000" dirty="0" err="1"/>
                  <a:t>hidden</a:t>
                </a:r>
                <a:r>
                  <a:rPr lang="pt-BR" sz="2000" dirty="0"/>
                  <a:t> </a:t>
                </a:r>
                <a:r>
                  <a:rPr lang="pt-BR" sz="2000" dirty="0" err="1"/>
                  <a:t>size</a:t>
                </a:r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pt-BR" sz="2000" dirty="0"/>
              </a:p>
              <a:p>
                <a:endParaRPr lang="pt-BR" sz="2400" dirty="0"/>
              </a:p>
              <a:p>
                <a:pPr lvl="1"/>
                <a:endParaRPr lang="pt-BR" sz="2000" dirty="0"/>
              </a:p>
              <a:p>
                <a:pPr lvl="2"/>
                <a:endParaRPr lang="pt-BR" sz="16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25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AA30DC-751D-69CC-2FBE-7DFB238932A5}"/>
                  </a:ext>
                </a:extLst>
              </p:cNvPr>
              <p:cNvSpPr txBox="1"/>
              <p:nvPr/>
            </p:nvSpPr>
            <p:spPr>
              <a:xfrm>
                <a:off x="763989" y="4048026"/>
                <a:ext cx="609600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:,0:</m:t>
                            </m:r>
                            <m: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∗2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∗3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𝑡𝑎𝑛h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∗4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:endParaRPr lang="pt-BR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AA30DC-751D-69CC-2FBE-7DFB23893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89" y="4048026"/>
                <a:ext cx="6096000" cy="2308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43186A1-68D0-BAE7-E482-6F8627192FC5}"/>
              </a:ext>
            </a:extLst>
          </p:cNvPr>
          <p:cNvSpPr/>
          <p:nvPr/>
        </p:nvSpPr>
        <p:spPr>
          <a:xfrm>
            <a:off x="4707172" y="238538"/>
            <a:ext cx="7195931" cy="64075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class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MyLSTM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Module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super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().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W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U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init_weights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200" dirty="0" err="1">
                <a:solidFill>
                  <a:srgbClr val="008000"/>
                </a:solidFill>
                <a:latin typeface="CasKaydiaCove NF" panose="020B0509020204030204" pitchFamily="49" charset="0"/>
              </a:rPr>
              <a:t>n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ot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shown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forward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"""Assumes x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is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of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 shape (batch,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)"""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seq_sz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[]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zeros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.device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 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  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zeros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.device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for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in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range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seq_sz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:]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@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W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+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@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U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f_t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(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input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forget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tanh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3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3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output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f_t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g_t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tanh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append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unsqueeze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cat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dim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1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reshape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from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shape (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, batch,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)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(batch,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)</a:t>
            </a:r>
            <a:endParaRPr lang="pt-BR" sz="11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transpose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1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contiguous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return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pPr algn="ctr"/>
            <a:endParaRPr lang="pt-BR" sz="12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2DCAEE-1A97-4702-E8C1-D6CB2EB57E6F}"/>
              </a:ext>
            </a:extLst>
          </p:cNvPr>
          <p:cNvSpPr/>
          <p:nvPr/>
        </p:nvSpPr>
        <p:spPr>
          <a:xfrm>
            <a:off x="5216058" y="787179"/>
            <a:ext cx="2353586" cy="198783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BE57C4-2587-C7BE-8313-CDFF5E5BD075}"/>
              </a:ext>
            </a:extLst>
          </p:cNvPr>
          <p:cNvSpPr/>
          <p:nvPr/>
        </p:nvSpPr>
        <p:spPr>
          <a:xfrm>
            <a:off x="1558788" y="1826950"/>
            <a:ext cx="1454756" cy="280146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99964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𝑖𝑠</m:t>
                    </m:r>
                  </m:oMath>
                </a14:m>
                <a:r>
                  <a:rPr lang="pt-BR" sz="2000" dirty="0"/>
                  <a:t>: input </a:t>
                </a:r>
                <a:r>
                  <a:rPr lang="pt-BR" sz="2000" dirty="0" err="1"/>
                  <a:t>size</a:t>
                </a:r>
                <a:endParaRPr lang="pt-BR" sz="2000" dirty="0"/>
              </a:p>
              <a:p>
                <a:pPr lvl="1"/>
                <a:r>
                  <a:rPr lang="pt-BR" sz="2000" i="1" dirty="0" err="1">
                    <a:solidFill>
                      <a:srgbClr val="FF0000"/>
                    </a:solidFill>
                  </a:rPr>
                  <a:t>hs</a:t>
                </a:r>
                <a:r>
                  <a:rPr lang="pt-BR" sz="2000" dirty="0"/>
                  <a:t>: </a:t>
                </a:r>
                <a:r>
                  <a:rPr lang="pt-BR" sz="2000" dirty="0" err="1"/>
                  <a:t>hidden</a:t>
                </a:r>
                <a:r>
                  <a:rPr lang="pt-BR" sz="2000" dirty="0"/>
                  <a:t> </a:t>
                </a:r>
                <a:r>
                  <a:rPr lang="pt-BR" sz="2000" dirty="0" err="1"/>
                  <a:t>size</a:t>
                </a:r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pt-BR" sz="2000" dirty="0"/>
              </a:p>
              <a:p>
                <a:endParaRPr lang="pt-BR" sz="2400" dirty="0"/>
              </a:p>
              <a:p>
                <a:pPr lvl="1"/>
                <a:endParaRPr lang="pt-BR" sz="2000" dirty="0"/>
              </a:p>
              <a:p>
                <a:pPr lvl="2"/>
                <a:endParaRPr lang="pt-BR" sz="16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26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AA30DC-751D-69CC-2FBE-7DFB238932A5}"/>
                  </a:ext>
                </a:extLst>
              </p:cNvPr>
              <p:cNvSpPr txBox="1"/>
              <p:nvPr/>
            </p:nvSpPr>
            <p:spPr>
              <a:xfrm>
                <a:off x="763989" y="4048026"/>
                <a:ext cx="609600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:,0:</m:t>
                            </m:r>
                            <m: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∗2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∗3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𝑡𝑎𝑛h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∗4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:endParaRPr lang="pt-BR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AA30DC-751D-69CC-2FBE-7DFB23893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89" y="4048026"/>
                <a:ext cx="6096000" cy="2308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43186A1-68D0-BAE7-E482-6F8627192FC5}"/>
              </a:ext>
            </a:extLst>
          </p:cNvPr>
          <p:cNvSpPr/>
          <p:nvPr/>
        </p:nvSpPr>
        <p:spPr>
          <a:xfrm>
            <a:off x="4707172" y="238538"/>
            <a:ext cx="7195931" cy="64075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class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MyLSTM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Module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super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().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W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U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init_weights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200" dirty="0" err="1">
                <a:solidFill>
                  <a:srgbClr val="008000"/>
                </a:solidFill>
                <a:latin typeface="CasKaydiaCove NF" panose="020B0509020204030204" pitchFamily="49" charset="0"/>
              </a:rPr>
              <a:t>n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ot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shown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forward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"""Assumes x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is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of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 shape (batch,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)"""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seq_sz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[]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zeros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.device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 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  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zeros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.device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for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in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range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seq_sz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:]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@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W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+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@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U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f_t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(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input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forget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tanh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3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3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output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f_t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g_t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tanh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append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unsqueeze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cat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dim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1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reshape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from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shape (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, batch,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)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(batch,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)</a:t>
            </a:r>
            <a:endParaRPr lang="pt-BR" sz="11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transpose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1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contiguous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return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pPr algn="ctr"/>
            <a:endParaRPr lang="pt-BR" sz="12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2DCAEE-1A97-4702-E8C1-D6CB2EB57E6F}"/>
              </a:ext>
            </a:extLst>
          </p:cNvPr>
          <p:cNvSpPr/>
          <p:nvPr/>
        </p:nvSpPr>
        <p:spPr>
          <a:xfrm>
            <a:off x="5240098" y="1334032"/>
            <a:ext cx="5549635" cy="198783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BE57C4-2587-C7BE-8313-CDFF5E5BD075}"/>
              </a:ext>
            </a:extLst>
          </p:cNvPr>
          <p:cNvSpPr/>
          <p:nvPr/>
        </p:nvSpPr>
        <p:spPr>
          <a:xfrm>
            <a:off x="1558788" y="2519771"/>
            <a:ext cx="1081045" cy="293367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5803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𝑖𝑠</m:t>
                    </m:r>
                  </m:oMath>
                </a14:m>
                <a:r>
                  <a:rPr lang="pt-BR" sz="2000" dirty="0"/>
                  <a:t>: input </a:t>
                </a:r>
                <a:r>
                  <a:rPr lang="pt-BR" sz="2000" dirty="0" err="1"/>
                  <a:t>size</a:t>
                </a:r>
                <a:endParaRPr lang="pt-BR" sz="2000" dirty="0"/>
              </a:p>
              <a:p>
                <a:pPr lvl="1"/>
                <a:r>
                  <a:rPr lang="pt-BR" sz="2000" i="1" dirty="0" err="1">
                    <a:solidFill>
                      <a:srgbClr val="FF0000"/>
                    </a:solidFill>
                  </a:rPr>
                  <a:t>hs</a:t>
                </a:r>
                <a:r>
                  <a:rPr lang="pt-BR" sz="2000" dirty="0"/>
                  <a:t>: </a:t>
                </a:r>
                <a:r>
                  <a:rPr lang="pt-BR" sz="2000" dirty="0" err="1"/>
                  <a:t>hidden</a:t>
                </a:r>
                <a:r>
                  <a:rPr lang="pt-BR" sz="2000" dirty="0"/>
                  <a:t> </a:t>
                </a:r>
                <a:r>
                  <a:rPr lang="pt-BR" sz="2000" dirty="0" err="1"/>
                  <a:t>size</a:t>
                </a:r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pt-BR" sz="2000" dirty="0"/>
              </a:p>
              <a:p>
                <a:endParaRPr lang="pt-BR" sz="2400" dirty="0"/>
              </a:p>
              <a:p>
                <a:pPr lvl="1"/>
                <a:endParaRPr lang="pt-BR" sz="2000" dirty="0"/>
              </a:p>
              <a:p>
                <a:pPr lvl="2"/>
                <a:endParaRPr lang="pt-BR" sz="16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27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AA30DC-751D-69CC-2FBE-7DFB238932A5}"/>
                  </a:ext>
                </a:extLst>
              </p:cNvPr>
              <p:cNvSpPr txBox="1"/>
              <p:nvPr/>
            </p:nvSpPr>
            <p:spPr>
              <a:xfrm>
                <a:off x="763989" y="4048026"/>
                <a:ext cx="609600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:,0:</m:t>
                            </m:r>
                            <m: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∗2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∗3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𝑡𝑎𝑛h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∗4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:endParaRPr lang="pt-BR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AA30DC-751D-69CC-2FBE-7DFB23893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89" y="4048026"/>
                <a:ext cx="6096000" cy="2308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43186A1-68D0-BAE7-E482-6F8627192FC5}"/>
              </a:ext>
            </a:extLst>
          </p:cNvPr>
          <p:cNvSpPr/>
          <p:nvPr/>
        </p:nvSpPr>
        <p:spPr>
          <a:xfrm>
            <a:off x="4707172" y="238538"/>
            <a:ext cx="7195931" cy="64075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class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MyLSTM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Module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super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().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W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U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init_weights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200" dirty="0" err="1">
                <a:solidFill>
                  <a:srgbClr val="008000"/>
                </a:solidFill>
                <a:latin typeface="CasKaydiaCove NF" panose="020B0509020204030204" pitchFamily="49" charset="0"/>
              </a:rPr>
              <a:t>n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ot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shown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forward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"""Assumes x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is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of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 shape (batch,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)"""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seq_sz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[]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zeros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.device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 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  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zeros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.device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for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in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range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seq_sz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:]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@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W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+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@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U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f_t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(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input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forget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tanh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3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3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output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f_t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g_t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tanh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append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unsqueeze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cat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dim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1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reshape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from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shape (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, batch,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)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(batch,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)</a:t>
            </a:r>
            <a:endParaRPr lang="pt-BR" sz="11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transpose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1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contiguous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return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pPr algn="ctr"/>
            <a:endParaRPr lang="pt-BR" sz="12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2DCAEE-1A97-4702-E8C1-D6CB2EB57E6F}"/>
              </a:ext>
            </a:extLst>
          </p:cNvPr>
          <p:cNvSpPr/>
          <p:nvPr/>
        </p:nvSpPr>
        <p:spPr>
          <a:xfrm>
            <a:off x="5240098" y="1143203"/>
            <a:ext cx="5549635" cy="198783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BE57C4-2587-C7BE-8313-CDFF5E5BD075}"/>
              </a:ext>
            </a:extLst>
          </p:cNvPr>
          <p:cNvSpPr/>
          <p:nvPr/>
        </p:nvSpPr>
        <p:spPr>
          <a:xfrm>
            <a:off x="1526983" y="2877580"/>
            <a:ext cx="1081045" cy="293367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8249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𝑖𝑠</m:t>
                    </m:r>
                  </m:oMath>
                </a14:m>
                <a:r>
                  <a:rPr lang="pt-BR" sz="2000" dirty="0"/>
                  <a:t>: input </a:t>
                </a:r>
                <a:r>
                  <a:rPr lang="pt-BR" sz="2000" dirty="0" err="1"/>
                  <a:t>size</a:t>
                </a:r>
                <a:endParaRPr lang="pt-BR" sz="2000" dirty="0"/>
              </a:p>
              <a:p>
                <a:pPr lvl="1"/>
                <a:r>
                  <a:rPr lang="pt-BR" sz="2000" i="1" dirty="0" err="1">
                    <a:solidFill>
                      <a:srgbClr val="FF0000"/>
                    </a:solidFill>
                  </a:rPr>
                  <a:t>hs</a:t>
                </a:r>
                <a:r>
                  <a:rPr lang="pt-BR" sz="2000" dirty="0"/>
                  <a:t>: </a:t>
                </a:r>
                <a:r>
                  <a:rPr lang="pt-BR" sz="2000" dirty="0" err="1"/>
                  <a:t>hidden</a:t>
                </a:r>
                <a:r>
                  <a:rPr lang="pt-BR" sz="2000" dirty="0"/>
                  <a:t> </a:t>
                </a:r>
                <a:r>
                  <a:rPr lang="pt-BR" sz="2000" dirty="0" err="1"/>
                  <a:t>size</a:t>
                </a:r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pt-BR" sz="2000" dirty="0"/>
              </a:p>
              <a:p>
                <a:endParaRPr lang="pt-BR" sz="2400" dirty="0"/>
              </a:p>
              <a:p>
                <a:pPr lvl="1"/>
                <a:endParaRPr lang="pt-BR" sz="2000" dirty="0"/>
              </a:p>
              <a:p>
                <a:pPr lvl="2"/>
                <a:endParaRPr lang="pt-BR" sz="16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28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AA30DC-751D-69CC-2FBE-7DFB238932A5}"/>
                  </a:ext>
                </a:extLst>
              </p:cNvPr>
              <p:cNvSpPr txBox="1"/>
              <p:nvPr/>
            </p:nvSpPr>
            <p:spPr>
              <a:xfrm>
                <a:off x="763989" y="4048026"/>
                <a:ext cx="609600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:,0:</m:t>
                            </m:r>
                            <m: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∗2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∗3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𝑡𝑎𝑛h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∗4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:endParaRPr lang="pt-BR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AA30DC-751D-69CC-2FBE-7DFB23893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89" y="4048026"/>
                <a:ext cx="6096000" cy="2308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43186A1-68D0-BAE7-E482-6F8627192FC5}"/>
              </a:ext>
            </a:extLst>
          </p:cNvPr>
          <p:cNvSpPr/>
          <p:nvPr/>
        </p:nvSpPr>
        <p:spPr>
          <a:xfrm>
            <a:off x="4707172" y="238538"/>
            <a:ext cx="7195931" cy="64075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class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MyLSTM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Module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super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().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W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U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init_weights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200" dirty="0" err="1">
                <a:solidFill>
                  <a:srgbClr val="008000"/>
                </a:solidFill>
                <a:latin typeface="CasKaydiaCove NF" panose="020B0509020204030204" pitchFamily="49" charset="0"/>
              </a:rPr>
              <a:t>n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ot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shown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forward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"""Assumes x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is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of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 shape (batch,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)"""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seq_sz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[]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zeros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.device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 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  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zeros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.device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for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in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range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seq_sz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:]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@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W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+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@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U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f_t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(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input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forget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tanh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3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3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output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f_t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g_t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tanh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append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unsqueeze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cat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dim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1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reshape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from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shape (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, batch,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)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(batch,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)</a:t>
            </a:r>
            <a:endParaRPr lang="pt-BR" sz="11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transpose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1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contiguous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return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pPr algn="ctr"/>
            <a:endParaRPr lang="pt-BR" sz="12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2DCAEE-1A97-4702-E8C1-D6CB2EB57E6F}"/>
              </a:ext>
            </a:extLst>
          </p:cNvPr>
          <p:cNvSpPr/>
          <p:nvPr/>
        </p:nvSpPr>
        <p:spPr>
          <a:xfrm>
            <a:off x="5245864" y="1529600"/>
            <a:ext cx="5045123" cy="198783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BE57C4-2587-C7BE-8313-CDFF5E5BD075}"/>
              </a:ext>
            </a:extLst>
          </p:cNvPr>
          <p:cNvSpPr/>
          <p:nvPr/>
        </p:nvSpPr>
        <p:spPr>
          <a:xfrm>
            <a:off x="1550838" y="3211535"/>
            <a:ext cx="675528" cy="293367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38303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𝑖𝑠</m:t>
                    </m:r>
                  </m:oMath>
                </a14:m>
                <a:r>
                  <a:rPr lang="pt-BR" sz="2000" dirty="0"/>
                  <a:t>: input </a:t>
                </a:r>
                <a:r>
                  <a:rPr lang="pt-BR" sz="2000" dirty="0" err="1"/>
                  <a:t>size</a:t>
                </a:r>
                <a:endParaRPr lang="pt-BR" sz="2000" dirty="0"/>
              </a:p>
              <a:p>
                <a:pPr lvl="1"/>
                <a:r>
                  <a:rPr lang="pt-BR" sz="2000" i="1" dirty="0" err="1">
                    <a:solidFill>
                      <a:srgbClr val="FF0000"/>
                    </a:solidFill>
                  </a:rPr>
                  <a:t>hs</a:t>
                </a:r>
                <a:r>
                  <a:rPr lang="pt-BR" sz="2000" dirty="0"/>
                  <a:t>: </a:t>
                </a:r>
                <a:r>
                  <a:rPr lang="pt-BR" sz="2000" dirty="0" err="1"/>
                  <a:t>hidden</a:t>
                </a:r>
                <a:r>
                  <a:rPr lang="pt-BR" sz="2000" dirty="0"/>
                  <a:t> </a:t>
                </a:r>
                <a:r>
                  <a:rPr lang="pt-BR" sz="2000" dirty="0" err="1"/>
                  <a:t>size</a:t>
                </a:r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pt-BR" sz="2000" dirty="0"/>
              </a:p>
              <a:p>
                <a:endParaRPr lang="pt-BR" sz="2400" dirty="0"/>
              </a:p>
              <a:p>
                <a:pPr lvl="1"/>
                <a:endParaRPr lang="pt-BR" sz="2000" dirty="0"/>
              </a:p>
              <a:p>
                <a:pPr lvl="2"/>
                <a:endParaRPr lang="pt-BR" sz="16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29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AA30DC-751D-69CC-2FBE-7DFB238932A5}"/>
                  </a:ext>
                </a:extLst>
              </p:cNvPr>
              <p:cNvSpPr txBox="1"/>
              <p:nvPr/>
            </p:nvSpPr>
            <p:spPr>
              <a:xfrm>
                <a:off x="763989" y="4048026"/>
                <a:ext cx="609600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:,0:</m:t>
                            </m:r>
                            <m: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∗2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∗3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𝑡𝑎𝑛h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∗4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:endParaRPr lang="pt-BR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AA30DC-751D-69CC-2FBE-7DFB23893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89" y="4048026"/>
                <a:ext cx="6096000" cy="2308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43186A1-68D0-BAE7-E482-6F8627192FC5}"/>
              </a:ext>
            </a:extLst>
          </p:cNvPr>
          <p:cNvSpPr/>
          <p:nvPr/>
        </p:nvSpPr>
        <p:spPr>
          <a:xfrm>
            <a:off x="4707172" y="238538"/>
            <a:ext cx="7195931" cy="64075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class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MyLSTM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Module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super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().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W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U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init_weights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200" dirty="0" err="1">
                <a:solidFill>
                  <a:srgbClr val="008000"/>
                </a:solidFill>
                <a:latin typeface="CasKaydiaCove NF" panose="020B0509020204030204" pitchFamily="49" charset="0"/>
              </a:rPr>
              <a:t>n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ot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shown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forward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"""Assumes x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is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of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 shape (batch,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)"""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seq_sz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[]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zeros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.device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 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  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zeros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.device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for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in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range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seq_sz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:]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@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W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+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@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U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f_t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(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input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forget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tanh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3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3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output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f_t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g_t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tanh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append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unsqueeze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cat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dim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1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reshape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from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shape (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, batch,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)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(batch,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)</a:t>
            </a:r>
            <a:endParaRPr lang="pt-BR" sz="11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transpose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1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contiguous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return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pPr algn="ctr"/>
            <a:endParaRPr lang="pt-BR" sz="12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2DCAEE-1A97-4702-E8C1-D6CB2EB57E6F}"/>
              </a:ext>
            </a:extLst>
          </p:cNvPr>
          <p:cNvSpPr/>
          <p:nvPr/>
        </p:nvSpPr>
        <p:spPr>
          <a:xfrm>
            <a:off x="5484403" y="3900136"/>
            <a:ext cx="4295701" cy="198783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BE57C4-2587-C7BE-8313-CDFF5E5BD075}"/>
              </a:ext>
            </a:extLst>
          </p:cNvPr>
          <p:cNvSpPr/>
          <p:nvPr/>
        </p:nvSpPr>
        <p:spPr>
          <a:xfrm>
            <a:off x="1280334" y="4098919"/>
            <a:ext cx="2091019" cy="293367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36165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𝑖𝑠</m:t>
                    </m:r>
                  </m:oMath>
                </a14:m>
                <a:r>
                  <a:rPr lang="pt-BR" sz="2000" dirty="0"/>
                  <a:t>: input </a:t>
                </a:r>
                <a:r>
                  <a:rPr lang="pt-BR" sz="2000" dirty="0" err="1"/>
                  <a:t>size</a:t>
                </a:r>
                <a:endParaRPr lang="pt-BR" sz="2000" dirty="0"/>
              </a:p>
              <a:p>
                <a:pPr lvl="1"/>
                <a:r>
                  <a:rPr lang="pt-BR" sz="2000" i="1" dirty="0" err="1">
                    <a:solidFill>
                      <a:srgbClr val="FF0000"/>
                    </a:solidFill>
                  </a:rPr>
                  <a:t>hs</a:t>
                </a:r>
                <a:r>
                  <a:rPr lang="pt-BR" sz="2000" dirty="0"/>
                  <a:t>: </a:t>
                </a:r>
                <a:r>
                  <a:rPr lang="pt-BR" sz="2000" dirty="0" err="1"/>
                  <a:t>hidden</a:t>
                </a:r>
                <a:r>
                  <a:rPr lang="pt-BR" sz="2000" dirty="0"/>
                  <a:t> </a:t>
                </a:r>
                <a:r>
                  <a:rPr lang="pt-BR" sz="2000" dirty="0" err="1"/>
                  <a:t>size</a:t>
                </a:r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pt-BR" sz="2000" dirty="0"/>
              </a:p>
              <a:p>
                <a:endParaRPr lang="pt-BR" sz="2400" dirty="0"/>
              </a:p>
              <a:p>
                <a:pPr lvl="1"/>
                <a:endParaRPr lang="pt-BR" sz="2000" dirty="0"/>
              </a:p>
              <a:p>
                <a:pPr lvl="2"/>
                <a:endParaRPr lang="pt-BR" sz="16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30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AA30DC-751D-69CC-2FBE-7DFB238932A5}"/>
                  </a:ext>
                </a:extLst>
              </p:cNvPr>
              <p:cNvSpPr txBox="1"/>
              <p:nvPr/>
            </p:nvSpPr>
            <p:spPr>
              <a:xfrm>
                <a:off x="763989" y="4048026"/>
                <a:ext cx="609600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:,0:</m:t>
                            </m:r>
                            <m: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∗2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∗3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𝑡𝑎𝑛h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∗4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:endParaRPr lang="pt-BR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AA30DC-751D-69CC-2FBE-7DFB23893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89" y="4048026"/>
                <a:ext cx="6096000" cy="2308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43186A1-68D0-BAE7-E482-6F8627192FC5}"/>
              </a:ext>
            </a:extLst>
          </p:cNvPr>
          <p:cNvSpPr/>
          <p:nvPr/>
        </p:nvSpPr>
        <p:spPr>
          <a:xfrm>
            <a:off x="4707172" y="238538"/>
            <a:ext cx="7195931" cy="64075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class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MyLSTM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Module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super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().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W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U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init_weights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200" dirty="0" err="1">
                <a:solidFill>
                  <a:srgbClr val="008000"/>
                </a:solidFill>
                <a:latin typeface="CasKaydiaCove NF" panose="020B0509020204030204" pitchFamily="49" charset="0"/>
              </a:rPr>
              <a:t>n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ot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shown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forward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"""Assumes x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is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of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 shape (batch,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)"""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seq_sz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[]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zeros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.device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 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  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zeros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.device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for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in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range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seq_sz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:]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@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W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+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@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U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f_t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(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input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forget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tanh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3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3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output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f_t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g_t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tanh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append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unsqueeze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cat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dim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1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reshape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from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shape (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, batch,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)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(batch,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)</a:t>
            </a:r>
            <a:endParaRPr lang="pt-BR" sz="11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transpose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1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contiguous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return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pPr algn="ctr"/>
            <a:endParaRPr lang="pt-BR" sz="12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2DCAEE-1A97-4702-E8C1-D6CB2EB57E6F}"/>
              </a:ext>
            </a:extLst>
          </p:cNvPr>
          <p:cNvSpPr/>
          <p:nvPr/>
        </p:nvSpPr>
        <p:spPr>
          <a:xfrm>
            <a:off x="5484403" y="4052023"/>
            <a:ext cx="4295701" cy="1132227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BE57C4-2587-C7BE-8313-CDFF5E5BD075}"/>
              </a:ext>
            </a:extLst>
          </p:cNvPr>
          <p:cNvSpPr/>
          <p:nvPr/>
        </p:nvSpPr>
        <p:spPr>
          <a:xfrm>
            <a:off x="1296237" y="4377215"/>
            <a:ext cx="3100834" cy="113303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858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𝑖𝑠</m:t>
                    </m:r>
                  </m:oMath>
                </a14:m>
                <a:r>
                  <a:rPr lang="pt-BR" sz="2000" dirty="0"/>
                  <a:t>: input </a:t>
                </a:r>
                <a:r>
                  <a:rPr lang="pt-BR" sz="2000" dirty="0" err="1"/>
                  <a:t>size</a:t>
                </a:r>
                <a:endParaRPr lang="pt-BR" sz="2000" dirty="0"/>
              </a:p>
              <a:p>
                <a:pPr lvl="1"/>
                <a:r>
                  <a:rPr lang="pt-BR" sz="2000" i="1" dirty="0" err="1">
                    <a:solidFill>
                      <a:srgbClr val="FF0000"/>
                    </a:solidFill>
                  </a:rPr>
                  <a:t>hs</a:t>
                </a:r>
                <a:r>
                  <a:rPr lang="pt-BR" sz="2000" dirty="0"/>
                  <a:t>: </a:t>
                </a:r>
                <a:r>
                  <a:rPr lang="pt-BR" sz="2000" dirty="0" err="1"/>
                  <a:t>hidden</a:t>
                </a:r>
                <a:r>
                  <a:rPr lang="pt-BR" sz="2000" dirty="0"/>
                  <a:t> </a:t>
                </a:r>
                <a:r>
                  <a:rPr lang="pt-BR" sz="2000" dirty="0" err="1"/>
                  <a:t>size</a:t>
                </a:r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pt-BR" sz="2000" dirty="0"/>
              </a:p>
              <a:p>
                <a:endParaRPr lang="pt-BR" sz="2400" dirty="0"/>
              </a:p>
              <a:p>
                <a:pPr lvl="1"/>
                <a:endParaRPr lang="pt-BR" sz="2000" dirty="0"/>
              </a:p>
              <a:p>
                <a:pPr lvl="2"/>
                <a:endParaRPr lang="pt-BR" sz="16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31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AA30DC-751D-69CC-2FBE-7DFB238932A5}"/>
                  </a:ext>
                </a:extLst>
              </p:cNvPr>
              <p:cNvSpPr txBox="1"/>
              <p:nvPr/>
            </p:nvSpPr>
            <p:spPr>
              <a:xfrm>
                <a:off x="763989" y="4048026"/>
                <a:ext cx="609600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:,0:</m:t>
                            </m:r>
                            <m: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∗2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∗3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𝑡𝑎𝑛h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∗4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:endParaRPr lang="pt-BR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AA30DC-751D-69CC-2FBE-7DFB23893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89" y="4048026"/>
                <a:ext cx="6096000" cy="2308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43186A1-68D0-BAE7-E482-6F8627192FC5}"/>
              </a:ext>
            </a:extLst>
          </p:cNvPr>
          <p:cNvSpPr/>
          <p:nvPr/>
        </p:nvSpPr>
        <p:spPr>
          <a:xfrm>
            <a:off x="4707172" y="238538"/>
            <a:ext cx="7195931" cy="64075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class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MyLSTM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Module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super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().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W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U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init_weights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200" dirty="0" err="1">
                <a:solidFill>
                  <a:srgbClr val="008000"/>
                </a:solidFill>
                <a:latin typeface="CasKaydiaCove NF" panose="020B0509020204030204" pitchFamily="49" charset="0"/>
              </a:rPr>
              <a:t>n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ot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shown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forward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"""Assumes x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is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of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 shape (batch,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)"""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seq_sz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[]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zeros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.device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 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  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zeros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.device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for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in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range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seq_sz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:]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@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W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+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@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U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f_t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(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input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forget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tanh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3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3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output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f_t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g_t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tanh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append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unsqueeze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cat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dim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1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reshape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from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shape (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, batch,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)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(batch,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)</a:t>
            </a:r>
            <a:endParaRPr lang="pt-BR" sz="11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transpose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1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contiguous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return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pPr algn="ctr"/>
            <a:endParaRPr lang="pt-BR" sz="12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2DCAEE-1A97-4702-E8C1-D6CB2EB57E6F}"/>
              </a:ext>
            </a:extLst>
          </p:cNvPr>
          <p:cNvSpPr/>
          <p:nvPr/>
        </p:nvSpPr>
        <p:spPr>
          <a:xfrm>
            <a:off x="5432645" y="5148734"/>
            <a:ext cx="2598547" cy="24277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BE57C4-2587-C7BE-8313-CDFF5E5BD075}"/>
              </a:ext>
            </a:extLst>
          </p:cNvPr>
          <p:cNvSpPr/>
          <p:nvPr/>
        </p:nvSpPr>
        <p:spPr>
          <a:xfrm>
            <a:off x="1222269" y="5493191"/>
            <a:ext cx="2235306" cy="27578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98324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569C-29FA-4514-2533-CEB8B33C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LSTMs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𝑖𝑠</m:t>
                    </m:r>
                  </m:oMath>
                </a14:m>
                <a:r>
                  <a:rPr lang="pt-BR" sz="2000" dirty="0"/>
                  <a:t>: input </a:t>
                </a:r>
                <a:r>
                  <a:rPr lang="pt-BR" sz="2000" dirty="0" err="1"/>
                  <a:t>size</a:t>
                </a:r>
                <a:endParaRPr lang="pt-BR" sz="2000" dirty="0"/>
              </a:p>
              <a:p>
                <a:pPr lvl="1"/>
                <a:r>
                  <a:rPr lang="pt-BR" sz="2000" i="1" dirty="0" err="1">
                    <a:solidFill>
                      <a:srgbClr val="FF0000"/>
                    </a:solidFill>
                  </a:rPr>
                  <a:t>hs</a:t>
                </a:r>
                <a:r>
                  <a:rPr lang="pt-BR" sz="2000" dirty="0"/>
                  <a:t>: </a:t>
                </a:r>
                <a:r>
                  <a:rPr lang="pt-BR" sz="2000" dirty="0" err="1"/>
                  <a:t>hidden</a:t>
                </a:r>
                <a:r>
                  <a:rPr lang="pt-BR" sz="2000" dirty="0"/>
                  <a:t> </a:t>
                </a:r>
                <a:r>
                  <a:rPr lang="pt-BR" sz="2000" dirty="0" err="1"/>
                  <a:t>size</a:t>
                </a:r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∗4</m:t>
                        </m:r>
                      </m:sub>
                    </m:sSub>
                  </m:oMath>
                </a14:m>
                <a:endParaRPr lang="pt-BR" sz="2000" dirty="0"/>
              </a:p>
              <a:p>
                <a:endParaRPr lang="pt-BR" sz="2400" dirty="0"/>
              </a:p>
              <a:p>
                <a:pPr lvl="1"/>
                <a:endParaRPr lang="pt-BR" sz="2000" dirty="0"/>
              </a:p>
              <a:p>
                <a:pPr lvl="2"/>
                <a:endParaRPr lang="pt-BR" sz="16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3E888-9389-1631-FD24-889B5925F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2A2E-4CEB-8999-150C-C9F354D9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32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AA30DC-751D-69CC-2FBE-7DFB238932A5}"/>
                  </a:ext>
                </a:extLst>
              </p:cNvPr>
              <p:cNvSpPr txBox="1"/>
              <p:nvPr/>
            </p:nvSpPr>
            <p:spPr>
              <a:xfrm>
                <a:off x="763989" y="4048026"/>
                <a:ext cx="609600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:,0:</m:t>
                            </m:r>
                            <m: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∗2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∗3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𝑡𝑎𝑛h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∗4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18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:endParaRPr lang="pt-BR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AA30DC-751D-69CC-2FBE-7DFB23893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89" y="4048026"/>
                <a:ext cx="6096000" cy="2308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43186A1-68D0-BAE7-E482-6F8627192FC5}"/>
              </a:ext>
            </a:extLst>
          </p:cNvPr>
          <p:cNvSpPr/>
          <p:nvPr/>
        </p:nvSpPr>
        <p:spPr>
          <a:xfrm>
            <a:off x="4707172" y="238538"/>
            <a:ext cx="7195931" cy="64075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class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MyLSTM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Module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super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().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__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W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input_sz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U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nn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Parameter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Tensor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*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4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init_weights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200" dirty="0" err="1">
                <a:solidFill>
                  <a:srgbClr val="008000"/>
                </a:solidFill>
                <a:latin typeface="CasKaydiaCove NF" panose="020B0509020204030204" pitchFamily="49" charset="0"/>
              </a:rPr>
              <a:t>n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ot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shown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</a:t>
            </a:r>
            <a:r>
              <a:rPr lang="pt-BR" sz="1200" b="0" dirty="0" err="1">
                <a:solidFill>
                  <a:srgbClr val="0000FF"/>
                </a:solidFill>
                <a:effectLst/>
                <a:latin typeface="CasKaydiaCove NF" panose="020B0509020204030204" pitchFamily="49" charset="0"/>
              </a:rPr>
              <a:t>def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forward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"""Assumes x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is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of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 shape (batch,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200" b="0" dirty="0">
                <a:solidFill>
                  <a:srgbClr val="A31515"/>
                </a:solidFill>
                <a:effectLst/>
                <a:latin typeface="CasKaydiaCove NF" panose="020B0509020204030204" pitchFamily="49" charset="0"/>
              </a:rPr>
              <a:t>)"""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seq_sz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_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[]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(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zeros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.device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), 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  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zeros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.device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hidden_size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for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in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range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seq_sz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):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:]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x_t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@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W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+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@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U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self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bias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f_t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(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input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2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forget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tanh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2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3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]),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   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sigmoid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gates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[:, </a:t>
            </a:r>
            <a:r>
              <a:rPr lang="pt-BR" sz="1200" b="0" dirty="0">
                <a:solidFill>
                  <a:srgbClr val="0070C1"/>
                </a:solidFill>
                <a:effectLst/>
                <a:latin typeface="CasKaydiaCove NF" panose="020B0509020204030204" pitchFamily="49" charset="0"/>
              </a:rPr>
              <a:t>HS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3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:]), </a:t>
            </a:r>
            <a:r>
              <a:rPr lang="pt-BR" sz="12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output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f_t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+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i_t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g_t</a:t>
            </a:r>
            <a:endParaRPr lang="pt-BR" sz="12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o_t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*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tanh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append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unsqueeze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>
                <a:solidFill>
                  <a:srgbClr val="267F99"/>
                </a:solidFill>
                <a:effectLst/>
                <a:latin typeface="CasKaydiaCove NF" panose="020B0509020204030204" pitchFamily="49" charset="0"/>
              </a:rPr>
              <a:t>torch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cat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dim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=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r>
              <a:rPr lang="pt-BR" sz="11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#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reshape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from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shape (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, batch,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)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to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 (batch,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sequence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100" b="0" dirty="0" err="1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feature</a:t>
            </a:r>
            <a:r>
              <a:rPr lang="pt-BR" sz="1100" b="0" dirty="0">
                <a:solidFill>
                  <a:srgbClr val="008000"/>
                </a:solidFill>
                <a:effectLst/>
                <a:latin typeface="CasKaydiaCove NF" panose="020B0509020204030204" pitchFamily="49" charset="0"/>
              </a:rPr>
              <a:t>)</a:t>
            </a:r>
            <a:endParaRPr lang="pt-BR" sz="1100" b="0" dirty="0">
              <a:solidFill>
                <a:srgbClr val="000000"/>
              </a:solidFill>
              <a:effectLst/>
              <a:latin typeface="CasKaydiaCove NF" panose="020B0509020204030204" pitchFamily="49" charset="0"/>
            </a:endParaRP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=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 err="1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transpose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0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>
                <a:solidFill>
                  <a:srgbClr val="098658"/>
                </a:solidFill>
                <a:effectLst/>
                <a:latin typeface="CasKaydiaCove NF" panose="020B0509020204030204" pitchFamily="49" charset="0"/>
              </a:rPr>
              <a:t>1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).</a:t>
            </a:r>
            <a:r>
              <a:rPr lang="pt-BR" sz="1200" b="0" dirty="0" err="1">
                <a:solidFill>
                  <a:srgbClr val="795E26"/>
                </a:solidFill>
                <a:effectLst/>
                <a:latin typeface="CasKaydiaCove NF" panose="020B0509020204030204" pitchFamily="49" charset="0"/>
              </a:rPr>
              <a:t>contiguous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()</a:t>
            </a:r>
          </a:p>
          <a:p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        </a:t>
            </a:r>
            <a:r>
              <a:rPr lang="pt-BR" sz="1200" b="0" dirty="0" err="1">
                <a:solidFill>
                  <a:srgbClr val="AF00DB"/>
                </a:solidFill>
                <a:effectLst/>
                <a:latin typeface="CasKaydiaCove NF" panose="020B0509020204030204" pitchFamily="49" charset="0"/>
              </a:rPr>
              <a:t>return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hidden_seq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(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h_t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, </a:t>
            </a:r>
            <a:r>
              <a:rPr lang="pt-BR" sz="1200" b="0" dirty="0" err="1">
                <a:solidFill>
                  <a:srgbClr val="001080"/>
                </a:solidFill>
                <a:effectLst/>
                <a:latin typeface="CasKaydiaCove NF" panose="020B0509020204030204" pitchFamily="49" charset="0"/>
              </a:rPr>
              <a:t>c_t</a:t>
            </a:r>
            <a:r>
              <a:rPr lang="pt-BR" sz="1200" b="0" dirty="0">
                <a:solidFill>
                  <a:srgbClr val="000000"/>
                </a:solidFill>
                <a:effectLst/>
                <a:latin typeface="CasKaydiaCove NF" panose="020B0509020204030204" pitchFamily="49" charset="0"/>
              </a:rPr>
              <a:t>)</a:t>
            </a:r>
          </a:p>
          <a:p>
            <a:pPr algn="ctr"/>
            <a:endParaRPr lang="pt-BR" sz="12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2DCAEE-1A97-4702-E8C1-D6CB2EB57E6F}"/>
              </a:ext>
            </a:extLst>
          </p:cNvPr>
          <p:cNvSpPr/>
          <p:nvPr/>
        </p:nvSpPr>
        <p:spPr>
          <a:xfrm>
            <a:off x="5470474" y="5356233"/>
            <a:ext cx="2667293" cy="227093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BE57C4-2587-C7BE-8313-CDFF5E5BD075}"/>
              </a:ext>
            </a:extLst>
          </p:cNvPr>
          <p:cNvSpPr/>
          <p:nvPr/>
        </p:nvSpPr>
        <p:spPr>
          <a:xfrm>
            <a:off x="1170511" y="5751983"/>
            <a:ext cx="2235306" cy="27578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83590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A9457-14DF-CE16-3C89-559EFC774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2333C8-5D18-A085-774F-4036322993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i="1" dirty="0"/>
                  <a:t>Gated </a:t>
                </a:r>
                <a:r>
                  <a:rPr lang="pt-BR" i="1" dirty="0" err="1"/>
                  <a:t>Recurrent</a:t>
                </a:r>
                <a:r>
                  <a:rPr lang="pt-BR" i="1" dirty="0"/>
                  <a:t> Unit</a:t>
                </a:r>
                <a:r>
                  <a:rPr lang="pt-BR" dirty="0"/>
                  <a:t> foi introduzida por Cho et al em 2014</a:t>
                </a:r>
              </a:p>
              <a:p>
                <a:r>
                  <a:rPr lang="pt-BR" dirty="0"/>
                  <a:t>É considerada uma versão simplificada da LSTM </a:t>
                </a:r>
              </a:p>
              <a:p>
                <a:r>
                  <a:rPr lang="pt-BR" dirty="0"/>
                  <a:t>Não mantemos um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pt-BR" dirty="0"/>
                  <a:t> e um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pt-BR" dirty="0"/>
                  <a:t> separados</a:t>
                </a:r>
              </a:p>
              <a:p>
                <a:pPr lvl="1"/>
                <a:r>
                  <a:rPr lang="pt-BR" dirty="0"/>
                  <a:t>Ao invés disso temos uma </a:t>
                </a:r>
                <a:r>
                  <a:rPr lang="pt-BR" i="1" dirty="0"/>
                  <a:t>reset </a:t>
                </a:r>
                <a:r>
                  <a:rPr lang="pt-BR" i="1" dirty="0" err="1"/>
                  <a:t>gate</a:t>
                </a:r>
                <a:r>
                  <a:rPr lang="pt-BR" i="1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pt-BR" dirty="0"/>
                  <a:t> e uma update </a:t>
                </a:r>
                <a:r>
                  <a:rPr lang="pt-BR" dirty="0" err="1"/>
                  <a:t>gate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2333C8-5D18-A085-774F-4036322993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70948-38FC-D75B-894C-A927EEDC4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33</a:t>
            </a:fld>
            <a:endParaRPr lang="pt-B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FFC79E-F234-AF4F-8D24-7A5BCF8C8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582" y="3739943"/>
            <a:ext cx="5366418" cy="27163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C56EC6-A621-DE7D-7B51-E488472AD6C3}"/>
              </a:ext>
            </a:extLst>
          </p:cNvPr>
          <p:cNvSpPr txBox="1"/>
          <p:nvPr/>
        </p:nvSpPr>
        <p:spPr>
          <a:xfrm>
            <a:off x="0" y="6582975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CHO, 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et al. Learning phrase representations using RNN encoder-decoder for statistical machine translation. </a:t>
            </a:r>
            <a:r>
              <a:rPr lang="en-US" sz="12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12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arXiv:1406.1078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1225677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F95DF-BE4F-2300-5C6C-C9AF76F85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618EE-CA94-E1C2-C8AF-879A7159A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EC6F03-527B-2B5B-1E41-EEAD33FDB0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i="1" dirty="0"/>
                  <a:t>Reset </a:t>
                </a:r>
                <a:r>
                  <a:rPr lang="pt-BR" i="1" dirty="0" err="1"/>
                  <a:t>gate</a:t>
                </a:r>
                <a:endParaRPr lang="pt-B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r>
                  <a:rPr lang="en-US" i="1" dirty="0"/>
                  <a:t>Update gate</a:t>
                </a:r>
                <a:endParaRPr lang="en-US" b="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endParaRPr lang="pt-BR" dirty="0"/>
              </a:p>
              <a:p>
                <a:r>
                  <a:rPr lang="en-US" i="1" dirty="0">
                    <a:latin typeface="Cambria Math" panose="02040503050406030204" pitchFamily="18" charset="0"/>
                  </a:rPr>
                  <a:t>Hidden Candidate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EC6F03-527B-2B5B-1E41-EEAD33FDB0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D4B2C-4B48-D46D-8EB8-F386D7817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34</a:t>
            </a:fld>
            <a:endParaRPr lang="pt-B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2B1CC0-2AD6-721D-5A2E-EB7FC8841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582" y="3739943"/>
            <a:ext cx="5366418" cy="27163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971ADA2-A090-00DF-FCBA-6D2D8B1120E0}"/>
              </a:ext>
            </a:extLst>
          </p:cNvPr>
          <p:cNvSpPr txBox="1"/>
          <p:nvPr/>
        </p:nvSpPr>
        <p:spPr>
          <a:xfrm>
            <a:off x="0" y="6582975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CHO, 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et al. Learning phrase representations using RNN encoder-decoder for statistical machine translation. </a:t>
            </a:r>
            <a:r>
              <a:rPr lang="en-US" sz="12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12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arXiv:1406.1078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42834929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C7106-D367-45F4-8EA3-8F49E7136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901DB4-318B-45F1-8005-C67D26C7A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Sugere-se a leitura de:</a:t>
            </a:r>
          </a:p>
          <a:p>
            <a:pPr lvl="1"/>
            <a:r>
              <a:rPr lang="pt-BR" sz="2000" dirty="0"/>
              <a:t>Capítulo 10 - GOODFELLOW, I., BENGIO, Y., COURVILLE, A. </a:t>
            </a:r>
            <a:r>
              <a:rPr lang="pt-BR" sz="2000" dirty="0" err="1"/>
              <a:t>Deep</a:t>
            </a:r>
            <a:r>
              <a:rPr lang="pt-BR" sz="2000" dirty="0"/>
              <a:t> Learning. MIT Press, 775p., 2016. (https://www.deeplearningbook.org/)</a:t>
            </a:r>
          </a:p>
          <a:p>
            <a:r>
              <a:rPr lang="pt-BR" sz="2400" dirty="0"/>
              <a:t>Material baseado em:</a:t>
            </a:r>
          </a:p>
          <a:p>
            <a:pPr lvl="1"/>
            <a:r>
              <a:rPr lang="pt-BR" sz="2000" dirty="0"/>
              <a:t>MIT </a:t>
            </a:r>
            <a:r>
              <a:rPr lang="pt-BR" sz="2000" dirty="0" err="1"/>
              <a:t>Introduction</a:t>
            </a:r>
            <a:r>
              <a:rPr lang="pt-BR" sz="2000" dirty="0"/>
              <a:t> </a:t>
            </a:r>
            <a:r>
              <a:rPr lang="pt-BR" sz="2000" dirty="0" err="1"/>
              <a:t>to</a:t>
            </a:r>
            <a:r>
              <a:rPr lang="pt-BR" sz="2000" dirty="0"/>
              <a:t> </a:t>
            </a:r>
            <a:r>
              <a:rPr lang="pt-BR" sz="2000" dirty="0" err="1"/>
              <a:t>Deep</a:t>
            </a:r>
            <a:r>
              <a:rPr lang="pt-BR" sz="2000" dirty="0"/>
              <a:t> Learning, Ava Amini. 2023.</a:t>
            </a:r>
          </a:p>
          <a:p>
            <a:pPr lvl="1"/>
            <a:endParaRPr lang="pt-BR" sz="2000" dirty="0"/>
          </a:p>
          <a:p>
            <a:endParaRPr lang="pt-B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5F3A4-8CC9-6799-A160-6C78BD5F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53078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28047</TotalTime>
  <Words>6027</Words>
  <Application>Microsoft Office PowerPoint</Application>
  <PresentationFormat>Widescreen</PresentationFormat>
  <Paragraphs>724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-apple-system</vt:lpstr>
      <vt:lpstr>Arial</vt:lpstr>
      <vt:lpstr>Calibri</vt:lpstr>
      <vt:lpstr>Calibri Light</vt:lpstr>
      <vt:lpstr>Cambria Math</vt:lpstr>
      <vt:lpstr>CasKaydiaCove NF</vt:lpstr>
      <vt:lpstr>Tema do Office</vt:lpstr>
      <vt:lpstr>Aprendizado Profundo</vt:lpstr>
      <vt:lpstr>Agenda</vt:lpstr>
      <vt:lpstr>Problemas em redes recorrentes</vt:lpstr>
      <vt:lpstr>Problemas em redes recorrentes</vt:lpstr>
      <vt:lpstr>Problemas em redes recorrentes</vt:lpstr>
      <vt:lpstr>Solução</vt:lpstr>
      <vt:lpstr>Revisitando RNNs</vt:lpstr>
      <vt:lpstr>LSTMs</vt:lpstr>
      <vt:lpstr>LSTMs</vt:lpstr>
      <vt:lpstr>LSTMs</vt:lpstr>
      <vt:lpstr>LSTMs</vt:lpstr>
      <vt:lpstr>LSTMs</vt:lpstr>
      <vt:lpstr>LSTMs</vt:lpstr>
      <vt:lpstr>LSTMs</vt:lpstr>
      <vt:lpstr>LSTMs</vt:lpstr>
      <vt:lpstr>LSTMs</vt:lpstr>
      <vt:lpstr>LSTMs</vt:lpstr>
      <vt:lpstr>LSTMs</vt:lpstr>
      <vt:lpstr>LSTMs</vt:lpstr>
      <vt:lpstr>LSTMs</vt:lpstr>
      <vt:lpstr>LSTMs</vt:lpstr>
      <vt:lpstr>LSTMs</vt:lpstr>
      <vt:lpstr>LSTMs</vt:lpstr>
      <vt:lpstr>LSTMs</vt:lpstr>
      <vt:lpstr>LSTMs</vt:lpstr>
      <vt:lpstr>LSTMs</vt:lpstr>
      <vt:lpstr>LSTMs</vt:lpstr>
      <vt:lpstr>LSTMs</vt:lpstr>
      <vt:lpstr>LSTMs</vt:lpstr>
      <vt:lpstr>LSTMs</vt:lpstr>
      <vt:lpstr>LSTMs</vt:lpstr>
      <vt:lpstr>LSTMs</vt:lpstr>
      <vt:lpstr>GRU</vt:lpstr>
      <vt:lpstr>GRU</vt:lpstr>
      <vt:lpstr>Referências: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de Máquina Turma 010 - 2021/2</dc:title>
  <dc:creator>Lucas Silveira Kupssinsku</dc:creator>
  <cp:lastModifiedBy>Lucas Silveira Kupssinsku</cp:lastModifiedBy>
  <cp:revision>206</cp:revision>
  <dcterms:created xsi:type="dcterms:W3CDTF">2021-08-01T11:35:46Z</dcterms:created>
  <dcterms:modified xsi:type="dcterms:W3CDTF">2024-02-27T15:25:47Z</dcterms:modified>
</cp:coreProperties>
</file>