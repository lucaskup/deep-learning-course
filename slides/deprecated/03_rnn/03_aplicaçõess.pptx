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358" r:id="rId3"/>
    <p:sldId id="394" r:id="rId4"/>
    <p:sldId id="368" r:id="rId5"/>
    <p:sldId id="369" r:id="rId6"/>
    <p:sldId id="371" r:id="rId7"/>
    <p:sldId id="372" r:id="rId8"/>
    <p:sldId id="373" r:id="rId9"/>
    <p:sldId id="363" r:id="rId10"/>
    <p:sldId id="374" r:id="rId11"/>
    <p:sldId id="375" r:id="rId12"/>
    <p:sldId id="376" r:id="rId13"/>
    <p:sldId id="377" r:id="rId14"/>
    <p:sldId id="378" r:id="rId15"/>
    <p:sldId id="379" r:id="rId16"/>
    <p:sldId id="365" r:id="rId17"/>
    <p:sldId id="382" r:id="rId18"/>
    <p:sldId id="383" r:id="rId19"/>
    <p:sldId id="413" r:id="rId20"/>
    <p:sldId id="411" r:id="rId21"/>
    <p:sldId id="414" r:id="rId22"/>
    <p:sldId id="412" r:id="rId23"/>
    <p:sldId id="415" r:id="rId24"/>
    <p:sldId id="410" r:id="rId25"/>
    <p:sldId id="416" r:id="rId26"/>
    <p:sldId id="417" r:id="rId27"/>
    <p:sldId id="418" r:id="rId28"/>
    <p:sldId id="384" r:id="rId29"/>
    <p:sldId id="381" r:id="rId30"/>
    <p:sldId id="385" r:id="rId31"/>
    <p:sldId id="409" r:id="rId32"/>
    <p:sldId id="386" r:id="rId33"/>
    <p:sldId id="387" r:id="rId34"/>
    <p:sldId id="388" r:id="rId35"/>
    <p:sldId id="389" r:id="rId36"/>
    <p:sldId id="391" r:id="rId37"/>
    <p:sldId id="392" r:id="rId38"/>
    <p:sldId id="393" r:id="rId39"/>
    <p:sldId id="396" r:id="rId40"/>
    <p:sldId id="395" r:id="rId41"/>
    <p:sldId id="359" r:id="rId42"/>
    <p:sldId id="360" r:id="rId43"/>
    <p:sldId id="361" r:id="rId44"/>
    <p:sldId id="364" r:id="rId45"/>
    <p:sldId id="397" r:id="rId46"/>
    <p:sldId id="366" r:id="rId47"/>
    <p:sldId id="399" r:id="rId48"/>
    <p:sldId id="406" r:id="rId49"/>
    <p:sldId id="405" r:id="rId50"/>
    <p:sldId id="408" r:id="rId51"/>
    <p:sldId id="402" r:id="rId52"/>
    <p:sldId id="403" r:id="rId53"/>
    <p:sldId id="404" r:id="rId54"/>
    <p:sldId id="398" r:id="rId55"/>
    <p:sldId id="401" r:id="rId56"/>
    <p:sldId id="400" r:id="rId57"/>
    <p:sldId id="293" r:id="rId5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AE9F6"/>
    <a:srgbClr val="FFB9FF"/>
    <a:srgbClr val="FF9B9B"/>
    <a:srgbClr val="FF00FF"/>
    <a:srgbClr val="FFFFDD"/>
    <a:srgbClr val="245A8C"/>
    <a:srgbClr val="9BC2E5"/>
    <a:srgbClr val="428BCE"/>
    <a:srgbClr val="AF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DBEC8-B7CD-4879-87AE-64AF7BD7DF30}" type="datetimeFigureOut">
              <a:rPr lang="pt-BR" smtClean="0"/>
              <a:t>28/02/2024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50156-6885-4B39-8E78-85D0C1AED0F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15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36A27-9130-4759-A47A-23D3EAB30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1A88DD-808F-4F8D-84A5-3916FE3D8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AD0587-6BA5-4755-A254-BA8BAB6A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3EE8-82C7-4BB9-8AE0-A839B9F0439B}" type="datetime1">
              <a:rPr lang="pt-BR" smtClean="0"/>
              <a:t>28/02/2024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54C2AD-8133-48B1-A30D-493AEB54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85C79A-F85A-4516-A45F-AA8BEF57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69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6CC7B-9026-47F0-A53D-971D687F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79AE47-E774-440E-BB95-261546E48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D0AA4-83FF-4C0C-8613-B3D0E937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079A-94C2-45A1-88AB-6250F7D03304}" type="datetime1">
              <a:rPr lang="pt-BR" smtClean="0"/>
              <a:t>28/02/2024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984507-0CE8-4D65-8720-EE422B95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CF4AD-DDBF-4D80-A019-F4FEC8F4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77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7D888-DBC5-4160-A401-DF4296CF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41015C-6433-4AA1-82DC-E038C8C7C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375D2A-D6E9-4EA5-9A79-B0200907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87A7-29BF-49EF-AFD5-EA48A803025A}" type="datetime1">
              <a:rPr lang="pt-BR" smtClean="0"/>
              <a:t>28/02/2024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B65A21-5BD0-48CC-9633-CD3EBDDB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8FF30-0E8C-4739-A740-930FD7CE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58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98A0D-47CA-4BF5-8A53-03DEDDB1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6693E7-97F4-43B7-A4A2-B26156714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A5FED8-E805-40F8-AED2-2B37F607D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2B54B3-3070-46A9-BB16-347D6E91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B6DB7-59BC-4CD2-BD08-E2943D1EF069}" type="datetime1">
              <a:rPr lang="pt-BR" smtClean="0"/>
              <a:t>28/02/2024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695434-EDA8-4C3C-8BF0-E097E53C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483E8E-C241-4C26-AD63-8E114572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41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86158-79AD-47BA-94A0-7B5C1B2F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F05BE3-8146-47FD-B959-DE98B68C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A55466-A0D9-4326-8C0B-11D9ECB99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8DD07B-B6ED-4D98-9C41-AB40AAD2E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0E32ED-0580-4733-8A15-EF1A54EE7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B57CC4-6BEE-4C56-B5A7-8348FFBA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93418-6918-484A-8421-0D025D0D8A67}" type="datetime1">
              <a:rPr lang="pt-BR" smtClean="0"/>
              <a:t>28/02/2024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8A9786-CC6C-453F-88B8-EDE8FEEE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ACE4B8-7B8A-4602-8AC9-3F4E66D7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03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1E33F-43CC-4BCB-A00F-C169AF13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9A7E1A-8845-4FE6-ADDC-740512EC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CAA2-036D-405F-9538-4B646274D645}" type="datetime1">
              <a:rPr lang="pt-BR" smtClean="0"/>
              <a:t>28/02/2024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5CA399-4971-4420-B53F-37EB8ACF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B00EC4-0A80-464E-9415-C3F96738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7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EE76B2-7187-484D-B134-A77D8B30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13415-C3D3-416A-BA17-3FEFA32702EE}" type="datetime1">
              <a:rPr lang="pt-BR" smtClean="0"/>
              <a:t>28/02/2024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38519-4661-42E6-A172-40EEF015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D207DA-461C-448E-83A6-5E42627C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1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9BC73-075F-4C57-B083-A2A53A76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53C72F-F7F4-4065-B66E-03AF5711E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830101-D942-46FF-BA69-E5E55509A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5132C4-FE9A-407F-A499-CB1C142D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4281-F446-41F4-852D-AF0C5F0FB8E5}" type="datetime1">
              <a:rPr lang="pt-BR" smtClean="0"/>
              <a:t>28/02/2024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C6E7AD-95AD-4059-AE42-AA92FD2F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15626A-7012-4235-A6D7-A1A75234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65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42BC7-D688-430F-A256-18657B5F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3CB283-3B59-4BAD-87DF-1422F776B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3F9CF2-5A0D-4F0C-9FD8-7DB051EB0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76D9E3-8099-4187-BE37-EBC90D53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ACD1-8F4F-450B-9F25-92B5A7643D6C}" type="datetime1">
              <a:rPr lang="pt-BR" smtClean="0"/>
              <a:t>28/02/2024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FBBD30-A1E3-4861-9D26-E9EED18B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C0BD16-792A-45CC-8B4D-E0A7A883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215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3F8C5-185D-49E1-A53C-2E55BD5A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D78D96-867E-469F-983A-80ACE3023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86A972-7A5F-4745-BB5E-7D0DDADC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5C635-A7DF-42C1-A820-15BA95751108}" type="datetime1">
              <a:rPr lang="pt-BR" smtClean="0"/>
              <a:t>28/02/2024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C18A6-57BF-49F1-97EA-7F9ACD0B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FE4627-EAD2-4008-B1FA-614849F5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79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E7A39B-F7E2-4A69-942C-6AEFE2C7B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298851-909A-4BB7-9514-2A3766F2D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06C408-EEE6-4851-8B3F-CBF1451B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CA80-3A23-4BED-BFDD-EC237E1C9920}" type="datetime1">
              <a:rPr lang="pt-BR" smtClean="0"/>
              <a:t>28/02/2024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E5DE8C-E893-46D9-9054-DB6F88FD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22E16A-56BB-4B7D-8AA6-C3A5B376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38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1A29FE-D65E-4440-A657-262577AA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67D270-2A8A-433A-93D9-8D998D06B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C1113-45B0-4701-87FE-8C670E000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95C9C-EC44-4A90-8C72-29D4E173E628}" type="datetime1">
              <a:rPr lang="pt-BR" smtClean="0"/>
              <a:t>28/02/2024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72D9F7-AA55-448C-B21A-88D367431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BF8157-6D2F-4A31-942D-5AE190A4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40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hyperlink" Target="https://lena-voita.github.io/resources/lectures/lang_models/neural/rnn_lm_training_with_target.mp4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opennmt.net/OpenNMT/translation/beam_search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blog/how-to-generate" TargetMode="External"/><Relationship Id="rId2" Type="http://schemas.openxmlformats.org/officeDocument/2006/relationships/hyperlink" Target="https://lena-voita.github.io/nlp_course/language_modeling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4B37C-3C8E-4FDE-9CD8-8FDBB9948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212529"/>
                </a:solidFill>
                <a:effectLst/>
                <a:latin typeface="-apple-system"/>
              </a:rPr>
              <a:t>Aprendizado Profundo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46BC0D-1C18-420A-8181-4599D8380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,</a:t>
            </a:r>
            <a:r>
              <a:rPr lang="pt-BR" dirty="0"/>
              <a:t> </a:t>
            </a:r>
            <a:r>
              <a:rPr lang="pt-BR" i="1" dirty="0"/>
              <a:t>Machine </a:t>
            </a:r>
            <a:r>
              <a:rPr lang="pt-BR" i="1" dirty="0" err="1"/>
              <a:t>Translation</a:t>
            </a:r>
            <a:r>
              <a:rPr lang="pt-BR" i="1" dirty="0"/>
              <a:t> e </a:t>
            </a:r>
            <a:r>
              <a:rPr lang="pt-BR" i="1" dirty="0" err="1"/>
              <a:t>Attention</a:t>
            </a:r>
            <a:endParaRPr lang="pt-BR" i="1" dirty="0"/>
          </a:p>
          <a:p>
            <a:r>
              <a:rPr lang="pt-BR" dirty="0"/>
              <a:t>Professor: Lucas Silveira Kupssinskü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5EE3B-E0A9-0563-6E9A-DC0A22FB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0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D5D8-21EA-D8C4-D1A9-58A7ED23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CBDB-71AB-71C1-D108-4321E1B8E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endParaRPr lang="pt-BR" i="1" dirty="0"/>
          </a:p>
          <a:p>
            <a:pPr lvl="1"/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dirty="0"/>
              <a:t> com </a:t>
            </a:r>
            <a:r>
              <a:rPr lang="pt-BR" dirty="0" err="1"/>
              <a:t>NNs</a:t>
            </a:r>
            <a:endParaRPr lang="pt-BR" dirty="0"/>
          </a:p>
          <a:p>
            <a:pPr lvl="1"/>
            <a:r>
              <a:rPr lang="pt-BR" i="1" dirty="0" err="1"/>
              <a:t>Decoding</a:t>
            </a:r>
            <a:r>
              <a:rPr lang="pt-BR" i="1" dirty="0"/>
              <a:t> </a:t>
            </a:r>
            <a:r>
              <a:rPr lang="pt-BR" dirty="0"/>
              <a:t>de</a:t>
            </a:r>
            <a:r>
              <a:rPr lang="pt-BR" i="1" dirty="0"/>
              <a:t> </a:t>
            </a:r>
            <a:r>
              <a:rPr lang="pt-BR" i="1" dirty="0" err="1"/>
              <a:t>Language</a:t>
            </a:r>
            <a:r>
              <a:rPr lang="pt-BR" i="1" dirty="0"/>
              <a:t> Models</a:t>
            </a:r>
            <a:endParaRPr lang="pt-BR" dirty="0"/>
          </a:p>
          <a:p>
            <a:r>
              <a:rPr lang="pt-BR" dirty="0"/>
              <a:t>seq2seq</a:t>
            </a:r>
          </a:p>
          <a:p>
            <a:pPr lvl="1"/>
            <a:r>
              <a:rPr lang="pt-BR" dirty="0"/>
              <a:t>Arquitetura </a:t>
            </a:r>
            <a:r>
              <a:rPr lang="pt-BR" i="1" dirty="0" err="1"/>
              <a:t>Encoder-Decoder</a:t>
            </a:r>
            <a:endParaRPr lang="pt-BR" i="1" dirty="0"/>
          </a:p>
          <a:p>
            <a:pPr lvl="1"/>
            <a:r>
              <a:rPr lang="pt-BR" i="1" dirty="0"/>
              <a:t>Machine </a:t>
            </a:r>
            <a:r>
              <a:rPr lang="pt-BR" i="1" dirty="0" err="1"/>
              <a:t>Translation</a:t>
            </a:r>
            <a:endParaRPr lang="pt-BR" i="1" dirty="0"/>
          </a:p>
          <a:p>
            <a:pPr lvl="1"/>
            <a:r>
              <a:rPr lang="pt-BR" i="1" dirty="0" err="1"/>
              <a:t>Attention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F0B91-1014-3AD9-1DA9-99A34BF45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4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483BAB-3A79-D9A6-2674-BB3CFAF31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endParaRPr lang="pt-BR" i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A268C0-F9CB-4471-B4FC-1D40F76D3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57771-96A9-7F0F-FBAE-EFC95B479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552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1C68B-317F-2B4C-B8EC-D7A6005FD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D5BA-FF42-7F71-5121-736F4DF6D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CC892-43D8-CAA5-A799-CB35D1FBB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significa “modelar” algum fenômeno?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A8FA9-9ABD-9DA7-7ED8-A02A176E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</a:t>
            </a:fld>
            <a:endParaRPr lang="pt-BR"/>
          </a:p>
        </p:txBody>
      </p:sp>
      <p:pic>
        <p:nvPicPr>
          <p:cNvPr id="5" name="Picture 2" descr="Premium Photo | A month old baby pushing over a stack of wooden play blocks">
            <a:extLst>
              <a:ext uri="{FF2B5EF4-FFF2-40B4-BE49-F238E27FC236}">
                <a16:creationId xmlns:a16="http://schemas.microsoft.com/office/drawing/2014/main" id="{1C0F2395-7AB9-3F80-9108-2B28C3A7B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468" y="3303037"/>
            <a:ext cx="4788582" cy="318983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33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ADA21-E3AF-EF2B-B64B-72D360FB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778FD-46F4-849C-E14F-720E66A8B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7F125-ED94-CFE4-3D38-B409416A9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significa “modelar” algum fenômeno?</a:t>
            </a:r>
          </a:p>
          <a:p>
            <a:r>
              <a:rPr lang="pt-BR" dirty="0"/>
              <a:t>Ter alguma capacidade preditiva sobre esse fenômeno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61CC7-55D2-5580-4381-E343E2E6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</a:t>
            </a:fld>
            <a:endParaRPr lang="pt-BR"/>
          </a:p>
        </p:txBody>
      </p:sp>
      <p:pic>
        <p:nvPicPr>
          <p:cNvPr id="5" name="Picture 2" descr="Premium Photo | A month old baby pushing over a stack of wooden play blocks">
            <a:extLst>
              <a:ext uri="{FF2B5EF4-FFF2-40B4-BE49-F238E27FC236}">
                <a16:creationId xmlns:a16="http://schemas.microsoft.com/office/drawing/2014/main" id="{DBD4E969-906F-EE72-73D6-2056834A6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468" y="3303037"/>
            <a:ext cx="4788582" cy="318983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670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553CB-B0CA-932A-5B1E-4FF795CA9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D3952-2D59-D0E2-56DD-FC021553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4A537-C139-3833-7DC0-4CA4B88D5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Modelagem de Linguagem queremos ser capazes de computar a probabilidade de uma frase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DBA54-8D75-6BF8-7927-26F6A52F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</a:t>
            </a:fld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DEBCB82-381E-5872-D26B-94115F1E4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3494882"/>
            <a:ext cx="1019175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632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C9252-9D78-30DE-D758-005D919B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1DB44-FCFB-E0F2-7ADE-160E6B4FF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401F03-F8E6-C15D-3504-4DE3488BFD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401F03-F8E6-C15D-3504-4DE3488BFD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D0D67-B559-A3EA-5941-A12DA1D0E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</a:t>
            </a:fld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527B962-BF80-4577-D1D6-593101AD5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329113"/>
            <a:ext cx="1019175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02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36FB8-D365-B548-EE93-3E040C944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EE89E-E9FD-201E-522D-575EB660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44AE16-21AF-CA9D-EF3B-BE372AB5E0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t-BR" dirty="0"/>
              </a:p>
              <a:p>
                <a:r>
                  <a:rPr lang="pt-BR" sz="2400" dirty="0"/>
                  <a:t>Porém não temos meios práticos de computar essas </a:t>
                </a:r>
                <a:r>
                  <a:rPr lang="pt-BR" sz="2400" dirty="0">
                    <a:solidFill>
                      <a:srgbClr val="FF0000"/>
                    </a:solidFill>
                  </a:rPr>
                  <a:t>probabilidades</a:t>
                </a:r>
                <a:r>
                  <a:rPr lang="pt-BR" sz="2400" dirty="0"/>
                  <a:t> usando contagem simples</a:t>
                </a:r>
              </a:p>
              <a:p>
                <a:r>
                  <a:rPr lang="pt-BR" sz="2400" dirty="0"/>
                  <a:t>Diversas abordagens baseadas em </a:t>
                </a:r>
                <a:r>
                  <a:rPr lang="pt-BR" sz="2400" i="1" dirty="0"/>
                  <a:t>n-</a:t>
                </a:r>
                <a:r>
                  <a:rPr lang="pt-BR" sz="2400" i="1" dirty="0" err="1"/>
                  <a:t>grams</a:t>
                </a:r>
                <a:r>
                  <a:rPr lang="pt-BR" sz="2400" dirty="0"/>
                  <a:t> foram usadas ao longo dos anos</a:t>
                </a:r>
              </a:p>
              <a:p>
                <a:r>
                  <a:rPr lang="pt-BR" sz="2400" dirty="0"/>
                  <a:t>O que tem funcionado melhor nos últimos anos é usar </a:t>
                </a:r>
                <a:r>
                  <a:rPr lang="pt-BR" sz="2400" dirty="0">
                    <a:solidFill>
                      <a:srgbClr val="00B0F0"/>
                    </a:solidFill>
                  </a:rPr>
                  <a:t>redes neurais </a:t>
                </a:r>
                <a:r>
                  <a:rPr lang="pt-BR" sz="2400" dirty="0"/>
                  <a:t>para estimar essas </a:t>
                </a:r>
                <a:r>
                  <a:rPr lang="pt-BR" sz="2400" dirty="0">
                    <a:solidFill>
                      <a:srgbClr val="FF0000"/>
                    </a:solidFill>
                  </a:rPr>
                  <a:t>probabilidades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44AE16-21AF-CA9D-EF3B-BE372AB5E0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11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B7685-2869-7466-511B-A6688CA2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6980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FF19-F029-DC80-0315-E2949822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C5F26-1F5E-84EB-BDCA-FB0FA312B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Model</a:t>
            </a:r>
            <a:r>
              <a:rPr lang="pt-BR" dirty="0"/>
              <a:t> com NN tipicamente possuem duas partes</a:t>
            </a:r>
          </a:p>
          <a:p>
            <a:pPr lvl="1"/>
            <a:r>
              <a:rPr lang="pt-BR" dirty="0"/>
              <a:t>Uma rede que processa o </a:t>
            </a:r>
            <a:r>
              <a:rPr lang="pt-BR" dirty="0">
                <a:solidFill>
                  <a:srgbClr val="FF0000"/>
                </a:solidFill>
              </a:rPr>
              <a:t>contexto</a:t>
            </a:r>
          </a:p>
          <a:p>
            <a:pPr lvl="1"/>
            <a:r>
              <a:rPr lang="pt-BR" dirty="0"/>
              <a:t>Uma rede que aproxima a distribuição de probabilidade do próximo</a:t>
            </a:r>
            <a:r>
              <a:rPr lang="pt-BR" i="1" dirty="0"/>
              <a:t> </a:t>
            </a:r>
            <a:r>
              <a:rPr lang="pt-BR" i="1" dirty="0">
                <a:solidFill>
                  <a:srgbClr val="00B0F0"/>
                </a:solidFill>
              </a:rPr>
              <a:t>token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0625B-94AE-76BE-ECFE-D0140FCD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9</a:t>
            </a:fld>
            <a:endParaRPr lang="pt-BR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06E5B37-990C-F47B-F3C4-52B3811DA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585" y="3154452"/>
            <a:ext cx="6972830" cy="3338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636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A36D0-C4A0-2409-3751-611F9A53F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4783507C-E3C6-1B85-3A5F-E7E1977E3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585" y="3154452"/>
            <a:ext cx="6972830" cy="3338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4A0D1A-8EC2-55BE-4CA5-8A2BCD65A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DC102-E0EE-CB04-ECAE-426F48772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processar </a:t>
            </a:r>
            <a:r>
              <a:rPr lang="pt-BR" dirty="0">
                <a:solidFill>
                  <a:srgbClr val="FF0000"/>
                </a:solidFill>
              </a:rPr>
              <a:t>contexto</a:t>
            </a:r>
          </a:p>
          <a:p>
            <a:pPr lvl="1"/>
            <a:r>
              <a:rPr lang="pt-BR" i="1" dirty="0" err="1"/>
              <a:t>CNNs</a:t>
            </a:r>
            <a:r>
              <a:rPr lang="pt-BR" i="1" dirty="0"/>
              <a:t> </a:t>
            </a:r>
            <a:r>
              <a:rPr lang="pt-BR" dirty="0"/>
              <a:t>(em desuso)</a:t>
            </a:r>
          </a:p>
          <a:p>
            <a:pPr lvl="1"/>
            <a:r>
              <a:rPr lang="pt-BR" i="1" dirty="0" err="1"/>
              <a:t>RNNs</a:t>
            </a:r>
            <a:endParaRPr lang="pt-BR" i="1" dirty="0"/>
          </a:p>
          <a:p>
            <a:pPr lvl="1"/>
            <a:r>
              <a:rPr lang="pt-BR" i="1" dirty="0"/>
              <a:t>Transformers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49B56-E0D7-7F06-2E4D-91FEABB3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7235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6AEB3-99AC-DEFE-705F-B2992B354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0007248-F54E-59DF-E481-39FE0046D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94" y="3741639"/>
            <a:ext cx="6223864" cy="297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8C58ED-D074-77A1-5176-BA11B5A1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C97E0-D95A-9289-BEA5-9962BA9B5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aproximar a distribuição do próximo</a:t>
            </a:r>
            <a:r>
              <a:rPr lang="pt-BR" i="1" dirty="0"/>
              <a:t> </a:t>
            </a:r>
            <a:r>
              <a:rPr lang="pt-BR" i="1" dirty="0">
                <a:solidFill>
                  <a:srgbClr val="00B0F0"/>
                </a:solidFill>
              </a:rPr>
              <a:t>token </a:t>
            </a:r>
            <a:r>
              <a:rPr lang="pt-BR" dirty="0"/>
              <a:t>precisamos aplicar uma transformação ao contexto</a:t>
            </a:r>
            <a:endParaRPr lang="pt-BR" dirty="0">
              <a:solidFill>
                <a:srgbClr val="FF0000"/>
              </a:solidFill>
            </a:endParaRPr>
          </a:p>
          <a:p>
            <a:pPr lvl="1"/>
            <a:r>
              <a:rPr lang="pt-BR" dirty="0"/>
              <a:t>Um classificador</a:t>
            </a:r>
          </a:p>
          <a:p>
            <a:pPr lvl="1"/>
            <a:r>
              <a:rPr lang="pt-BR" dirty="0"/>
              <a:t>MLP + </a:t>
            </a:r>
            <a:r>
              <a:rPr lang="pt-BR" i="1" dirty="0" err="1"/>
              <a:t>Softmax</a:t>
            </a:r>
            <a:r>
              <a:rPr lang="pt-BR" i="1" dirty="0"/>
              <a:t> </a:t>
            </a:r>
            <a:r>
              <a:rPr lang="pt-BR" dirty="0"/>
              <a:t>funcionam bem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A341B-42EE-AA22-BF1F-AB8D34315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096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5663C-CD12-2B45-2C5D-D60378D25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273F734E-7AED-55D2-0380-C51A79007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94" y="3741639"/>
            <a:ext cx="6223864" cy="297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D5533-4E30-ADF2-A18B-0A065E9FA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E6923-37DB-6430-63CD-073C6F03E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aproximar a distribuição do próximo</a:t>
            </a:r>
            <a:r>
              <a:rPr lang="pt-BR" i="1" dirty="0"/>
              <a:t> </a:t>
            </a:r>
            <a:r>
              <a:rPr lang="pt-BR" i="1" dirty="0">
                <a:solidFill>
                  <a:srgbClr val="00B0F0"/>
                </a:solidFill>
              </a:rPr>
              <a:t>token </a:t>
            </a:r>
            <a:r>
              <a:rPr lang="pt-BR" dirty="0"/>
              <a:t>precisamos aplicar uma transformação ao contexto</a:t>
            </a:r>
            <a:endParaRPr lang="pt-BR" dirty="0">
              <a:solidFill>
                <a:srgbClr val="FF0000"/>
              </a:solidFill>
            </a:endParaRPr>
          </a:p>
          <a:p>
            <a:pPr lvl="1"/>
            <a:r>
              <a:rPr lang="pt-BR" dirty="0"/>
              <a:t>Um classificador</a:t>
            </a:r>
          </a:p>
          <a:p>
            <a:pPr lvl="1"/>
            <a:r>
              <a:rPr lang="pt-BR" dirty="0"/>
              <a:t>MLP + </a:t>
            </a:r>
            <a:r>
              <a:rPr lang="pt-BR" i="1" dirty="0" err="1"/>
              <a:t>Softmax</a:t>
            </a:r>
            <a:r>
              <a:rPr lang="pt-BR" i="1" dirty="0"/>
              <a:t> </a:t>
            </a:r>
            <a:r>
              <a:rPr lang="pt-BR" dirty="0"/>
              <a:t>funcionam bem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B328C-5AE9-F93E-0062-BDBD9B86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12</a:t>
            </a:fld>
            <a:endParaRPr lang="pt-BR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3F4F00C-7C32-B42C-3300-2B9B010BD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651" y="3938745"/>
            <a:ext cx="4879901" cy="192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70EFBD-ACD5-BE9E-E2F3-D328A72D42DE}"/>
              </a:ext>
            </a:extLst>
          </p:cNvPr>
          <p:cNvSpPr/>
          <p:nvPr/>
        </p:nvSpPr>
        <p:spPr>
          <a:xfrm>
            <a:off x="1642189" y="4088922"/>
            <a:ext cx="928484" cy="1759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05BE59-B2F7-5D68-F3D6-60202839E4D1}"/>
              </a:ext>
            </a:extLst>
          </p:cNvPr>
          <p:cNvSpPr/>
          <p:nvPr/>
        </p:nvSpPr>
        <p:spPr>
          <a:xfrm>
            <a:off x="6728605" y="3596059"/>
            <a:ext cx="5234702" cy="27831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98219D-E6E1-A1E0-1185-17690CF957D9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106431" y="3596058"/>
            <a:ext cx="4622173" cy="4928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074BFE-AD11-C9C7-ED96-BF3648D279B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106431" y="5848710"/>
            <a:ext cx="4711356" cy="5304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758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E0539-41EB-8BED-93C3-EE076A3EE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47DFA-A1E4-B5C1-01EB-0A40786C9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E6DFD6-B4AE-0430-EA2E-1D92051C7E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Como temos um classificador basta treinar a NN como um problema de classificação</a:t>
                </a:r>
              </a:p>
              <a:p>
                <a:r>
                  <a:rPr lang="pt-BR" i="1" dirty="0" err="1"/>
                  <a:t>Loss</a:t>
                </a:r>
                <a:r>
                  <a:rPr lang="pt-BR" i="1" dirty="0"/>
                  <a:t> Cross </a:t>
                </a:r>
                <a:r>
                  <a:rPr lang="pt-BR" i="1" dirty="0" err="1"/>
                  <a:t>Entropy</a:t>
                </a:r>
                <a:endParaRPr lang="pt-BR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pt-BR" i="1" dirty="0"/>
              </a:p>
              <a:p>
                <a:pPr marL="0" indent="0">
                  <a:buNone/>
                </a:pPr>
                <a:r>
                  <a:rPr lang="pt-BR" dirty="0"/>
                  <a:t>Se quisermos descrever em termos da sequência toda, temos: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&lt;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E6DFD6-B4AE-0430-EA2E-1D92051C7E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D3AF2-69CC-B189-5AE5-C06AD637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19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DE66B-9BB2-146F-BE78-097E40397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E5D6-8F11-D62D-86E3-392E3AF1D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216E09-5CB9-F6DF-90A3-5FE7EA3DB2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&lt;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216E09-5CB9-F6DF-90A3-5FE7EA3DB2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A42F1-595D-375C-DC3A-5419CE719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14</a:t>
            </a:fld>
            <a:endParaRPr lang="pt-BR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0115B03-277B-D36A-5DA4-41F2080DE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710" y="2507472"/>
            <a:ext cx="8881188" cy="430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847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FD64-C189-F7F4-A689-A14EE581F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AAE4D-3240-CEAC-CBFE-ED409CF47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55" y="6492875"/>
            <a:ext cx="10515600" cy="365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hlinkClick r:id="rId4"/>
              </a:rPr>
              <a:t>https://lena-voita.github.io/resources/lectures/lang_models/neural/rnn_lm_training_with_target.mp4</a:t>
            </a:r>
            <a:r>
              <a:rPr lang="pt-BR" sz="18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873C3-45A5-A1EB-9DAD-4B216AC2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15</a:t>
            </a:fld>
            <a:endParaRPr lang="pt-BR"/>
          </a:p>
        </p:txBody>
      </p:sp>
      <p:pic>
        <p:nvPicPr>
          <p:cNvPr id="5" name="rnn_lm_training_with_target">
            <a:hlinkClick r:id="" action="ppaction://media"/>
            <a:extLst>
              <a:ext uri="{FF2B5EF4-FFF2-40B4-BE49-F238E27FC236}">
                <a16:creationId xmlns:a16="http://schemas.microsoft.com/office/drawing/2014/main" id="{674E4249-C70E-5F69-E269-7F187EBACA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39347" y="83170"/>
            <a:ext cx="7912359" cy="602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7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5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4999-4FDC-A68E-3E17-16D0FD1E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286CA-4DE6-B9E6-58C3-1E8CB4072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gerar frases a partir do </a:t>
            </a:r>
            <a:r>
              <a:rPr lang="pt-BR" i="1" dirty="0" err="1"/>
              <a:t>Language</a:t>
            </a:r>
            <a:r>
              <a:rPr lang="pt-BR" i="1" dirty="0"/>
              <a:t> Model </a:t>
            </a:r>
            <a:r>
              <a:rPr lang="pt-BR" dirty="0"/>
              <a:t>treinado</a:t>
            </a:r>
          </a:p>
          <a:p>
            <a:r>
              <a:rPr lang="pt-BR" dirty="0"/>
              <a:t>Também chamado de </a:t>
            </a:r>
            <a:r>
              <a:rPr lang="pt-BR" b="1" i="1" dirty="0" err="1"/>
              <a:t>decoding</a:t>
            </a:r>
            <a:endParaRPr lang="pt-BR" b="1" i="1" dirty="0"/>
          </a:p>
          <a:p>
            <a:r>
              <a:rPr lang="pt-BR" dirty="0"/>
              <a:t>Queremos tanto </a:t>
            </a:r>
            <a:r>
              <a:rPr lang="pt-BR" dirty="0">
                <a:solidFill>
                  <a:srgbClr val="FF0000"/>
                </a:solidFill>
              </a:rPr>
              <a:t>coerência</a:t>
            </a:r>
            <a:r>
              <a:rPr lang="pt-BR" dirty="0"/>
              <a:t> quanto </a:t>
            </a:r>
            <a:r>
              <a:rPr lang="pt-BR" dirty="0">
                <a:solidFill>
                  <a:srgbClr val="00B0F0"/>
                </a:solidFill>
              </a:rPr>
              <a:t>diversidade</a:t>
            </a:r>
            <a:r>
              <a:rPr lang="pt-BR" dirty="0"/>
              <a:t> nas frases geradas</a:t>
            </a:r>
          </a:p>
          <a:p>
            <a:pPr lvl="1"/>
            <a:r>
              <a:rPr lang="pt-BR" dirty="0"/>
              <a:t>Existe um </a:t>
            </a:r>
            <a:r>
              <a:rPr lang="pt-BR" i="1" dirty="0" err="1"/>
              <a:t>tradeoff</a:t>
            </a:r>
            <a:r>
              <a:rPr lang="pt-BR" i="1" dirty="0"/>
              <a:t> </a:t>
            </a:r>
            <a:r>
              <a:rPr lang="pt-BR" dirty="0"/>
              <a:t>entre essas características dependendo da forma de gerar os textos</a:t>
            </a:r>
            <a:endParaRPr lang="pt-BR" i="1" dirty="0"/>
          </a:p>
          <a:p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B45AD-31F4-CEB8-B95E-BFB32C172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62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46F55-12E6-2047-7CE5-1AA7190B0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64A2749-EE93-6183-8001-7A66042CE654}"/>
              </a:ext>
            </a:extLst>
          </p:cNvPr>
          <p:cNvGrpSpPr/>
          <p:nvPr/>
        </p:nvGrpSpPr>
        <p:grpSpPr>
          <a:xfrm>
            <a:off x="3373828" y="3190690"/>
            <a:ext cx="5320806" cy="3667310"/>
            <a:chOff x="3373828" y="3190690"/>
            <a:chExt cx="5320806" cy="3667310"/>
          </a:xfrm>
        </p:grpSpPr>
        <p:pic>
          <p:nvPicPr>
            <p:cNvPr id="9218" name="Picture 2" descr="greedy search">
              <a:extLst>
                <a:ext uri="{FF2B5EF4-FFF2-40B4-BE49-F238E27FC236}">
                  <a16:creationId xmlns:a16="http://schemas.microsoft.com/office/drawing/2014/main" id="{4C0A0FB3-332A-210E-6149-5987F6BC4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3828" y="3190690"/>
              <a:ext cx="4445225" cy="3667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7388CE-4E41-EAA6-80AD-5F88B5E06F68}"/>
                </a:ext>
              </a:extLst>
            </p:cNvPr>
            <p:cNvSpPr/>
            <p:nvPr/>
          </p:nvSpPr>
          <p:spPr>
            <a:xfrm>
              <a:off x="6340417" y="3190690"/>
              <a:ext cx="1751162" cy="10017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215AF3-83AC-8409-9824-90377182B683}"/>
                </a:ext>
              </a:extLst>
            </p:cNvPr>
            <p:cNvSpPr/>
            <p:nvPr/>
          </p:nvSpPr>
          <p:spPr>
            <a:xfrm>
              <a:off x="6943472" y="3781258"/>
              <a:ext cx="1751162" cy="10017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D8CCD8B-8BC7-8617-65F2-A2E5136BE404}"/>
                </a:ext>
              </a:extLst>
            </p:cNvPr>
            <p:cNvSpPr/>
            <p:nvPr/>
          </p:nvSpPr>
          <p:spPr>
            <a:xfrm>
              <a:off x="6566064" y="5711101"/>
              <a:ext cx="1751162" cy="10017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F0C96C-F1A5-A544-98A8-149EB48383ED}"/>
                </a:ext>
              </a:extLst>
            </p:cNvPr>
            <p:cNvSpPr/>
            <p:nvPr/>
          </p:nvSpPr>
          <p:spPr>
            <a:xfrm>
              <a:off x="6724653" y="5167698"/>
              <a:ext cx="1751162" cy="10017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947C28-D498-ADF9-1D30-F52D5F2C4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7E39D6-16F7-50DF-BA17-B05584DF1B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Gerando frases com </a:t>
                </a:r>
                <a:r>
                  <a:rPr lang="pt-BR" i="1" dirty="0" err="1"/>
                  <a:t>Greedy</a:t>
                </a:r>
                <a:r>
                  <a:rPr lang="pt-BR" i="1" dirty="0"/>
                  <a:t> Search</a:t>
                </a:r>
              </a:p>
              <a:p>
                <a:r>
                  <a:rPr lang="pt-BR" dirty="0"/>
                  <a:t>É o método mais simples</a:t>
                </a:r>
              </a:p>
              <a:p>
                <a:pPr lvl="1"/>
                <a:r>
                  <a:rPr lang="pt-BR" dirty="0"/>
                  <a:t>Consiste em considerar sempre o </a:t>
                </a:r>
                <a:r>
                  <a:rPr lang="pt-BR" i="1" dirty="0">
                    <a:solidFill>
                      <a:srgbClr val="FF0000"/>
                    </a:solidFill>
                  </a:rPr>
                  <a:t>token</a:t>
                </a:r>
                <a:r>
                  <a:rPr lang="pt-BR" i="1" dirty="0"/>
                  <a:t> </a:t>
                </a:r>
                <a:r>
                  <a:rPr lang="pt-BR" dirty="0"/>
                  <a:t>mais provável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pt-BR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7E39D6-16F7-50DF-BA17-B05584DF1B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54CC7-23D8-4B0B-7D0C-271B3514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1844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04160-B3DE-4435-9C88-86B61554D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E205B-61B2-9396-68F9-D138B48D7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D7490-78DC-06CD-5541-435F1E428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372"/>
            <a:ext cx="10515600" cy="4351338"/>
          </a:xfrm>
        </p:spPr>
        <p:txBody>
          <a:bodyPr>
            <a:normAutofit/>
          </a:bodyPr>
          <a:lstStyle/>
          <a:p>
            <a:r>
              <a:rPr lang="pt-BR" sz="2400" dirty="0"/>
              <a:t>Gerando frases com </a:t>
            </a:r>
            <a:r>
              <a:rPr lang="pt-BR" sz="2400" i="1" dirty="0"/>
              <a:t>Beam Search</a:t>
            </a:r>
          </a:p>
          <a:p>
            <a:r>
              <a:rPr lang="pt-BR" sz="2400" dirty="0"/>
              <a:t>Consiste em realizar uma busca durante o processo de </a:t>
            </a:r>
            <a:r>
              <a:rPr lang="pt-BR" sz="2400" dirty="0" err="1"/>
              <a:t>decoding</a:t>
            </a:r>
            <a:r>
              <a:rPr lang="pt-BR" sz="2400" dirty="0"/>
              <a:t> mantendo as </a:t>
            </a:r>
            <a:r>
              <a:rPr lang="pt-BR" sz="2400" i="1" dirty="0" err="1"/>
              <a:t>nbeam</a:t>
            </a:r>
            <a:r>
              <a:rPr lang="pt-BR" sz="2400" i="1" dirty="0"/>
              <a:t> </a:t>
            </a:r>
            <a:r>
              <a:rPr lang="pt-BR" sz="2400" dirty="0"/>
              <a:t>sequências mais prováveis </a:t>
            </a:r>
            <a:endParaRPr lang="pt-BR" sz="2000" dirty="0"/>
          </a:p>
          <a:p>
            <a:endParaRPr lang="pt-BR" sz="2400" i="1" dirty="0"/>
          </a:p>
          <a:p>
            <a:endParaRPr lang="pt-BR" sz="2400" i="1" dirty="0"/>
          </a:p>
          <a:p>
            <a:endParaRPr lang="pt-BR" sz="24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B4E48-DB81-D13F-55EF-BB0936661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18</a:t>
            </a:fld>
            <a:endParaRPr lang="pt-B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DBB444-BBD2-E60C-F3C4-B089243C3B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542"/>
          <a:stretch/>
        </p:blipFill>
        <p:spPr>
          <a:xfrm>
            <a:off x="73157" y="3781652"/>
            <a:ext cx="12045686" cy="17920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B4A3988-CEBB-CCB7-AEEC-578327916DB3}"/>
              </a:ext>
            </a:extLst>
          </p:cNvPr>
          <p:cNvSpPr txBox="1"/>
          <p:nvPr/>
        </p:nvSpPr>
        <p:spPr>
          <a:xfrm>
            <a:off x="-34507" y="6582975"/>
            <a:ext cx="108606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VIJAYAKUMAR, </a:t>
            </a:r>
            <a:r>
              <a:rPr lang="pt-BR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Ashwin</a:t>
            </a:r>
            <a:r>
              <a:rPr lang="pt-B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K. et al. </a:t>
            </a:r>
            <a:r>
              <a:rPr lang="pt-BR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Diverse</a:t>
            </a:r>
            <a:r>
              <a:rPr lang="pt-B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beam</a:t>
            </a:r>
            <a:r>
              <a:rPr lang="pt-B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search</a:t>
            </a:r>
            <a:r>
              <a:rPr lang="pt-B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pt-BR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Decoding</a:t>
            </a:r>
            <a:r>
              <a:rPr lang="pt-B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diverse</a:t>
            </a:r>
            <a:r>
              <a:rPr lang="pt-B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solutions</a:t>
            </a:r>
            <a:r>
              <a:rPr lang="pt-B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lang="pt-B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neural </a:t>
            </a:r>
            <a:r>
              <a:rPr lang="pt-BR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sequence</a:t>
            </a:r>
            <a:r>
              <a:rPr lang="pt-B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models. </a:t>
            </a:r>
            <a:r>
              <a:rPr lang="pt-BR" sz="12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2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arXiv:1610.02424</a:t>
            </a:r>
            <a:r>
              <a:rPr lang="pt-B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2016.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955101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35111-DBD9-3FFA-389F-100D4BCFF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8DE70CB-A429-5480-BE7A-4F5BD6B7A018}"/>
              </a:ext>
            </a:extLst>
          </p:cNvPr>
          <p:cNvGrpSpPr/>
          <p:nvPr/>
        </p:nvGrpSpPr>
        <p:grpSpPr>
          <a:xfrm>
            <a:off x="5751830" y="365124"/>
            <a:ext cx="6063484" cy="4549950"/>
            <a:chOff x="5751830" y="365124"/>
            <a:chExt cx="6063484" cy="4549950"/>
          </a:xfrm>
        </p:grpSpPr>
        <p:pic>
          <p:nvPicPr>
            <p:cNvPr id="10242" name="Picture 2" descr="beam search">
              <a:extLst>
                <a:ext uri="{FF2B5EF4-FFF2-40B4-BE49-F238E27FC236}">
                  <a16:creationId xmlns:a16="http://schemas.microsoft.com/office/drawing/2014/main" id="{AEB2D980-E1B6-B93A-D438-FC68738D77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51830" y="525672"/>
              <a:ext cx="5177838" cy="4271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F8E69B-4555-45FF-13B7-DBA04623A039}"/>
                </a:ext>
              </a:extLst>
            </p:cNvPr>
            <p:cNvSpPr/>
            <p:nvPr/>
          </p:nvSpPr>
          <p:spPr>
            <a:xfrm>
              <a:off x="9213012" y="365124"/>
              <a:ext cx="2355012" cy="3344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E32C96-7811-E17F-04DC-18D2E17D2268}"/>
                </a:ext>
              </a:extLst>
            </p:cNvPr>
            <p:cNvSpPr/>
            <p:nvPr/>
          </p:nvSpPr>
          <p:spPr>
            <a:xfrm>
              <a:off x="9460302" y="3522422"/>
              <a:ext cx="2355012" cy="13926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B07C38E-3304-F702-E52E-D78622A7C496}"/>
                </a:ext>
              </a:extLst>
            </p:cNvPr>
            <p:cNvSpPr/>
            <p:nvPr/>
          </p:nvSpPr>
          <p:spPr>
            <a:xfrm>
              <a:off x="8681768" y="1675523"/>
              <a:ext cx="2355012" cy="13926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5EC0B0D-7C73-86BE-48AB-05D2575A4A8F}"/>
                </a:ext>
              </a:extLst>
            </p:cNvPr>
            <p:cNvSpPr/>
            <p:nvPr/>
          </p:nvSpPr>
          <p:spPr>
            <a:xfrm>
              <a:off x="8467544" y="1876762"/>
              <a:ext cx="1685747" cy="219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94D4FB-AFA1-3616-F1A3-E699BAC47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928FA-328F-6199-21C1-FDB82DDE8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372"/>
            <a:ext cx="10515600" cy="4351338"/>
          </a:xfrm>
        </p:spPr>
        <p:txBody>
          <a:bodyPr>
            <a:normAutofit/>
          </a:bodyPr>
          <a:lstStyle/>
          <a:p>
            <a:r>
              <a:rPr lang="pt-BR" sz="2400" dirty="0"/>
              <a:t>Gerando frases com </a:t>
            </a:r>
            <a:r>
              <a:rPr lang="pt-BR" sz="2400" i="1" dirty="0"/>
              <a:t>Beam Search</a:t>
            </a:r>
          </a:p>
          <a:p>
            <a:pPr lvl="1"/>
            <a:r>
              <a:rPr lang="pt-BR" sz="2000" dirty="0"/>
              <a:t>Tamanho </a:t>
            </a:r>
            <a:r>
              <a:rPr lang="pt-BR" sz="2000" i="1" dirty="0" err="1"/>
              <a:t>beam</a:t>
            </a:r>
            <a:r>
              <a:rPr lang="pt-BR" sz="2000" dirty="0"/>
              <a:t>=2</a:t>
            </a:r>
          </a:p>
          <a:p>
            <a:endParaRPr lang="pt-BR" sz="2400" i="1" dirty="0"/>
          </a:p>
          <a:p>
            <a:endParaRPr lang="pt-BR" sz="2400" i="1" dirty="0"/>
          </a:p>
          <a:p>
            <a:r>
              <a:rPr lang="pt-BR" sz="2400" dirty="0"/>
              <a:t>Vamos supor que o </a:t>
            </a:r>
            <a:r>
              <a:rPr lang="pt-BR" sz="2400" i="1" dirty="0">
                <a:solidFill>
                  <a:srgbClr val="FF0000"/>
                </a:solidFill>
              </a:rPr>
              <a:t>token</a:t>
            </a:r>
            <a:r>
              <a:rPr lang="pt-BR" sz="2400" dirty="0"/>
              <a:t> inicial é “</a:t>
            </a:r>
            <a:r>
              <a:rPr lang="pt-BR" sz="2400" dirty="0">
                <a:latin typeface="Consolas" panose="020B0609020204030204" pitchFamily="49" charset="0"/>
              </a:rPr>
              <a:t>The”</a:t>
            </a:r>
          </a:p>
          <a:p>
            <a:pPr lvl="1"/>
            <a:r>
              <a:rPr lang="pt-BR" sz="2000" dirty="0"/>
              <a:t>Os dois próximos </a:t>
            </a:r>
            <a:r>
              <a:rPr lang="pt-BR" sz="2000" i="1" dirty="0">
                <a:solidFill>
                  <a:srgbClr val="FF0000"/>
                </a:solidFill>
              </a:rPr>
              <a:t>tokens</a:t>
            </a:r>
            <a:r>
              <a:rPr lang="pt-BR" sz="2000" dirty="0"/>
              <a:t> mais prováveis são </a:t>
            </a:r>
            <a:r>
              <a:rPr lang="pt-BR" sz="2000" dirty="0">
                <a:latin typeface="Consolas" panose="020B0609020204030204" pitchFamily="49" charset="0"/>
              </a:rPr>
              <a:t>dog</a:t>
            </a:r>
            <a:r>
              <a:rPr lang="pt-BR" sz="2000" dirty="0"/>
              <a:t> e </a:t>
            </a:r>
            <a:r>
              <a:rPr lang="pt-BR" sz="2000" dirty="0" err="1">
                <a:latin typeface="Consolas" panose="020B0609020204030204" pitchFamily="49" charset="0"/>
              </a:rPr>
              <a:t>nice</a:t>
            </a:r>
            <a:endParaRPr lang="pt-BR" sz="2000" dirty="0">
              <a:latin typeface="Consolas" panose="020B0609020204030204" pitchFamily="49" charset="0"/>
            </a:endParaRPr>
          </a:p>
          <a:p>
            <a:pPr lvl="1"/>
            <a:endParaRPr lang="pt-BR" sz="2000" dirty="0">
              <a:latin typeface="Consolas" panose="020B0609020204030204" pitchFamily="49" charset="0"/>
            </a:endParaRPr>
          </a:p>
          <a:p>
            <a:endParaRPr lang="pt-BR" sz="2400" i="1" dirty="0"/>
          </a:p>
          <a:p>
            <a:endParaRPr lang="pt-BR" sz="2400" i="1" dirty="0"/>
          </a:p>
          <a:p>
            <a:endParaRPr lang="pt-BR" sz="24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D45B7-84D3-2DB4-06E4-E8D9B89E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8261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DA230-0AB9-1BD7-25FF-C6A4033AF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A56FF4B-0E6B-E859-6DF4-35992857E36D}"/>
              </a:ext>
            </a:extLst>
          </p:cNvPr>
          <p:cNvGrpSpPr/>
          <p:nvPr/>
        </p:nvGrpSpPr>
        <p:grpSpPr>
          <a:xfrm>
            <a:off x="5751830" y="365124"/>
            <a:ext cx="6063484" cy="4549950"/>
            <a:chOff x="5751830" y="365124"/>
            <a:chExt cx="6063484" cy="4549950"/>
          </a:xfrm>
        </p:grpSpPr>
        <p:pic>
          <p:nvPicPr>
            <p:cNvPr id="10242" name="Picture 2" descr="beam search">
              <a:extLst>
                <a:ext uri="{FF2B5EF4-FFF2-40B4-BE49-F238E27FC236}">
                  <a16:creationId xmlns:a16="http://schemas.microsoft.com/office/drawing/2014/main" id="{D1EC8F82-0DDF-F909-4A67-EA87ABEAB1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51830" y="525672"/>
              <a:ext cx="5177838" cy="4271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F2FFD2-4C2C-661D-0918-82ECADA9E4EE}"/>
                </a:ext>
              </a:extLst>
            </p:cNvPr>
            <p:cNvSpPr/>
            <p:nvPr/>
          </p:nvSpPr>
          <p:spPr>
            <a:xfrm>
              <a:off x="9213012" y="365124"/>
              <a:ext cx="2355012" cy="3344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6D5AE1-B118-A50E-89CF-DDC880647C30}"/>
                </a:ext>
              </a:extLst>
            </p:cNvPr>
            <p:cNvSpPr/>
            <p:nvPr/>
          </p:nvSpPr>
          <p:spPr>
            <a:xfrm>
              <a:off x="9460302" y="3522422"/>
              <a:ext cx="2355012" cy="13926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9BCFB4-EE80-2AC5-3EAC-6682AB365DBF}"/>
                </a:ext>
              </a:extLst>
            </p:cNvPr>
            <p:cNvSpPr/>
            <p:nvPr/>
          </p:nvSpPr>
          <p:spPr>
            <a:xfrm>
              <a:off x="8681768" y="1675523"/>
              <a:ext cx="2355012" cy="13926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5C0202-4795-B4B8-7830-65A08133F44E}"/>
                </a:ext>
              </a:extLst>
            </p:cNvPr>
            <p:cNvSpPr/>
            <p:nvPr/>
          </p:nvSpPr>
          <p:spPr>
            <a:xfrm>
              <a:off x="8467544" y="1876762"/>
              <a:ext cx="1685747" cy="219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F65026-D80A-4719-E858-2B94BA51D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A8853-718F-9CD8-1E6F-E86F269B9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372"/>
            <a:ext cx="10515600" cy="4351338"/>
          </a:xfrm>
        </p:spPr>
        <p:txBody>
          <a:bodyPr>
            <a:normAutofit/>
          </a:bodyPr>
          <a:lstStyle/>
          <a:p>
            <a:r>
              <a:rPr lang="pt-BR" sz="2400" dirty="0"/>
              <a:t>Gerando frases com </a:t>
            </a:r>
            <a:r>
              <a:rPr lang="pt-BR" sz="2400" i="1" dirty="0"/>
              <a:t>Beam Search</a:t>
            </a:r>
          </a:p>
          <a:p>
            <a:pPr lvl="1"/>
            <a:r>
              <a:rPr lang="pt-BR" sz="2000" dirty="0"/>
              <a:t>Tamanho </a:t>
            </a:r>
            <a:r>
              <a:rPr lang="pt-BR" sz="2000" i="1" dirty="0" err="1"/>
              <a:t>beam</a:t>
            </a:r>
            <a:r>
              <a:rPr lang="pt-BR" sz="2000" dirty="0"/>
              <a:t>=2</a:t>
            </a:r>
          </a:p>
          <a:p>
            <a:endParaRPr lang="pt-BR" sz="2400" i="1" dirty="0"/>
          </a:p>
          <a:p>
            <a:endParaRPr lang="pt-BR" sz="2400" i="1" dirty="0"/>
          </a:p>
          <a:p>
            <a:r>
              <a:rPr lang="pt-BR" sz="2400" dirty="0"/>
              <a:t>Vamos supor que o </a:t>
            </a:r>
            <a:r>
              <a:rPr lang="pt-BR" sz="2400" i="1" dirty="0">
                <a:solidFill>
                  <a:srgbClr val="FF0000"/>
                </a:solidFill>
              </a:rPr>
              <a:t>token</a:t>
            </a:r>
            <a:r>
              <a:rPr lang="pt-BR" sz="2400" dirty="0"/>
              <a:t> inicial é “</a:t>
            </a:r>
            <a:r>
              <a:rPr lang="pt-BR" sz="2400" dirty="0">
                <a:latin typeface="Consolas" panose="020B0609020204030204" pitchFamily="49" charset="0"/>
              </a:rPr>
              <a:t>The”</a:t>
            </a:r>
          </a:p>
          <a:p>
            <a:pPr lvl="1"/>
            <a:r>
              <a:rPr lang="pt-BR" sz="2000" dirty="0"/>
              <a:t>Os dois próximos </a:t>
            </a:r>
            <a:r>
              <a:rPr lang="pt-BR" sz="2000" i="1" dirty="0">
                <a:solidFill>
                  <a:srgbClr val="FF0000"/>
                </a:solidFill>
              </a:rPr>
              <a:t>tokens</a:t>
            </a:r>
            <a:r>
              <a:rPr lang="pt-BR" sz="2000" dirty="0"/>
              <a:t> mais prováveis são </a:t>
            </a:r>
            <a:r>
              <a:rPr lang="pt-BR" sz="2000" dirty="0">
                <a:latin typeface="Consolas" panose="020B0609020204030204" pitchFamily="49" charset="0"/>
              </a:rPr>
              <a:t>dog</a:t>
            </a:r>
            <a:r>
              <a:rPr lang="pt-BR" sz="2000" dirty="0"/>
              <a:t> e </a:t>
            </a:r>
            <a:r>
              <a:rPr lang="pt-BR" sz="2000" dirty="0" err="1">
                <a:latin typeface="Consolas" panose="020B0609020204030204" pitchFamily="49" charset="0"/>
              </a:rPr>
              <a:t>nice</a:t>
            </a:r>
            <a:endParaRPr lang="pt-BR" sz="2000" dirty="0">
              <a:latin typeface="Consolas" panose="020B0609020204030204" pitchFamily="49" charset="0"/>
            </a:endParaRPr>
          </a:p>
          <a:p>
            <a:r>
              <a:rPr lang="pt-BR" sz="2400" dirty="0"/>
              <a:t>Os dois </a:t>
            </a:r>
            <a:r>
              <a:rPr lang="pt-BR" sz="2400" i="1" dirty="0" err="1">
                <a:solidFill>
                  <a:srgbClr val="00B0F0"/>
                </a:solidFill>
              </a:rPr>
              <a:t>beams</a:t>
            </a:r>
            <a:r>
              <a:rPr lang="pt-BR" sz="2400" dirty="0"/>
              <a:t> mais prováveis são:</a:t>
            </a:r>
          </a:p>
          <a:p>
            <a:pPr lvl="1"/>
            <a:r>
              <a:rPr lang="pt-BR" sz="2000" dirty="0">
                <a:latin typeface="Consolas" panose="020B0609020204030204" pitchFamily="49" charset="0"/>
              </a:rPr>
              <a:t>The dog (0.4)</a:t>
            </a:r>
            <a:endParaRPr lang="pt-BR" sz="2000" dirty="0"/>
          </a:p>
          <a:p>
            <a:pPr lvl="1"/>
            <a:r>
              <a:rPr lang="pt-BR" sz="2000" dirty="0">
                <a:latin typeface="Consolas" panose="020B0609020204030204" pitchFamily="49" charset="0"/>
              </a:rPr>
              <a:t>The </a:t>
            </a:r>
            <a:r>
              <a:rPr lang="pt-BR" sz="2000" dirty="0" err="1">
                <a:latin typeface="Consolas" panose="020B0609020204030204" pitchFamily="49" charset="0"/>
              </a:rPr>
              <a:t>nice</a:t>
            </a:r>
            <a:r>
              <a:rPr lang="pt-BR" sz="2000" dirty="0">
                <a:latin typeface="Consolas" panose="020B0609020204030204" pitchFamily="49" charset="0"/>
              </a:rPr>
              <a:t> (0.5)</a:t>
            </a:r>
          </a:p>
          <a:p>
            <a:pPr lvl="1"/>
            <a:endParaRPr lang="pt-BR" sz="2000" dirty="0">
              <a:latin typeface="Consolas" panose="020B0609020204030204" pitchFamily="49" charset="0"/>
            </a:endParaRPr>
          </a:p>
          <a:p>
            <a:endParaRPr lang="pt-BR" sz="2400" i="1" dirty="0"/>
          </a:p>
          <a:p>
            <a:endParaRPr lang="pt-BR" sz="2400" i="1" dirty="0"/>
          </a:p>
          <a:p>
            <a:endParaRPr lang="pt-BR" sz="24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36822-F1DA-B8BD-020C-266B44713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4613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1BE67-5853-810A-5F9A-D32E256D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beam search">
            <a:extLst>
              <a:ext uri="{FF2B5EF4-FFF2-40B4-BE49-F238E27FC236}">
                <a16:creationId xmlns:a16="http://schemas.microsoft.com/office/drawing/2014/main" id="{4305304B-1327-BC75-D990-D8763DDFF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830" y="525672"/>
            <a:ext cx="5177838" cy="427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240F86-6FA8-4E05-0247-46170EEE7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30E5A-C1BD-436B-BF72-B6DA9EE27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372"/>
            <a:ext cx="10515600" cy="4351338"/>
          </a:xfrm>
        </p:spPr>
        <p:txBody>
          <a:bodyPr>
            <a:normAutofit/>
          </a:bodyPr>
          <a:lstStyle/>
          <a:p>
            <a:r>
              <a:rPr lang="pt-BR" sz="2400" dirty="0"/>
              <a:t>Gerando frases com </a:t>
            </a:r>
            <a:r>
              <a:rPr lang="pt-BR" sz="2400" i="1" dirty="0"/>
              <a:t>Beam Search</a:t>
            </a:r>
          </a:p>
          <a:p>
            <a:pPr lvl="1"/>
            <a:r>
              <a:rPr lang="pt-BR" sz="2000" dirty="0"/>
              <a:t>Tamanho </a:t>
            </a:r>
            <a:r>
              <a:rPr lang="pt-BR" sz="2000" i="1" dirty="0" err="1">
                <a:solidFill>
                  <a:srgbClr val="00B0F0"/>
                </a:solidFill>
              </a:rPr>
              <a:t>beam</a:t>
            </a:r>
            <a:r>
              <a:rPr lang="pt-BR" sz="2000" dirty="0"/>
              <a:t>=2</a:t>
            </a:r>
          </a:p>
          <a:p>
            <a:endParaRPr lang="pt-BR" sz="2400" i="1" dirty="0"/>
          </a:p>
          <a:p>
            <a:endParaRPr lang="pt-BR" sz="2400" i="1" dirty="0"/>
          </a:p>
          <a:p>
            <a:r>
              <a:rPr lang="pt-BR" sz="2400" dirty="0"/>
              <a:t>Vamos supor que o </a:t>
            </a:r>
            <a:r>
              <a:rPr lang="pt-BR" sz="2400" i="1" dirty="0">
                <a:solidFill>
                  <a:srgbClr val="FF0000"/>
                </a:solidFill>
              </a:rPr>
              <a:t>token</a:t>
            </a:r>
            <a:r>
              <a:rPr lang="pt-BR" sz="2400" dirty="0"/>
              <a:t> inicial é “</a:t>
            </a:r>
            <a:r>
              <a:rPr lang="pt-BR" sz="2400" dirty="0">
                <a:latin typeface="Consolas" panose="020B0609020204030204" pitchFamily="49" charset="0"/>
              </a:rPr>
              <a:t>The”</a:t>
            </a:r>
          </a:p>
          <a:p>
            <a:pPr lvl="1"/>
            <a:r>
              <a:rPr lang="pt-BR" sz="2000" dirty="0"/>
              <a:t>Os dois próximos </a:t>
            </a:r>
            <a:r>
              <a:rPr lang="pt-BR" sz="2000" i="1" dirty="0">
                <a:solidFill>
                  <a:srgbClr val="FF0000"/>
                </a:solidFill>
              </a:rPr>
              <a:t>tokens</a:t>
            </a:r>
            <a:r>
              <a:rPr lang="pt-BR" sz="2000" dirty="0"/>
              <a:t> mais prováveis são </a:t>
            </a:r>
            <a:r>
              <a:rPr lang="pt-BR" sz="2000" dirty="0">
                <a:latin typeface="Consolas" panose="020B0609020204030204" pitchFamily="49" charset="0"/>
              </a:rPr>
              <a:t>dog</a:t>
            </a:r>
            <a:r>
              <a:rPr lang="pt-BR" sz="2000" dirty="0"/>
              <a:t> e </a:t>
            </a:r>
            <a:r>
              <a:rPr lang="pt-BR" sz="2000" dirty="0" err="1">
                <a:latin typeface="Consolas" panose="020B0609020204030204" pitchFamily="49" charset="0"/>
              </a:rPr>
              <a:t>nice</a:t>
            </a:r>
            <a:endParaRPr lang="pt-BR" sz="2000" dirty="0">
              <a:latin typeface="Consolas" panose="020B0609020204030204" pitchFamily="49" charset="0"/>
            </a:endParaRPr>
          </a:p>
          <a:p>
            <a:r>
              <a:rPr lang="pt-BR" sz="2400" dirty="0"/>
              <a:t>Os dois </a:t>
            </a:r>
            <a:r>
              <a:rPr lang="pt-BR" sz="2400" i="1" dirty="0" err="1">
                <a:solidFill>
                  <a:srgbClr val="00B0F0"/>
                </a:solidFill>
              </a:rPr>
              <a:t>beams</a:t>
            </a:r>
            <a:r>
              <a:rPr lang="pt-BR" sz="2400" dirty="0"/>
              <a:t> mais prováveis são:</a:t>
            </a:r>
          </a:p>
          <a:p>
            <a:pPr lvl="1"/>
            <a:r>
              <a:rPr lang="pt-BR" sz="2000" dirty="0">
                <a:latin typeface="Consolas" panose="020B0609020204030204" pitchFamily="49" charset="0"/>
              </a:rPr>
              <a:t>The dog (0.4)</a:t>
            </a:r>
            <a:endParaRPr lang="pt-BR" sz="2000" dirty="0"/>
          </a:p>
          <a:p>
            <a:pPr lvl="1"/>
            <a:r>
              <a:rPr lang="pt-BR" sz="2000" dirty="0">
                <a:latin typeface="Consolas" panose="020B0609020204030204" pitchFamily="49" charset="0"/>
              </a:rPr>
              <a:t>The </a:t>
            </a:r>
            <a:r>
              <a:rPr lang="pt-BR" sz="2000" dirty="0" err="1">
                <a:latin typeface="Consolas" panose="020B0609020204030204" pitchFamily="49" charset="0"/>
              </a:rPr>
              <a:t>nice</a:t>
            </a:r>
            <a:r>
              <a:rPr lang="pt-BR" sz="2000" dirty="0">
                <a:latin typeface="Consolas" panose="020B0609020204030204" pitchFamily="49" charset="0"/>
              </a:rPr>
              <a:t> (0.5)</a:t>
            </a:r>
          </a:p>
          <a:p>
            <a:r>
              <a:rPr lang="pt-BR" sz="2400" dirty="0"/>
              <a:t>Vamos expandir a busca nos dois </a:t>
            </a:r>
            <a:r>
              <a:rPr lang="pt-BR" sz="2400" i="1" dirty="0" err="1">
                <a:solidFill>
                  <a:srgbClr val="00B0F0"/>
                </a:solidFill>
              </a:rPr>
              <a:t>beams</a:t>
            </a:r>
            <a:r>
              <a:rPr lang="pt-BR" sz="2400" dirty="0"/>
              <a:t> mais prováveis </a:t>
            </a:r>
          </a:p>
          <a:p>
            <a:endParaRPr lang="pt-BR" sz="2400" i="1" dirty="0"/>
          </a:p>
          <a:p>
            <a:endParaRPr lang="pt-BR" sz="2400" i="1" dirty="0"/>
          </a:p>
          <a:p>
            <a:endParaRPr lang="pt-BR" sz="24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C2151-144C-E0EA-9BF7-6347001A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21</a:t>
            </a:fld>
            <a:endParaRPr lang="pt-B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803E1-F00F-369A-8763-0CAE37D98854}"/>
              </a:ext>
            </a:extLst>
          </p:cNvPr>
          <p:cNvSpPr/>
          <p:nvPr/>
        </p:nvSpPr>
        <p:spPr>
          <a:xfrm>
            <a:off x="9460302" y="3522422"/>
            <a:ext cx="2355012" cy="1392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3E59A1-7DB7-E8C1-7DD0-89C89A87E07C}"/>
              </a:ext>
            </a:extLst>
          </p:cNvPr>
          <p:cNvSpPr/>
          <p:nvPr/>
        </p:nvSpPr>
        <p:spPr>
          <a:xfrm>
            <a:off x="9880119" y="3036498"/>
            <a:ext cx="1685747" cy="587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961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281E-29DF-697A-C6E7-7ED3FEAC5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beam search">
            <a:extLst>
              <a:ext uri="{FF2B5EF4-FFF2-40B4-BE49-F238E27FC236}">
                <a16:creationId xmlns:a16="http://schemas.microsoft.com/office/drawing/2014/main" id="{4C1C1B68-B20E-AB44-9249-8A7F626AC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830" y="525672"/>
            <a:ext cx="5177838" cy="427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1C0043-CCD1-18CE-21DE-9BBAF73379D2}"/>
              </a:ext>
            </a:extLst>
          </p:cNvPr>
          <p:cNvSpPr/>
          <p:nvPr/>
        </p:nvSpPr>
        <p:spPr>
          <a:xfrm>
            <a:off x="9460302" y="3522422"/>
            <a:ext cx="2355012" cy="1392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5E6258-2854-49F5-1359-7BCA8629665D}"/>
              </a:ext>
            </a:extLst>
          </p:cNvPr>
          <p:cNvSpPr/>
          <p:nvPr/>
        </p:nvSpPr>
        <p:spPr>
          <a:xfrm>
            <a:off x="9880119" y="3036498"/>
            <a:ext cx="1685747" cy="587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B3F41-1817-A50A-2505-83E0541E3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AB81E-90A4-7639-81F3-C0006E828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372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pt-BR" sz="2400" dirty="0"/>
              <a:t>Gerando frases com </a:t>
            </a:r>
            <a:r>
              <a:rPr lang="pt-BR" sz="2400" i="1" dirty="0"/>
              <a:t>Beam Search</a:t>
            </a:r>
          </a:p>
          <a:p>
            <a:pPr lvl="1"/>
            <a:r>
              <a:rPr lang="pt-BR" sz="2000" dirty="0"/>
              <a:t>Tamanho </a:t>
            </a:r>
            <a:r>
              <a:rPr lang="pt-BR" sz="2000" i="1" dirty="0" err="1"/>
              <a:t>beam</a:t>
            </a:r>
            <a:r>
              <a:rPr lang="pt-BR" sz="2000" dirty="0"/>
              <a:t>=2</a:t>
            </a:r>
          </a:p>
          <a:p>
            <a:endParaRPr lang="pt-BR" sz="2400" i="1" dirty="0"/>
          </a:p>
          <a:p>
            <a:endParaRPr lang="pt-BR" sz="2400" i="1" dirty="0"/>
          </a:p>
          <a:p>
            <a:r>
              <a:rPr lang="pt-BR" sz="2400" dirty="0"/>
              <a:t>Vamos supor que o </a:t>
            </a:r>
            <a:r>
              <a:rPr lang="pt-BR" sz="2400" i="1" dirty="0">
                <a:solidFill>
                  <a:srgbClr val="FF0000"/>
                </a:solidFill>
              </a:rPr>
              <a:t>token</a:t>
            </a:r>
            <a:r>
              <a:rPr lang="pt-BR" sz="2400" dirty="0"/>
              <a:t> inicial é “</a:t>
            </a:r>
            <a:r>
              <a:rPr lang="pt-BR" sz="2400" dirty="0">
                <a:latin typeface="Consolas" panose="020B0609020204030204" pitchFamily="49" charset="0"/>
              </a:rPr>
              <a:t>The”</a:t>
            </a:r>
          </a:p>
          <a:p>
            <a:pPr lvl="1"/>
            <a:r>
              <a:rPr lang="pt-BR" sz="2000" dirty="0"/>
              <a:t>Os dois próximos </a:t>
            </a:r>
            <a:r>
              <a:rPr lang="pt-BR" sz="2000" i="1" dirty="0">
                <a:solidFill>
                  <a:srgbClr val="FF0000"/>
                </a:solidFill>
              </a:rPr>
              <a:t>tokens</a:t>
            </a:r>
            <a:r>
              <a:rPr lang="pt-BR" sz="2000" dirty="0"/>
              <a:t> mais prováveis são </a:t>
            </a:r>
            <a:r>
              <a:rPr lang="pt-BR" sz="2000" dirty="0">
                <a:latin typeface="Consolas" panose="020B0609020204030204" pitchFamily="49" charset="0"/>
              </a:rPr>
              <a:t>dog</a:t>
            </a:r>
            <a:r>
              <a:rPr lang="pt-BR" sz="2000" dirty="0"/>
              <a:t> e </a:t>
            </a:r>
            <a:r>
              <a:rPr lang="pt-BR" sz="2000" dirty="0" err="1">
                <a:latin typeface="Consolas" panose="020B0609020204030204" pitchFamily="49" charset="0"/>
              </a:rPr>
              <a:t>nice</a:t>
            </a:r>
            <a:endParaRPr lang="pt-BR" sz="2000" dirty="0">
              <a:latin typeface="Consolas" panose="020B0609020204030204" pitchFamily="49" charset="0"/>
            </a:endParaRPr>
          </a:p>
          <a:p>
            <a:r>
              <a:rPr lang="pt-BR" sz="2400" dirty="0"/>
              <a:t>Os dois </a:t>
            </a:r>
            <a:r>
              <a:rPr lang="pt-BR" sz="2400" i="1" dirty="0" err="1">
                <a:solidFill>
                  <a:srgbClr val="00B0F0"/>
                </a:solidFill>
              </a:rPr>
              <a:t>beams</a:t>
            </a:r>
            <a:r>
              <a:rPr lang="pt-BR" sz="2400" dirty="0"/>
              <a:t> mais prováveis são:</a:t>
            </a:r>
          </a:p>
          <a:p>
            <a:pPr lvl="1"/>
            <a:r>
              <a:rPr lang="pt-BR" sz="2000" dirty="0">
                <a:latin typeface="Consolas" panose="020B0609020204030204" pitchFamily="49" charset="0"/>
              </a:rPr>
              <a:t>The dog (0.4)</a:t>
            </a:r>
          </a:p>
          <a:p>
            <a:pPr lvl="2"/>
            <a:r>
              <a:rPr lang="pt-BR" sz="1600" dirty="0">
                <a:latin typeface="Consolas" panose="020B0609020204030204" pitchFamily="49" charset="0"/>
              </a:rPr>
              <a:t>The dog </a:t>
            </a:r>
            <a:r>
              <a:rPr lang="pt-BR" sz="1600" dirty="0" err="1">
                <a:latin typeface="Consolas" panose="020B0609020204030204" pitchFamily="49" charset="0"/>
              </a:rPr>
              <a:t>and</a:t>
            </a:r>
            <a:r>
              <a:rPr lang="pt-BR" sz="1600" dirty="0">
                <a:latin typeface="Consolas" panose="020B0609020204030204" pitchFamily="49" charset="0"/>
              </a:rPr>
              <a:t> (0.4*0.05=0.02)</a:t>
            </a:r>
          </a:p>
          <a:p>
            <a:pPr lvl="2"/>
            <a:r>
              <a:rPr lang="pt-BR" sz="1600" dirty="0">
                <a:latin typeface="Consolas" panose="020B0609020204030204" pitchFamily="49" charset="0"/>
              </a:rPr>
              <a:t>The dog runs (0.4*0.05=0.02)</a:t>
            </a:r>
            <a:endParaRPr lang="pt-BR" sz="1600" dirty="0"/>
          </a:p>
          <a:p>
            <a:pPr lvl="2"/>
            <a:r>
              <a:rPr lang="pt-BR" sz="1600" dirty="0">
                <a:solidFill>
                  <a:srgbClr val="00B0F0"/>
                </a:solidFill>
                <a:latin typeface="Consolas" panose="020B0609020204030204" pitchFamily="49" charset="0"/>
              </a:rPr>
              <a:t>The dog </a:t>
            </a:r>
            <a:r>
              <a:rPr lang="pt-BR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has</a:t>
            </a:r>
            <a:r>
              <a:rPr lang="pt-BR" sz="1600" dirty="0">
                <a:solidFill>
                  <a:srgbClr val="00B0F0"/>
                </a:solidFill>
                <a:latin typeface="Consolas" panose="020B0609020204030204" pitchFamily="49" charset="0"/>
              </a:rPr>
              <a:t> (0.4*0.9=0.36)</a:t>
            </a:r>
            <a:endParaRPr lang="pt-BR" sz="1600" dirty="0">
              <a:solidFill>
                <a:srgbClr val="00B0F0"/>
              </a:solidFill>
            </a:endParaRPr>
          </a:p>
          <a:p>
            <a:pPr lvl="1"/>
            <a:r>
              <a:rPr lang="pt-BR" sz="2000" dirty="0">
                <a:latin typeface="Consolas" panose="020B0609020204030204" pitchFamily="49" charset="0"/>
              </a:rPr>
              <a:t>The </a:t>
            </a:r>
            <a:r>
              <a:rPr lang="pt-BR" sz="2000" dirty="0" err="1">
                <a:latin typeface="Consolas" panose="020B0609020204030204" pitchFamily="49" charset="0"/>
              </a:rPr>
              <a:t>nice</a:t>
            </a:r>
            <a:r>
              <a:rPr lang="pt-BR" sz="2000" dirty="0">
                <a:latin typeface="Consolas" panose="020B0609020204030204" pitchFamily="49" charset="0"/>
              </a:rPr>
              <a:t> (0.5)</a:t>
            </a:r>
          </a:p>
          <a:p>
            <a:pPr lvl="2"/>
            <a:r>
              <a:rPr lang="pt-BR" sz="1600" dirty="0">
                <a:solidFill>
                  <a:srgbClr val="00B0F0"/>
                </a:solidFill>
                <a:latin typeface="Consolas" panose="020B0609020204030204" pitchFamily="49" charset="0"/>
              </a:rPr>
              <a:t>The </a:t>
            </a:r>
            <a:r>
              <a:rPr lang="pt-BR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nice</a:t>
            </a:r>
            <a:r>
              <a:rPr lang="pt-BR" sz="16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woman</a:t>
            </a:r>
            <a:r>
              <a:rPr lang="pt-BR" sz="1600" dirty="0">
                <a:solidFill>
                  <a:srgbClr val="00B0F0"/>
                </a:solidFill>
                <a:latin typeface="Consolas" panose="020B0609020204030204" pitchFamily="49" charset="0"/>
              </a:rPr>
              <a:t> (0.5*0.4=0.20)</a:t>
            </a:r>
          </a:p>
          <a:p>
            <a:pPr lvl="2"/>
            <a:r>
              <a:rPr lang="pt-BR" sz="1600" dirty="0">
                <a:latin typeface="Consolas" panose="020B0609020204030204" pitchFamily="49" charset="0"/>
              </a:rPr>
              <a:t>The </a:t>
            </a:r>
            <a:r>
              <a:rPr lang="pt-BR" sz="1600" dirty="0" err="1">
                <a:latin typeface="Consolas" panose="020B0609020204030204" pitchFamily="49" charset="0"/>
              </a:rPr>
              <a:t>nice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house</a:t>
            </a:r>
            <a:r>
              <a:rPr lang="pt-BR" sz="1600" dirty="0">
                <a:latin typeface="Consolas" panose="020B0609020204030204" pitchFamily="49" charset="0"/>
              </a:rPr>
              <a:t> (0.5*0.3=0.15)</a:t>
            </a:r>
          </a:p>
          <a:p>
            <a:pPr lvl="2"/>
            <a:r>
              <a:rPr lang="pt-BR" sz="1600" dirty="0">
                <a:latin typeface="Consolas" panose="020B0609020204030204" pitchFamily="49" charset="0"/>
              </a:rPr>
              <a:t>The </a:t>
            </a:r>
            <a:r>
              <a:rPr lang="pt-BR" sz="1600" dirty="0" err="1">
                <a:latin typeface="Consolas" panose="020B0609020204030204" pitchFamily="49" charset="0"/>
              </a:rPr>
              <a:t>nice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guy</a:t>
            </a:r>
            <a:r>
              <a:rPr lang="pt-BR" sz="1600" dirty="0">
                <a:latin typeface="Consolas" panose="020B0609020204030204" pitchFamily="49" charset="0"/>
              </a:rPr>
              <a:t> (0.5*0.3=0.15)</a:t>
            </a:r>
            <a:endParaRPr lang="pt-BR" sz="1600" dirty="0"/>
          </a:p>
          <a:p>
            <a:pPr lvl="2"/>
            <a:endParaRPr lang="pt-BR" sz="1600" dirty="0"/>
          </a:p>
          <a:p>
            <a:pPr lvl="2"/>
            <a:endParaRPr lang="pt-BR" sz="1600" dirty="0"/>
          </a:p>
          <a:p>
            <a:pPr lvl="2"/>
            <a:endParaRPr lang="pt-BR" sz="1600" dirty="0">
              <a:latin typeface="Consolas" panose="020B0609020204030204" pitchFamily="49" charset="0"/>
            </a:endParaRPr>
          </a:p>
          <a:p>
            <a:pPr lvl="1"/>
            <a:endParaRPr lang="pt-BR" sz="2000" dirty="0">
              <a:latin typeface="Consolas" panose="020B0609020204030204" pitchFamily="49" charset="0"/>
            </a:endParaRPr>
          </a:p>
          <a:p>
            <a:endParaRPr lang="pt-BR" sz="2400" i="1" dirty="0"/>
          </a:p>
          <a:p>
            <a:endParaRPr lang="pt-BR" sz="2400" i="1" dirty="0"/>
          </a:p>
          <a:p>
            <a:endParaRPr lang="pt-BR" sz="24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BAE89-D19F-28C2-EC15-BF26E5C83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4078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DF277-B328-E6A4-434A-AC7DA11DB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beam search">
            <a:extLst>
              <a:ext uri="{FF2B5EF4-FFF2-40B4-BE49-F238E27FC236}">
                <a16:creationId xmlns:a16="http://schemas.microsoft.com/office/drawing/2014/main" id="{15DAB95D-4D9A-13B1-29FF-C8392BF61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830" y="525672"/>
            <a:ext cx="5177838" cy="427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DBF1F8-592C-7DA5-2631-FA641316EAE2}"/>
              </a:ext>
            </a:extLst>
          </p:cNvPr>
          <p:cNvSpPr/>
          <p:nvPr/>
        </p:nvSpPr>
        <p:spPr>
          <a:xfrm>
            <a:off x="9460302" y="3522422"/>
            <a:ext cx="2355012" cy="1392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B5C8FE-AA4D-E19C-3979-0C984E49EA03}"/>
              </a:ext>
            </a:extLst>
          </p:cNvPr>
          <p:cNvSpPr/>
          <p:nvPr/>
        </p:nvSpPr>
        <p:spPr>
          <a:xfrm>
            <a:off x="9880119" y="3036498"/>
            <a:ext cx="1685747" cy="587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62D0EC-FFE1-D72B-5273-1F11F478F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7A3F2-216C-8426-B19F-754B84A2D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372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pt-BR" sz="2400" dirty="0"/>
              <a:t>Gerando frases com </a:t>
            </a:r>
            <a:r>
              <a:rPr lang="pt-BR" sz="2400" i="1" dirty="0"/>
              <a:t>Beam Search</a:t>
            </a:r>
          </a:p>
          <a:p>
            <a:pPr lvl="1"/>
            <a:r>
              <a:rPr lang="pt-BR" sz="2000" dirty="0"/>
              <a:t>Tamanho </a:t>
            </a:r>
            <a:r>
              <a:rPr lang="pt-BR" sz="2000" i="1" dirty="0" err="1"/>
              <a:t>beam</a:t>
            </a:r>
            <a:r>
              <a:rPr lang="pt-BR" sz="2000" dirty="0"/>
              <a:t>=2</a:t>
            </a:r>
          </a:p>
          <a:p>
            <a:endParaRPr lang="pt-BR" sz="2400" i="1" dirty="0"/>
          </a:p>
          <a:p>
            <a:endParaRPr lang="pt-BR" sz="2400" i="1" dirty="0"/>
          </a:p>
          <a:p>
            <a:r>
              <a:rPr lang="pt-BR" sz="2400" dirty="0"/>
              <a:t>Vamos supor que o </a:t>
            </a:r>
            <a:r>
              <a:rPr lang="pt-BR" sz="2400" i="1" dirty="0">
                <a:solidFill>
                  <a:srgbClr val="FF0000"/>
                </a:solidFill>
              </a:rPr>
              <a:t>token</a:t>
            </a:r>
            <a:r>
              <a:rPr lang="pt-BR" sz="2400" dirty="0"/>
              <a:t> inicial é “</a:t>
            </a:r>
            <a:r>
              <a:rPr lang="pt-BR" sz="2400" dirty="0">
                <a:latin typeface="Consolas" panose="020B0609020204030204" pitchFamily="49" charset="0"/>
              </a:rPr>
              <a:t>The”</a:t>
            </a:r>
          </a:p>
          <a:p>
            <a:pPr lvl="1"/>
            <a:r>
              <a:rPr lang="pt-BR" sz="2000" dirty="0"/>
              <a:t>Os dois próximos </a:t>
            </a:r>
            <a:r>
              <a:rPr lang="pt-BR" sz="2000" i="1" dirty="0">
                <a:solidFill>
                  <a:srgbClr val="FF0000"/>
                </a:solidFill>
              </a:rPr>
              <a:t>tokens</a:t>
            </a:r>
            <a:r>
              <a:rPr lang="pt-BR" sz="2000" dirty="0"/>
              <a:t> mais prováveis são </a:t>
            </a:r>
            <a:r>
              <a:rPr lang="pt-BR" sz="2000" dirty="0">
                <a:latin typeface="Consolas" panose="020B0609020204030204" pitchFamily="49" charset="0"/>
              </a:rPr>
              <a:t>dog</a:t>
            </a:r>
            <a:r>
              <a:rPr lang="pt-BR" sz="2000" dirty="0"/>
              <a:t> e </a:t>
            </a:r>
            <a:r>
              <a:rPr lang="pt-BR" sz="2000" dirty="0" err="1">
                <a:latin typeface="Consolas" panose="020B0609020204030204" pitchFamily="49" charset="0"/>
              </a:rPr>
              <a:t>nice</a:t>
            </a:r>
            <a:endParaRPr lang="pt-BR" sz="2000" dirty="0">
              <a:latin typeface="Consolas" panose="020B0609020204030204" pitchFamily="49" charset="0"/>
            </a:endParaRPr>
          </a:p>
          <a:p>
            <a:r>
              <a:rPr lang="pt-BR" sz="2400" dirty="0"/>
              <a:t>Os dois </a:t>
            </a:r>
            <a:r>
              <a:rPr lang="pt-BR" sz="2400" i="1" dirty="0" err="1">
                <a:solidFill>
                  <a:srgbClr val="00B0F0"/>
                </a:solidFill>
              </a:rPr>
              <a:t>beams</a:t>
            </a:r>
            <a:r>
              <a:rPr lang="pt-BR" sz="2400" dirty="0"/>
              <a:t> mais prováveis são:</a:t>
            </a:r>
          </a:p>
          <a:p>
            <a:pPr lvl="1"/>
            <a:r>
              <a:rPr lang="pt-BR" sz="2000" dirty="0">
                <a:latin typeface="Consolas" panose="020B0609020204030204" pitchFamily="49" charset="0"/>
              </a:rPr>
              <a:t>The dog (0.4)</a:t>
            </a:r>
          </a:p>
          <a:p>
            <a:pPr lvl="2"/>
            <a:r>
              <a:rPr lang="pt-BR" sz="1600" dirty="0">
                <a:latin typeface="Consolas" panose="020B0609020204030204" pitchFamily="49" charset="0"/>
              </a:rPr>
              <a:t>The dog </a:t>
            </a:r>
            <a:r>
              <a:rPr lang="pt-BR" sz="1600" dirty="0" err="1">
                <a:latin typeface="Consolas" panose="020B0609020204030204" pitchFamily="49" charset="0"/>
              </a:rPr>
              <a:t>and</a:t>
            </a:r>
            <a:r>
              <a:rPr lang="pt-BR" sz="1600" dirty="0">
                <a:latin typeface="Consolas" panose="020B0609020204030204" pitchFamily="49" charset="0"/>
              </a:rPr>
              <a:t> (0.4*0.05=0.02)</a:t>
            </a:r>
          </a:p>
          <a:p>
            <a:pPr lvl="2"/>
            <a:r>
              <a:rPr lang="pt-BR" sz="1600" dirty="0">
                <a:latin typeface="Consolas" panose="020B0609020204030204" pitchFamily="49" charset="0"/>
              </a:rPr>
              <a:t>The dog runs (0.4*0.05=0.02)</a:t>
            </a:r>
            <a:endParaRPr lang="pt-BR" sz="1600" dirty="0"/>
          </a:p>
          <a:p>
            <a:pPr lvl="2"/>
            <a:r>
              <a:rPr lang="pt-BR" sz="1600" dirty="0">
                <a:solidFill>
                  <a:srgbClr val="00B0F0"/>
                </a:solidFill>
                <a:latin typeface="Consolas" panose="020B0609020204030204" pitchFamily="49" charset="0"/>
              </a:rPr>
              <a:t>The dog </a:t>
            </a:r>
            <a:r>
              <a:rPr lang="pt-BR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has</a:t>
            </a:r>
            <a:r>
              <a:rPr lang="pt-BR" sz="1600" dirty="0">
                <a:solidFill>
                  <a:srgbClr val="00B0F0"/>
                </a:solidFill>
                <a:latin typeface="Consolas" panose="020B0609020204030204" pitchFamily="49" charset="0"/>
              </a:rPr>
              <a:t> (0.4*0.9=0.36)</a:t>
            </a:r>
            <a:endParaRPr lang="pt-BR" sz="1600" dirty="0">
              <a:solidFill>
                <a:srgbClr val="00B0F0"/>
              </a:solidFill>
            </a:endParaRPr>
          </a:p>
          <a:p>
            <a:pPr lvl="1"/>
            <a:r>
              <a:rPr lang="pt-BR" sz="2000" dirty="0">
                <a:latin typeface="Consolas" panose="020B0609020204030204" pitchFamily="49" charset="0"/>
              </a:rPr>
              <a:t>The </a:t>
            </a:r>
            <a:r>
              <a:rPr lang="pt-BR" sz="2000" dirty="0" err="1">
                <a:latin typeface="Consolas" panose="020B0609020204030204" pitchFamily="49" charset="0"/>
              </a:rPr>
              <a:t>nice</a:t>
            </a:r>
            <a:r>
              <a:rPr lang="pt-BR" sz="2000" dirty="0">
                <a:latin typeface="Consolas" panose="020B0609020204030204" pitchFamily="49" charset="0"/>
              </a:rPr>
              <a:t> (0.5)</a:t>
            </a:r>
          </a:p>
          <a:p>
            <a:pPr lvl="2"/>
            <a:r>
              <a:rPr lang="pt-BR" sz="1600" dirty="0">
                <a:solidFill>
                  <a:srgbClr val="00B0F0"/>
                </a:solidFill>
                <a:latin typeface="Consolas" panose="020B0609020204030204" pitchFamily="49" charset="0"/>
              </a:rPr>
              <a:t>The </a:t>
            </a:r>
            <a:r>
              <a:rPr lang="pt-BR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nice</a:t>
            </a:r>
            <a:r>
              <a:rPr lang="pt-BR" sz="16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woman</a:t>
            </a:r>
            <a:r>
              <a:rPr lang="pt-BR" sz="1600" dirty="0">
                <a:solidFill>
                  <a:srgbClr val="00B0F0"/>
                </a:solidFill>
                <a:latin typeface="Consolas" panose="020B0609020204030204" pitchFamily="49" charset="0"/>
              </a:rPr>
              <a:t> (0.5*0.4=0.20)</a:t>
            </a:r>
          </a:p>
          <a:p>
            <a:pPr lvl="2"/>
            <a:r>
              <a:rPr lang="pt-BR" sz="1600" dirty="0">
                <a:latin typeface="Consolas" panose="020B0609020204030204" pitchFamily="49" charset="0"/>
              </a:rPr>
              <a:t>The </a:t>
            </a:r>
            <a:r>
              <a:rPr lang="pt-BR" sz="1600" dirty="0" err="1">
                <a:latin typeface="Consolas" panose="020B0609020204030204" pitchFamily="49" charset="0"/>
              </a:rPr>
              <a:t>nice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house</a:t>
            </a:r>
            <a:r>
              <a:rPr lang="pt-BR" sz="1600" dirty="0">
                <a:latin typeface="Consolas" panose="020B0609020204030204" pitchFamily="49" charset="0"/>
              </a:rPr>
              <a:t> (0.5*0.3=0.15)</a:t>
            </a:r>
          </a:p>
          <a:p>
            <a:pPr lvl="2"/>
            <a:r>
              <a:rPr lang="pt-BR" sz="1600" dirty="0">
                <a:latin typeface="Consolas" panose="020B0609020204030204" pitchFamily="49" charset="0"/>
              </a:rPr>
              <a:t>The </a:t>
            </a:r>
            <a:r>
              <a:rPr lang="pt-BR" sz="1600" dirty="0" err="1">
                <a:latin typeface="Consolas" panose="020B0609020204030204" pitchFamily="49" charset="0"/>
              </a:rPr>
              <a:t>nice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guy</a:t>
            </a:r>
            <a:r>
              <a:rPr lang="pt-BR" sz="1600" dirty="0">
                <a:latin typeface="Consolas" panose="020B0609020204030204" pitchFamily="49" charset="0"/>
              </a:rPr>
              <a:t> (0.5*0.3=0.15)</a:t>
            </a:r>
            <a:endParaRPr lang="pt-BR" sz="1600" dirty="0"/>
          </a:p>
          <a:p>
            <a:r>
              <a:rPr lang="pt-BR" sz="2400" dirty="0"/>
              <a:t>Seguimos com o processo de </a:t>
            </a:r>
            <a:r>
              <a:rPr lang="pt-BR" sz="2400" dirty="0" err="1"/>
              <a:t>decoding</a:t>
            </a:r>
            <a:r>
              <a:rPr lang="pt-BR" sz="2400" dirty="0"/>
              <a:t> até encontrar o </a:t>
            </a:r>
            <a:r>
              <a:rPr lang="pt-BR" sz="2400" i="1" dirty="0"/>
              <a:t>token</a:t>
            </a:r>
            <a:r>
              <a:rPr lang="pt-BR" sz="2400" dirty="0"/>
              <a:t> especial </a:t>
            </a:r>
            <a:r>
              <a:rPr lang="pt-BR" sz="2400" dirty="0">
                <a:latin typeface="Consolas" panose="020B0609020204030204" pitchFamily="49" charset="0"/>
              </a:rPr>
              <a:t>&lt;EOS&gt;</a:t>
            </a:r>
            <a:endParaRPr lang="pt-BR" sz="2400" i="1" dirty="0">
              <a:latin typeface="Consolas" panose="020B0609020204030204" pitchFamily="49" charset="0"/>
            </a:endParaRPr>
          </a:p>
          <a:p>
            <a:pPr lvl="2"/>
            <a:endParaRPr lang="pt-BR" sz="1600" dirty="0"/>
          </a:p>
          <a:p>
            <a:pPr lvl="2"/>
            <a:endParaRPr lang="pt-BR" sz="1600" dirty="0">
              <a:latin typeface="Consolas" panose="020B0609020204030204" pitchFamily="49" charset="0"/>
            </a:endParaRPr>
          </a:p>
          <a:p>
            <a:pPr lvl="1"/>
            <a:endParaRPr lang="pt-BR" sz="2000" dirty="0">
              <a:latin typeface="Consolas" panose="020B0609020204030204" pitchFamily="49" charset="0"/>
            </a:endParaRPr>
          </a:p>
          <a:p>
            <a:endParaRPr lang="pt-BR" sz="2400" i="1" dirty="0"/>
          </a:p>
          <a:p>
            <a:endParaRPr lang="pt-BR" sz="2400" i="1" dirty="0"/>
          </a:p>
          <a:p>
            <a:endParaRPr lang="pt-BR" sz="24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B655D-34F3-A3F5-03E9-976AC224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8567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0D7FC-E135-924E-E428-286756E88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beam search">
            <a:extLst>
              <a:ext uri="{FF2B5EF4-FFF2-40B4-BE49-F238E27FC236}">
                <a16:creationId xmlns:a16="http://schemas.microsoft.com/office/drawing/2014/main" id="{360132B2-BDD2-C5D0-D172-BA9CDF940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830" y="525672"/>
            <a:ext cx="5177838" cy="427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DC0E58-5411-BD75-7728-72DEC280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6D669-833A-647E-E173-F0F8A5035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372"/>
            <a:ext cx="10515600" cy="4351338"/>
          </a:xfrm>
        </p:spPr>
        <p:txBody>
          <a:bodyPr>
            <a:normAutofit/>
          </a:bodyPr>
          <a:lstStyle/>
          <a:p>
            <a:r>
              <a:rPr lang="pt-BR" sz="2400" dirty="0"/>
              <a:t>Gerando frases com </a:t>
            </a:r>
            <a:r>
              <a:rPr lang="pt-BR" sz="2400" i="1" dirty="0"/>
              <a:t>Beam Search</a:t>
            </a:r>
          </a:p>
          <a:p>
            <a:endParaRPr lang="pt-BR" sz="2400" i="1" dirty="0"/>
          </a:p>
          <a:p>
            <a:endParaRPr lang="pt-BR" sz="2400" i="1" dirty="0"/>
          </a:p>
          <a:p>
            <a:endParaRPr lang="pt-BR" sz="2400" i="1" dirty="0"/>
          </a:p>
          <a:p>
            <a:r>
              <a:rPr lang="pt-BR" sz="2400" dirty="0"/>
              <a:t>Resultados muito melhores do que em </a:t>
            </a:r>
            <a:r>
              <a:rPr lang="pt-BR" sz="2400" i="1" dirty="0" err="1"/>
              <a:t>Gready</a:t>
            </a:r>
            <a:r>
              <a:rPr lang="pt-BR" sz="2400" i="1" dirty="0"/>
              <a:t> Search</a:t>
            </a:r>
          </a:p>
          <a:p>
            <a:pPr lvl="1"/>
            <a:r>
              <a:rPr lang="pt-BR" sz="2000" dirty="0"/>
              <a:t>Consiste em considerar sempre um </a:t>
            </a:r>
            <a:r>
              <a:rPr lang="pt-BR" sz="2000" i="1" dirty="0" err="1">
                <a:solidFill>
                  <a:srgbClr val="00B0F0"/>
                </a:solidFill>
              </a:rPr>
              <a:t>beam</a:t>
            </a:r>
            <a:r>
              <a:rPr lang="pt-BR" sz="2000" dirty="0"/>
              <a:t> de </a:t>
            </a:r>
            <a:r>
              <a:rPr lang="pt-BR" sz="2000" i="1" dirty="0">
                <a:solidFill>
                  <a:srgbClr val="FF0000"/>
                </a:solidFill>
              </a:rPr>
              <a:t>tokens</a:t>
            </a:r>
            <a:r>
              <a:rPr lang="pt-BR" sz="2000" i="1" dirty="0"/>
              <a:t> </a:t>
            </a:r>
            <a:r>
              <a:rPr lang="pt-BR" sz="2000" dirty="0"/>
              <a:t>mais prováveis</a:t>
            </a:r>
          </a:p>
          <a:p>
            <a:pPr lvl="1"/>
            <a:r>
              <a:rPr lang="pt-BR" sz="2000" dirty="0"/>
              <a:t>O tamanho do </a:t>
            </a:r>
            <a:r>
              <a:rPr lang="pt-BR" sz="2000" i="1" dirty="0" err="1">
                <a:solidFill>
                  <a:srgbClr val="00B0F0"/>
                </a:solidFill>
              </a:rPr>
              <a:t>beam</a:t>
            </a:r>
            <a:r>
              <a:rPr lang="pt-BR" sz="2000" i="1" dirty="0">
                <a:solidFill>
                  <a:srgbClr val="00B0F0"/>
                </a:solidFill>
              </a:rPr>
              <a:t> </a:t>
            </a:r>
            <a:r>
              <a:rPr lang="pt-BR" sz="2000" dirty="0"/>
              <a:t>é configurável</a:t>
            </a:r>
            <a:endParaRPr lang="pt-BR" sz="2000" dirty="0">
              <a:solidFill>
                <a:srgbClr val="00B0F0"/>
              </a:solidFill>
            </a:endParaRPr>
          </a:p>
          <a:p>
            <a:pPr lvl="1"/>
            <a:r>
              <a:rPr lang="pt-BR" sz="2000" dirty="0"/>
              <a:t>No exemplo ao lado temos o tamanho do </a:t>
            </a:r>
            <a:r>
              <a:rPr lang="pt-BR" sz="2000" dirty="0" err="1">
                <a:solidFill>
                  <a:srgbClr val="00B0F0"/>
                </a:solidFill>
              </a:rPr>
              <a:t>beam</a:t>
            </a:r>
            <a:r>
              <a:rPr lang="pt-BR" sz="2000" dirty="0"/>
              <a:t>=2</a:t>
            </a:r>
          </a:p>
          <a:p>
            <a:pPr lvl="1"/>
            <a:r>
              <a:rPr lang="pt-BR" sz="2000" dirty="0"/>
              <a:t>Embora “</a:t>
            </a:r>
            <a:r>
              <a:rPr lang="pt-BR" sz="2000" i="1" dirty="0"/>
              <a:t>The dog</a:t>
            </a:r>
            <a:r>
              <a:rPr lang="pt-BR" sz="2000" dirty="0">
                <a:latin typeface="Consolas" panose="020B0609020204030204" pitchFamily="49" charset="0"/>
              </a:rPr>
              <a:t>” </a:t>
            </a:r>
            <a:r>
              <a:rPr lang="pt-BR" sz="2000" dirty="0"/>
              <a:t>seja menos provável que </a:t>
            </a:r>
            <a:r>
              <a:rPr lang="pt-BR" sz="2000" i="1" dirty="0"/>
              <a:t>“The </a:t>
            </a:r>
            <a:r>
              <a:rPr lang="pt-BR" sz="2000" i="1" dirty="0" err="1"/>
              <a:t>nice</a:t>
            </a:r>
            <a:r>
              <a:rPr lang="pt-BR" sz="2000" i="1" dirty="0"/>
              <a:t>”, </a:t>
            </a:r>
            <a:r>
              <a:rPr lang="pt-BR" sz="2000" dirty="0"/>
              <a:t>como o tamanho do feixe é igual a dois ambas frases são expandidas</a:t>
            </a:r>
          </a:p>
          <a:p>
            <a:pPr lvl="2"/>
            <a:r>
              <a:rPr lang="pt-BR" sz="1600" i="1" dirty="0"/>
              <a:t>Por consequência “The dog </a:t>
            </a:r>
            <a:r>
              <a:rPr lang="pt-BR" sz="1600" i="1" dirty="0" err="1"/>
              <a:t>has</a:t>
            </a:r>
            <a:r>
              <a:rPr lang="pt-BR" sz="1600" i="1" dirty="0"/>
              <a:t>” é identificado como mais provável do que “</a:t>
            </a:r>
            <a:r>
              <a:rPr lang="pt-BR" sz="1600" i="1" dirty="0" err="1"/>
              <a:t>the</a:t>
            </a:r>
            <a:r>
              <a:rPr lang="pt-BR" sz="1600" i="1" dirty="0"/>
              <a:t> </a:t>
            </a:r>
            <a:r>
              <a:rPr lang="pt-BR" sz="1600" i="1" dirty="0" err="1"/>
              <a:t>nice</a:t>
            </a:r>
            <a:r>
              <a:rPr lang="pt-BR" sz="1600" i="1" dirty="0"/>
              <a:t> </a:t>
            </a:r>
            <a:r>
              <a:rPr lang="pt-BR" sz="1600" i="1" dirty="0" err="1"/>
              <a:t>woman</a:t>
            </a:r>
            <a:r>
              <a:rPr lang="pt-BR" sz="1600" i="1" dirty="0"/>
              <a:t>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A9C92-FB8F-0216-BB86-F3D89EE8F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5213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826B-2A88-F8AA-6303-0B6BCE0B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Beam Search</a:t>
            </a:r>
            <a:endParaRPr lang="pt-BR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7F7CD0-E190-F3E9-2C4D-CFCDF93D7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dirty="0"/>
                  <a:t>O </a:t>
                </a:r>
                <a:r>
                  <a:rPr lang="pt-BR" i="1" dirty="0"/>
                  <a:t>Beam Search </a:t>
                </a:r>
                <a:r>
                  <a:rPr lang="pt-BR" dirty="0"/>
                  <a:t>conforme vimos tenta resolver o seguinte problema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∏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&lt;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pt-BR" i="1" dirty="0"/>
              </a:p>
              <a:p>
                <a:r>
                  <a:rPr lang="pt-BR" dirty="0"/>
                  <a:t>Por questões de </a:t>
                </a:r>
                <a:r>
                  <a:rPr lang="pt-BR" dirty="0">
                    <a:solidFill>
                      <a:srgbClr val="FF0000"/>
                    </a:solidFill>
                  </a:rPr>
                  <a:t>estabilidade numérica </a:t>
                </a:r>
                <a:r>
                  <a:rPr lang="pt-BR" dirty="0"/>
                  <a:t>é usual trabalhar com o somatório dos logs das probabilidades</a:t>
                </a:r>
              </a:p>
              <a:p>
                <a:pPr lvl="1"/>
                <a:r>
                  <a:rPr lang="pt-BR" dirty="0"/>
                  <a:t>Lembrando que log é </a:t>
                </a:r>
                <a:r>
                  <a:rPr lang="pt-BR" dirty="0" err="1">
                    <a:solidFill>
                      <a:srgbClr val="00B0F0"/>
                    </a:solidFill>
                  </a:rPr>
                  <a:t>motonicamente</a:t>
                </a:r>
                <a:r>
                  <a:rPr lang="pt-BR" dirty="0"/>
                  <a:t> crescente maximizar p ou </a:t>
                </a:r>
                <a:r>
                  <a:rPr lang="pt-BR" dirty="0" err="1"/>
                  <a:t>logp</a:t>
                </a:r>
                <a:r>
                  <a:rPr lang="pt-BR" dirty="0"/>
                  <a:t> é equivalente</a:t>
                </a:r>
              </a:p>
              <a:p>
                <a:pPr lvl="1"/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7F7CD0-E190-F3E9-2C4D-CFCDF93D7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35AC9-0803-E995-6B00-2462D0D3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5620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1B1E0-6A26-A6FB-4ECE-4A5026E4A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D1995-67DC-F0D5-0873-E65440C5D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Beam Search</a:t>
            </a:r>
            <a:endParaRPr lang="pt-BR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BB429-A264-4318-FB09-A3B67F1EB8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Uma consequência (normalmente) indesejada dessa formulação do </a:t>
                </a:r>
                <a:r>
                  <a:rPr lang="pt-BR" i="1" dirty="0"/>
                  <a:t>Beam Search </a:t>
                </a:r>
                <a:r>
                  <a:rPr lang="pt-BR" dirty="0"/>
                  <a:t>é a preferência por sequências mais curta</a:t>
                </a:r>
                <a:r>
                  <a:rPr lang="en-US" dirty="0"/>
                  <a:t>s</a:t>
                </a:r>
              </a:p>
              <a:p>
                <a:pPr lvl="1"/>
                <a:r>
                  <a:rPr lang="pt-BR" dirty="0"/>
                  <a:t>Alguém consegue explicar o motivo</a:t>
                </a:r>
                <a:r>
                  <a:rPr lang="en-US" dirty="0"/>
                  <a:t>?</a:t>
                </a:r>
                <a:endParaRPr lang="pt-BR" dirty="0"/>
              </a:p>
              <a:p>
                <a:pPr lvl="1"/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BB429-A264-4318-FB09-A3B67F1EB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192C1-2CDF-C1DF-AB0F-61CB7466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2808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CCA7F-314C-CD5E-5AA2-68BAC884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F42F-B97C-6F66-DEE9-938796751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Beam Search</a:t>
            </a:r>
            <a:endParaRPr lang="pt-BR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912A55-443B-2C2C-868B-DBA7DF5632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Uma consequência (normalmente) indesejada dessa formulação do </a:t>
                </a:r>
                <a:r>
                  <a:rPr lang="pt-BR" sz="2400" i="1" dirty="0"/>
                  <a:t>Beam Search </a:t>
                </a:r>
                <a:r>
                  <a:rPr lang="pt-BR" sz="2400" dirty="0"/>
                  <a:t>é a preferência por sequências mais curta</a:t>
                </a:r>
                <a:r>
                  <a:rPr lang="en-US" sz="2400" dirty="0"/>
                  <a:t>s</a:t>
                </a:r>
              </a:p>
              <a:p>
                <a:pPr lvl="1"/>
                <a:r>
                  <a:rPr lang="pt-BR" sz="2000" dirty="0"/>
                  <a:t>Para amenizar esse problema dividimos o valor resultante pelo tamanho da sequência</a:t>
                </a:r>
              </a:p>
              <a:p>
                <a:pPr lvl="1"/>
                <a:r>
                  <a:rPr lang="pt-BR" sz="2000" dirty="0"/>
                  <a:t>O </a:t>
                </a:r>
                <a:r>
                  <a:rPr lang="pt-BR" sz="2000" dirty="0" err="1"/>
                  <a:t>hiperparâmetro</a:t>
                </a:r>
                <a:r>
                  <a:rPr lang="pt-BR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pt-BR" sz="2000" dirty="0"/>
              </a:p>
              <a:p>
                <a:pPr lvl="1"/>
                <a:endParaRPr lang="pt-B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pt-BR" sz="2400" dirty="0"/>
              </a:p>
              <a:p>
                <a:r>
                  <a:rPr lang="pt-BR" sz="2400" dirty="0"/>
                  <a:t>Existem outras normalizações que tentam enviesar a busca para soluções mais longas/curtas/ou para maior diversidade </a:t>
                </a:r>
              </a:p>
              <a:p>
                <a:pPr lvl="1"/>
                <a:r>
                  <a:rPr lang="pt-BR" sz="2000" dirty="0">
                    <a:hlinkClick r:id="rId2"/>
                  </a:rPr>
                  <a:t>https://opennmt.net/OpenNMT/translation/beam_search/</a:t>
                </a:r>
                <a:r>
                  <a:rPr lang="pt-BR" sz="2000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912A55-443B-2C2C-868B-DBA7DF5632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 r="-5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3D338-8CB1-89F8-9C89-306E4C84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2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0CAC-FD6D-2E8C-230F-2459528BA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3B21-789A-9042-7500-6B0C7B8C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398A3-00E6-8B55-49A9-E8C317A42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372"/>
            <a:ext cx="10515600" cy="4351338"/>
          </a:xfrm>
        </p:spPr>
        <p:txBody>
          <a:bodyPr>
            <a:normAutofit/>
          </a:bodyPr>
          <a:lstStyle/>
          <a:p>
            <a:r>
              <a:rPr lang="pt-BR" sz="2400" i="1" dirty="0"/>
              <a:t>Beam Search </a:t>
            </a:r>
            <a:r>
              <a:rPr lang="pt-BR" sz="2400" dirty="0"/>
              <a:t>funciona bem para tarefas nas quais o tamanho da sequência é relativamente conhecido</a:t>
            </a:r>
          </a:p>
          <a:p>
            <a:r>
              <a:rPr lang="pt-BR" sz="2400" dirty="0"/>
              <a:t>Porém, gera saídas repetitivas e textos que não parecem gerados por humanos</a:t>
            </a:r>
          </a:p>
          <a:p>
            <a:pPr lvl="1"/>
            <a:r>
              <a:rPr lang="pt-BR" sz="1800" dirty="0"/>
              <a:t>Repare na visualização abaixo</a:t>
            </a:r>
          </a:p>
          <a:p>
            <a:pPr lvl="1"/>
            <a:endParaRPr lang="pt-BR" sz="2000" i="1" dirty="0"/>
          </a:p>
          <a:p>
            <a:endParaRPr lang="pt-BR" sz="2400" i="1" dirty="0"/>
          </a:p>
          <a:p>
            <a:endParaRPr lang="pt-BR" sz="2400" i="1" dirty="0"/>
          </a:p>
          <a:p>
            <a:endParaRPr lang="pt-BR" sz="24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4FC01-EA4B-F3B8-2671-7778B84B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28</a:t>
            </a:fld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539490-D91F-C269-F28B-0A6EE8A4E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158" y="3640226"/>
            <a:ext cx="5768864" cy="31503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6F81BA-4F72-66D1-4DF5-C40D3E798A12}"/>
              </a:ext>
            </a:extLst>
          </p:cNvPr>
          <p:cNvSpPr txBox="1"/>
          <p:nvPr/>
        </p:nvSpPr>
        <p:spPr>
          <a:xfrm>
            <a:off x="0" y="6604084"/>
            <a:ext cx="823115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HOLTZMAN, Ari et al. The curious case of neural text degeneration. </a:t>
            </a:r>
            <a:r>
              <a:rPr lang="en-US" sz="105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05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arXiv:1904.09751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2019.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988725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3CB1-95B4-4679-C864-6B6654794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B4B70-3BBF-6684-F014-430DA5DF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EFD482-48F8-519A-412C-72A854FC46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400" dirty="0"/>
                  <a:t>Podemos amostrar da distribuição de probabilidade até encontrar o </a:t>
                </a:r>
                <a:r>
                  <a:rPr lang="pt-BR" sz="2400" dirty="0">
                    <a:solidFill>
                      <a:srgbClr val="FF0000"/>
                    </a:solidFill>
                  </a:rPr>
                  <a:t>token</a:t>
                </a:r>
                <a:r>
                  <a:rPr lang="pt-BR" sz="2400" dirty="0"/>
                  <a:t> especial </a:t>
                </a:r>
                <a:r>
                  <a:rPr lang="pt-BR" sz="2400" dirty="0">
                    <a:solidFill>
                      <a:srgbClr val="00B0F0"/>
                    </a:solidFill>
                    <a:latin typeface="Consolas" panose="020B0609020204030204" pitchFamily="49" charset="0"/>
                  </a:rPr>
                  <a:t>&lt;</a:t>
                </a:r>
                <a:r>
                  <a:rPr lang="pt-BR" sz="2400" dirty="0" err="1">
                    <a:solidFill>
                      <a:srgbClr val="00B0F0"/>
                    </a:solidFill>
                    <a:latin typeface="Consolas" panose="020B0609020204030204" pitchFamily="49" charset="0"/>
                  </a:rPr>
                  <a:t>eos</a:t>
                </a:r>
                <a:r>
                  <a:rPr lang="pt-BR" sz="2400" dirty="0">
                    <a:solidFill>
                      <a:srgbClr val="00B0F0"/>
                    </a:solidFill>
                    <a:latin typeface="Consolas" panose="020B0609020204030204" pitchFamily="49" charset="0"/>
                  </a:rPr>
                  <a:t>&gt;</a:t>
                </a:r>
              </a:p>
              <a:p>
                <a:pPr lvl="1"/>
                <a:r>
                  <a:rPr lang="pt-BR" sz="2000" dirty="0"/>
                  <a:t>Usando esse tipo de método a geração de frases deixa de ser determinística</a:t>
                </a:r>
              </a:p>
              <a:p>
                <a:pPr lvl="1"/>
                <a:endParaRPr lang="pt-B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dirty="0">
                  <a:solidFill>
                    <a:srgbClr val="00B0F0"/>
                  </a:solidFill>
                  <a:latin typeface="Consolas" panose="020B0609020204030204" pitchFamily="49" charset="0"/>
                </a:endParaRPr>
              </a:p>
              <a:p>
                <a:endParaRPr lang="pt-BR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EFD482-48F8-519A-412C-72A854FC46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E1014-4BB4-7D7F-C57C-A82C8964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29</a:t>
            </a:fld>
            <a:endParaRPr lang="pt-BR"/>
          </a:p>
        </p:txBody>
      </p:sp>
      <p:pic>
        <p:nvPicPr>
          <p:cNvPr id="12290" name="Picture 2" descr="sampling search">
            <a:extLst>
              <a:ext uri="{FF2B5EF4-FFF2-40B4-BE49-F238E27FC236}">
                <a16:creationId xmlns:a16="http://schemas.microsoft.com/office/drawing/2014/main" id="{7C1D9150-047F-7B08-31B3-EF61660EE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972" y="4318442"/>
            <a:ext cx="8744339" cy="1858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9560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A18F-49C0-75C3-E216-290A1C130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14818-C3EA-94C9-B554-81AE0A12B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C1E8A2-FE58-BBCB-A780-B2CFCAA63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400" dirty="0"/>
                  <a:t>Para aumentar a diversidade das frases geradas podemos alterar a </a:t>
                </a:r>
                <a:r>
                  <a:rPr lang="pt-BR" sz="2400" i="1" dirty="0">
                    <a:solidFill>
                      <a:srgbClr val="FF0000"/>
                    </a:solidFill>
                  </a:rPr>
                  <a:t>temperatura</a:t>
                </a:r>
                <a:r>
                  <a:rPr lang="pt-BR" sz="2400" dirty="0">
                    <a:solidFill>
                      <a:srgbClr val="FF0000"/>
                    </a:solidFill>
                  </a:rPr>
                  <a:t> </a:t>
                </a:r>
                <a:r>
                  <a:rPr lang="pt-BR" sz="2400" dirty="0"/>
                  <a:t>da</a:t>
                </a:r>
                <a:r>
                  <a:rPr lang="pt-BR" sz="2400" dirty="0">
                    <a:solidFill>
                      <a:srgbClr val="FF0000"/>
                    </a:solidFill>
                  </a:rPr>
                  <a:t> </a:t>
                </a:r>
                <a:r>
                  <a:rPr lang="pt-BR" sz="2400" i="1" dirty="0" err="1">
                    <a:solidFill>
                      <a:srgbClr val="00B0F0"/>
                    </a:solidFill>
                  </a:rPr>
                  <a:t>softmax</a:t>
                </a:r>
                <a:endParaRPr lang="pt-BR" sz="2000" i="1" dirty="0">
                  <a:solidFill>
                    <a:srgbClr val="00B0F0"/>
                  </a:solidFill>
                </a:endParaRPr>
              </a:p>
              <a:p>
                <a:pPr lvl="1"/>
                <a:endParaRPr lang="pt-B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num>
                                        <m:den>
                                          <m:r>
                                            <a:rPr 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pt-BR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C1E8A2-FE58-BBCB-A780-B2CFCAA63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FACA5-86CF-DBBE-8B57-7D418DC3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30</a:t>
            </a:fld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98A48-2416-557C-13FA-2B66F9AFFE0C}"/>
              </a:ext>
            </a:extLst>
          </p:cNvPr>
          <p:cNvSpPr txBox="1"/>
          <p:nvPr/>
        </p:nvSpPr>
        <p:spPr>
          <a:xfrm>
            <a:off x="2976113" y="4770406"/>
            <a:ext cx="6239774" cy="523220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dirty="0"/>
              <a:t>Qual o efeito da </a:t>
            </a:r>
            <a:r>
              <a:rPr lang="pt-BR" sz="2800" dirty="0">
                <a:solidFill>
                  <a:srgbClr val="FF0000"/>
                </a:solidFill>
              </a:rPr>
              <a:t>temperatura</a:t>
            </a:r>
            <a:r>
              <a:rPr lang="pt-BR" sz="2800" dirty="0"/>
              <a:t> na </a:t>
            </a:r>
            <a:r>
              <a:rPr lang="pt-BR" sz="2800" i="1" dirty="0" err="1">
                <a:solidFill>
                  <a:srgbClr val="00B0F0"/>
                </a:solidFill>
              </a:rPr>
              <a:t>softmax</a:t>
            </a:r>
            <a:r>
              <a:rPr lang="pt-BR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600551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DB813-3268-CD97-7D7C-8737A3EFF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1790-36E1-8A05-7CD6-2991738A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616520-F1AC-2787-C39A-570D43DD0F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400" dirty="0"/>
                  <a:t>Para aumentar a diversidade das frases geradas podemos alterar a </a:t>
                </a:r>
                <a:r>
                  <a:rPr lang="pt-BR" sz="2400" i="1" dirty="0">
                    <a:solidFill>
                      <a:srgbClr val="FF0000"/>
                    </a:solidFill>
                  </a:rPr>
                  <a:t>temperatura</a:t>
                </a:r>
                <a:r>
                  <a:rPr lang="pt-BR" sz="2400" dirty="0">
                    <a:solidFill>
                      <a:srgbClr val="FF0000"/>
                    </a:solidFill>
                  </a:rPr>
                  <a:t> </a:t>
                </a:r>
                <a:r>
                  <a:rPr lang="pt-BR" sz="2400" dirty="0"/>
                  <a:t>da</a:t>
                </a:r>
                <a:r>
                  <a:rPr lang="pt-BR" sz="2400" dirty="0">
                    <a:solidFill>
                      <a:srgbClr val="FF0000"/>
                    </a:solidFill>
                  </a:rPr>
                  <a:t> </a:t>
                </a:r>
                <a:r>
                  <a:rPr lang="pt-BR" sz="2400" i="1" dirty="0" err="1">
                    <a:solidFill>
                      <a:srgbClr val="00B0F0"/>
                    </a:solidFill>
                  </a:rPr>
                  <a:t>softmax</a:t>
                </a:r>
                <a:endParaRPr lang="pt-BR" sz="2000" i="1" dirty="0">
                  <a:solidFill>
                    <a:srgbClr val="00B0F0"/>
                  </a:solidFill>
                </a:endParaRPr>
              </a:p>
              <a:p>
                <a:pPr lvl="1"/>
                <a:endParaRPr lang="pt-B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num>
                                        <m:den>
                                          <m:r>
                                            <a:rPr 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pt-BR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C1E8A2-FE58-BBCB-A780-B2CFCAA63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9A6B7-FEE0-F098-F6E4-8E347241F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31</a:t>
            </a:fld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57B0D6-91E9-CBDE-18A6-213D38FEA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979" y="3986092"/>
            <a:ext cx="3320776" cy="2735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E05071-8CEB-41F8-F599-77C685CEE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34" y="4001294"/>
            <a:ext cx="3173545" cy="27201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245AFE-3EDE-8916-0F22-7A53490EE6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781" y="4036390"/>
            <a:ext cx="3165992" cy="263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15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792A0-EAAC-B7EF-AC18-6CEFBBD7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446C-810B-6320-DCFB-3030CF09D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C57B27-47AB-ECCB-5D5B-C6ED67C707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func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nary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num>
                                      <m:den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nary>
                      </m:den>
                    </m:f>
                  </m:oMath>
                </a14:m>
                <a:endParaRPr lang="pt-BR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C57B27-47AB-ECCB-5D5B-C6ED67C707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941AA-124C-2055-5E2E-B08A6ADD4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32</a:t>
            </a:fld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F8F04B-9E42-E913-F2CD-1999CD021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979" y="3986092"/>
            <a:ext cx="3320776" cy="2735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D4AEB9-A780-7A3B-B52E-669239A0E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34" y="4001294"/>
            <a:ext cx="3173545" cy="27201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B92665-B4EE-59E5-583D-9C6162AD7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2781" y="4036390"/>
            <a:ext cx="3165992" cy="2634786"/>
          </a:xfrm>
          <a:prstGeom prst="rect">
            <a:avLst/>
          </a:prstGeom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6A783EE1-640F-832A-36FB-E78BBBAF3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078" y="2411590"/>
            <a:ext cx="5904722" cy="1357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3826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1C02B-DEF0-FC55-1251-E7C95B785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0877-E713-EDF0-9BBA-695D0F17B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4EF85-2647-8489-A344-7017B926C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i="1" dirty="0"/>
              <a:t>Top-K </a:t>
            </a:r>
            <a:r>
              <a:rPr lang="pt-BR" sz="2400" i="1" dirty="0" err="1"/>
              <a:t>Sampling</a:t>
            </a:r>
            <a:endParaRPr lang="pt-BR" sz="2400" i="1" dirty="0"/>
          </a:p>
          <a:p>
            <a:pPr lvl="1"/>
            <a:r>
              <a:rPr lang="pt-BR" sz="2000" dirty="0"/>
              <a:t>É uma heurística aplicada ao processo de amostragem descrito anteriormente</a:t>
            </a:r>
          </a:p>
          <a:p>
            <a:pPr lvl="1"/>
            <a:r>
              <a:rPr lang="pt-BR" sz="2000" dirty="0"/>
              <a:t>Sempre amostra apenas dos K </a:t>
            </a:r>
            <a:r>
              <a:rPr lang="pt-BR" sz="2000" i="1" dirty="0"/>
              <a:t>tokens</a:t>
            </a:r>
            <a:r>
              <a:rPr lang="pt-BR" sz="2000" dirty="0"/>
              <a:t> mais prováveis</a:t>
            </a:r>
          </a:p>
          <a:p>
            <a:pPr lvl="1"/>
            <a:r>
              <a:rPr lang="pt-BR" sz="2000" dirty="0"/>
              <a:t>Evita que </a:t>
            </a:r>
            <a:r>
              <a:rPr lang="pt-BR" sz="2000" i="1" dirty="0"/>
              <a:t>tokens</a:t>
            </a:r>
            <a:r>
              <a:rPr lang="pt-BR" sz="2000" dirty="0"/>
              <a:t> pouco prováveis sejam incluídos na amostra</a:t>
            </a:r>
            <a:endParaRPr lang="pt-BR" sz="2000" i="1" dirty="0"/>
          </a:p>
          <a:p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51067-5834-0A68-4E2E-18EE300C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33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F3035D-5726-C29A-4D94-15E128CAE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76" y="3755571"/>
            <a:ext cx="3413335" cy="27373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9DC26C-D854-57E9-B9FC-484018C88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55571"/>
            <a:ext cx="4719294" cy="189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455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A0E8-DB37-5642-17D2-BEE8297C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3461F-C74C-3F08-1ECC-DDF4A6F4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76185-8B8B-B000-EEAE-16DB06A95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i="1" dirty="0" err="1"/>
              <a:t>Top-P</a:t>
            </a:r>
            <a:r>
              <a:rPr lang="pt-BR" sz="2400" i="1" dirty="0"/>
              <a:t> </a:t>
            </a:r>
            <a:r>
              <a:rPr lang="pt-BR" sz="2400" i="1" dirty="0" err="1"/>
              <a:t>Sampling</a:t>
            </a:r>
            <a:r>
              <a:rPr lang="pt-BR" sz="2400" i="1" dirty="0"/>
              <a:t> (</a:t>
            </a:r>
            <a:r>
              <a:rPr lang="pt-BR" sz="2400" i="1" dirty="0" err="1"/>
              <a:t>Nucleus</a:t>
            </a:r>
            <a:r>
              <a:rPr lang="pt-BR" sz="2400" i="1" dirty="0"/>
              <a:t>)</a:t>
            </a:r>
          </a:p>
          <a:p>
            <a:pPr lvl="1"/>
            <a:r>
              <a:rPr lang="pt-BR" sz="2000" dirty="0"/>
              <a:t>Como fixar um número k é difícil, definimos uma massa de probabilidade p</a:t>
            </a:r>
          </a:p>
          <a:p>
            <a:pPr lvl="1"/>
            <a:r>
              <a:rPr lang="pt-BR" sz="2000" dirty="0"/>
              <a:t>Sempre amostra apenas os </a:t>
            </a:r>
            <a:r>
              <a:rPr lang="pt-BR" sz="2000" i="1" dirty="0"/>
              <a:t>tokens </a:t>
            </a:r>
            <a:r>
              <a:rPr lang="pt-BR" sz="2000" dirty="0"/>
              <a:t>mais prováveis cuja probabilidade acumulada chega a p</a:t>
            </a:r>
          </a:p>
          <a:p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74282-C4C4-1A08-E038-E3BD0BF4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34</a:t>
            </a:fld>
            <a:endParaRPr lang="pt-BR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A6BD9738-94D8-5B74-2CAF-E81A26635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591" y="3429000"/>
            <a:ext cx="9593501" cy="314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48279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7BCFD-1371-FB91-C23F-460398FF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9C2F-9B3F-31C0-A29C-9C53EB95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dirty="0"/>
              <a:t>com </a:t>
            </a:r>
            <a:r>
              <a:rPr lang="pt-BR" dirty="0" err="1"/>
              <a:t>NNs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14B94-99F9-47D7-A579-84B865671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Qual melhor método de </a:t>
            </a:r>
            <a:r>
              <a:rPr lang="pt-BR" i="1" dirty="0" err="1">
                <a:solidFill>
                  <a:srgbClr val="FF0000"/>
                </a:solidFill>
              </a:rPr>
              <a:t>decoding</a:t>
            </a:r>
            <a:r>
              <a:rPr lang="pt-BR" dirty="0"/>
              <a:t> para LM?</a:t>
            </a:r>
          </a:p>
          <a:p>
            <a:pPr lvl="1"/>
            <a:r>
              <a:rPr lang="pt-BR" dirty="0"/>
              <a:t>Não há consenso</a:t>
            </a:r>
          </a:p>
          <a:p>
            <a:pPr lvl="1"/>
            <a:r>
              <a:rPr lang="pt-BR" dirty="0"/>
              <a:t>Tanto </a:t>
            </a:r>
            <a:r>
              <a:rPr lang="pt-BR" i="1" dirty="0" err="1"/>
              <a:t>Top-P</a:t>
            </a:r>
            <a:r>
              <a:rPr lang="pt-BR" dirty="0"/>
              <a:t> quanto </a:t>
            </a:r>
            <a:r>
              <a:rPr lang="pt-BR" i="1" dirty="0"/>
              <a:t>Beam Search </a:t>
            </a:r>
            <a:r>
              <a:rPr lang="pt-BR" dirty="0"/>
              <a:t>são utilizados</a:t>
            </a:r>
            <a:endParaRPr lang="pt-BR" i="1" dirty="0"/>
          </a:p>
          <a:p>
            <a:endParaRPr lang="pt-BR" sz="32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BB4BF-787B-F53E-D0E5-CB3B8058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031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C8FA8-454E-C0C5-AFD1-1544D176C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F86A5-6507-F66F-AC5E-1DC4641F0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- </a:t>
            </a:r>
            <a:r>
              <a:rPr lang="pt-BR" dirty="0"/>
              <a:t>Avaliação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232B74-8EE8-99E8-02F8-7FAEBD2A1B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Para avaliação o mais utilizado é a </a:t>
                </a:r>
                <a:r>
                  <a:rPr lang="pt-BR" sz="2400" dirty="0">
                    <a:solidFill>
                      <a:srgbClr val="FF0000"/>
                    </a:solidFill>
                  </a:rPr>
                  <a:t>perplexidade </a:t>
                </a:r>
                <a:r>
                  <a:rPr lang="pt-BR" sz="2400" dirty="0"/>
                  <a:t>que é obtida usando a</a:t>
                </a:r>
                <a:r>
                  <a:rPr lang="pt-BR" sz="2400" dirty="0">
                    <a:solidFill>
                      <a:srgbClr val="FF0000"/>
                    </a:solidFill>
                  </a:rPr>
                  <a:t> </a:t>
                </a:r>
                <a:r>
                  <a:rPr lang="pt-BR" sz="2400" dirty="0">
                    <a:solidFill>
                      <a:srgbClr val="00B0F0"/>
                    </a:solidFill>
                  </a:rPr>
                  <a:t>log verossimilhança</a:t>
                </a:r>
              </a:p>
              <a:p>
                <a:r>
                  <a:rPr lang="pt-BR" sz="2400" dirty="0"/>
                  <a:t>O modelo deve atribuir alta probabilidade a textos reais não vistos e baixa probabilidade para textos que não fazem sentido</a:t>
                </a:r>
              </a:p>
              <a:p>
                <a:r>
                  <a:rPr lang="pt-BR" sz="2400" dirty="0"/>
                  <a:t>A função de custo entropia cruzada</a:t>
                </a:r>
              </a:p>
              <a:p>
                <a:pPr lvl="1"/>
                <a:r>
                  <a:rPr lang="pt-BR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𝐿𝑜𝑠𝑠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𝑙𝑛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&lt;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pt-BR" sz="2000" i="1" dirty="0"/>
              </a:p>
              <a:p>
                <a:r>
                  <a:rPr lang="pt-BR" sz="2400" dirty="0"/>
                  <a:t>A </a:t>
                </a:r>
                <a:r>
                  <a:rPr lang="pt-BR" sz="2400" dirty="0">
                    <a:solidFill>
                      <a:srgbClr val="00B0F0"/>
                    </a:solidFill>
                  </a:rPr>
                  <a:t>log verossimilhança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&lt;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pt-BR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232B74-8EE8-99E8-02F8-7FAEBD2A1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5C032-9534-DE2B-011D-30BB562C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1985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B87DD-117B-C1AD-9737-B7C584DB7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1F20-28EC-D77B-F9EC-2CE5797F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</a:t>
            </a:r>
            <a:r>
              <a:rPr lang="pt-BR" i="1" dirty="0" err="1"/>
              <a:t>Modeling</a:t>
            </a:r>
            <a:r>
              <a:rPr lang="pt-BR" i="1" dirty="0"/>
              <a:t> - </a:t>
            </a:r>
            <a:r>
              <a:rPr lang="pt-BR" dirty="0"/>
              <a:t>Avaliação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A6AEC5-2618-EC4C-3296-8ACEDFEBE0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Para avaliação o mais utilizado é a </a:t>
                </a:r>
                <a:r>
                  <a:rPr lang="pt-BR" sz="2400" dirty="0">
                    <a:solidFill>
                      <a:srgbClr val="FF0000"/>
                    </a:solidFill>
                  </a:rPr>
                  <a:t>perplexidade </a:t>
                </a:r>
                <a:r>
                  <a:rPr lang="pt-BR" sz="2400" dirty="0"/>
                  <a:t>que é obtida usando a</a:t>
                </a:r>
                <a:r>
                  <a:rPr lang="pt-BR" sz="2400" dirty="0">
                    <a:solidFill>
                      <a:srgbClr val="FF0000"/>
                    </a:solidFill>
                  </a:rPr>
                  <a:t> </a:t>
                </a:r>
                <a:r>
                  <a:rPr lang="pt-BR" sz="2400" dirty="0">
                    <a:solidFill>
                      <a:srgbClr val="00B0F0"/>
                    </a:solidFill>
                  </a:rPr>
                  <a:t>log verossimilhança</a:t>
                </a:r>
              </a:p>
              <a:p>
                <a:r>
                  <a:rPr lang="pt-BR" sz="2400" dirty="0"/>
                  <a:t>A </a:t>
                </a:r>
                <a:r>
                  <a:rPr lang="pt-BR" sz="2400" dirty="0">
                    <a:solidFill>
                      <a:srgbClr val="00B0F0"/>
                    </a:solidFill>
                  </a:rPr>
                  <a:t>log verossimilhança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&lt;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pt-BR" sz="180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Perplexidade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a:rPr lang="en-US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1:</m:t>
                                </m:r>
                                <m:r>
                                  <a:rPr lang="en-US" sz="24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sup>
                    </m:sSup>
                  </m:oMath>
                </a14:m>
                <a:endParaRPr lang="pt-BR" sz="2200" dirty="0"/>
              </a:p>
              <a:p>
                <a:r>
                  <a:rPr lang="pt-BR" sz="2200" dirty="0"/>
                  <a:t>Bons modelos tem </a:t>
                </a:r>
                <a:r>
                  <a:rPr lang="pt-BR" sz="2200" dirty="0">
                    <a:solidFill>
                      <a:srgbClr val="00B0F0"/>
                    </a:solidFill>
                  </a:rPr>
                  <a:t>log verossimilhança </a:t>
                </a:r>
                <a:r>
                  <a:rPr lang="pt-BR" sz="2200" dirty="0"/>
                  <a:t>alta e </a:t>
                </a:r>
                <a:r>
                  <a:rPr lang="pt-BR" sz="2200" dirty="0">
                    <a:solidFill>
                      <a:srgbClr val="FF0000"/>
                    </a:solidFill>
                  </a:rPr>
                  <a:t>perplexidade</a:t>
                </a:r>
                <a:r>
                  <a:rPr lang="pt-BR" sz="2200" dirty="0"/>
                  <a:t> baixa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𝑃𝑒𝑟𝑝𝑙𝑒𝑥𝑖𝑑𝑎𝑑𝑒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</m:oMath>
                </a14:m>
                <a:endParaRPr lang="pt-BR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A6AEC5-2618-EC4C-3296-8ACEDFEBE0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75348-63D5-F026-D4B7-03B76D0C7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74857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164716-CCFD-8DAC-BA41-C6FC4E46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seq2seq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323F76-1E8A-F663-D48A-0036A0E28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1A1D-A384-A2C6-18FA-1B0E2D36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85659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3F5B-0504-4151-4ACC-895283200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Language</a:t>
            </a:r>
            <a:r>
              <a:rPr lang="pt-BR" i="1" dirty="0"/>
              <a:t> Models Condicionados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3251E-F2FF-D64E-C7AA-D2F54426A6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Semelhante a tarefa de modelagem de linguagem, agora adicionamos também um condicionante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pt-BR" dirty="0"/>
              </a:p>
              <a:p>
                <a:r>
                  <a:rPr lang="pt-BR" dirty="0"/>
                  <a:t>Essa formalização serve para diversas tarefas seq2seq bem como para </a:t>
                </a:r>
                <a:r>
                  <a:rPr lang="pt-BR" i="1" dirty="0" err="1"/>
                  <a:t>image</a:t>
                </a:r>
                <a:r>
                  <a:rPr lang="pt-BR" i="1" dirty="0"/>
                  <a:t> </a:t>
                </a:r>
                <a:r>
                  <a:rPr lang="pt-BR" i="1" dirty="0" err="1"/>
                  <a:t>captioning</a:t>
                </a:r>
                <a:r>
                  <a:rPr lang="pt-BR" dirty="0"/>
                  <a:t> e outras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3251E-F2FF-D64E-C7AA-D2F54426A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4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DF372-ED5C-D84E-CBE9-8597C248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5416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5CABE7-1DF6-6E1C-56B5-4AC99F2DC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seq2seq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54DC9-D180-DE96-9562-6517F5B35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Dentre as tarefas que envolvem sequências, </a:t>
            </a:r>
            <a:r>
              <a:rPr lang="pt-BR" i="1" dirty="0">
                <a:solidFill>
                  <a:srgbClr val="FF0000"/>
                </a:solidFill>
              </a:rPr>
              <a:t>machine </a:t>
            </a:r>
            <a:r>
              <a:rPr lang="pt-BR" i="1" dirty="0" err="1">
                <a:solidFill>
                  <a:srgbClr val="FF0000"/>
                </a:solidFill>
              </a:rPr>
              <a:t>translation</a:t>
            </a:r>
            <a:r>
              <a:rPr lang="pt-BR" i="1" dirty="0">
                <a:solidFill>
                  <a:srgbClr val="FF0000"/>
                </a:solidFill>
              </a:rPr>
              <a:t> </a:t>
            </a:r>
            <a:r>
              <a:rPr lang="pt-BR" dirty="0"/>
              <a:t>é uma das mais importantes</a:t>
            </a:r>
          </a:p>
          <a:p>
            <a:pPr lvl="1"/>
            <a:r>
              <a:rPr lang="pt-BR" dirty="0"/>
              <a:t>Dada uma sequência em um idioma queremos descobrir uma sequência em outro idioma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14938-2136-BC4F-BC6D-D5735D322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40</a:t>
            </a:fld>
            <a:endParaRPr lang="pt-B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6975D5-0C35-FC0C-F724-54E54CA7F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644" y="3545633"/>
            <a:ext cx="7766125" cy="331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497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67FC-0EF7-EFAB-9212-B04B2FD06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</a:t>
            </a:r>
            <a:r>
              <a:rPr lang="pt-BR" i="1" dirty="0" err="1"/>
              <a:t>Encoder-Decoder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14AB-0F44-140C-C330-2C9AF99F7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 err="1"/>
              <a:t>Encoder-Decoder</a:t>
            </a:r>
            <a:r>
              <a:rPr lang="pt-BR" dirty="0"/>
              <a:t> são muito utilizados em redes recorrentes</a:t>
            </a:r>
          </a:p>
          <a:p>
            <a:pPr lvl="1"/>
            <a:r>
              <a:rPr lang="pt-BR" dirty="0"/>
              <a:t>O </a:t>
            </a:r>
            <a:r>
              <a:rPr lang="pt-BR" i="1" dirty="0" err="1"/>
              <a:t>Encoder</a:t>
            </a:r>
            <a:r>
              <a:rPr lang="pt-BR" dirty="0"/>
              <a:t> transforma a entrada de tamanho variável em um estado oculto</a:t>
            </a:r>
          </a:p>
          <a:p>
            <a:pPr lvl="1"/>
            <a:r>
              <a:rPr lang="pt-BR" dirty="0"/>
              <a:t>O </a:t>
            </a:r>
            <a:r>
              <a:rPr lang="pt-BR" i="1" dirty="0" err="1"/>
              <a:t>Decoder</a:t>
            </a:r>
            <a:r>
              <a:rPr lang="pt-BR" dirty="0"/>
              <a:t> transforma o estado oculto em uma sequência </a:t>
            </a:r>
          </a:p>
          <a:p>
            <a:pPr lvl="1"/>
            <a:r>
              <a:rPr lang="pt-BR" dirty="0"/>
              <a:t>Os </a:t>
            </a:r>
            <a:r>
              <a:rPr lang="pt-BR" i="1" dirty="0"/>
              <a:t>tokens</a:t>
            </a:r>
            <a:r>
              <a:rPr lang="pt-BR" dirty="0"/>
              <a:t> especiais </a:t>
            </a:r>
            <a:r>
              <a:rPr lang="pt-BR" dirty="0">
                <a:latin typeface="Consolas" panose="020B0609020204030204" pitchFamily="49" charset="0"/>
              </a:rPr>
              <a:t>&lt;</a:t>
            </a:r>
            <a:r>
              <a:rPr lang="pt-BR" dirty="0" err="1">
                <a:latin typeface="Consolas" panose="020B0609020204030204" pitchFamily="49" charset="0"/>
              </a:rPr>
              <a:t>bos</a:t>
            </a:r>
            <a:r>
              <a:rPr lang="pt-BR" dirty="0">
                <a:latin typeface="Consolas" panose="020B0609020204030204" pitchFamily="49" charset="0"/>
              </a:rPr>
              <a:t>&gt;</a:t>
            </a:r>
            <a:r>
              <a:rPr lang="pt-BR" dirty="0"/>
              <a:t> e </a:t>
            </a:r>
            <a:r>
              <a:rPr lang="pt-BR" dirty="0">
                <a:latin typeface="Consolas" panose="020B0609020204030204" pitchFamily="49" charset="0"/>
              </a:rPr>
              <a:t>&lt;</a:t>
            </a:r>
            <a:r>
              <a:rPr lang="pt-BR" dirty="0" err="1">
                <a:latin typeface="Consolas" panose="020B0609020204030204" pitchFamily="49" charset="0"/>
              </a:rPr>
              <a:t>eos</a:t>
            </a:r>
            <a:r>
              <a:rPr lang="pt-BR" dirty="0">
                <a:latin typeface="Consolas" panose="020B0609020204030204" pitchFamily="49" charset="0"/>
              </a:rPr>
              <a:t>&gt;</a:t>
            </a:r>
            <a:r>
              <a:rPr lang="pt-BR" dirty="0"/>
              <a:t> são usados para indicar o começo e o final da sentença</a:t>
            </a:r>
            <a:endParaRPr lang="pt-BR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1"/>
            <a:endParaRPr lang="pt-BR" i="1" dirty="0"/>
          </a:p>
          <a:p>
            <a:pPr lvl="1"/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38E85-5C73-D547-22A8-4951A8E3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41</a:t>
            </a:fld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53A3AA-426D-04BC-0B2A-4985F0891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189" y="4134798"/>
            <a:ext cx="8095011" cy="240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009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D209E-8798-A0E5-D4BD-927FAB4CB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4D21-25FA-4765-B4DB-3C0A08AB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</a:t>
            </a:r>
            <a:r>
              <a:rPr lang="pt-BR" i="1" dirty="0" err="1"/>
              <a:t>Encoder-Decoder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7368C-D3EB-E51C-3672-4F491D748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Repare que, entrar com os dados de treinamento no </a:t>
            </a:r>
            <a:r>
              <a:rPr lang="pt-BR" sz="2400" i="1" dirty="0" err="1">
                <a:solidFill>
                  <a:srgbClr val="FF0000"/>
                </a:solidFill>
              </a:rPr>
              <a:t>encoder</a:t>
            </a:r>
            <a:r>
              <a:rPr lang="pt-BR" sz="2400" dirty="0"/>
              <a:t> é trivial</a:t>
            </a:r>
          </a:p>
          <a:p>
            <a:r>
              <a:rPr lang="pt-BR" sz="2400" dirty="0"/>
              <a:t>Contudo, existem diversas abordagens para passar os dados para o </a:t>
            </a:r>
            <a:r>
              <a:rPr lang="pt-BR" sz="2400" i="1" dirty="0" err="1">
                <a:solidFill>
                  <a:srgbClr val="00B0F0"/>
                </a:solidFill>
              </a:rPr>
              <a:t>decoder</a:t>
            </a:r>
            <a:endParaRPr lang="pt-BR" sz="2400" i="1" dirty="0">
              <a:solidFill>
                <a:srgbClr val="00B0F0"/>
              </a:solidFill>
            </a:endParaRPr>
          </a:p>
          <a:p>
            <a:r>
              <a:rPr lang="pt-BR" sz="2400" dirty="0"/>
              <a:t>Uma das abordagens para o </a:t>
            </a:r>
            <a:r>
              <a:rPr lang="pt-BR" sz="2400" i="1" dirty="0" err="1">
                <a:solidFill>
                  <a:srgbClr val="00B0F0"/>
                </a:solidFill>
              </a:rPr>
              <a:t>decoder</a:t>
            </a:r>
            <a:r>
              <a:rPr lang="pt-BR" sz="2400" dirty="0"/>
              <a:t> consiste em:</a:t>
            </a:r>
          </a:p>
          <a:p>
            <a:pPr lvl="1"/>
            <a:r>
              <a:rPr lang="pt-BR" sz="1800" dirty="0"/>
              <a:t>Em treino: condicionar no estado oculto do </a:t>
            </a:r>
            <a:r>
              <a:rPr lang="pt-BR" sz="1800" i="1" dirty="0" err="1">
                <a:solidFill>
                  <a:srgbClr val="FF0000"/>
                </a:solidFill>
              </a:rPr>
              <a:t>encoder</a:t>
            </a:r>
            <a:r>
              <a:rPr lang="pt-BR" sz="1800" dirty="0"/>
              <a:t> e nos tokens precedentes do </a:t>
            </a:r>
            <a:r>
              <a:rPr lang="pt-BR" sz="1800" i="1" dirty="0" err="1"/>
              <a:t>ground</a:t>
            </a:r>
            <a:r>
              <a:rPr lang="pt-BR" sz="1800" i="1" dirty="0"/>
              <a:t> </a:t>
            </a:r>
            <a:r>
              <a:rPr lang="pt-BR" sz="1800" i="1" dirty="0" err="1"/>
              <a:t>truth</a:t>
            </a:r>
            <a:endParaRPr lang="pt-BR" sz="1800" i="1" dirty="0"/>
          </a:p>
          <a:p>
            <a:pPr lvl="1"/>
            <a:r>
              <a:rPr lang="pt-BR" sz="1800" dirty="0"/>
              <a:t>Em teste: condicionar no estado oculto do </a:t>
            </a:r>
            <a:r>
              <a:rPr lang="pt-BR" sz="1800" i="1" dirty="0" err="1">
                <a:solidFill>
                  <a:srgbClr val="FF0000"/>
                </a:solidFill>
              </a:rPr>
              <a:t>encoder</a:t>
            </a:r>
            <a:r>
              <a:rPr lang="pt-BR" sz="1800" dirty="0"/>
              <a:t> e nos </a:t>
            </a:r>
            <a:r>
              <a:rPr lang="pt-BR" sz="1800" i="1" dirty="0"/>
              <a:t>tokens</a:t>
            </a:r>
            <a:r>
              <a:rPr lang="pt-BR" sz="1800" dirty="0"/>
              <a:t> que já foram preditos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CE105-2043-ECFF-D5AF-737FFF6D0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42</a:t>
            </a:fld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8384D-E8A7-D757-BD9D-010860458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189" y="4134798"/>
            <a:ext cx="8095011" cy="240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4621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13058-8D65-826B-F18C-BA56A0D4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CFA22-111A-1500-2FBD-531D68FEE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</a:t>
            </a:r>
            <a:r>
              <a:rPr lang="pt-BR" i="1" dirty="0" err="1"/>
              <a:t>Encoder-Decoder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F8151-E133-DC09-7813-67621A5AC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Sobre o</a:t>
            </a:r>
            <a:r>
              <a:rPr lang="pt-BR" sz="2400" i="1" dirty="0"/>
              <a:t> </a:t>
            </a:r>
            <a:r>
              <a:rPr lang="pt-BR" sz="2400" i="1" dirty="0" err="1"/>
              <a:t>Decoder</a:t>
            </a:r>
            <a:endParaRPr lang="pt-BR" sz="2400" i="1" dirty="0"/>
          </a:p>
          <a:p>
            <a:pPr lvl="1"/>
            <a:r>
              <a:rPr lang="pt-BR" sz="2000" dirty="0"/>
              <a:t>Repare que o </a:t>
            </a:r>
            <a:r>
              <a:rPr lang="pt-BR" sz="2000" i="1" dirty="0" err="1"/>
              <a:t>decoder</a:t>
            </a:r>
            <a:r>
              <a:rPr lang="pt-BR" sz="2000" dirty="0"/>
              <a:t> funciona como um </a:t>
            </a:r>
            <a:r>
              <a:rPr lang="pt-BR" sz="2000" i="1" dirty="0" err="1">
                <a:solidFill>
                  <a:srgbClr val="FF0000"/>
                </a:solidFill>
              </a:rPr>
              <a:t>Language</a:t>
            </a:r>
            <a:r>
              <a:rPr lang="pt-BR" sz="2000" i="1" dirty="0">
                <a:solidFill>
                  <a:srgbClr val="FF0000"/>
                </a:solidFill>
              </a:rPr>
              <a:t> Model</a:t>
            </a:r>
            <a:r>
              <a:rPr lang="pt-BR" sz="2000" dirty="0"/>
              <a:t>, com a diferença que ele está condicionado também no estado oculto do </a:t>
            </a:r>
            <a:r>
              <a:rPr lang="pt-BR" sz="2000" i="1" dirty="0" err="1"/>
              <a:t>encoder</a:t>
            </a:r>
            <a:endParaRPr lang="pt-BR" sz="2000" i="1" dirty="0"/>
          </a:p>
          <a:p>
            <a:pPr lvl="1"/>
            <a:endParaRPr lang="pt-BR" sz="2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5A674-D127-4D52-E22A-575118B2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43</a:t>
            </a:fld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3CD457-9DF3-C752-EFD7-0E1685A8E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189" y="4134798"/>
            <a:ext cx="8095011" cy="240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5193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C767C-ADFD-EFC7-3F40-5373A16B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Machine </a:t>
            </a:r>
            <a:r>
              <a:rPr lang="pt-BR" i="1" dirty="0" err="1"/>
              <a:t>Translation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2936A-9140-DDEA-1C35-407ABABAD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processo de treinamento e amostragem seguem os mesmos</a:t>
            </a:r>
          </a:p>
          <a:p>
            <a:pPr lvl="1"/>
            <a:r>
              <a:rPr lang="pt-BR" i="1" dirty="0"/>
              <a:t>Cross-</a:t>
            </a:r>
            <a:r>
              <a:rPr lang="pt-BR" i="1" dirty="0" err="1"/>
              <a:t>Entropy</a:t>
            </a:r>
            <a:r>
              <a:rPr lang="pt-BR" i="1" dirty="0"/>
              <a:t> </a:t>
            </a:r>
            <a:r>
              <a:rPr lang="pt-BR" i="1" dirty="0" err="1"/>
              <a:t>Loss</a:t>
            </a:r>
            <a:endParaRPr lang="pt-BR" i="1" dirty="0"/>
          </a:p>
          <a:p>
            <a:pPr lvl="1"/>
            <a:r>
              <a:rPr lang="pt-BR" i="1" dirty="0"/>
              <a:t>Beam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6FB3D-41D5-9E5D-7841-176CB078B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44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20DA75-6351-7D90-232E-AB29E729DACB}"/>
              </a:ext>
            </a:extLst>
          </p:cNvPr>
          <p:cNvSpPr txBox="1"/>
          <p:nvPr/>
        </p:nvSpPr>
        <p:spPr>
          <a:xfrm>
            <a:off x="0" y="6604408"/>
            <a:ext cx="109972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SUTSKEVER, Ilya; VINYALS, Oriol; LE, Quoc V. Sequence to sequence learning with neural networks. </a:t>
            </a:r>
            <a:r>
              <a:rPr lang="en-US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v. 27, 2014.</a:t>
            </a:r>
            <a:endParaRPr lang="pt-BR" sz="1100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213C7D95-173C-1AB8-4F0C-D975AB851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962" y="3196088"/>
            <a:ext cx="8178076" cy="329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074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F4F4C-5F14-0828-8178-03332AFB1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2532C-FC93-EC64-D473-AF6A8A817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Machine </a:t>
            </a:r>
            <a:r>
              <a:rPr lang="pt-BR" i="1" dirty="0" err="1"/>
              <a:t>Translation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28055-48B4-6764-AF58-E098DD5F3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Atenção aos problemas</a:t>
            </a:r>
          </a:p>
          <a:p>
            <a:pPr lvl="1"/>
            <a:r>
              <a:rPr lang="pt-BR" dirty="0"/>
              <a:t>É difícil para o </a:t>
            </a:r>
            <a:r>
              <a:rPr lang="pt-BR" i="1" dirty="0" err="1">
                <a:solidFill>
                  <a:srgbClr val="FF0000"/>
                </a:solidFill>
              </a:rPr>
              <a:t>encoder</a:t>
            </a:r>
            <a:r>
              <a:rPr lang="pt-BR" dirty="0"/>
              <a:t> capturar todo o contexto da frase original</a:t>
            </a:r>
          </a:p>
          <a:p>
            <a:pPr lvl="1"/>
            <a:r>
              <a:rPr lang="pt-BR" dirty="0"/>
              <a:t>É difícil para o </a:t>
            </a:r>
            <a:r>
              <a:rPr lang="pt-BR" i="1" dirty="0" err="1">
                <a:solidFill>
                  <a:srgbClr val="00B0F0"/>
                </a:solidFill>
              </a:rPr>
              <a:t>decoder</a:t>
            </a:r>
            <a:r>
              <a:rPr lang="pt-BR" i="1" dirty="0"/>
              <a:t> </a:t>
            </a:r>
            <a:r>
              <a:rPr lang="pt-BR" dirty="0"/>
              <a:t>gerar todos os tokens condicionado em um contexto fixo do </a:t>
            </a:r>
            <a:r>
              <a:rPr lang="pt-BR" i="1" dirty="0" err="1">
                <a:solidFill>
                  <a:srgbClr val="FF0000"/>
                </a:solidFill>
              </a:rPr>
              <a:t>encoder</a:t>
            </a:r>
            <a:endParaRPr lang="pt-BR" i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AE765-5B25-7062-21C5-1B71E03C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45</a:t>
            </a:fld>
            <a:endParaRPr lang="pt-BR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6CEEEA57-249D-0260-BEAE-88A2BAAA2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285" y="3720882"/>
            <a:ext cx="7416670" cy="3000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5168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94DA-E44C-7491-2518-23011CC8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679B5-6C99-F44F-4BA7-DED84D475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resolver o problema de gargalo entre o </a:t>
            </a:r>
            <a:r>
              <a:rPr lang="pt-BR" dirty="0" err="1">
                <a:solidFill>
                  <a:srgbClr val="FF0000"/>
                </a:solidFill>
              </a:rPr>
              <a:t>encoder</a:t>
            </a:r>
            <a:r>
              <a:rPr lang="pt-BR" dirty="0"/>
              <a:t> e o </a:t>
            </a:r>
            <a:r>
              <a:rPr lang="pt-BR" dirty="0" err="1">
                <a:solidFill>
                  <a:srgbClr val="FF0000"/>
                </a:solidFill>
              </a:rPr>
              <a:t>decoder</a:t>
            </a:r>
            <a:r>
              <a:rPr lang="pt-BR" dirty="0">
                <a:solidFill>
                  <a:srgbClr val="00B0F0"/>
                </a:solidFill>
              </a:rPr>
              <a:t> </a:t>
            </a:r>
            <a:r>
              <a:rPr lang="pt-BR" dirty="0"/>
              <a:t>foi introduzido o mecanismo de </a:t>
            </a:r>
            <a:r>
              <a:rPr lang="pt-BR" dirty="0">
                <a:solidFill>
                  <a:srgbClr val="00B0F0"/>
                </a:solidFill>
              </a:rPr>
              <a:t>atenção</a:t>
            </a:r>
          </a:p>
          <a:p>
            <a:pPr lvl="1"/>
            <a:r>
              <a:rPr lang="pt-BR" dirty="0"/>
              <a:t>A </a:t>
            </a:r>
            <a:r>
              <a:rPr lang="pt-BR" dirty="0">
                <a:solidFill>
                  <a:srgbClr val="00B0F0"/>
                </a:solidFill>
              </a:rPr>
              <a:t>atenção</a:t>
            </a:r>
            <a:r>
              <a:rPr lang="pt-BR" dirty="0"/>
              <a:t> é um bloco da NN que conecta o </a:t>
            </a:r>
            <a:r>
              <a:rPr lang="pt-BR" dirty="0" err="1">
                <a:solidFill>
                  <a:srgbClr val="FF0000"/>
                </a:solidFill>
              </a:rPr>
              <a:t>encoder</a:t>
            </a:r>
            <a:r>
              <a:rPr lang="pt-BR" dirty="0"/>
              <a:t> e o </a:t>
            </a:r>
            <a:r>
              <a:rPr lang="pt-BR" dirty="0" err="1">
                <a:solidFill>
                  <a:srgbClr val="FF0000"/>
                </a:solidFill>
              </a:rPr>
              <a:t>decoder</a:t>
            </a:r>
            <a:r>
              <a:rPr lang="pt-BR" dirty="0"/>
              <a:t> e que atribui scores a cada etapa do </a:t>
            </a:r>
            <a:r>
              <a:rPr lang="pt-BR" dirty="0" err="1">
                <a:solidFill>
                  <a:srgbClr val="FF0000"/>
                </a:solidFill>
              </a:rPr>
              <a:t>encoder</a:t>
            </a:r>
            <a:endParaRPr lang="pt-BR" dirty="0">
              <a:solidFill>
                <a:srgbClr val="FF0000"/>
              </a:solidFill>
            </a:endParaRPr>
          </a:p>
          <a:p>
            <a:pPr lvl="1"/>
            <a:r>
              <a:rPr lang="pt-BR" dirty="0"/>
              <a:t>Interpretamos a atenção como uma decisão de quais partes da sequência de entrada são mais importantes</a:t>
            </a:r>
          </a:p>
          <a:p>
            <a:r>
              <a:rPr lang="pt-BR" dirty="0"/>
              <a:t>Existem várias implementações de diferentes de atenção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431F9-214D-EA16-68BB-0213E24B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46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EB9F32-4CA1-577C-5178-5CDA5D554367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18105470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889BB-52DD-83D1-3644-21819C1C2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BE5EC-AD96-35B6-5600-76A45AAB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DE934-7FEC-0748-860B-9B63CFA56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47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F1CA2-40CF-68C1-49D0-EC95EDCD0870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B52D91E4-54B3-382D-4530-9B83361623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90" y="1075150"/>
            <a:ext cx="9527621" cy="52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F984BC8-7832-3B55-EE45-84304ED8BA13}"/>
              </a:ext>
            </a:extLst>
          </p:cNvPr>
          <p:cNvSpPr/>
          <p:nvPr/>
        </p:nvSpPr>
        <p:spPr>
          <a:xfrm>
            <a:off x="3001992" y="1075150"/>
            <a:ext cx="4373593" cy="2806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54960A-7B8F-C5FF-7802-B46E9489AD0D}"/>
              </a:ext>
            </a:extLst>
          </p:cNvPr>
          <p:cNvSpPr/>
          <p:nvPr/>
        </p:nvSpPr>
        <p:spPr>
          <a:xfrm>
            <a:off x="6142008" y="3702013"/>
            <a:ext cx="2565768" cy="2806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C8AACD-0933-BBD2-6343-3B469A903EF2}"/>
              </a:ext>
            </a:extLst>
          </p:cNvPr>
          <p:cNvSpPr/>
          <p:nvPr/>
        </p:nvSpPr>
        <p:spPr>
          <a:xfrm>
            <a:off x="5495026" y="3969527"/>
            <a:ext cx="646982" cy="589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0994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D9160-5B16-31F6-9849-8AE748877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CA110-7A6F-C582-4EF7-5C524B4F3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7A5B4-64D5-7F6B-7E55-FFC16AD1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48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8D22D-C0C6-BC39-2212-9E6180A29C8E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E71E8AE8-953F-CC71-695E-6630581258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90" y="1075150"/>
            <a:ext cx="9527621" cy="52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0777F1-6FAB-19D7-6951-EFBC8819A1A3}"/>
              </a:ext>
            </a:extLst>
          </p:cNvPr>
          <p:cNvSpPr/>
          <p:nvPr/>
        </p:nvSpPr>
        <p:spPr>
          <a:xfrm>
            <a:off x="3001992" y="1075150"/>
            <a:ext cx="4373593" cy="2806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73464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A7086-F631-6A7B-465D-B19B14B3F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C8C5-E9F1-833B-558B-2A27A33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8E8EC-F6DC-2394-0968-E57875C0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49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BD47B-B8D8-2340-D47A-215DE9B41933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C4A7B275-6185-F979-FB24-5518EA4D95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90" y="1083776"/>
            <a:ext cx="9527621" cy="52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9907AD-A0E1-2C0B-6C63-8A70864D9C6C}"/>
              </a:ext>
            </a:extLst>
          </p:cNvPr>
          <p:cNvSpPr/>
          <p:nvPr/>
        </p:nvSpPr>
        <p:spPr>
          <a:xfrm rot="19421119">
            <a:off x="5284788" y="542618"/>
            <a:ext cx="931653" cy="3400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1B167F-AE2F-5F2B-40A5-49E01430AB06}"/>
              </a:ext>
            </a:extLst>
          </p:cNvPr>
          <p:cNvSpPr/>
          <p:nvPr/>
        </p:nvSpPr>
        <p:spPr>
          <a:xfrm>
            <a:off x="3158445" y="1075151"/>
            <a:ext cx="2388340" cy="2152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09859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D316-42DE-84E7-E658-F7C4B6B5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0623-8AC0-FC59-BBC5-054FA1B11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3212B-351C-0A9B-0669-92B4EFAD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50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98A825-2686-2EF2-948A-CBADEB0B7E35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A43680DB-B005-EBC7-E7C3-DA8BC27B25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90" y="1083776"/>
            <a:ext cx="9527621" cy="52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3795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2BA37-A2CB-928F-C10B-19743B72F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78E5F-B17D-DB7E-BC7F-74C3CFEC1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74D03-70FD-C750-DB27-709E9116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51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FA364-B3E7-BB4D-3278-A8CFE2816C5E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E638B3A-D59E-29F0-31FB-318FB9D7E2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68" y="1135647"/>
            <a:ext cx="9527665" cy="5281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4655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D0577-0221-E68E-D634-F67E6F66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CCCAD-C9BE-0A91-9434-58EA3EB20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6AE94-BAF5-72B8-A749-A599B8B9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52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D9FF4-06A8-773C-9E21-9704AF2824AD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AA90849-D92D-D26C-4A68-F10557C819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90" y="1075150"/>
            <a:ext cx="9527621" cy="52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2687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0ED49-1A54-B9B1-081C-BDC3FF70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52219-01AE-932A-F6CD-8C3ED413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21E1A-A482-9303-5CF9-440C65B1F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53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CD3B8-7951-F33C-58A0-BAD29C375D46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3259F46-3FC2-3393-DDA9-ED1812CED5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90" y="1075150"/>
            <a:ext cx="9527621" cy="52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6112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C41B-ECCD-4F89-43D1-D7C8C95FB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EB75-2F10-3FEF-5E90-D80F9E6C6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26B55-BDA7-4172-B0C2-BFA0F1011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54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1A885C-3231-6EE4-641B-A0FA7DE2AD5C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3BAFE5-CB50-8659-6DD5-064AEA23E8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8924"/>
            <a:ext cx="7890422" cy="463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A447738-D027-412B-5F60-FE591BCE81B4}"/>
              </a:ext>
            </a:extLst>
          </p:cNvPr>
          <p:cNvSpPr/>
          <p:nvPr/>
        </p:nvSpPr>
        <p:spPr>
          <a:xfrm>
            <a:off x="7728451" y="2556117"/>
            <a:ext cx="4442604" cy="34219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02D55F-1B78-991A-0B1C-2BA824CC4DE7}"/>
                  </a:ext>
                </a:extLst>
              </p:cNvPr>
              <p:cNvSpPr txBox="1"/>
              <p:nvPr/>
            </p:nvSpPr>
            <p:spPr>
              <a:xfrm>
                <a:off x="7804747" y="2764649"/>
                <a:ext cx="4290013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/>
                  <a:t>A cada passo do </a:t>
                </a:r>
                <a:r>
                  <a:rPr lang="pt-BR" sz="1600" dirty="0" err="1">
                    <a:solidFill>
                      <a:srgbClr val="FF0000"/>
                    </a:solidFill>
                  </a:rPr>
                  <a:t>decoder</a:t>
                </a:r>
                <a:r>
                  <a:rPr lang="pt-BR" sz="1600" dirty="0">
                    <a:solidFill>
                      <a:srgbClr val="FF0000"/>
                    </a:solidFill>
                  </a:rPr>
                  <a:t> </a:t>
                </a:r>
                <a:r>
                  <a:rPr lang="pt-BR" sz="1600" dirty="0"/>
                  <a:t>a atenção: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Recebe como entrada o estado oculto do </a:t>
                </a:r>
                <a:r>
                  <a:rPr lang="pt-BR" sz="1600" dirty="0" err="1">
                    <a:solidFill>
                      <a:srgbClr val="FF0000"/>
                    </a:solidFill>
                  </a:rPr>
                  <a:t>decoder</a:t>
                </a:r>
                <a:r>
                  <a:rPr lang="pt-BR" sz="1600" dirty="0"/>
                  <a:t> e todos os estados do </a:t>
                </a:r>
                <a:r>
                  <a:rPr lang="pt-BR" sz="1600" dirty="0" err="1">
                    <a:solidFill>
                      <a:srgbClr val="00B050"/>
                    </a:solidFill>
                  </a:rPr>
                  <a:t>encoder</a:t>
                </a:r>
                <a:r>
                  <a:rPr lang="pt-BR" sz="16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pt-BR" sz="1600" dirty="0">
                  <a:solidFill>
                    <a:srgbClr val="00B05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Computa um </a:t>
                </a:r>
                <a:r>
                  <a:rPr lang="pt-BR" sz="1600" dirty="0">
                    <a:solidFill>
                      <a:srgbClr val="00B0F0"/>
                    </a:solidFill>
                  </a:rPr>
                  <a:t>score de atenção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𝑠𝑐𝑜𝑟𝑒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pt-BR" sz="1600" dirty="0">
                  <a:solidFill>
                    <a:srgbClr val="00B0F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Computa uma </a:t>
                </a:r>
                <a:r>
                  <a:rPr lang="pt-BR" sz="1600" i="1" dirty="0" err="1"/>
                  <a:t>softmax</a:t>
                </a:r>
                <a:r>
                  <a:rPr lang="pt-BR" sz="1600" dirty="0"/>
                  <a:t> dos</a:t>
                </a:r>
                <a:r>
                  <a:rPr lang="pt-BR" sz="1600" dirty="0">
                    <a:solidFill>
                      <a:srgbClr val="00B0F0"/>
                    </a:solidFill>
                  </a:rPr>
                  <a:t> scores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Computa a saída da atenção como uma soma ponderada dos estados do </a:t>
                </a:r>
                <a:r>
                  <a:rPr lang="pt-BR" sz="1600" dirty="0" err="1">
                    <a:solidFill>
                      <a:srgbClr val="00B050"/>
                    </a:solidFill>
                  </a:rPr>
                  <a:t>encoder</a:t>
                </a:r>
                <a:r>
                  <a:rPr lang="pt-BR" sz="1600" dirty="0"/>
                  <a:t> pela </a:t>
                </a:r>
                <a:r>
                  <a:rPr lang="pt-BR" sz="1600" dirty="0" err="1"/>
                  <a:t>softmax</a:t>
                </a:r>
                <a:r>
                  <a:rPr lang="pt-BR" sz="1600" dirty="0"/>
                  <a:t> dos </a:t>
                </a:r>
                <a:r>
                  <a:rPr lang="pt-BR" sz="1600" dirty="0">
                    <a:solidFill>
                      <a:srgbClr val="00B0F0"/>
                    </a:solidFill>
                  </a:rPr>
                  <a:t>scores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A saída da atenção é usada em conjunto do estado atual do </a:t>
                </a:r>
                <a:r>
                  <a:rPr lang="pt-BR" sz="1600" dirty="0" err="1">
                    <a:solidFill>
                      <a:srgbClr val="FF0000"/>
                    </a:solidFill>
                  </a:rPr>
                  <a:t>decoder</a:t>
                </a:r>
                <a:r>
                  <a:rPr lang="pt-BR" sz="1600" dirty="0"/>
                  <a:t> para gerar a distribuição de palavras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Pode também ser passada como entrada para o próximo passo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02D55F-1B78-991A-0B1C-2BA824CC4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747" y="2764649"/>
                <a:ext cx="4290013" cy="3293209"/>
              </a:xfrm>
              <a:prstGeom prst="rect">
                <a:avLst/>
              </a:prstGeom>
              <a:blipFill>
                <a:blip r:embed="rId3"/>
                <a:stretch>
                  <a:fillRect l="-710" t="-556" r="-1847" b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0431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12A68-1263-B20C-BAC6-61E050048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718D8-097A-DD33-9112-7EB93AB57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412D5-A555-84B5-C9DC-1B30B939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55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D2872-35C7-7AE0-79CB-05029C3CEBD7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1B9FE7-A53E-7149-38E5-FCA6D8EFF2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8924"/>
            <a:ext cx="7890422" cy="463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681305-997B-101F-705E-7B8945F19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908" y="2563324"/>
            <a:ext cx="4296584" cy="281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968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1D2E-7040-A590-E874-1C8E9F611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Attention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2C4BA-8B03-592A-9064-608D11C4B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calcular os </a:t>
            </a:r>
            <a:r>
              <a:rPr lang="pt-BR" i="1" dirty="0"/>
              <a:t>scores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D4703-97B1-F2DE-8206-8BAD798E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56</a:t>
            </a:fld>
            <a:endParaRPr lang="pt-BR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2285854-E1B1-1D5F-22B4-28AE64FCCC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"/>
          <a:stretch/>
        </p:blipFill>
        <p:spPr bwMode="auto">
          <a:xfrm>
            <a:off x="527649" y="2913327"/>
            <a:ext cx="10826151" cy="2175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294382-9B99-880A-CE2C-4DE333A05358}"/>
              </a:ext>
            </a:extLst>
          </p:cNvPr>
          <p:cNvSpPr txBox="1"/>
          <p:nvPr/>
        </p:nvSpPr>
        <p:spPr>
          <a:xfrm>
            <a:off x="4140679" y="5189729"/>
            <a:ext cx="1693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Luong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B8FFC-DB1B-D9AD-1D7E-5D68AABC74B7}"/>
              </a:ext>
            </a:extLst>
          </p:cNvPr>
          <p:cNvSpPr txBox="1"/>
          <p:nvPr/>
        </p:nvSpPr>
        <p:spPr>
          <a:xfrm>
            <a:off x="-1" y="6256713"/>
            <a:ext cx="112488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LUONG, Minh-Thang; PHAM, Hieu; MANNING, Christopher D. Effective approaches to attention-based neural machine translation. </a:t>
            </a:r>
            <a:r>
              <a:rPr lang="en-US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arXiv:1508.04025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2015.</a:t>
            </a:r>
            <a:endParaRPr lang="pt-BR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D4FFE-1AA2-4B05-DB67-A6990544B240}"/>
              </a:ext>
            </a:extLst>
          </p:cNvPr>
          <p:cNvSpPr txBox="1"/>
          <p:nvPr/>
        </p:nvSpPr>
        <p:spPr>
          <a:xfrm>
            <a:off x="-1" y="6559502"/>
            <a:ext cx="118167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A07921-82F9-5BA4-929E-98F1BC6FF24D}"/>
              </a:ext>
            </a:extLst>
          </p:cNvPr>
          <p:cNvSpPr txBox="1"/>
          <p:nvPr/>
        </p:nvSpPr>
        <p:spPr>
          <a:xfrm>
            <a:off x="8235350" y="5146712"/>
            <a:ext cx="2063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Bahdanau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42521037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C7106-D367-45F4-8EA3-8F49E713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901DB4-318B-45F1-8005-C67D26C7A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Material baseado em:</a:t>
            </a:r>
          </a:p>
          <a:p>
            <a:pPr lvl="1"/>
            <a:r>
              <a:rPr lang="en-US" sz="2000" dirty="0" err="1"/>
              <a:t>Capítulo</a:t>
            </a:r>
            <a:r>
              <a:rPr lang="en-US" sz="2000" dirty="0"/>
              <a:t> 10 - ZHANG, Aston et al. Dive into deep learning. Cambridge University Press, 2023.</a:t>
            </a:r>
          </a:p>
          <a:p>
            <a:pPr lvl="1"/>
            <a:r>
              <a:rPr lang="en-US" sz="2000" dirty="0" err="1"/>
              <a:t>Excelente</a:t>
            </a:r>
            <a:r>
              <a:rPr lang="en-US" sz="2000" dirty="0"/>
              <a:t> blog post de Lena </a:t>
            </a:r>
            <a:r>
              <a:rPr lang="en-US" sz="2000" dirty="0" err="1"/>
              <a:t>Voita</a:t>
            </a:r>
            <a:r>
              <a:rPr lang="en-US" sz="2000" dirty="0"/>
              <a:t>: </a:t>
            </a:r>
            <a:r>
              <a:rPr lang="en-US" sz="2000" dirty="0">
                <a:hlinkClick r:id="rId2"/>
              </a:rPr>
              <a:t>https://lena-voita.github.io/nlp_course/language_modeling.html</a:t>
            </a:r>
            <a:r>
              <a:rPr lang="en-US" sz="2000" dirty="0"/>
              <a:t> </a:t>
            </a:r>
          </a:p>
          <a:p>
            <a:pPr lvl="1"/>
            <a:r>
              <a:rPr lang="pt-BR" sz="2000" dirty="0">
                <a:hlinkClick r:id="rId3"/>
              </a:rPr>
              <a:t>https://huggingface.co/blog/how-to-generate</a:t>
            </a:r>
            <a:r>
              <a:rPr lang="en-US" sz="2000" dirty="0"/>
              <a:t> </a:t>
            </a:r>
            <a:endParaRPr lang="pt-BR" sz="2000" dirty="0"/>
          </a:p>
          <a:p>
            <a:endParaRPr lang="pt-B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5F3A4-8CC9-6799-A160-6C78BD5F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53078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36684</TotalTime>
  <Words>2266</Words>
  <Application>Microsoft Office PowerPoint</Application>
  <PresentationFormat>Widescreen</PresentationFormat>
  <Paragraphs>355</Paragraphs>
  <Slides>57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-apple-system</vt:lpstr>
      <vt:lpstr>Arial</vt:lpstr>
      <vt:lpstr>Calibri</vt:lpstr>
      <vt:lpstr>Calibri Light</vt:lpstr>
      <vt:lpstr>Cambria Math</vt:lpstr>
      <vt:lpstr>Consolas</vt:lpstr>
      <vt:lpstr>Tema do Office</vt:lpstr>
      <vt:lpstr>Aprendizado Profundo</vt:lpstr>
      <vt:lpstr>Agenda</vt:lpstr>
      <vt:lpstr>Language Modeling</vt:lpstr>
      <vt:lpstr>Language Modeling</vt:lpstr>
      <vt:lpstr>Language Modeling</vt:lpstr>
      <vt:lpstr>Language Modeling</vt:lpstr>
      <vt:lpstr>Language Modeling</vt:lpstr>
      <vt:lpstr>Language Modeling</vt:lpstr>
      <vt:lpstr>Language Modeling com NNs</vt:lpstr>
      <vt:lpstr>Language Modeling com NNs</vt:lpstr>
      <vt:lpstr>Language Modeling com NNs</vt:lpstr>
      <vt:lpstr>Language Modeling com NNs</vt:lpstr>
      <vt:lpstr>Language Modeling com NNs</vt:lpstr>
      <vt:lpstr>Language Modeling com NNs</vt:lpstr>
      <vt:lpstr>PowerPoint Presentation</vt:lpstr>
      <vt:lpstr>Language Modeling com NNs</vt:lpstr>
      <vt:lpstr>Language Modeling com NNs</vt:lpstr>
      <vt:lpstr>Language Modeling com NNs</vt:lpstr>
      <vt:lpstr>Language Modeling com NNs</vt:lpstr>
      <vt:lpstr>Language Modeling com NNs</vt:lpstr>
      <vt:lpstr>Language Modeling com NNs</vt:lpstr>
      <vt:lpstr>Language Modeling com NNs</vt:lpstr>
      <vt:lpstr>Language Modeling com NNs</vt:lpstr>
      <vt:lpstr>Language Modeling com NNs</vt:lpstr>
      <vt:lpstr>Beam Search</vt:lpstr>
      <vt:lpstr>Beam Search</vt:lpstr>
      <vt:lpstr>Beam Search</vt:lpstr>
      <vt:lpstr>Language Modeling com NNs</vt:lpstr>
      <vt:lpstr>Language Modeling com NNs</vt:lpstr>
      <vt:lpstr>Language Modeling com NNs</vt:lpstr>
      <vt:lpstr>Language Modeling com NNs</vt:lpstr>
      <vt:lpstr>Language Modeling com NNs</vt:lpstr>
      <vt:lpstr>Language Modeling com NNs</vt:lpstr>
      <vt:lpstr>Language Modeling com NNs</vt:lpstr>
      <vt:lpstr>Language Modeling com NNs</vt:lpstr>
      <vt:lpstr>Language Modeling - Avaliação</vt:lpstr>
      <vt:lpstr>Language Modeling - Avaliação</vt:lpstr>
      <vt:lpstr>seq2seq</vt:lpstr>
      <vt:lpstr>Language Models Condicionados</vt:lpstr>
      <vt:lpstr>seq2seq</vt:lpstr>
      <vt:lpstr>Arquitetura Encoder-Decoder</vt:lpstr>
      <vt:lpstr>Arquitetura Encoder-Decoder</vt:lpstr>
      <vt:lpstr>Arquitetura Encoder-Decoder</vt:lpstr>
      <vt:lpstr>Machine Translation</vt:lpstr>
      <vt:lpstr>Machine Translation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Referências: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de Máquina Turma 010 - 2021/2</dc:title>
  <dc:creator>Lucas Silveira Kupssinsku</dc:creator>
  <cp:lastModifiedBy>Lucas Silveira Kupssinsku</cp:lastModifiedBy>
  <cp:revision>222</cp:revision>
  <dcterms:created xsi:type="dcterms:W3CDTF">2021-08-01T11:35:46Z</dcterms:created>
  <dcterms:modified xsi:type="dcterms:W3CDTF">2024-02-28T15:05:34Z</dcterms:modified>
</cp:coreProperties>
</file>