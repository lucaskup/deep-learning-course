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358" r:id="rId3"/>
    <p:sldId id="359" r:id="rId4"/>
    <p:sldId id="363" r:id="rId5"/>
    <p:sldId id="360" r:id="rId6"/>
    <p:sldId id="361" r:id="rId7"/>
    <p:sldId id="379" r:id="rId8"/>
    <p:sldId id="372" r:id="rId9"/>
    <p:sldId id="378" r:id="rId10"/>
    <p:sldId id="377" r:id="rId11"/>
    <p:sldId id="376" r:id="rId12"/>
    <p:sldId id="375" r:id="rId13"/>
    <p:sldId id="374" r:id="rId14"/>
    <p:sldId id="373" r:id="rId15"/>
    <p:sldId id="364" r:id="rId16"/>
    <p:sldId id="371" r:id="rId17"/>
    <p:sldId id="370" r:id="rId18"/>
    <p:sldId id="369" r:id="rId19"/>
    <p:sldId id="368" r:id="rId20"/>
    <p:sldId id="367" r:id="rId21"/>
    <p:sldId id="366" r:id="rId22"/>
    <p:sldId id="365" r:id="rId23"/>
    <p:sldId id="380" r:id="rId24"/>
    <p:sldId id="381" r:id="rId25"/>
    <p:sldId id="382" r:id="rId26"/>
    <p:sldId id="383" r:id="rId27"/>
    <p:sldId id="384" r:id="rId28"/>
    <p:sldId id="385" r:id="rId29"/>
    <p:sldId id="398" r:id="rId30"/>
    <p:sldId id="386" r:id="rId31"/>
    <p:sldId id="387" r:id="rId32"/>
    <p:sldId id="391" r:id="rId33"/>
    <p:sldId id="392" r:id="rId34"/>
    <p:sldId id="393" r:id="rId35"/>
    <p:sldId id="394" r:id="rId36"/>
    <p:sldId id="395" r:id="rId37"/>
    <p:sldId id="396" r:id="rId38"/>
    <p:sldId id="388" r:id="rId39"/>
    <p:sldId id="389" r:id="rId40"/>
    <p:sldId id="402" r:id="rId41"/>
    <p:sldId id="403" r:id="rId42"/>
    <p:sldId id="405" r:id="rId43"/>
    <p:sldId id="404" r:id="rId44"/>
    <p:sldId id="397" r:id="rId45"/>
    <p:sldId id="399" r:id="rId46"/>
    <p:sldId id="400" r:id="rId47"/>
    <p:sldId id="293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7EC"/>
    <a:srgbClr val="F6B2B0"/>
    <a:srgbClr val="FFFFFF"/>
    <a:srgbClr val="AF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BEC8-B7CD-4879-87AE-64AF7BD7DF30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50156-6885-4B39-8E78-85D0C1AED0F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5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6A27-9130-4759-A47A-23D3EAB3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A88DD-808F-4F8D-84A5-3916FE3D8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AD0587-6BA5-4755-A254-BA8BAB6A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3EE8-82C7-4BB9-8AE0-A839B9F0439B}" type="datetime1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54C2AD-8133-48B1-A30D-493AEB54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85C79A-F85A-4516-A45F-AA8BEF5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9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6CC7B-9026-47F0-A53D-971D687F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9AE47-E774-440E-BB95-261546E4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D0AA4-83FF-4C0C-8613-B3D0E937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079A-94C2-45A1-88AB-6250F7D03304}" type="datetime1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984507-0CE8-4D65-8720-EE422B95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CF4AD-DDBF-4D80-A019-F4FEC8F4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7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D888-DBC5-4160-A401-DF4296CF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41015C-6433-4AA1-82DC-E038C8C7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375D2A-D6E9-4EA5-9A79-B0200907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87A7-29BF-49EF-AFD5-EA48A803025A}" type="datetime1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65A21-5BD0-48CC-9633-CD3EBDDB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8FF30-0E8C-4739-A740-930FD7CE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8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8A0D-47CA-4BF5-8A53-03DEDDB1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693E7-97F4-43B7-A4A2-B2615671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A5FED8-E805-40F8-AED2-2B37F607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2B54B3-3070-46A9-BB16-347D6E9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B6DB7-59BC-4CD2-BD08-E2943D1EF069}" type="datetime1">
              <a:rPr lang="pt-BR" smtClean="0"/>
              <a:t>24/10/2023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695434-EDA8-4C3C-8BF0-E097E53C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483E8E-C241-4C26-AD63-8E114572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6158-79AD-47BA-94A0-7B5C1B2F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05BE3-8146-47FD-B959-DE98B68C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55466-A0D9-4326-8C0B-11D9ECB9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8DD07B-B6ED-4D98-9C41-AB40AAD2E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E32ED-0580-4733-8A15-EF1A54EE7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B57CC4-6BEE-4C56-B5A7-8348FFBA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3418-6918-484A-8421-0D025D0D8A67}" type="datetime1">
              <a:rPr lang="pt-BR" smtClean="0"/>
              <a:t>24/10/2023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8A9786-CC6C-453F-88B8-EDE8FEEE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ACE4B8-7B8A-4602-8AC9-3F4E66D7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03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1E33F-43CC-4BCB-A00F-C169AF13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9A7E1A-8845-4FE6-ADDC-740512EC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CAA2-036D-405F-9538-4B646274D645}" type="datetime1">
              <a:rPr lang="pt-BR" smtClean="0"/>
              <a:t>24/10/2023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5CA399-4971-4420-B53F-37EB8ACF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00EC4-0A80-464E-9415-C3F96738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7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EE76B2-7187-484D-B134-A77D8B30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13415-C3D3-416A-BA17-3FEFA32702EE}" type="datetime1">
              <a:rPr lang="pt-BR" smtClean="0"/>
              <a:t>24/10/2023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38519-4661-42E6-A172-40EEF015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207DA-461C-448E-83A6-5E42627C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1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9BC73-075F-4C57-B083-A2A53A76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3C72F-F7F4-4065-B66E-03AF5711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830101-D942-46FF-BA69-E5E55509A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5132C4-FE9A-407F-A499-CB1C142D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4281-F446-41F4-852D-AF0C5F0FB8E5}" type="datetime1">
              <a:rPr lang="pt-BR" smtClean="0"/>
              <a:t>24/10/2023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C6E7AD-95AD-4059-AE42-AA92FD2F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5626A-7012-4235-A6D7-A1A75234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65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2BC7-D688-430F-A256-18657B5F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3CB283-3B59-4BAD-87DF-1422F776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3F9CF2-5A0D-4F0C-9FD8-7DB051EB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76D9E3-8099-4187-BE37-EBC90D53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ACD1-8F4F-450B-9F25-92B5A7643D6C}" type="datetime1">
              <a:rPr lang="pt-BR" smtClean="0"/>
              <a:t>24/10/2023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FBBD30-A1E3-4861-9D26-E9EED18B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C0BD16-792A-45CC-8B4D-E0A7A883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1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3F8C5-185D-49E1-A53C-2E55BD5A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78D96-867E-469F-983A-80ACE3023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6A972-7A5F-4745-BB5E-7D0DDADC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5C635-A7DF-42C1-A820-15BA95751108}" type="datetime1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C18A6-57BF-49F1-97EA-7F9ACD0B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FE4627-EAD2-4008-B1FA-614849F5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9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7A39B-F7E2-4A69-942C-6AEFE2C7B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298851-909A-4BB7-9514-2A3766F2D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6C408-EEE6-4851-8B3F-CBF1451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CA80-3A23-4BED-BFDD-EC237E1C9920}" type="datetime1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5DE8C-E893-46D9-9054-DB6F88FD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2E16A-56BB-4B7D-8AA6-C3A5B376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38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1A29FE-D65E-4440-A657-262577AA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67D270-2A8A-433A-93D9-8D998D06B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C1113-45B0-4701-87FE-8C670E000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95C9C-EC44-4A90-8C72-29D4E173E628}" type="datetime1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72D9F7-AA55-448C-B21A-88D36743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BF8157-6D2F-4A31-942D-5AE190A4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udlbook.github.io/udlbook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4B37C-3C8E-4FDE-9CD8-8FDBB9948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-apple-system"/>
              </a:rPr>
              <a:t>Aprendizado Profundo 1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6BC0D-1C18-420A-8181-4599D8380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Aplica</a:t>
            </a:r>
            <a:r>
              <a:rPr lang="en-US" dirty="0" err="1"/>
              <a:t>ções</a:t>
            </a:r>
            <a:r>
              <a:rPr lang="en-US" dirty="0"/>
              <a:t> de CNN</a:t>
            </a:r>
            <a:endParaRPr lang="pt-BR" dirty="0"/>
          </a:p>
          <a:p>
            <a:r>
              <a:rPr lang="pt-BR" dirty="0"/>
              <a:t>Professor: Lucas Silveira Kupssinskü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EE3B-E0A9-0563-6E9A-DC0A22FB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0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D5D8-21EA-D8C4-D1A9-58A7ED23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CBDB-71AB-71C1-D108-4321E1B8E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VGG16</a:t>
            </a:r>
          </a:p>
          <a:p>
            <a:r>
              <a:rPr lang="pt-BR" dirty="0"/>
              <a:t>Classificação de Imagens</a:t>
            </a:r>
          </a:p>
          <a:p>
            <a:r>
              <a:rPr lang="pt-BR" dirty="0"/>
              <a:t>Classificação + Localização</a:t>
            </a:r>
          </a:p>
          <a:p>
            <a:r>
              <a:rPr lang="pt-BR" dirty="0"/>
              <a:t>Segmentação Semântica</a:t>
            </a:r>
          </a:p>
          <a:p>
            <a:r>
              <a:rPr lang="pt-BR" dirty="0"/>
              <a:t>Outras tarefas de visão computacional</a:t>
            </a:r>
          </a:p>
          <a:p>
            <a:endParaRPr lang="pt-BR" i="1" dirty="0"/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F0B91-1014-3AD9-1DA9-99A34BF4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220761-86E1-5366-84B8-45AA70FA2F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Uma </a:t>
                </a:r>
                <a:r>
                  <a:rPr lang="en-US" dirty="0" err="1"/>
                  <a:t>arquitetura</a:t>
                </a:r>
                <a:r>
                  <a:rPr lang="en-US" dirty="0"/>
                  <a:t> de CNN </a:t>
                </a:r>
                <a:r>
                  <a:rPr lang="en-US" dirty="0" err="1"/>
                  <a:t>usada</a:t>
                </a:r>
                <a:r>
                  <a:rPr lang="en-US" dirty="0"/>
                  <a:t> </a:t>
                </a:r>
                <a:r>
                  <a:rPr lang="en-US" dirty="0" err="1"/>
                  <a:t>até</a:t>
                </a:r>
                <a:r>
                  <a:rPr lang="en-US" dirty="0"/>
                  <a:t> </a:t>
                </a:r>
                <a:r>
                  <a:rPr lang="en-US" dirty="0" err="1"/>
                  <a:t>hoje</a:t>
                </a:r>
                <a:endParaRPr lang="en-US" dirty="0"/>
              </a:p>
              <a:p>
                <a:r>
                  <a:rPr lang="en-US" dirty="0" err="1"/>
                  <a:t>Proposta</a:t>
                </a:r>
                <a:r>
                  <a:rPr lang="en-US" dirty="0"/>
                  <a:t> </a:t>
                </a:r>
                <a:r>
                  <a:rPr lang="en-US" dirty="0" err="1"/>
                  <a:t>em</a:t>
                </a:r>
                <a:r>
                  <a:rPr lang="en-US" dirty="0"/>
                  <a:t> 2013, com </a:t>
                </a:r>
                <a:r>
                  <a:rPr lang="en-US" dirty="0" err="1"/>
                  <a:t>primeiro</a:t>
                </a:r>
                <a:r>
                  <a:rPr lang="en-US" dirty="0"/>
                  <a:t> </a:t>
                </a:r>
                <a:r>
                  <a:rPr lang="en-US" dirty="0" err="1"/>
                  <a:t>protótipo</a:t>
                </a:r>
                <a:r>
                  <a:rPr lang="en-US" dirty="0"/>
                  <a:t> </a:t>
                </a:r>
                <a:r>
                  <a:rPr lang="en-US" dirty="0" err="1"/>
                  <a:t>em</a:t>
                </a:r>
                <a:r>
                  <a:rPr lang="en-US" dirty="0"/>
                  <a:t> 2014</a:t>
                </a:r>
              </a:p>
              <a:p>
                <a:r>
                  <a:rPr lang="en-US" dirty="0"/>
                  <a:t>Taxa de </a:t>
                </a:r>
                <a:r>
                  <a:rPr lang="en-US" dirty="0" err="1"/>
                  <a:t>erro</a:t>
                </a:r>
                <a:r>
                  <a:rPr lang="en-US" dirty="0"/>
                  <a:t> ImageNet </a:t>
                </a:r>
              </a:p>
              <a:p>
                <a:pPr lvl="1"/>
                <a:r>
                  <a:rPr lang="en-US" dirty="0"/>
                  <a:t>Top-5: 6.8%</a:t>
                </a:r>
              </a:p>
              <a:p>
                <a:pPr lvl="1"/>
                <a:r>
                  <a:rPr lang="en-US" dirty="0"/>
                  <a:t>Top-1: 23.7%</a:t>
                </a:r>
              </a:p>
              <a:p>
                <a:r>
                  <a:rPr lang="en-US" dirty="0" err="1"/>
                  <a:t>Ganhou</a:t>
                </a:r>
                <a:r>
                  <a:rPr lang="en-US" dirty="0"/>
                  <a:t> 1º e 2º </a:t>
                </a:r>
                <a:r>
                  <a:rPr lang="en-US" dirty="0" err="1"/>
                  <a:t>lugar</a:t>
                </a:r>
                <a:r>
                  <a:rPr lang="en-US" dirty="0"/>
                  <a:t> no ILSVRC (</a:t>
                </a:r>
                <a:r>
                  <a:rPr lang="en-US" i="1" dirty="0"/>
                  <a:t>ImageNet Large Scale Visual Recognition Challenge</a:t>
                </a:r>
                <a:r>
                  <a:rPr lang="en-US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±140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b="0" dirty="0"/>
                  <a:t> </a:t>
                </a:r>
                <a:r>
                  <a:rPr lang="pt-BR" b="0" dirty="0"/>
                  <a:t>parâmetros treináveis</a:t>
                </a:r>
              </a:p>
              <a:p>
                <a:endParaRPr lang="en-US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220761-86E1-5366-84B8-45AA70FA2F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EE466-CF1A-A3C1-DB49-BD4FA5B2BB73}"/>
              </a:ext>
            </a:extLst>
          </p:cNvPr>
          <p:cNvSpPr txBox="1"/>
          <p:nvPr/>
        </p:nvSpPr>
        <p:spPr>
          <a:xfrm>
            <a:off x="71166" y="6594517"/>
            <a:ext cx="999585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SIMONYAN, Karen; ZISSERMAN, Andrew. </a:t>
            </a:r>
            <a:r>
              <a:rPr lang="pt-BR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Very</a:t>
            </a:r>
            <a:r>
              <a:rPr lang="pt-B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deep</a:t>
            </a:r>
            <a:r>
              <a:rPr lang="pt-B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convolutional</a:t>
            </a:r>
            <a:r>
              <a:rPr lang="pt-B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networks for </a:t>
            </a:r>
            <a:r>
              <a:rPr lang="pt-BR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large-scale</a:t>
            </a:r>
            <a:r>
              <a:rPr lang="pt-B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image</a:t>
            </a:r>
            <a:r>
              <a:rPr lang="pt-B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recognition</a:t>
            </a:r>
            <a:r>
              <a:rPr lang="pt-B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05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05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05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05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arXiv:1409.1556</a:t>
            </a:r>
            <a:r>
              <a:rPr lang="pt-B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1143038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20761-86E1-5366-84B8-45AA70FA2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/>
              <a:t>Vamos compreender o problema</a:t>
            </a:r>
            <a:endParaRPr lang="pt-BR" dirty="0"/>
          </a:p>
          <a:p>
            <a:pPr lvl="1"/>
            <a:r>
              <a:rPr lang="pt-BR" b="0" dirty="0" err="1"/>
              <a:t>ImageNet</a:t>
            </a:r>
            <a:r>
              <a:rPr lang="pt-BR" b="0" dirty="0"/>
              <a:t> contém imagens na resolução 224x224x3 (RGB)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As entradas são tensores (224, 224, 3)</a:t>
            </a:r>
          </a:p>
          <a:p>
            <a:pPr lvl="2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</a:t>
            </a:fld>
            <a:endParaRPr lang="pt-BR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97E2636-B10C-6C90-493A-0C3ADBCC4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036" y="3761629"/>
            <a:ext cx="5301575" cy="310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463339B-0328-AF1D-B75D-A0646E9A80B7}"/>
              </a:ext>
            </a:extLst>
          </p:cNvPr>
          <p:cNvSpPr/>
          <p:nvPr/>
        </p:nvSpPr>
        <p:spPr>
          <a:xfrm>
            <a:off x="3142035" y="3761629"/>
            <a:ext cx="1048127" cy="31060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137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20761-86E1-5366-84B8-45AA70FA2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/>
              <a:t>Vamos compreender o problema</a:t>
            </a:r>
            <a:endParaRPr lang="pt-BR" dirty="0"/>
          </a:p>
          <a:p>
            <a:pPr lvl="1"/>
            <a:r>
              <a:rPr lang="pt-BR" b="0" dirty="0" err="1"/>
              <a:t>ImageNet</a:t>
            </a:r>
            <a:r>
              <a:rPr lang="pt-BR" b="0" dirty="0"/>
              <a:t> contém imagens na resolução 224x224x3 (RGB)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As entradas são tensores (224, 224, 3)</a:t>
            </a:r>
          </a:p>
          <a:p>
            <a:pPr lvl="1"/>
            <a:r>
              <a:rPr lang="pt-BR" b="0" dirty="0"/>
              <a:t>Objetivo é classificar cada </a:t>
            </a:r>
            <a:r>
              <a:rPr lang="pt-BR" dirty="0"/>
              <a:t>imagem em uma das 1000 classes pré-definidas</a:t>
            </a:r>
          </a:p>
          <a:p>
            <a:pPr lvl="2"/>
            <a:r>
              <a:rPr lang="pt-BR" b="0" dirty="0">
                <a:solidFill>
                  <a:srgbClr val="00B0F0"/>
                </a:solidFill>
              </a:rPr>
              <a:t>Entropia Cruzada com os </a:t>
            </a:r>
            <a:r>
              <a:rPr lang="pt-BR" b="0" dirty="0" err="1">
                <a:solidFill>
                  <a:srgbClr val="00B0F0"/>
                </a:solidFill>
              </a:rPr>
              <a:t>logits</a:t>
            </a:r>
            <a:endParaRPr lang="pt-BR" b="0" dirty="0">
              <a:solidFill>
                <a:srgbClr val="00B0F0"/>
              </a:solidFill>
            </a:endParaRPr>
          </a:p>
          <a:p>
            <a:pPr lvl="2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</a:t>
            </a:fld>
            <a:endParaRPr lang="pt-BR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97E2636-B10C-6C90-493A-0C3ADBCC4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036" y="3761629"/>
            <a:ext cx="5301575" cy="310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463339B-0328-AF1D-B75D-A0646E9A80B7}"/>
              </a:ext>
            </a:extLst>
          </p:cNvPr>
          <p:cNvSpPr/>
          <p:nvPr/>
        </p:nvSpPr>
        <p:spPr>
          <a:xfrm>
            <a:off x="3142035" y="3761629"/>
            <a:ext cx="1048127" cy="31060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3505AA-F09A-6366-5968-C8E4A745D24B}"/>
              </a:ext>
            </a:extLst>
          </p:cNvPr>
          <p:cNvSpPr/>
          <p:nvPr/>
        </p:nvSpPr>
        <p:spPr>
          <a:xfrm>
            <a:off x="7652427" y="5136204"/>
            <a:ext cx="703634" cy="36965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755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20761-86E1-5366-84B8-45AA70FA2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/>
              <a:t>Precisamos </a:t>
            </a:r>
            <a:r>
              <a:rPr lang="pt-BR" dirty="0"/>
              <a:t>transformar </a:t>
            </a:r>
            <a:r>
              <a:rPr lang="pt-BR" b="0" dirty="0"/>
              <a:t>uma imagem </a:t>
            </a:r>
            <a:r>
              <a:rPr lang="pt-BR" sz="1800" b="0" dirty="0"/>
              <a:t>(224x224x3) </a:t>
            </a:r>
            <a:r>
              <a:rPr lang="pt-BR" b="0" dirty="0"/>
              <a:t>para uma classe </a:t>
            </a:r>
            <a:r>
              <a:rPr lang="pt-BR" sz="1800" b="0" dirty="0"/>
              <a:t>(1x1x1000)</a:t>
            </a:r>
            <a:endParaRPr lang="pt-BR" dirty="0"/>
          </a:p>
          <a:p>
            <a:pPr lvl="1"/>
            <a:r>
              <a:rPr lang="pt-BR" b="0" dirty="0"/>
              <a:t>Convoluções + </a:t>
            </a:r>
            <a:r>
              <a:rPr lang="pt-BR" b="0" dirty="0" err="1"/>
              <a:t>ReLU</a:t>
            </a:r>
            <a:r>
              <a:rPr lang="pt-BR" b="0" dirty="0"/>
              <a:t>: aumentam os canais</a:t>
            </a:r>
          </a:p>
          <a:p>
            <a:pPr lvl="1"/>
            <a:r>
              <a:rPr lang="pt-BR" dirty="0"/>
              <a:t>A</a:t>
            </a:r>
            <a:r>
              <a:rPr lang="pt-BR" b="0" dirty="0"/>
              <a:t>grupamentos (</a:t>
            </a:r>
            <a:r>
              <a:rPr lang="pt-BR" b="0" dirty="0" err="1"/>
              <a:t>pooling</a:t>
            </a:r>
            <a:r>
              <a:rPr lang="pt-BR" b="0" dirty="0"/>
              <a:t>): </a:t>
            </a:r>
            <a:r>
              <a:rPr lang="pt-BR" b="0" dirty="0" err="1"/>
              <a:t>subamostram</a:t>
            </a:r>
            <a:r>
              <a:rPr lang="pt-BR" b="0" dirty="0"/>
              <a:t> a dimensão espacial</a:t>
            </a:r>
          </a:p>
          <a:p>
            <a:pPr lvl="1"/>
            <a:r>
              <a:rPr lang="pt-BR" b="0" dirty="0"/>
              <a:t>Camadas densas: fazem a classificação </a:t>
            </a:r>
          </a:p>
          <a:p>
            <a:pPr lvl="1"/>
            <a:endParaRPr lang="pt-BR" b="0" dirty="0"/>
          </a:p>
          <a:p>
            <a:pPr lvl="2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</a:t>
            </a:fld>
            <a:endParaRPr lang="pt-BR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036" y="3761629"/>
            <a:ext cx="5301575" cy="310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3513304" y="6575898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737040" y="6575898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4045082" y="6120742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4160189" y="611939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475227" y="5772359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614147" y="577100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753933" y="57648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5087209" y="5626444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273755" y="5625092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87359" y="5618978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889060" y="5485952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075606" y="548460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289210" y="5478486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6699532" y="5438327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126587" y="5436975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7568795" y="5438004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81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20761-86E1-5366-84B8-45AA70FA2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VGG16 é a implementação mais comum</a:t>
            </a:r>
          </a:p>
          <a:p>
            <a:pPr lvl="1"/>
            <a:r>
              <a:rPr lang="pt-BR" dirty="0"/>
              <a:t>Equivalente a variante “D” descrita no artigo</a:t>
            </a:r>
          </a:p>
          <a:p>
            <a:pPr lvl="1"/>
            <a:r>
              <a:rPr lang="pt-BR" b="0" dirty="0"/>
              <a:t>16 c</a:t>
            </a:r>
            <a:r>
              <a:rPr lang="pt-BR" dirty="0"/>
              <a:t>amadas com parâmetros treináveis (</a:t>
            </a:r>
            <a:r>
              <a:rPr lang="pt-BR" dirty="0">
                <a:solidFill>
                  <a:srgbClr val="FF0000"/>
                </a:solidFill>
              </a:rPr>
              <a:t>13 </a:t>
            </a:r>
            <a:r>
              <a:rPr lang="pt-BR" dirty="0" err="1">
                <a:solidFill>
                  <a:srgbClr val="FF0000"/>
                </a:solidFill>
              </a:rPr>
              <a:t>convs</a:t>
            </a:r>
            <a:r>
              <a:rPr lang="pt-BR" dirty="0"/>
              <a:t> e </a:t>
            </a:r>
            <a:r>
              <a:rPr lang="pt-BR" dirty="0">
                <a:solidFill>
                  <a:srgbClr val="00B0F0"/>
                </a:solidFill>
              </a:rPr>
              <a:t>3 densas</a:t>
            </a:r>
            <a:r>
              <a:rPr lang="pt-BR" dirty="0"/>
              <a:t>)</a:t>
            </a:r>
          </a:p>
          <a:p>
            <a:pPr lvl="1"/>
            <a:r>
              <a:rPr lang="pt-BR" b="0" dirty="0"/>
              <a:t>Repare </a:t>
            </a:r>
            <a:r>
              <a:rPr lang="pt-BR" dirty="0"/>
              <a:t>todas as </a:t>
            </a:r>
            <a:r>
              <a:rPr lang="pt-BR" dirty="0" err="1"/>
              <a:t>conv</a:t>
            </a:r>
            <a:r>
              <a:rPr lang="pt-BR" dirty="0"/>
              <a:t> são 2D 3x3 com </a:t>
            </a:r>
            <a:r>
              <a:rPr lang="pt-BR" dirty="0" err="1"/>
              <a:t>stride</a:t>
            </a:r>
            <a:r>
              <a:rPr lang="pt-BR" dirty="0"/>
              <a:t> 1</a:t>
            </a:r>
          </a:p>
          <a:p>
            <a:pPr marL="914400" lvl="2" indent="0">
              <a:buNone/>
            </a:pPr>
            <a:endParaRPr lang="pt-BR" b="0" dirty="0"/>
          </a:p>
          <a:p>
            <a:pPr lvl="1"/>
            <a:endParaRPr lang="pt-BR" b="0" dirty="0"/>
          </a:p>
          <a:p>
            <a:pPr lvl="2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</a:t>
            </a:fld>
            <a:endParaRPr lang="pt-BR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036" y="3761629"/>
            <a:ext cx="5301575" cy="310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3513304" y="6575898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737040" y="6575898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4045082" y="6120742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4160189" y="611939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475227" y="5772359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614147" y="577100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753933" y="57648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5087209" y="5626444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273755" y="5625092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87359" y="5618978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889060" y="5485952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075606" y="548460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289210" y="5478486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6699532" y="5438327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126587" y="5436975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7568795" y="5438004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11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8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C10B51-B6BD-1B1C-50CA-E37FDC013B43}"/>
              </a:ext>
            </a:extLst>
          </p:cNvPr>
          <p:cNvSpPr/>
          <p:nvPr/>
        </p:nvSpPr>
        <p:spPr>
          <a:xfrm>
            <a:off x="2021511" y="2407846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5767B0-6453-39E4-5752-BA74856AC9A1}"/>
              </a:ext>
            </a:extLst>
          </p:cNvPr>
          <p:cNvSpPr/>
          <p:nvPr/>
        </p:nvSpPr>
        <p:spPr>
          <a:xfrm>
            <a:off x="3415025" y="595167"/>
            <a:ext cx="4946799" cy="47904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0</a:t>
            </a:r>
          </a:p>
        </p:txBody>
      </p:sp>
    </p:spTree>
    <p:extLst>
      <p:ext uri="{BB962C8B-B14F-4D97-AF65-F5344CB8AC3E}">
        <p14:creationId xmlns:p14="http://schemas.microsoft.com/office/powerpoint/2010/main" val="113067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9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A7E700-B4D3-215E-41AA-8E18AB9F8CE2}"/>
              </a:ext>
            </a:extLst>
          </p:cNvPr>
          <p:cNvSpPr/>
          <p:nvPr/>
        </p:nvSpPr>
        <p:spPr>
          <a:xfrm>
            <a:off x="2737246" y="215544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6B14A1-DC38-4004-BCB0-C8EC11433676}"/>
              </a:ext>
            </a:extLst>
          </p:cNvPr>
          <p:cNvSpPr/>
          <p:nvPr/>
        </p:nvSpPr>
        <p:spPr>
          <a:xfrm>
            <a:off x="2513510" y="2453824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FC5E6-2D1B-6655-AC80-EF1838797150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6511BB8-7D70-8EA3-7512-D77E7277E0A3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38.592 </a:t>
            </a:r>
          </a:p>
          <a:p>
            <a:pPr algn="ctr"/>
            <a:r>
              <a:rPr lang="pt-BR" dirty="0"/>
              <a:t>3x3x3x64 + 3x3x64x64</a:t>
            </a:r>
          </a:p>
          <a:p>
            <a:pPr algn="ctr"/>
            <a:r>
              <a:rPr lang="pt-BR" dirty="0"/>
              <a:t>1728 + 36864</a:t>
            </a:r>
          </a:p>
        </p:txBody>
      </p:sp>
    </p:spTree>
    <p:extLst>
      <p:ext uri="{BB962C8B-B14F-4D97-AF65-F5344CB8AC3E}">
        <p14:creationId xmlns:p14="http://schemas.microsoft.com/office/powerpoint/2010/main" val="4270935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10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635A16-8B39-A324-B5ED-1C9889C56C90}"/>
              </a:ext>
            </a:extLst>
          </p:cNvPr>
          <p:cNvSpPr/>
          <p:nvPr/>
        </p:nvSpPr>
        <p:spPr>
          <a:xfrm>
            <a:off x="3247822" y="3607777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99737-5C8B-5CEF-E075-041714F88DDC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6A9102-8AE5-2208-DE89-30C27D139F45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9A3783-65D9-247B-2DDE-4D9293A73D0B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120B429-2F9D-ABCB-349D-69EC3EA0CE7E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38.592 </a:t>
            </a:r>
          </a:p>
          <a:p>
            <a:pPr algn="ctr"/>
            <a:r>
              <a:rPr lang="pt-B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57150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11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E19BAA-D6FA-F599-8AE2-3CBF37F27D04}"/>
              </a:ext>
            </a:extLst>
          </p:cNvPr>
          <p:cNvSpPr/>
          <p:nvPr/>
        </p:nvSpPr>
        <p:spPr>
          <a:xfrm>
            <a:off x="3228772" y="312679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6AEC93-40BE-62F4-B5A0-1016B20292E0}"/>
              </a:ext>
            </a:extLst>
          </p:cNvPr>
          <p:cNvSpPr/>
          <p:nvPr/>
        </p:nvSpPr>
        <p:spPr>
          <a:xfrm>
            <a:off x="3024086" y="342032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2AF95D-AF1A-67D4-07B4-7B9E9FB42462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72E79B-EF33-DA08-2673-9C09AE7E7A20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3D76D0-A088-0D9F-83C9-3069BE13E0E6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185424-3D49-C365-CE5A-98ADFC9D2E9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A45159F-1951-00F3-3D2A-4802E2CEB1BC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259.776 </a:t>
            </a:r>
          </a:p>
          <a:p>
            <a:pPr algn="ctr"/>
            <a:r>
              <a:rPr lang="pt-BR" dirty="0"/>
              <a:t>3x3x64x128 + 3x3x128x128</a:t>
            </a:r>
          </a:p>
          <a:p>
            <a:pPr algn="ctr"/>
            <a:r>
              <a:rPr lang="pt-BR" dirty="0"/>
              <a:t>73728 + 147456</a:t>
            </a:r>
          </a:p>
        </p:txBody>
      </p:sp>
    </p:spTree>
    <p:extLst>
      <p:ext uri="{BB962C8B-B14F-4D97-AF65-F5344CB8AC3E}">
        <p14:creationId xmlns:p14="http://schemas.microsoft.com/office/powerpoint/2010/main" val="3953555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12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A499C6-34B5-4536-3C2D-6831646D2002}"/>
              </a:ext>
            </a:extLst>
          </p:cNvPr>
          <p:cNvSpPr/>
          <p:nvPr/>
        </p:nvSpPr>
        <p:spPr>
          <a:xfrm>
            <a:off x="3497035" y="3907129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C9C5CE-EA16-A431-3A68-362C37B1ECAC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1F3FA-73CE-53B5-1938-76EB241D0539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218259-9B2D-C01D-64AE-5D967971190D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CD5D86-0E14-1CF7-A653-CBD7164105ED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EE3A6F-02DA-F02A-0FB1-94BF774EC9DD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0AF2D06-63CA-765C-927F-7295B2419871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4DE8E30-2ABD-9F3E-2BB7-B8EEEF38AFFF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259.776 </a:t>
            </a:r>
          </a:p>
          <a:p>
            <a:pPr algn="ctr"/>
            <a:r>
              <a:rPr lang="pt-B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61070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13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D1BB0A-06E1-2B8E-C5EC-E5386F176829}"/>
              </a:ext>
            </a:extLst>
          </p:cNvPr>
          <p:cNvSpPr/>
          <p:nvPr/>
        </p:nvSpPr>
        <p:spPr>
          <a:xfrm>
            <a:off x="3902004" y="3587284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030436-1957-E23D-5D69-F19B307EE69D}"/>
              </a:ext>
            </a:extLst>
          </p:cNvPr>
          <p:cNvSpPr/>
          <p:nvPr/>
        </p:nvSpPr>
        <p:spPr>
          <a:xfrm>
            <a:off x="3733393" y="38766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FEFCE-AB2A-0C2E-4AB9-28E53A9709A8}"/>
              </a:ext>
            </a:extLst>
          </p:cNvPr>
          <p:cNvSpPr/>
          <p:nvPr/>
        </p:nvSpPr>
        <p:spPr>
          <a:xfrm>
            <a:off x="4046672" y="329789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025FD8-A1A5-5B83-8132-CDD7A2031C71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75814B-FCE5-7F1C-85CE-448B712C8B7B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F07218-8996-6F48-2809-149286313E38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5267E9-5F67-25E3-ED2C-21519BC49017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32304C-57B0-C2F2-0740-4ED749DCC894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D5506F-6F00-43D5-F8F7-A757DC5E2B4F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EAC6C4-88B7-7B0B-2E1A-46F2EF404C07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16A221D-4422-5E95-2A08-2B4E66226836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1.734.336 </a:t>
            </a:r>
          </a:p>
          <a:p>
            <a:pPr algn="ctr"/>
            <a:r>
              <a:rPr lang="pt-BR" dirty="0"/>
              <a:t>3x3x128x256 + 3x3x256x256 + 3x3x256x256</a:t>
            </a:r>
          </a:p>
          <a:p>
            <a:pPr algn="ctr"/>
            <a:r>
              <a:rPr lang="pt-BR" dirty="0"/>
              <a:t>294912 + 589824 + 589824</a:t>
            </a:r>
          </a:p>
        </p:txBody>
      </p:sp>
    </p:spTree>
    <p:extLst>
      <p:ext uri="{BB962C8B-B14F-4D97-AF65-F5344CB8AC3E}">
        <p14:creationId xmlns:p14="http://schemas.microsoft.com/office/powerpoint/2010/main" val="3152562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14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12C0C6-A2AD-D25E-1F30-A2E7DA792320}"/>
              </a:ext>
            </a:extLst>
          </p:cNvPr>
          <p:cNvSpPr/>
          <p:nvPr/>
        </p:nvSpPr>
        <p:spPr>
          <a:xfrm>
            <a:off x="4318193" y="4062670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93011A-BF79-A82A-8F6C-E19ACC81AF0B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A90B04-0617-A85B-2C0E-802F16851B5D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B4F0FA-0828-1409-FE82-4C9316522228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69A319-99C4-6D65-6E1C-6F7CEFF8FE25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EA7060-0DB2-E4CD-E6A2-492D5F85F32E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237688-B496-5079-52A2-988A653D6951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DBF400-47CD-7E33-6316-F18ABCD197E7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A0D985-8848-43C3-0EF3-88BA44DC77F7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397112-7E9F-6489-EF52-B22F77782827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859A5D2-808F-14FE-BCAB-512FFB51529F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C637C1E-010F-2892-E1AE-DD3CE1ED6337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1.734.336 </a:t>
            </a:r>
          </a:p>
          <a:p>
            <a:pPr algn="ctr"/>
            <a:r>
              <a:rPr lang="pt-B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1223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15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EA8A88-4830-0F44-991E-00F7D4AD8A7B}"/>
              </a:ext>
            </a:extLst>
          </p:cNvPr>
          <p:cNvSpPr/>
          <p:nvPr/>
        </p:nvSpPr>
        <p:spPr>
          <a:xfrm>
            <a:off x="4831263" y="33070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812D9D2-20F7-C956-0184-E9F1C1B323C6}"/>
              </a:ext>
            </a:extLst>
          </p:cNvPr>
          <p:cNvSpPr/>
          <p:nvPr/>
        </p:nvSpPr>
        <p:spPr>
          <a:xfrm>
            <a:off x="4576422" y="359751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7100BA-CEDF-FE0F-02B5-EDA10E9F3D2B}"/>
              </a:ext>
            </a:extLst>
          </p:cNvPr>
          <p:cNvSpPr/>
          <p:nvPr/>
        </p:nvSpPr>
        <p:spPr>
          <a:xfrm>
            <a:off x="4318193" y="390712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9997E30-06F1-40FF-0A70-A523D1919921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AA6EC64-91EE-5AF2-CB45-697E585093FC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D22A83-D8DA-A528-0701-AFE9CA778B0B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D2D357C-2F56-FB83-8A2A-D0CDEB3EAD80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2924DD-B8A7-3DCD-E559-1AF7A6FCD7B0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649ACDF-ABD9-16BC-8C0D-C4C8D5350B4A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770A259-945E-0E5D-B90B-D3C0AAF62F06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42784E0-0C54-5317-146C-BB94C8D1229D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8CEC780-0267-AB60-8E99-205429DB1DE5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BD39B1A-192F-9220-82D7-8FD1868D9744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2943007-7AB2-5F54-2D69-BE685CA887F4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9F32496-16AB-0812-6FD9-4BD8F1CD3BAA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7.632.576 </a:t>
            </a:r>
          </a:p>
          <a:p>
            <a:pPr algn="ctr"/>
            <a:r>
              <a:rPr lang="pt-BR" dirty="0"/>
              <a:t>3x3x256x512 + 3x3x512x512 + 3x3x512x512</a:t>
            </a:r>
          </a:p>
          <a:p>
            <a:pPr algn="ctr"/>
            <a:r>
              <a:rPr lang="pt-BR" dirty="0"/>
              <a:t>1179648 + 2359296 + 2359296</a:t>
            </a:r>
          </a:p>
        </p:txBody>
      </p:sp>
    </p:spTree>
    <p:extLst>
      <p:ext uri="{BB962C8B-B14F-4D97-AF65-F5344CB8AC3E}">
        <p14:creationId xmlns:p14="http://schemas.microsoft.com/office/powerpoint/2010/main" val="1770726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16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C93228-6FEB-A73C-A626-38546F4161A9}"/>
              </a:ext>
            </a:extLst>
          </p:cNvPr>
          <p:cNvSpPr/>
          <p:nvPr/>
        </p:nvSpPr>
        <p:spPr>
          <a:xfrm>
            <a:off x="5252971" y="4002225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DA677B-674C-4860-43C1-8DC9A84D3ADE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60BCE6-3B38-0BE0-0D1F-BDE3BFB73727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C4889F-C51C-29E6-FE2D-FB6463B332A1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98731-8E76-4BF8-CCCD-C2518B87A5CD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EBB251-D69A-8A3C-9CE1-080264F18EAD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582911-E6E4-F405-0FB0-DAAB2A267F9A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038F6D-836A-CB6B-847E-A2725D8E05B7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1F1798A-656E-3248-57F5-BE8909DFE6F3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BC07F1-734A-D37B-061E-4379910BE2A1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8DA8050-5CEE-51B4-D88A-0D7E430E4757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7A8B68-5EE2-91CA-3A0F-673405344050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6F140D-C8FC-AA1F-AD0F-3CBC154F3AEC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BD7D24-E869-6737-1794-E6DE8E9DA396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3A3857C-E519-B623-9600-F4D9A3133FB2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D4EE040-CA83-24D2-010D-6BABC551836C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7.632.576 </a:t>
            </a:r>
          </a:p>
          <a:p>
            <a:pPr algn="ctr"/>
            <a:r>
              <a:rPr lang="pt-B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585007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17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4B78DD-BAB3-9694-722C-E3103EA5136A}"/>
              </a:ext>
            </a:extLst>
          </p:cNvPr>
          <p:cNvSpPr/>
          <p:nvPr/>
        </p:nvSpPr>
        <p:spPr>
          <a:xfrm>
            <a:off x="5963072" y="323293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8C597D-77A5-6491-D72C-5BC87D9EE8FC}"/>
              </a:ext>
            </a:extLst>
          </p:cNvPr>
          <p:cNvSpPr/>
          <p:nvPr/>
        </p:nvSpPr>
        <p:spPr>
          <a:xfrm>
            <a:off x="5702920" y="355926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5F5228-72B2-38FF-556C-A233BF527BD3}"/>
              </a:ext>
            </a:extLst>
          </p:cNvPr>
          <p:cNvSpPr/>
          <p:nvPr/>
        </p:nvSpPr>
        <p:spPr>
          <a:xfrm>
            <a:off x="5427019" y="391189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DE3CEB-385A-B3FA-6C36-D504C674DE37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EE040-2121-6602-B471-D4F1266B83FF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C63EA9-DFFF-BF97-DC19-5E22D84A6267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8B864D-B11F-5297-2C56-3E9391A8BE4B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283F2D-4613-1F41-9461-A53A9CF60968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0F51E5-AC16-169F-A477-0E3EDC3846ED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83F68E-73D1-0C06-E4E6-327C4B62F337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F69C5E-4959-3A39-C29E-46CA966FF1F0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FE878E1-1980-4179-C843-4C933CF262D6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D0A22B-9DBE-19A2-8E4B-F50197420AAB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22F8723-38DD-C65C-58C7-2CD08A0F3524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6F4FB8-92A4-F37B-8055-0E29B9EEAD4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E15F68-0DBA-9C96-F9CB-12B55FD2D81C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4B3599-BB66-AE37-A29F-A316D3361AF9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297C5F-607D-8F8A-942E-385069F40FE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1237A6C-1671-E57E-D930-101E0D099C74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14.710.464 </a:t>
            </a:r>
          </a:p>
          <a:p>
            <a:pPr algn="ctr"/>
            <a:r>
              <a:rPr lang="pt-BR" dirty="0"/>
              <a:t>3x3x512x512 + 3x3x512x512 + 3x3x512x512</a:t>
            </a:r>
          </a:p>
          <a:p>
            <a:pPr algn="ctr"/>
            <a:r>
              <a:rPr lang="pt-BR" dirty="0"/>
              <a:t>2359296 + 2359296 + 2359296</a:t>
            </a:r>
          </a:p>
        </p:txBody>
      </p:sp>
    </p:spTree>
    <p:extLst>
      <p:ext uri="{BB962C8B-B14F-4D97-AF65-F5344CB8AC3E}">
        <p14:creationId xmlns:p14="http://schemas.microsoft.com/office/powerpoint/2010/main" val="596738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18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DCB957-D245-A4B3-4F8E-257802AB23C6}"/>
              </a:ext>
            </a:extLst>
          </p:cNvPr>
          <p:cNvSpPr/>
          <p:nvPr/>
        </p:nvSpPr>
        <p:spPr>
          <a:xfrm>
            <a:off x="6358843" y="404439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8257F-EDD0-5F55-6633-461E64ADFC33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3971CE-9FC1-73C8-CC5E-532C13F61D73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81C26C-04B1-586F-C625-886C7E76EDDF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37E021-F295-11AA-0886-0B93F5E5CECA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8F6FB7A-5CFC-84DF-BF95-A6E9E12D3E9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87F65D-810A-95A3-C071-4C99D679B900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EF0A7B-D960-7E8B-3AE6-AD4C20823ECA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406A3C2-2103-B666-D1F8-5A2D7EA7C45C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82E4F5-8C04-7467-BDEF-367E7E9D739D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AA1307-84CD-40CF-ADEC-1CCDA59C844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1EE325-AA23-367F-656C-4695A366B3BD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9025B8-2C16-F424-9C96-DC544DF771A1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5DD58E8-3BB1-BB83-8A97-DBE21D979011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DA8C37A-D983-49E9-73C4-B4C90F337BC1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9F4766F-0D64-6FE2-859E-C79B30A4F349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788244-AB47-3ABE-77B0-147F13EC576C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001005-826B-9CC2-B9A1-22534EFFD95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04CA255-290A-DB30-6BD5-E28E0E3EF5D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41C37D1-F9D4-2B6D-17EA-8C892FAE316C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14.710.464 </a:t>
            </a:r>
          </a:p>
          <a:p>
            <a:pPr algn="ctr"/>
            <a:r>
              <a:rPr lang="pt-B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50540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19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A56DE4-F917-7476-3646-E29841598341}"/>
              </a:ext>
            </a:extLst>
          </p:cNvPr>
          <p:cNvSpPr/>
          <p:nvPr/>
        </p:nvSpPr>
        <p:spPr>
          <a:xfrm>
            <a:off x="7024936" y="3657672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94749CB-8BA3-7F90-3B07-3C65CC82481C}"/>
              </a:ext>
            </a:extLst>
          </p:cNvPr>
          <p:cNvSpPr/>
          <p:nvPr/>
        </p:nvSpPr>
        <p:spPr>
          <a:xfrm>
            <a:off x="6470711" y="4037853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5B816E-CCF1-FCD0-6D4A-B9F67593AE66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872D8F-C745-6896-3B39-7CBCAD1518AE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1C2F-F3D5-DFFE-3340-DE9533232F1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ED5C6A-BE2F-79D5-4AD8-BD867D78CFFE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CF57606-A4A3-EBB2-B595-A9C5FEC2636E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5D7EA3-AB67-945B-2252-0A970148111C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03F5B75-DCD1-99EB-5030-747108521776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941DBEE-24E3-FBBB-D15E-6C7F1E1D9E29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656D166-CDAA-6895-5409-FBB9979DF462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4EDB2A-076C-B955-C6C4-2935D371FCE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EE5E3F-9F86-969A-1483-205B3EB4F93B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0636B7-AD4F-7EC6-D2CD-16EF1D83816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FECAF0C-54CD-1151-FE47-A2A118CD36B0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41E9B4-BEFE-4B6E-3FBE-AA79F59B2C2D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194439C-DA3F-4BB1-2D31-F6242990C378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E0F7DC-BDCF-F2C8-52C9-BA55D40F6728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785D200-FC6D-E7BC-87F3-ABC66BEEB4C7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E82106C-BBC5-B353-CA92-908072459DC4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2CCB350-8768-47B3-30D3-E8DDB7A16314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310A296-B453-0F93-CBC7-6A2E524615AB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134.248.128 </a:t>
            </a:r>
          </a:p>
          <a:p>
            <a:pPr algn="ctr"/>
            <a:r>
              <a:rPr lang="pt-BR" dirty="0"/>
              <a:t>7x7x512x4096 + 4096x4096</a:t>
            </a:r>
          </a:p>
          <a:p>
            <a:pPr algn="ctr"/>
            <a:r>
              <a:rPr lang="pt-BR" dirty="0"/>
              <a:t>102.760.448 + 16.777.216</a:t>
            </a:r>
          </a:p>
        </p:txBody>
      </p:sp>
    </p:spTree>
    <p:extLst>
      <p:ext uri="{BB962C8B-B14F-4D97-AF65-F5344CB8AC3E}">
        <p14:creationId xmlns:p14="http://schemas.microsoft.com/office/powerpoint/2010/main" val="2730252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650"/>
            <a:ext cx="10515600" cy="1325563"/>
          </a:xfrm>
        </p:spPr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20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F26DE5-E6E1-EA66-EB61-71FE2E468473}"/>
              </a:ext>
            </a:extLst>
          </p:cNvPr>
          <p:cNvSpPr/>
          <p:nvPr/>
        </p:nvSpPr>
        <p:spPr>
          <a:xfrm>
            <a:off x="7672857" y="424387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1F1CDB-584B-A25D-FAA4-2A570F8031DF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3D6F1-C892-A45F-E3E0-28E61DEA08B9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07812B-4D1A-251A-26B8-8B595121C856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31E518-1B9E-9ED3-612E-67BEAECBDAF0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D65C0BD-4A9D-3FBB-8B73-ACAC067C08E8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7C5BB49-EDEE-1AFE-09A6-4745ACB0D4ED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B1A00B-8144-3714-36A8-2A15DEF42B94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BDD5D0C-8C5E-19C2-0930-637FD3D1C9EF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EFAC509-1195-6E6E-F1F7-48AC125E49C6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578D42-3DEC-9E21-6BDB-070376990237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333B6C-0CB9-B1E9-1563-BB145E27216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AA5356-C160-A0B7-AF49-F7496CD96150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90F7E7D-44D9-CD09-3BAA-E01CD18D01F2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815298E-1A8A-07A2-CCFB-67368B94B8E3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B918C45-D6AE-FA97-87F8-3E571689B2B7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4E47BF3-1052-CA40-9CF3-C008AD4C2540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403EB8-8D46-AAF2-B54C-8379C23DEA82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A5F5A6-E4A0-D76E-7F98-6FA44DA5AD8B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28208C6-3736-AB5C-C7CD-ECC2623FBBA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02C78C9-99D2-02D3-66A3-7773434D2C20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7F48EF7-CD18-8F56-7A24-9EEB7BAD7947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5E795F6-8E6D-B098-23FC-C5DEABD85430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138.344.128 </a:t>
            </a:r>
          </a:p>
          <a:p>
            <a:pPr algn="ctr"/>
            <a:r>
              <a:rPr lang="pt-BR" dirty="0"/>
              <a:t>4096x1000</a:t>
            </a:r>
          </a:p>
          <a:p>
            <a:pPr algn="ctr"/>
            <a:r>
              <a:rPr lang="pt-BR" dirty="0"/>
              <a:t>4.096.000</a:t>
            </a:r>
          </a:p>
        </p:txBody>
      </p:sp>
    </p:spTree>
    <p:extLst>
      <p:ext uri="{BB962C8B-B14F-4D97-AF65-F5344CB8AC3E}">
        <p14:creationId xmlns:p14="http://schemas.microsoft.com/office/powerpoint/2010/main" val="1125684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21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B5740A-0E87-9DDA-68E7-9679A42723A4}"/>
              </a:ext>
            </a:extLst>
          </p:cNvPr>
          <p:cNvSpPr/>
          <p:nvPr/>
        </p:nvSpPr>
        <p:spPr>
          <a:xfrm>
            <a:off x="8102883" y="4231656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BFEA03E8-DA14-16CA-2B3B-FF455A414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EC792CA-E846-B634-F1A7-5A7E63ED09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CD65817-FF39-79B5-E405-BA78C37B2FD0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3853B4D-CF6E-6D63-1483-B68CD03F0EBF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B8FA249-5422-F4EF-F753-EB00801ED262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F99DBB3-8BC4-396D-54A2-B0E20FE7DA58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62D167E-C696-E504-1DBC-1406E0C887D9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B75B2D8-2956-9649-CFF3-088DC185700D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3802597-128B-2B7C-F5DC-DB8FAC30BEF3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1B442C2-DE33-88B7-FF97-0C0E38C53873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3A7E311-220F-8BC3-9735-BE2A44F76500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9073A42-3143-973B-CF09-5E00FAD1A384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61F0A98-68BE-E555-FD74-FE82E1960AF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BFE0776-F636-1038-F6AC-B54D49C5FAF8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7F32BCA-3E1B-2293-804F-F6065E2751A0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1C1938B-7E47-89B1-590B-CCC4085FA7C6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D10444D-DA0D-45A1-79E5-45E07CA154A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5030BF0-DE54-4A9B-229A-FABAF37A41C0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B2C6BCA-8A8E-3AC5-13BD-7332680C53B4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6F3A9A0-B7A1-146C-DA76-5678A1E62AED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37299CC-0358-5287-5215-5B5164B4631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AA68B96-59C9-1C36-9E24-D539E419DDB7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1CB99C2-D269-AE6D-AF1C-CE3CCAFE9944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025AB071-1B00-D963-B8C3-86EEF0686CFF}"/>
              </a:ext>
            </a:extLst>
          </p:cNvPr>
          <p:cNvSpPr/>
          <p:nvPr/>
        </p:nvSpPr>
        <p:spPr>
          <a:xfrm>
            <a:off x="3415025" y="595166"/>
            <a:ext cx="5757550" cy="1274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138.344.128 </a:t>
            </a:r>
          </a:p>
          <a:p>
            <a:pPr algn="ctr"/>
            <a:r>
              <a:rPr lang="pt-B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275221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22</a:t>
            </a:fld>
            <a:endParaRPr lang="pt-BR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3C5813-5106-92B0-5F4E-6AD9477B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061" y="2632828"/>
            <a:ext cx="7211639" cy="42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0C0F8A4E-CD1E-5D6F-91E4-E49C86284009}"/>
              </a:ext>
            </a:extLst>
          </p:cNvPr>
          <p:cNvSpPr/>
          <p:nvPr/>
        </p:nvSpPr>
        <p:spPr>
          <a:xfrm>
            <a:off x="2800350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7E7CFF5-0CDA-0408-47CA-B0F1166BE2B0}"/>
              </a:ext>
            </a:extLst>
          </p:cNvPr>
          <p:cNvSpPr/>
          <p:nvPr/>
        </p:nvSpPr>
        <p:spPr>
          <a:xfrm>
            <a:off x="3024086" y="634696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1A0F31C7-E29A-384A-AE83-E2034E10ECD0}"/>
              </a:ext>
            </a:extLst>
          </p:cNvPr>
          <p:cNvSpPr/>
          <p:nvPr/>
        </p:nvSpPr>
        <p:spPr>
          <a:xfrm>
            <a:off x="3454532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C492D1B-D0D9-A343-1B4D-4CD8596B60C0}"/>
              </a:ext>
            </a:extLst>
          </p:cNvPr>
          <p:cNvSpPr/>
          <p:nvPr/>
        </p:nvSpPr>
        <p:spPr>
          <a:xfrm>
            <a:off x="3678268" y="578611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462AEE5-BBF6-B6C4-BA59-0D2FF40A780B}"/>
              </a:ext>
            </a:extLst>
          </p:cNvPr>
          <p:cNvSpPr/>
          <p:nvPr/>
        </p:nvSpPr>
        <p:spPr>
          <a:xfrm>
            <a:off x="4033088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BD0BA66A-54A7-021C-4267-76CF0E08CD6D}"/>
              </a:ext>
            </a:extLst>
          </p:cNvPr>
          <p:cNvSpPr/>
          <p:nvPr/>
        </p:nvSpPr>
        <p:spPr>
          <a:xfrm>
            <a:off x="4228090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A7030E60-7AEB-A0E9-B3B3-37F25E652E63}"/>
              </a:ext>
            </a:extLst>
          </p:cNvPr>
          <p:cNvSpPr/>
          <p:nvPr/>
        </p:nvSpPr>
        <p:spPr>
          <a:xfrm>
            <a:off x="4435144" y="5314420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7D481052-6ABB-F5E9-7C71-8EF133E1E4F4}"/>
              </a:ext>
            </a:extLst>
          </p:cNvPr>
          <p:cNvSpPr/>
          <p:nvPr/>
        </p:nvSpPr>
        <p:spPr>
          <a:xfrm>
            <a:off x="4854246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5BF08F8-EAB5-51FC-2359-FA05E3B5946F}"/>
              </a:ext>
            </a:extLst>
          </p:cNvPr>
          <p:cNvSpPr/>
          <p:nvPr/>
        </p:nvSpPr>
        <p:spPr>
          <a:xfrm>
            <a:off x="514110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F7223FF-AC2C-F26A-F1F5-3B1C36FD8048}"/>
              </a:ext>
            </a:extLst>
          </p:cNvPr>
          <p:cNvSpPr/>
          <p:nvPr/>
        </p:nvSpPr>
        <p:spPr>
          <a:xfrm>
            <a:off x="5405943" y="5093167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E19FB0D-0C1C-5BEF-B708-971CCC00149E}"/>
              </a:ext>
            </a:extLst>
          </p:cNvPr>
          <p:cNvSpPr/>
          <p:nvPr/>
        </p:nvSpPr>
        <p:spPr>
          <a:xfrm>
            <a:off x="5963072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0118F624-7D3E-0998-1D24-CB12F1928DBD}"/>
              </a:ext>
            </a:extLst>
          </p:cNvPr>
          <p:cNvSpPr/>
          <p:nvPr/>
        </p:nvSpPr>
        <p:spPr>
          <a:xfrm>
            <a:off x="6238973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4A3E911-98B2-D828-5622-8415AE6EB91B}"/>
              </a:ext>
            </a:extLst>
          </p:cNvPr>
          <p:cNvSpPr/>
          <p:nvPr/>
        </p:nvSpPr>
        <p:spPr>
          <a:xfrm>
            <a:off x="6513958" y="4966093"/>
            <a:ext cx="223736" cy="29183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E69A79E-D9A0-BEF3-CFA6-9A18E730329E}"/>
              </a:ext>
            </a:extLst>
          </p:cNvPr>
          <p:cNvSpPr/>
          <p:nvPr/>
        </p:nvSpPr>
        <p:spPr>
          <a:xfrm>
            <a:off x="7118632" y="4913016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C50A88CB-FEBF-3096-BAA2-ACAE2208D10F}"/>
              </a:ext>
            </a:extLst>
          </p:cNvPr>
          <p:cNvSpPr/>
          <p:nvPr/>
        </p:nvSpPr>
        <p:spPr>
          <a:xfrm>
            <a:off x="7672857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36F5EE26-7D3A-93C8-DD50-8CD4AFECF4C5}"/>
              </a:ext>
            </a:extLst>
          </p:cNvPr>
          <p:cNvSpPr/>
          <p:nvPr/>
        </p:nvSpPr>
        <p:spPr>
          <a:xfrm>
            <a:off x="8264666" y="4912693"/>
            <a:ext cx="223736" cy="29183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A7E700-B4D3-215E-41AA-8E18AB9F8CE2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C10B51-B6BD-1B1C-50CA-E37FDC013B43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6B14A1-DC38-4004-BCB0-C8EC11433676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635A16-8B39-A324-B5ED-1C9889C56C90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E19BAA-D6FA-F599-8AE2-3CBF37F27D04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6AEC93-40BE-62F4-B5A0-1016B20292E0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A499C6-34B5-4536-3C2D-6831646D2002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D1BB0A-06E1-2B8E-C5EC-E5386F176829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030436-1957-E23D-5D69-F19B307EE69D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12C0C6-A2AD-D25E-1F30-A2E7DA792320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EA8A88-4830-0F44-991E-00F7D4AD8A7B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812D9D2-20F7-C956-0184-E9F1C1B323C6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C93228-6FEB-A73C-A626-38546F4161A9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7100BA-CEDF-FE0F-02B5-EDA10E9F3D2B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4B78DD-BAB3-9694-722C-E3103EA5136A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8C597D-77A5-6491-D72C-5BC87D9EE8FC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DCB957-D245-A4B3-4F8E-257802AB23C6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5F5228-72B2-38FF-556C-A233BF527BD3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A56DE4-F917-7476-3646-E29841598341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94749CB-8BA3-7F90-3B07-3C65CC82481C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B5740A-0E87-9DDA-68E7-9679A42723A4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F26DE5-E6E1-EA66-EB61-71FE2E468473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BFEA03E8-DA14-16CA-2B3B-FF455A414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51ADB1-2D26-4523-7E36-B96BC7028C14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F2079A-D5C5-2B36-A016-6A37E8157D44}"/>
              </a:ext>
            </a:extLst>
          </p:cNvPr>
          <p:cNvSpPr/>
          <p:nvPr/>
        </p:nvSpPr>
        <p:spPr>
          <a:xfrm>
            <a:off x="3818092" y="1646237"/>
            <a:ext cx="4513695" cy="72194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 de Parâmetros Treináveis: 138.344.128</a:t>
            </a:r>
          </a:p>
          <a:p>
            <a:pPr algn="ctr"/>
            <a:r>
              <a:rPr lang="pt-BR" dirty="0"/>
              <a:t>Observação: não contamos os </a:t>
            </a:r>
            <a:r>
              <a:rPr lang="pt-BR" i="1" dirty="0"/>
              <a:t>bias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3562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FDC6-1422-1CD0-0E82-A8C343DD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62F3-F6F3-52D4-1AE0-A0933CB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23</a:t>
            </a:fld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A7E700-B4D3-215E-41AA-8E18AB9F8CE2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C10B51-B6BD-1B1C-50CA-E37FDC013B43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6B14A1-DC38-4004-BCB0-C8EC11433676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635A16-8B39-A324-B5ED-1C9889C56C90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E19BAA-D6FA-F599-8AE2-3CBF37F27D04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6AEC93-40BE-62F4-B5A0-1016B20292E0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A499C6-34B5-4536-3C2D-6831646D2002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D1BB0A-06E1-2B8E-C5EC-E5386F176829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030436-1957-E23D-5D69-F19B307EE69D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12C0C6-A2AD-D25E-1F30-A2E7DA792320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EA8A88-4830-0F44-991E-00F7D4AD8A7B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812D9D2-20F7-C956-0184-E9F1C1B323C6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C93228-6FEB-A73C-A626-38546F4161A9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7100BA-CEDF-FE0F-02B5-EDA10E9F3D2B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4B78DD-BAB3-9694-722C-E3103EA5136A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8C597D-77A5-6491-D72C-5BC87D9EE8FC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DCB957-D245-A4B3-4F8E-257802AB23C6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5F5228-72B2-38FF-556C-A233BF527BD3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A56DE4-F917-7476-3646-E29841598341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94749CB-8BA3-7F90-3B07-3C65CC82481C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B5740A-0E87-9DDA-68E7-9679A42723A4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F26DE5-E6E1-EA66-EB61-71FE2E468473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BFEA03E8-DA14-16CA-2B3B-FF455A414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77200" cy="4351338"/>
          </a:xfrm>
        </p:spPr>
        <p:txBody>
          <a:bodyPr/>
          <a:lstStyle/>
          <a:p>
            <a:r>
              <a:rPr lang="pt-BR" dirty="0"/>
              <a:t>Repare que a maioria dos parâmetros treináveis encontra-se nas camadas densas (MLP)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51ADB1-2D26-4523-7E36-B96BC7028C14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21F56AD0-EFFE-45BD-1D21-E44C52438AAD}"/>
              </a:ext>
            </a:extLst>
          </p:cNvPr>
          <p:cNvSpPr/>
          <p:nvPr/>
        </p:nvSpPr>
        <p:spPr>
          <a:xfrm>
            <a:off x="9834222" y="1304924"/>
            <a:ext cx="519435" cy="5553075"/>
          </a:xfrm>
          <a:prstGeom prst="leftBrace">
            <a:avLst>
              <a:gd name="adj1" fmla="val 34005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804E93DE-AEE4-E2B7-7707-79B7DF7CF434}"/>
              </a:ext>
            </a:extLst>
          </p:cNvPr>
          <p:cNvSpPr/>
          <p:nvPr/>
        </p:nvSpPr>
        <p:spPr>
          <a:xfrm>
            <a:off x="9834221" y="345525"/>
            <a:ext cx="519435" cy="923924"/>
          </a:xfrm>
          <a:prstGeom prst="leftBrace">
            <a:avLst>
              <a:gd name="adj1" fmla="val 34005"/>
              <a:gd name="adj2" fmla="val 5000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375CEB9-8C8E-C762-EBD1-8E1FB6D954D9}"/>
              </a:ext>
            </a:extLst>
          </p:cNvPr>
          <p:cNvSpPr/>
          <p:nvPr/>
        </p:nvSpPr>
        <p:spPr>
          <a:xfrm>
            <a:off x="8100441" y="3698731"/>
            <a:ext cx="1567184" cy="789339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~14M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44FF1C-2793-CA3D-9D46-E000F916D735}"/>
              </a:ext>
            </a:extLst>
          </p:cNvPr>
          <p:cNvSpPr/>
          <p:nvPr/>
        </p:nvSpPr>
        <p:spPr>
          <a:xfrm>
            <a:off x="8214630" y="461082"/>
            <a:ext cx="1519578" cy="7893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~124M</a:t>
            </a:r>
          </a:p>
        </p:txBody>
      </p:sp>
    </p:spTree>
    <p:extLst>
      <p:ext uri="{BB962C8B-B14F-4D97-AF65-F5344CB8AC3E}">
        <p14:creationId xmlns:p14="http://schemas.microsoft.com/office/powerpoint/2010/main" val="4100852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D81D-1959-55C6-FC5B-FA145DEB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9775" cy="4351338"/>
          </a:xfrm>
        </p:spPr>
        <p:txBody>
          <a:bodyPr/>
          <a:lstStyle/>
          <a:p>
            <a:r>
              <a:rPr lang="pt-BR" dirty="0"/>
              <a:t>Além de classificar a imagem podemos localizar o objeto </a:t>
            </a:r>
          </a:p>
          <a:p>
            <a:r>
              <a:rPr lang="pt-BR" dirty="0"/>
              <a:t>Como?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24</a:t>
            </a:fld>
            <a:endParaRPr lang="pt-BR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35AE92D-C9C2-FF2A-E317-4BAF8F98C9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344" b="20741"/>
          <a:stretch/>
        </p:blipFill>
        <p:spPr bwMode="auto">
          <a:xfrm>
            <a:off x="3409950" y="3315179"/>
            <a:ext cx="4162425" cy="292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08E690-7C2D-2EC4-BACC-D7DB05F7F556}"/>
              </a:ext>
            </a:extLst>
          </p:cNvPr>
          <p:cNvSpPr txBox="1"/>
          <p:nvPr/>
        </p:nvSpPr>
        <p:spPr>
          <a:xfrm>
            <a:off x="-47624" y="6596390"/>
            <a:ext cx="10515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SERMANET, Pierre et al.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Overfeat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Integrated recognition, localization and detection using convolutional networks. </a:t>
            </a:r>
            <a:r>
              <a:rPr lang="en-US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arXiv:1312.6229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2013.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220901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Para desenhar uma </a:t>
                </a:r>
                <a:r>
                  <a:rPr lang="pt-BR" sz="2400" i="1" dirty="0" err="1"/>
                  <a:t>bounding</a:t>
                </a:r>
                <a:r>
                  <a:rPr lang="pt-BR" sz="2400" i="1" dirty="0"/>
                  <a:t> box </a:t>
                </a:r>
                <a:r>
                  <a:rPr lang="pt-BR" sz="2400" dirty="0"/>
                  <a:t>precisamos de 4 valores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i="1" dirty="0"/>
                  <a:t> </a:t>
                </a:r>
                <a:r>
                  <a:rPr lang="pt-BR" sz="2000" dirty="0"/>
                  <a:t>do centro ou de um dos cantos</a:t>
                </a:r>
                <a:endParaRPr lang="pt-BR" sz="2000" i="1" dirty="0"/>
              </a:p>
              <a:p>
                <a:pPr lvl="1"/>
                <a:r>
                  <a:rPr lang="pt-BR" sz="2000" dirty="0"/>
                  <a:t>altura e largura</a:t>
                </a:r>
              </a:p>
              <a:p>
                <a:r>
                  <a:rPr lang="pt-BR" sz="2400" dirty="0"/>
                  <a:t>Podemos modelar esses 4 valores como um problema de regressão multivariada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  <a:blipFill>
                <a:blip r:embed="rId2"/>
                <a:stretch>
                  <a:fillRect l="-88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25</a:t>
            </a:fld>
            <a:endParaRPr lang="pt-BR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35AE92D-C9C2-FF2A-E317-4BAF8F98C9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344" b="20741"/>
          <a:stretch/>
        </p:blipFill>
        <p:spPr bwMode="auto">
          <a:xfrm>
            <a:off x="3409950" y="3658079"/>
            <a:ext cx="4162425" cy="292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08E690-7C2D-2EC4-BACC-D7DB05F7F556}"/>
              </a:ext>
            </a:extLst>
          </p:cNvPr>
          <p:cNvSpPr txBox="1"/>
          <p:nvPr/>
        </p:nvSpPr>
        <p:spPr>
          <a:xfrm>
            <a:off x="-47624" y="6596390"/>
            <a:ext cx="10515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SERMANET, Pierre et al.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Overfeat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Integrated recognition, localization and detection using convolutional networks. </a:t>
            </a:r>
            <a:r>
              <a:rPr lang="en-US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arXiv:1312.6229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2013.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4091894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Valor </a:t>
                </a:r>
                <a:r>
                  <a:rPr lang="en-US" sz="2400" dirty="0" err="1"/>
                  <a:t>alvo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400" b="0" dirty="0"/>
              </a:p>
              <a:p>
                <a:pPr lvl="1"/>
                <a:r>
                  <a:rPr lang="pt-BR" sz="2000" dirty="0"/>
                  <a:t>Ponto superior esquerdo da imagem é (0,0)</a:t>
                </a:r>
              </a:p>
              <a:p>
                <a:pPr lvl="1"/>
                <a:r>
                  <a:rPr lang="pt-BR" sz="2000" dirty="0"/>
                  <a:t>Ponto inferior direito é (1,1)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  <a:blipFill>
                <a:blip r:embed="rId2"/>
                <a:stretch>
                  <a:fillRect l="-88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26</a:t>
            </a:fld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38150" y="4001294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62025" y="4332427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/>
              <p:nvPr/>
            </p:nvSpPr>
            <p:spPr>
              <a:xfrm>
                <a:off x="409584" y="3986962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4" y="3986962"/>
                <a:ext cx="1019175" cy="369332"/>
              </a:xfrm>
              <a:prstGeom prst="rect">
                <a:avLst/>
              </a:prstGeom>
              <a:blipFill>
                <a:blip r:embed="rId4"/>
                <a:stretch>
                  <a:fillRect l="-1796" r="-17964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93D68D7C-F429-021B-B210-CC822EE6367F}"/>
              </a:ext>
            </a:extLst>
          </p:cNvPr>
          <p:cNvSpPr/>
          <p:nvPr/>
        </p:nvSpPr>
        <p:spPr>
          <a:xfrm rot="5400000">
            <a:off x="1993110" y="4622947"/>
            <a:ext cx="276226" cy="242410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/>
              <p:nvPr/>
            </p:nvSpPr>
            <p:spPr>
              <a:xfrm>
                <a:off x="1621635" y="5938166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635" y="5938166"/>
                <a:ext cx="10191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/>
              <p:nvPr/>
            </p:nvSpPr>
            <p:spPr>
              <a:xfrm>
                <a:off x="3367088" y="4804789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088" y="4804789"/>
                <a:ext cx="10191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9436A10D-DF2E-6D18-3174-5A86469E1EDE}"/>
              </a:ext>
            </a:extLst>
          </p:cNvPr>
          <p:cNvSpPr/>
          <p:nvPr/>
        </p:nvSpPr>
        <p:spPr>
          <a:xfrm>
            <a:off x="3419484" y="4356294"/>
            <a:ext cx="180967" cy="128172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679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Valor </a:t>
                </a:r>
                <a:r>
                  <a:rPr lang="en-US" sz="2400" dirty="0" err="1"/>
                  <a:t>alvo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400" b="0" dirty="0"/>
              </a:p>
              <a:p>
                <a:pPr lvl="1"/>
                <a:r>
                  <a:rPr lang="pt-BR" sz="2000" dirty="0"/>
                  <a:t>Ponto superior esquerdo da imagem é (0,0)</a:t>
                </a:r>
              </a:p>
              <a:p>
                <a:pPr lvl="1"/>
                <a:r>
                  <a:rPr lang="pt-BR" sz="2000" dirty="0"/>
                  <a:t>Ponto inferior direito é (1,1) </a:t>
                </a:r>
              </a:p>
              <a:p>
                <a:r>
                  <a:rPr lang="pt-BR" sz="2400" dirty="0"/>
                  <a:t>O </a:t>
                </a:r>
                <a:r>
                  <a:rPr lang="pt-BR" sz="2400" i="1" dirty="0" err="1"/>
                  <a:t>bounding</a:t>
                </a:r>
                <a:r>
                  <a:rPr lang="pt-BR" sz="2400" i="1" dirty="0"/>
                  <a:t> box</a:t>
                </a:r>
                <a:r>
                  <a:rPr lang="pt-BR" sz="2400" dirty="0"/>
                  <a:t> abaixo pode ser representado por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(0.2, 0.1, 0.5, 0.7)</m:t>
                    </m:r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  <a:blipFill>
                <a:blip r:embed="rId2"/>
                <a:stretch>
                  <a:fillRect l="-88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27</a:t>
            </a:fld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38150" y="4001294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62025" y="4332427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/>
              <p:nvPr/>
            </p:nvSpPr>
            <p:spPr>
              <a:xfrm>
                <a:off x="409584" y="3986962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(0.2, 0.1)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4" y="3986962"/>
                <a:ext cx="1019175" cy="369332"/>
              </a:xfrm>
              <a:prstGeom prst="rect">
                <a:avLst/>
              </a:prstGeom>
              <a:blipFill>
                <a:blip r:embed="rId4"/>
                <a:stretch>
                  <a:fillRect l="-1796" r="-6587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93D68D7C-F429-021B-B210-CC822EE6367F}"/>
              </a:ext>
            </a:extLst>
          </p:cNvPr>
          <p:cNvSpPr/>
          <p:nvPr/>
        </p:nvSpPr>
        <p:spPr>
          <a:xfrm rot="5400000">
            <a:off x="1993110" y="4622947"/>
            <a:ext cx="276226" cy="242410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/>
              <p:nvPr/>
            </p:nvSpPr>
            <p:spPr>
              <a:xfrm>
                <a:off x="1621635" y="5938166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635" y="5938166"/>
                <a:ext cx="10191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/>
              <p:nvPr/>
            </p:nvSpPr>
            <p:spPr>
              <a:xfrm>
                <a:off x="3367088" y="4804789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088" y="4804789"/>
                <a:ext cx="10191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9436A10D-DF2E-6D18-3174-5A86469E1EDE}"/>
              </a:ext>
            </a:extLst>
          </p:cNvPr>
          <p:cNvSpPr/>
          <p:nvPr/>
        </p:nvSpPr>
        <p:spPr>
          <a:xfrm>
            <a:off x="3419484" y="4356294"/>
            <a:ext cx="180967" cy="128172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508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O </a:t>
                </a:r>
                <a:r>
                  <a:rPr lang="pt-BR" sz="2400" i="1" dirty="0" err="1"/>
                  <a:t>bounding</a:t>
                </a:r>
                <a:r>
                  <a:rPr lang="pt-BR" sz="2400" i="1" dirty="0"/>
                  <a:t> box</a:t>
                </a:r>
                <a:r>
                  <a:rPr lang="pt-BR" sz="2400" dirty="0"/>
                  <a:t> abaixo pode ser representado por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0.2, 0.1, 0.5, 0.7</m:t>
                        </m:r>
                      </m:e>
                    </m:d>
                  </m:oMath>
                </a14:m>
                <a:endParaRPr lang="en-US" sz="2000" b="0" dirty="0"/>
              </a:p>
              <a:p>
                <a:r>
                  <a:rPr lang="pt-BR" sz="2400" dirty="0"/>
                  <a:t>A saída da rede deve ter 4 unidades </a:t>
                </a:r>
                <a:r>
                  <a:rPr lang="pt-BR" sz="2400" dirty="0" err="1"/>
                  <a:t>Sigmoid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  <a:blipFill>
                <a:blip r:embed="rId2"/>
                <a:stretch>
                  <a:fillRect l="-88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28</a:t>
            </a:fld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8391507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8391507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8391507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8391507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38150" y="4334669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62025" y="4665802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/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(0.2, 0.1)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blipFill>
                <a:blip r:embed="rId4"/>
                <a:stretch>
                  <a:fillRect l="-1796" r="-6587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93D68D7C-F429-021B-B210-CC822EE6367F}"/>
              </a:ext>
            </a:extLst>
          </p:cNvPr>
          <p:cNvSpPr/>
          <p:nvPr/>
        </p:nvSpPr>
        <p:spPr>
          <a:xfrm rot="5400000">
            <a:off x="1993110" y="4956322"/>
            <a:ext cx="276226" cy="242410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/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/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9436A10D-DF2E-6D18-3174-5A86469E1EDE}"/>
              </a:ext>
            </a:extLst>
          </p:cNvPr>
          <p:cNvSpPr/>
          <p:nvPr/>
        </p:nvSpPr>
        <p:spPr>
          <a:xfrm>
            <a:off x="3419484" y="4689669"/>
            <a:ext cx="180967" cy="128172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ross 28">
            <a:extLst>
              <a:ext uri="{FF2B5EF4-FFF2-40B4-BE49-F238E27FC236}">
                <a16:creationId xmlns:a16="http://schemas.microsoft.com/office/drawing/2014/main" id="{C1114146-5713-C427-3E3A-77D773420CE5}"/>
              </a:ext>
            </a:extLst>
          </p:cNvPr>
          <p:cNvSpPr/>
          <p:nvPr/>
        </p:nvSpPr>
        <p:spPr>
          <a:xfrm rot="2841097">
            <a:off x="8448097" y="-44531"/>
            <a:ext cx="1406397" cy="1399167"/>
          </a:xfrm>
          <a:prstGeom prst="plus">
            <a:avLst>
              <a:gd name="adj" fmla="val 456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 </a:t>
            </a:r>
            <a:r>
              <a:rPr lang="pt-BR" sz="1400" dirty="0"/>
              <a:t>(sem </a:t>
            </a:r>
            <a:r>
              <a:rPr lang="pt-BR" sz="1400" dirty="0" err="1"/>
              <a:t>ReLu</a:t>
            </a:r>
            <a:r>
              <a:rPr lang="pt-BR" sz="1400" dirty="0"/>
              <a:t>)</a:t>
            </a:r>
            <a:endParaRPr lang="pt-B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D41797-4A4A-041E-E12C-FA41FB09E9F4}"/>
              </a:ext>
            </a:extLst>
          </p:cNvPr>
          <p:cNvSpPr/>
          <p:nvPr/>
        </p:nvSpPr>
        <p:spPr>
          <a:xfrm>
            <a:off x="1690777" y="2225615"/>
            <a:ext cx="370936" cy="297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14498AB-E075-B6FB-16C3-7FF23AD49CD9}"/>
              </a:ext>
            </a:extLst>
          </p:cNvPr>
          <p:cNvSpPr/>
          <p:nvPr/>
        </p:nvSpPr>
        <p:spPr>
          <a:xfrm>
            <a:off x="2127849" y="2231369"/>
            <a:ext cx="370936" cy="297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DBC291-0058-6873-0F8E-6F519502440C}"/>
              </a:ext>
            </a:extLst>
          </p:cNvPr>
          <p:cNvSpPr/>
          <p:nvPr/>
        </p:nvSpPr>
        <p:spPr>
          <a:xfrm>
            <a:off x="2567797" y="2222742"/>
            <a:ext cx="370936" cy="297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899244-48E1-2B25-A45D-4E155E41B79B}"/>
              </a:ext>
            </a:extLst>
          </p:cNvPr>
          <p:cNvSpPr/>
          <p:nvPr/>
        </p:nvSpPr>
        <p:spPr>
          <a:xfrm>
            <a:off x="2990486" y="2222741"/>
            <a:ext cx="370936" cy="297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555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O </a:t>
                </a:r>
                <a:r>
                  <a:rPr lang="pt-BR" sz="2400" i="1" dirty="0" err="1"/>
                  <a:t>bounding</a:t>
                </a:r>
                <a:r>
                  <a:rPr lang="pt-BR" sz="2400" i="1" dirty="0"/>
                  <a:t> box</a:t>
                </a:r>
                <a:r>
                  <a:rPr lang="pt-BR" sz="2400" dirty="0"/>
                  <a:t> abaixo pode ser representado por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0.2, 0.1, 0.5, 0.7</m:t>
                        </m:r>
                      </m:e>
                    </m:d>
                  </m:oMath>
                </a14:m>
                <a:endParaRPr lang="en-US" sz="2000" b="0" dirty="0"/>
              </a:p>
              <a:p>
                <a:r>
                  <a:rPr lang="pt-BR" sz="2400" dirty="0"/>
                  <a:t>A saída da rede deve ter 4 unidades </a:t>
                </a:r>
                <a:r>
                  <a:rPr lang="pt-BR" sz="2400" dirty="0" err="1"/>
                  <a:t>Sigmoid</a:t>
                </a:r>
                <a:endParaRPr lang="pt-BR" sz="2400" dirty="0"/>
              </a:p>
              <a:p>
                <a:r>
                  <a:rPr lang="pt-BR" sz="2400" dirty="0"/>
                  <a:t>Podemos usar a </a:t>
                </a:r>
                <a:r>
                  <a:rPr lang="pt-BR" sz="2400" dirty="0" err="1"/>
                  <a:t>loss</a:t>
                </a:r>
                <a:r>
                  <a:rPr lang="pt-BR" sz="2400" dirty="0"/>
                  <a:t> MSE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  <a:blipFill>
                <a:blip r:embed="rId2"/>
                <a:stretch>
                  <a:fillRect l="-88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29</a:t>
            </a:fld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8391507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8391507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8391507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8391507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38150" y="4334669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62025" y="4665802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/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(0.2, 0.1)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blipFill>
                <a:blip r:embed="rId4"/>
                <a:stretch>
                  <a:fillRect l="-1796" r="-6587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93D68D7C-F429-021B-B210-CC822EE6367F}"/>
              </a:ext>
            </a:extLst>
          </p:cNvPr>
          <p:cNvSpPr/>
          <p:nvPr/>
        </p:nvSpPr>
        <p:spPr>
          <a:xfrm rot="5400000">
            <a:off x="1993110" y="4956322"/>
            <a:ext cx="276226" cy="242410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/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/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9436A10D-DF2E-6D18-3174-5A86469E1EDE}"/>
              </a:ext>
            </a:extLst>
          </p:cNvPr>
          <p:cNvSpPr/>
          <p:nvPr/>
        </p:nvSpPr>
        <p:spPr>
          <a:xfrm>
            <a:off x="3419484" y="4689669"/>
            <a:ext cx="180967" cy="128172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ross 28">
            <a:extLst>
              <a:ext uri="{FF2B5EF4-FFF2-40B4-BE49-F238E27FC236}">
                <a16:creationId xmlns:a16="http://schemas.microsoft.com/office/drawing/2014/main" id="{C1114146-5713-C427-3E3A-77D773420CE5}"/>
              </a:ext>
            </a:extLst>
          </p:cNvPr>
          <p:cNvSpPr/>
          <p:nvPr/>
        </p:nvSpPr>
        <p:spPr>
          <a:xfrm rot="2841097">
            <a:off x="8448097" y="-44531"/>
            <a:ext cx="1406397" cy="1399167"/>
          </a:xfrm>
          <a:prstGeom prst="plus">
            <a:avLst>
              <a:gd name="adj" fmla="val 456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 </a:t>
            </a:r>
            <a:r>
              <a:rPr lang="pt-BR" sz="1400" dirty="0"/>
              <a:t>(sem </a:t>
            </a:r>
            <a:r>
              <a:rPr lang="pt-BR" sz="1400" dirty="0" err="1"/>
              <a:t>ReLu</a:t>
            </a:r>
            <a:r>
              <a:rPr lang="pt-BR" sz="1400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8944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D81D-1959-55C6-FC5B-FA145DEB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9775" cy="4351338"/>
          </a:xfrm>
        </p:spPr>
        <p:txBody>
          <a:bodyPr>
            <a:normAutofit/>
          </a:bodyPr>
          <a:lstStyle/>
          <a:p>
            <a:r>
              <a:rPr lang="pt-BR" sz="2400" dirty="0"/>
              <a:t>Imagine que já treinamos a rede </a:t>
            </a:r>
            <a:r>
              <a:rPr lang="pt-BR" sz="2400" dirty="0" err="1"/>
              <a:t>convolucional</a:t>
            </a:r>
            <a:r>
              <a:rPr lang="pt-BR" sz="2400" dirty="0"/>
              <a:t> para classificar as fotos</a:t>
            </a:r>
          </a:p>
          <a:p>
            <a:pPr lvl="1"/>
            <a:r>
              <a:rPr lang="pt-BR" sz="2000" dirty="0"/>
              <a:t>Os parâmetros das convoluções já estão ajustados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30</a:t>
            </a:fld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8391507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8391507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8391507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8391507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38150" y="4334669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62025" y="4665802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/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(0.2, 0.1)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blipFill>
                <a:blip r:embed="rId3"/>
                <a:stretch>
                  <a:fillRect l="-1796" r="-6587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93D68D7C-F429-021B-B210-CC822EE6367F}"/>
              </a:ext>
            </a:extLst>
          </p:cNvPr>
          <p:cNvSpPr/>
          <p:nvPr/>
        </p:nvSpPr>
        <p:spPr>
          <a:xfrm rot="5400000">
            <a:off x="1993110" y="4956322"/>
            <a:ext cx="276226" cy="242410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/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/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9436A10D-DF2E-6D18-3174-5A86469E1EDE}"/>
              </a:ext>
            </a:extLst>
          </p:cNvPr>
          <p:cNvSpPr/>
          <p:nvPr/>
        </p:nvSpPr>
        <p:spPr>
          <a:xfrm>
            <a:off x="3419484" y="4689669"/>
            <a:ext cx="180967" cy="128172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ross 28">
            <a:extLst>
              <a:ext uri="{FF2B5EF4-FFF2-40B4-BE49-F238E27FC236}">
                <a16:creationId xmlns:a16="http://schemas.microsoft.com/office/drawing/2014/main" id="{C1114146-5713-C427-3E3A-77D773420CE5}"/>
              </a:ext>
            </a:extLst>
          </p:cNvPr>
          <p:cNvSpPr/>
          <p:nvPr/>
        </p:nvSpPr>
        <p:spPr>
          <a:xfrm rot="2841097">
            <a:off x="8448097" y="-44531"/>
            <a:ext cx="1406397" cy="1399167"/>
          </a:xfrm>
          <a:prstGeom prst="plus">
            <a:avLst>
              <a:gd name="adj" fmla="val 456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 </a:t>
            </a:r>
            <a:r>
              <a:rPr lang="pt-BR" sz="1400" dirty="0"/>
              <a:t>(sem </a:t>
            </a:r>
            <a:r>
              <a:rPr lang="pt-BR" sz="1400" dirty="0" err="1"/>
              <a:t>ReLu</a:t>
            </a:r>
            <a:r>
              <a:rPr lang="pt-BR" sz="1400" dirty="0"/>
              <a:t>)</a:t>
            </a:r>
            <a:endParaRPr lang="pt-BR" dirty="0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E8B4B248-0A9F-9C4D-8017-AC6C7C09BD1F}"/>
              </a:ext>
            </a:extLst>
          </p:cNvPr>
          <p:cNvSpPr/>
          <p:nvPr/>
        </p:nvSpPr>
        <p:spPr>
          <a:xfrm>
            <a:off x="10142272" y="1230208"/>
            <a:ext cx="401912" cy="5310357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94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D81D-1959-55C6-FC5B-FA145DEB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9775" cy="4351338"/>
          </a:xfrm>
        </p:spPr>
        <p:txBody>
          <a:bodyPr>
            <a:normAutofit/>
          </a:bodyPr>
          <a:lstStyle/>
          <a:p>
            <a:r>
              <a:rPr lang="pt-BR" sz="2400" dirty="0"/>
              <a:t>Imagine que já treinamos a rede </a:t>
            </a:r>
            <a:r>
              <a:rPr lang="pt-BR" sz="2400" dirty="0" err="1"/>
              <a:t>convolucional</a:t>
            </a:r>
            <a:r>
              <a:rPr lang="pt-BR" sz="2400" dirty="0"/>
              <a:t> para classificar as fotos</a:t>
            </a:r>
          </a:p>
          <a:p>
            <a:pPr lvl="1"/>
            <a:r>
              <a:rPr lang="pt-BR" sz="2000" dirty="0"/>
              <a:t>Os parâmetros das convoluções já estão ajustados</a:t>
            </a:r>
          </a:p>
          <a:p>
            <a:r>
              <a:rPr lang="pt-BR" sz="2400" dirty="0"/>
              <a:t>Vamos “congelar” os pesos da convolução e treinar só os pesos do </a:t>
            </a:r>
            <a:r>
              <a:rPr lang="pt-BR" sz="2400" b="1" dirty="0">
                <a:solidFill>
                  <a:srgbClr val="00B0F0"/>
                </a:solidFill>
              </a:rPr>
              <a:t>MLP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31</a:t>
            </a:fld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8391507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8391507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8391507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8391507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38150" y="4334669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62025" y="4665802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/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(0.2, 0.1)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blipFill>
                <a:blip r:embed="rId3"/>
                <a:stretch>
                  <a:fillRect l="-1796" r="-6587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93D68D7C-F429-021B-B210-CC822EE6367F}"/>
              </a:ext>
            </a:extLst>
          </p:cNvPr>
          <p:cNvSpPr/>
          <p:nvPr/>
        </p:nvSpPr>
        <p:spPr>
          <a:xfrm rot="5400000">
            <a:off x="1993110" y="4956322"/>
            <a:ext cx="276226" cy="242410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/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/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9436A10D-DF2E-6D18-3174-5A86469E1EDE}"/>
              </a:ext>
            </a:extLst>
          </p:cNvPr>
          <p:cNvSpPr/>
          <p:nvPr/>
        </p:nvSpPr>
        <p:spPr>
          <a:xfrm>
            <a:off x="3419484" y="4689669"/>
            <a:ext cx="180967" cy="128172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ross 28">
            <a:extLst>
              <a:ext uri="{FF2B5EF4-FFF2-40B4-BE49-F238E27FC236}">
                <a16:creationId xmlns:a16="http://schemas.microsoft.com/office/drawing/2014/main" id="{C1114146-5713-C427-3E3A-77D773420CE5}"/>
              </a:ext>
            </a:extLst>
          </p:cNvPr>
          <p:cNvSpPr/>
          <p:nvPr/>
        </p:nvSpPr>
        <p:spPr>
          <a:xfrm rot="2841097">
            <a:off x="8448097" y="-44531"/>
            <a:ext cx="1406397" cy="1399167"/>
          </a:xfrm>
          <a:prstGeom prst="plus">
            <a:avLst>
              <a:gd name="adj" fmla="val 456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 </a:t>
            </a:r>
            <a:r>
              <a:rPr lang="pt-BR" sz="1400" dirty="0"/>
              <a:t>(sem </a:t>
            </a:r>
            <a:r>
              <a:rPr lang="pt-BR" sz="1400" dirty="0" err="1"/>
              <a:t>ReLu</a:t>
            </a:r>
            <a:r>
              <a:rPr lang="pt-BR" sz="1400" dirty="0"/>
              <a:t>)</a:t>
            </a:r>
            <a:endParaRPr lang="pt-BR" dirty="0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E8B4B248-0A9F-9C4D-8017-AC6C7C09BD1F}"/>
              </a:ext>
            </a:extLst>
          </p:cNvPr>
          <p:cNvSpPr/>
          <p:nvPr/>
        </p:nvSpPr>
        <p:spPr>
          <a:xfrm>
            <a:off x="10142272" y="1230208"/>
            <a:ext cx="401912" cy="5310357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83FF0BA2-16CE-A364-FA0A-ED4F4BC4417C}"/>
              </a:ext>
            </a:extLst>
          </p:cNvPr>
          <p:cNvSpPr/>
          <p:nvPr/>
        </p:nvSpPr>
        <p:spPr>
          <a:xfrm>
            <a:off x="10132739" y="350416"/>
            <a:ext cx="401912" cy="798348"/>
          </a:xfrm>
          <a:prstGeom prst="leftBrac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3059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Para avaliar a localização do objeto usamos métricas específicas</a:t>
                </a:r>
              </a:p>
              <a:p>
                <a:r>
                  <a:rPr lang="pt-BR" sz="2400" i="1" dirty="0" err="1"/>
                  <a:t>Intersection</a:t>
                </a:r>
                <a:r>
                  <a:rPr lang="pt-BR" sz="2400" i="1" dirty="0"/>
                  <a:t> over Union</a:t>
                </a:r>
              </a:p>
              <a:p>
                <a:r>
                  <a:rPr lang="pt-BR" sz="2400" dirty="0"/>
                  <a:t>Computa a intersecção do </a:t>
                </a:r>
                <a:r>
                  <a:rPr lang="pt-BR" sz="2400" i="1" dirty="0" err="1">
                    <a:solidFill>
                      <a:srgbClr val="FF0000"/>
                    </a:solidFill>
                  </a:rPr>
                  <a:t>ground</a:t>
                </a:r>
                <a:r>
                  <a:rPr lang="pt-BR" sz="2400" i="1" dirty="0">
                    <a:solidFill>
                      <a:srgbClr val="FF0000"/>
                    </a:solidFill>
                  </a:rPr>
                  <a:t> </a:t>
                </a:r>
                <a:r>
                  <a:rPr lang="pt-BR" sz="2400" i="1" dirty="0" err="1">
                    <a:solidFill>
                      <a:srgbClr val="FF0000"/>
                    </a:solidFill>
                  </a:rPr>
                  <a:t>truth</a:t>
                </a:r>
                <a:r>
                  <a:rPr lang="pt-BR" sz="2400" i="1" dirty="0"/>
                  <a:t> </a:t>
                </a:r>
                <a:r>
                  <a:rPr lang="pt-BR" sz="2400" dirty="0"/>
                  <a:t>com a </a:t>
                </a:r>
                <a:r>
                  <a:rPr lang="pt-BR" sz="2400" dirty="0">
                    <a:solidFill>
                      <a:srgbClr val="00B0F0"/>
                    </a:solidFill>
                  </a:rPr>
                  <a:t>saída da rede </a:t>
                </a:r>
                <a:r>
                  <a:rPr lang="pt-BR" sz="2400" dirty="0"/>
                  <a:t>sobre a união dessas duas áreas</a:t>
                </a:r>
              </a:p>
              <a:p>
                <a:pPr lvl="1"/>
                <a:r>
                  <a:rPr lang="pt-BR" sz="2000" dirty="0"/>
                  <a:t>Valor ideal =1</a:t>
                </a:r>
              </a:p>
              <a:p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  <a:blipFill>
                <a:blip r:embed="rId2"/>
                <a:stretch>
                  <a:fillRect l="-887" t="-1961" r="-8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32</a:t>
            </a:fld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47675" y="4210478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71550" y="4541611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 </a:t>
            </a:r>
            <a:r>
              <a:rPr lang="pt-BR" sz="1400" dirty="0"/>
              <a:t>(sem </a:t>
            </a:r>
            <a:r>
              <a:rPr lang="pt-BR" sz="1400" dirty="0" err="1"/>
              <a:t>ReLu</a:t>
            </a:r>
            <a:r>
              <a:rPr lang="pt-BR" sz="1400" dirty="0"/>
              <a:t>)</a:t>
            </a:r>
            <a:endParaRPr lang="pt-BR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9E95C5-1312-ED50-7407-6D3078B6A027}"/>
              </a:ext>
            </a:extLst>
          </p:cNvPr>
          <p:cNvSpPr/>
          <p:nvPr/>
        </p:nvSpPr>
        <p:spPr>
          <a:xfrm>
            <a:off x="528637" y="5198639"/>
            <a:ext cx="2381250" cy="131405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6818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Para avaliar a localização do objeto usamos métricas específicas</a:t>
                </a:r>
              </a:p>
              <a:p>
                <a:r>
                  <a:rPr lang="pt-BR" sz="2400" i="1" dirty="0" err="1"/>
                  <a:t>Dice</a:t>
                </a:r>
                <a:r>
                  <a:rPr lang="pt-BR" sz="2400" i="1" dirty="0"/>
                  <a:t> Score</a:t>
                </a:r>
              </a:p>
              <a:p>
                <a:r>
                  <a:rPr lang="pt-BR" sz="2400" dirty="0"/>
                  <a:t>Computa o dobro da intersecção do </a:t>
                </a:r>
                <a:r>
                  <a:rPr lang="pt-BR" sz="2400" i="1" dirty="0" err="1">
                    <a:solidFill>
                      <a:srgbClr val="FF0000"/>
                    </a:solidFill>
                  </a:rPr>
                  <a:t>ground</a:t>
                </a:r>
                <a:r>
                  <a:rPr lang="pt-BR" sz="2400" i="1" dirty="0">
                    <a:solidFill>
                      <a:srgbClr val="FF0000"/>
                    </a:solidFill>
                  </a:rPr>
                  <a:t> </a:t>
                </a:r>
                <a:r>
                  <a:rPr lang="pt-BR" sz="2400" i="1" dirty="0" err="1">
                    <a:solidFill>
                      <a:srgbClr val="FF0000"/>
                    </a:solidFill>
                  </a:rPr>
                  <a:t>truth</a:t>
                </a:r>
                <a:r>
                  <a:rPr lang="pt-BR" sz="2400" i="1" dirty="0"/>
                  <a:t> </a:t>
                </a:r>
                <a:r>
                  <a:rPr lang="pt-BR" sz="2400" dirty="0"/>
                  <a:t>com a </a:t>
                </a:r>
                <a:r>
                  <a:rPr lang="pt-BR" sz="2400" dirty="0">
                    <a:solidFill>
                      <a:srgbClr val="00B0F0"/>
                    </a:solidFill>
                  </a:rPr>
                  <a:t>saída da rede </a:t>
                </a:r>
                <a:r>
                  <a:rPr lang="pt-BR" sz="2400" dirty="0"/>
                  <a:t>sobre a soma das duas áreas</a:t>
                </a:r>
              </a:p>
              <a:p>
                <a:pPr lvl="1"/>
                <a:r>
                  <a:rPr lang="pt-BR" sz="2000" dirty="0"/>
                  <a:t>Valor ideal =1</a:t>
                </a:r>
              </a:p>
              <a:p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𝐷𝑖𝑐𝑒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2∗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𝐴𝑟𝑒𝑎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𝐴𝑟𝑒𝑎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  <a:blipFill>
                <a:blip r:embed="rId2"/>
                <a:stretch>
                  <a:fillRect l="-88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33</a:t>
            </a:fld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47675" y="4210478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71550" y="4541611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 </a:t>
            </a:r>
            <a:r>
              <a:rPr lang="pt-BR" sz="1400" dirty="0"/>
              <a:t>(sem </a:t>
            </a:r>
            <a:r>
              <a:rPr lang="pt-BR" sz="1400" dirty="0" err="1"/>
              <a:t>ReLu</a:t>
            </a:r>
            <a:r>
              <a:rPr lang="pt-BR" sz="1400" dirty="0"/>
              <a:t>)</a:t>
            </a:r>
            <a:endParaRPr lang="pt-BR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9E95C5-1312-ED50-7407-6D3078B6A027}"/>
              </a:ext>
            </a:extLst>
          </p:cNvPr>
          <p:cNvSpPr/>
          <p:nvPr/>
        </p:nvSpPr>
        <p:spPr>
          <a:xfrm>
            <a:off x="528637" y="5198639"/>
            <a:ext cx="2381250" cy="131405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288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</p:spPr>
            <p:txBody>
              <a:bodyPr>
                <a:normAutofit/>
              </a:bodyPr>
              <a:lstStyle/>
              <a:p>
                <a:r>
                  <a:rPr lang="pt-BR" sz="2400" i="1" dirty="0"/>
                  <a:t>IoU </a:t>
                </a:r>
                <a:r>
                  <a:rPr lang="pt-BR" sz="2400" dirty="0" err="1"/>
                  <a:t>vs</a:t>
                </a:r>
                <a:r>
                  <a:rPr lang="pt-BR" sz="2400" i="1" dirty="0"/>
                  <a:t> </a:t>
                </a:r>
                <a:r>
                  <a:rPr lang="pt-BR" sz="2400" i="1" dirty="0" err="1"/>
                  <a:t>Dice</a:t>
                </a:r>
                <a:r>
                  <a:rPr lang="pt-BR" sz="2400" i="1" dirty="0"/>
                  <a:t> Score</a:t>
                </a:r>
              </a:p>
              <a:p>
                <a:r>
                  <a:rPr lang="pt-BR" sz="2400" dirty="0"/>
                  <a:t>Ambas métricas computam a qualidade da localização usando a sobreposição das </a:t>
                </a:r>
                <a:r>
                  <a:rPr lang="pt-BR" sz="2400" i="1" dirty="0" err="1"/>
                  <a:t>bounding</a:t>
                </a:r>
                <a:r>
                  <a:rPr lang="pt-BR" sz="2400" i="1" dirty="0"/>
                  <a:t> boxes</a:t>
                </a: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𝐷𝑖𝑐𝑒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2∗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𝐴𝑟𝑒𝑎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𝐴𝑟𝑒𝑎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29775" cy="4351338"/>
              </a:xfrm>
              <a:blipFill>
                <a:blip r:embed="rId2"/>
                <a:stretch>
                  <a:fillRect l="-88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34</a:t>
            </a:fld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47675" y="4210478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71550" y="4541611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 </a:t>
            </a:r>
            <a:r>
              <a:rPr lang="pt-BR" sz="1400" dirty="0"/>
              <a:t>(sem </a:t>
            </a:r>
            <a:r>
              <a:rPr lang="pt-BR" sz="1400" dirty="0" err="1"/>
              <a:t>ReLu</a:t>
            </a:r>
            <a:r>
              <a:rPr lang="pt-BR" sz="1400" dirty="0"/>
              <a:t>)</a:t>
            </a:r>
            <a:endParaRPr lang="pt-BR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9E95C5-1312-ED50-7407-6D3078B6A027}"/>
              </a:ext>
            </a:extLst>
          </p:cNvPr>
          <p:cNvSpPr/>
          <p:nvPr/>
        </p:nvSpPr>
        <p:spPr>
          <a:xfrm>
            <a:off x="528637" y="5198639"/>
            <a:ext cx="2381250" cy="131405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065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sz="2400" i="1" dirty="0"/>
                  <a:t>IoU </a:t>
                </a:r>
                <a:r>
                  <a:rPr lang="pt-BR" sz="2400" dirty="0" err="1"/>
                  <a:t>vs</a:t>
                </a:r>
                <a:r>
                  <a:rPr lang="pt-BR" sz="2400" i="1" dirty="0"/>
                  <a:t> </a:t>
                </a:r>
                <a:r>
                  <a:rPr lang="pt-BR" sz="2400" i="1" dirty="0" err="1"/>
                  <a:t>Dice</a:t>
                </a:r>
                <a:r>
                  <a:rPr lang="pt-BR" sz="2400" i="1" dirty="0"/>
                  <a:t> Score</a:t>
                </a:r>
              </a:p>
              <a:p>
                <a:r>
                  <a:rPr lang="pt-BR" sz="2400" dirty="0"/>
                  <a:t>Ambas métricas computam a qualidade da localização usando a sobreposição das </a:t>
                </a:r>
                <a:r>
                  <a:rPr lang="pt-BR" sz="2400" i="1" dirty="0" err="1"/>
                  <a:t>bounding</a:t>
                </a:r>
                <a:r>
                  <a:rPr lang="pt-BR" sz="2400" i="1" dirty="0"/>
                  <a:t> boxes</a:t>
                </a:r>
              </a:p>
              <a:p>
                <a:r>
                  <a:rPr lang="pt-BR" sz="2400" dirty="0"/>
                  <a:t>Suponha que: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𝐴𝑟𝑒𝑎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𝐴𝑟𝑒𝑎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pt-BR" sz="2000" dirty="0"/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=0.333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𝐷𝑖𝑐𝑒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+10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8D81D-1959-55C6-FC5B-FA145DEB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696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35</a:t>
            </a:fld>
            <a:endParaRPr lang="pt-BR" dirty="0"/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47675" y="4210478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71550" y="4541611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9E95C5-1312-ED50-7407-6D3078B6A027}"/>
              </a:ext>
            </a:extLst>
          </p:cNvPr>
          <p:cNvSpPr/>
          <p:nvPr/>
        </p:nvSpPr>
        <p:spPr>
          <a:xfrm>
            <a:off x="971550" y="5224855"/>
            <a:ext cx="2381250" cy="131405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AF0415-16ED-DF1F-6257-CFA8F94D0F7D}"/>
              </a:ext>
            </a:extLst>
          </p:cNvPr>
          <p:cNvSpPr txBox="1"/>
          <p:nvPr/>
        </p:nvSpPr>
        <p:spPr>
          <a:xfrm>
            <a:off x="7524750" y="4541611"/>
            <a:ext cx="3038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 um efeito “quadrático” de penalização</a:t>
            </a:r>
          </a:p>
        </p:txBody>
      </p:sp>
    </p:spTree>
    <p:extLst>
      <p:ext uri="{BB962C8B-B14F-4D97-AF65-F5344CB8AC3E}">
        <p14:creationId xmlns:p14="http://schemas.microsoft.com/office/powerpoint/2010/main" val="39342673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Localização - Resumindo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D81D-1959-55C6-FC5B-FA145DEB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9775" cy="4351338"/>
          </a:xfrm>
        </p:spPr>
        <p:txBody>
          <a:bodyPr>
            <a:normAutofit/>
          </a:bodyPr>
          <a:lstStyle/>
          <a:p>
            <a:r>
              <a:rPr lang="pt-BR" sz="2400" i="1" dirty="0" err="1"/>
              <a:t>Bounding</a:t>
            </a:r>
            <a:r>
              <a:rPr lang="pt-BR" sz="2400" i="1" dirty="0"/>
              <a:t> box </a:t>
            </a:r>
            <a:r>
              <a:rPr lang="pt-BR" sz="2400" dirty="0"/>
              <a:t>vira quatro saídas de regressão multivariada</a:t>
            </a:r>
          </a:p>
          <a:p>
            <a:r>
              <a:rPr lang="pt-BR" sz="2400" dirty="0" err="1"/>
              <a:t>Loss</a:t>
            </a:r>
            <a:r>
              <a:rPr lang="pt-BR" sz="2400" dirty="0"/>
              <a:t> MSE</a:t>
            </a:r>
          </a:p>
          <a:p>
            <a:r>
              <a:rPr lang="pt-BR" sz="2400" dirty="0"/>
              <a:t>Ativação </a:t>
            </a:r>
            <a:r>
              <a:rPr lang="pt-BR" sz="2400" dirty="0" err="1"/>
              <a:t>Sigmoid</a:t>
            </a:r>
            <a:r>
              <a:rPr lang="pt-BR" sz="2400" dirty="0"/>
              <a:t> nas unidades de saída</a:t>
            </a:r>
          </a:p>
          <a:p>
            <a:r>
              <a:rPr lang="pt-BR" sz="2400" dirty="0"/>
              <a:t>Podemos reaproveitar os pesos treinados anteriormente </a:t>
            </a:r>
          </a:p>
          <a:p>
            <a:pPr lvl="1"/>
            <a:r>
              <a:rPr lang="pt-BR" sz="2000" dirty="0"/>
              <a:t>Ou treinar toda a rede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36</a:t>
            </a:fld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47675" y="4210478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71550" y="4541611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 </a:t>
            </a:r>
            <a:r>
              <a:rPr lang="pt-BR" sz="1400" dirty="0"/>
              <a:t>(sem </a:t>
            </a:r>
            <a:r>
              <a:rPr lang="pt-BR" sz="1400" dirty="0" err="1"/>
              <a:t>ReLu</a:t>
            </a:r>
            <a:r>
              <a:rPr lang="pt-BR" sz="1400" dirty="0"/>
              <a:t>)</a:t>
            </a:r>
            <a:endParaRPr lang="pt-BR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9E95C5-1312-ED50-7407-6D3078B6A027}"/>
              </a:ext>
            </a:extLst>
          </p:cNvPr>
          <p:cNvSpPr/>
          <p:nvPr/>
        </p:nvSpPr>
        <p:spPr>
          <a:xfrm>
            <a:off x="528637" y="5198639"/>
            <a:ext cx="2381250" cy="131405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43695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e Localização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D81D-1959-55C6-FC5B-FA145DEB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9775" cy="4351338"/>
          </a:xfrm>
        </p:spPr>
        <p:txBody>
          <a:bodyPr>
            <a:normAutofit/>
          </a:bodyPr>
          <a:lstStyle/>
          <a:p>
            <a:r>
              <a:rPr lang="pt-BR" sz="2400" dirty="0"/>
              <a:t>Vamos tentar agregar novamente nosso classificador para realizar ambas tarefas simultaneamente</a:t>
            </a:r>
            <a:endParaRPr lang="pt-BR" sz="2400" b="1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37</a:t>
            </a:fld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8391507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8391507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8391507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8391507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38150" y="4334669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62025" y="4665802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/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(0.2, 0.1)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blipFill>
                <a:blip r:embed="rId3"/>
                <a:stretch>
                  <a:fillRect l="-1796" r="-6587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93D68D7C-F429-021B-B210-CC822EE6367F}"/>
              </a:ext>
            </a:extLst>
          </p:cNvPr>
          <p:cNvSpPr/>
          <p:nvPr/>
        </p:nvSpPr>
        <p:spPr>
          <a:xfrm rot="5400000">
            <a:off x="1993110" y="4956322"/>
            <a:ext cx="276226" cy="242410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/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/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9436A10D-DF2E-6D18-3174-5A86469E1EDE}"/>
              </a:ext>
            </a:extLst>
          </p:cNvPr>
          <p:cNvSpPr/>
          <p:nvPr/>
        </p:nvSpPr>
        <p:spPr>
          <a:xfrm>
            <a:off x="3419484" y="4689669"/>
            <a:ext cx="180967" cy="128172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ross 28">
            <a:extLst>
              <a:ext uri="{FF2B5EF4-FFF2-40B4-BE49-F238E27FC236}">
                <a16:creationId xmlns:a16="http://schemas.microsoft.com/office/drawing/2014/main" id="{C1114146-5713-C427-3E3A-77D773420CE5}"/>
              </a:ext>
            </a:extLst>
          </p:cNvPr>
          <p:cNvSpPr/>
          <p:nvPr/>
        </p:nvSpPr>
        <p:spPr>
          <a:xfrm rot="2841097">
            <a:off x="8448097" y="-44531"/>
            <a:ext cx="1406397" cy="1399167"/>
          </a:xfrm>
          <a:prstGeom prst="plus">
            <a:avLst>
              <a:gd name="adj" fmla="val 456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 </a:t>
            </a:r>
            <a:r>
              <a:rPr lang="pt-BR" sz="1400" dirty="0"/>
              <a:t>(sem </a:t>
            </a:r>
            <a:r>
              <a:rPr lang="pt-BR" sz="1400" dirty="0" err="1"/>
              <a:t>ReLu</a:t>
            </a:r>
            <a:r>
              <a:rPr lang="pt-BR" sz="1400" dirty="0"/>
              <a:t>)</a:t>
            </a:r>
            <a:endParaRPr lang="pt-BR" dirty="0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E8B4B248-0A9F-9C4D-8017-AC6C7C09BD1F}"/>
              </a:ext>
            </a:extLst>
          </p:cNvPr>
          <p:cNvSpPr/>
          <p:nvPr/>
        </p:nvSpPr>
        <p:spPr>
          <a:xfrm>
            <a:off x="10142272" y="1230208"/>
            <a:ext cx="401912" cy="5310357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83FF0BA2-16CE-A364-FA0A-ED4F4BC4417C}"/>
              </a:ext>
            </a:extLst>
          </p:cNvPr>
          <p:cNvSpPr/>
          <p:nvPr/>
        </p:nvSpPr>
        <p:spPr>
          <a:xfrm>
            <a:off x="10132739" y="350416"/>
            <a:ext cx="401912" cy="798348"/>
          </a:xfrm>
          <a:prstGeom prst="leftBrac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434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e Localização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D81D-1959-55C6-FC5B-FA145DEB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9775" cy="4351338"/>
          </a:xfrm>
        </p:spPr>
        <p:txBody>
          <a:bodyPr>
            <a:normAutofit/>
          </a:bodyPr>
          <a:lstStyle/>
          <a:p>
            <a:r>
              <a:rPr lang="pt-BR" sz="2400" dirty="0"/>
              <a:t>Toda </a:t>
            </a:r>
            <a:r>
              <a:rPr lang="pt-BR" sz="2400" b="1" dirty="0">
                <a:solidFill>
                  <a:srgbClr val="FF0000"/>
                </a:solidFill>
              </a:rPr>
              <a:t>essa parte </a:t>
            </a:r>
            <a:r>
              <a:rPr lang="pt-BR" sz="2400" dirty="0"/>
              <a:t>da rede serve como um extrator de </a:t>
            </a:r>
            <a:r>
              <a:rPr lang="pt-BR" sz="2400" i="1" dirty="0" err="1"/>
              <a:t>features</a:t>
            </a:r>
            <a:r>
              <a:rPr lang="pt-BR" sz="2400" dirty="0"/>
              <a:t> </a:t>
            </a:r>
          </a:p>
          <a:p>
            <a:r>
              <a:rPr lang="pt-BR" sz="2400" dirty="0"/>
              <a:t>Podemos adicionar </a:t>
            </a:r>
            <a:r>
              <a:rPr lang="pt-BR" sz="2400" dirty="0">
                <a:solidFill>
                  <a:srgbClr val="00B0F0"/>
                </a:solidFill>
              </a:rPr>
              <a:t>camadas totalmente conectadas</a:t>
            </a:r>
            <a:r>
              <a:rPr lang="pt-BR" sz="2400" dirty="0"/>
              <a:t> na ponta para realizar uma tarefa qualquer</a:t>
            </a:r>
            <a:endParaRPr lang="pt-BR" sz="2400" b="1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38</a:t>
            </a:fld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553682" y="629666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553682" y="6594685"/>
            <a:ext cx="1519578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553682" y="599864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553682" y="5700613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553682" y="5402586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553682" y="510455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553682" y="4806532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553682" y="450850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553682" y="4210478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553682" y="3614424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553682" y="3316397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553682" y="3018370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553682" y="2422316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553682" y="2720343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553682" y="2124289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553682" y="1826262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553682" y="1230208"/>
            <a:ext cx="1519578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553682" y="1528235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8391507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8391507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8391507" y="38100"/>
            <a:ext cx="1519578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8391507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553682" y="3912451"/>
            <a:ext cx="1519578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38150" y="4334669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62025" y="4665802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/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(0.2, 0.1)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blipFill>
                <a:blip r:embed="rId3"/>
                <a:stretch>
                  <a:fillRect l="-1796" r="-6587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93D68D7C-F429-021B-B210-CC822EE6367F}"/>
              </a:ext>
            </a:extLst>
          </p:cNvPr>
          <p:cNvSpPr/>
          <p:nvPr/>
        </p:nvSpPr>
        <p:spPr>
          <a:xfrm rot="5400000">
            <a:off x="1993110" y="4956322"/>
            <a:ext cx="276226" cy="242410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/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/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9436A10D-DF2E-6D18-3174-5A86469E1EDE}"/>
              </a:ext>
            </a:extLst>
          </p:cNvPr>
          <p:cNvSpPr/>
          <p:nvPr/>
        </p:nvSpPr>
        <p:spPr>
          <a:xfrm>
            <a:off x="3419484" y="4689669"/>
            <a:ext cx="180967" cy="128172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ross 28">
            <a:extLst>
              <a:ext uri="{FF2B5EF4-FFF2-40B4-BE49-F238E27FC236}">
                <a16:creationId xmlns:a16="http://schemas.microsoft.com/office/drawing/2014/main" id="{C1114146-5713-C427-3E3A-77D773420CE5}"/>
              </a:ext>
            </a:extLst>
          </p:cNvPr>
          <p:cNvSpPr/>
          <p:nvPr/>
        </p:nvSpPr>
        <p:spPr>
          <a:xfrm rot="2841097">
            <a:off x="8448097" y="-44531"/>
            <a:ext cx="1406397" cy="1399167"/>
          </a:xfrm>
          <a:prstGeom prst="plus">
            <a:avLst>
              <a:gd name="adj" fmla="val 456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0553682" y="932181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0553682" y="634154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0553682" y="38100"/>
            <a:ext cx="1519578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0553682" y="336127"/>
            <a:ext cx="1519578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 </a:t>
            </a:r>
            <a:r>
              <a:rPr lang="pt-BR" sz="1400" dirty="0"/>
              <a:t>(sem </a:t>
            </a:r>
            <a:r>
              <a:rPr lang="pt-BR" sz="1400" dirty="0" err="1"/>
              <a:t>ReLu</a:t>
            </a:r>
            <a:r>
              <a:rPr lang="pt-BR" sz="1400" dirty="0"/>
              <a:t>)</a:t>
            </a:r>
            <a:endParaRPr lang="pt-BR" dirty="0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E8B4B248-0A9F-9C4D-8017-AC6C7C09BD1F}"/>
              </a:ext>
            </a:extLst>
          </p:cNvPr>
          <p:cNvSpPr/>
          <p:nvPr/>
        </p:nvSpPr>
        <p:spPr>
          <a:xfrm>
            <a:off x="10142272" y="1230208"/>
            <a:ext cx="401912" cy="5310357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83FF0BA2-16CE-A364-FA0A-ED4F4BC4417C}"/>
              </a:ext>
            </a:extLst>
          </p:cNvPr>
          <p:cNvSpPr/>
          <p:nvPr/>
        </p:nvSpPr>
        <p:spPr>
          <a:xfrm>
            <a:off x="10132739" y="350416"/>
            <a:ext cx="401912" cy="798348"/>
          </a:xfrm>
          <a:prstGeom prst="leftBrac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621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BADA-BED7-CD21-8357-FE2E63E5E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650"/>
            <a:ext cx="10515600" cy="1325563"/>
          </a:xfrm>
        </p:spPr>
        <p:txBody>
          <a:bodyPr/>
          <a:lstStyle/>
          <a:p>
            <a:r>
              <a:rPr lang="pt-BR" dirty="0"/>
              <a:t>Classificação e Localização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D81D-1959-55C6-FC5B-FA145DEB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9775" cy="4351338"/>
          </a:xfrm>
        </p:spPr>
        <p:txBody>
          <a:bodyPr>
            <a:normAutofit/>
          </a:bodyPr>
          <a:lstStyle/>
          <a:p>
            <a:r>
              <a:rPr lang="pt-BR" sz="2400" dirty="0"/>
              <a:t>Repare que o </a:t>
            </a:r>
            <a:r>
              <a:rPr lang="pt-BR" sz="2400" b="1" dirty="0">
                <a:solidFill>
                  <a:srgbClr val="FF0000"/>
                </a:solidFill>
              </a:rPr>
              <a:t>extrator de </a:t>
            </a:r>
            <a:r>
              <a:rPr lang="pt-BR" sz="2400" b="1" i="1" dirty="0" err="1">
                <a:solidFill>
                  <a:srgbClr val="FF0000"/>
                </a:solidFill>
              </a:rPr>
              <a:t>features</a:t>
            </a:r>
            <a:r>
              <a:rPr lang="pt-BR" sz="2400" dirty="0"/>
              <a:t> não mudou nesse novo treinamento</a:t>
            </a:r>
          </a:p>
          <a:p>
            <a:pPr lvl="1"/>
            <a:r>
              <a:rPr lang="pt-BR" sz="2000" dirty="0"/>
              <a:t>Portanto, nosso classificador deve seguir funcionando</a:t>
            </a:r>
          </a:p>
          <a:p>
            <a:r>
              <a:rPr lang="pt-BR" sz="2400" dirty="0"/>
              <a:t>Assim podemos ter uma rede que resolve múltiplas tarefas</a:t>
            </a:r>
          </a:p>
          <a:p>
            <a:pPr lvl="1"/>
            <a:r>
              <a:rPr lang="pt-BR" sz="2000" dirty="0"/>
              <a:t>Classificação</a:t>
            </a:r>
          </a:p>
          <a:p>
            <a:pPr lvl="1"/>
            <a:r>
              <a:rPr lang="pt-BR" sz="2000" dirty="0"/>
              <a:t>Localização</a:t>
            </a:r>
          </a:p>
          <a:p>
            <a:pPr marL="457200" lvl="1" indent="0">
              <a:buNone/>
            </a:pPr>
            <a:endParaRPr lang="pt-B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FFA-1E38-02F8-6911-1EF834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39</a:t>
            </a:fld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B02C6-B195-60B2-D0C5-284FA69DAF58}"/>
              </a:ext>
            </a:extLst>
          </p:cNvPr>
          <p:cNvSpPr/>
          <p:nvPr/>
        </p:nvSpPr>
        <p:spPr>
          <a:xfrm>
            <a:off x="10098753" y="6296667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86837-5DD0-C956-6078-CEB08D806894}"/>
              </a:ext>
            </a:extLst>
          </p:cNvPr>
          <p:cNvSpPr/>
          <p:nvPr/>
        </p:nvSpPr>
        <p:spPr>
          <a:xfrm>
            <a:off x="10098753" y="6594685"/>
            <a:ext cx="1962714" cy="24389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D52F-94C3-D4F5-D5B9-E47D86F0D4E2}"/>
              </a:ext>
            </a:extLst>
          </p:cNvPr>
          <p:cNvSpPr/>
          <p:nvPr/>
        </p:nvSpPr>
        <p:spPr>
          <a:xfrm>
            <a:off x="10098753" y="5998640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0B2E5-BCC8-39B9-24AE-F2C2E55A1BC9}"/>
              </a:ext>
            </a:extLst>
          </p:cNvPr>
          <p:cNvSpPr/>
          <p:nvPr/>
        </p:nvSpPr>
        <p:spPr>
          <a:xfrm>
            <a:off x="10098753" y="5700613"/>
            <a:ext cx="1962714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8E460-AF10-D336-B05B-EE1483857A1C}"/>
              </a:ext>
            </a:extLst>
          </p:cNvPr>
          <p:cNvSpPr/>
          <p:nvPr/>
        </p:nvSpPr>
        <p:spPr>
          <a:xfrm>
            <a:off x="10098753" y="5402586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4CE2D-1518-8EAD-05AB-971FF9C606F6}"/>
              </a:ext>
            </a:extLst>
          </p:cNvPr>
          <p:cNvSpPr/>
          <p:nvPr/>
        </p:nvSpPr>
        <p:spPr>
          <a:xfrm>
            <a:off x="10098753" y="5104559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128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86BE8-E977-3DE1-4FA8-92518CC2EBEF}"/>
              </a:ext>
            </a:extLst>
          </p:cNvPr>
          <p:cNvSpPr/>
          <p:nvPr/>
        </p:nvSpPr>
        <p:spPr>
          <a:xfrm>
            <a:off x="10098753" y="4806532"/>
            <a:ext cx="1962714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C865-7A1C-B83D-64C5-0D2815800508}"/>
              </a:ext>
            </a:extLst>
          </p:cNvPr>
          <p:cNvSpPr/>
          <p:nvPr/>
        </p:nvSpPr>
        <p:spPr>
          <a:xfrm>
            <a:off x="10098753" y="4508505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E48E8-A8EA-6025-BFE1-1369269D6548}"/>
              </a:ext>
            </a:extLst>
          </p:cNvPr>
          <p:cNvSpPr/>
          <p:nvPr/>
        </p:nvSpPr>
        <p:spPr>
          <a:xfrm>
            <a:off x="10098753" y="4210478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A50D4-19B2-2317-43FF-BD1F66DC9D1E}"/>
              </a:ext>
            </a:extLst>
          </p:cNvPr>
          <p:cNvSpPr/>
          <p:nvPr/>
        </p:nvSpPr>
        <p:spPr>
          <a:xfrm>
            <a:off x="10098753" y="3614424"/>
            <a:ext cx="1962714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4E812-578E-D0B8-7F0D-FEAB13B714EE}"/>
              </a:ext>
            </a:extLst>
          </p:cNvPr>
          <p:cNvSpPr/>
          <p:nvPr/>
        </p:nvSpPr>
        <p:spPr>
          <a:xfrm>
            <a:off x="10098753" y="3316397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6BEB7-D20B-C97E-6EAB-3ECD25124855}"/>
              </a:ext>
            </a:extLst>
          </p:cNvPr>
          <p:cNvSpPr/>
          <p:nvPr/>
        </p:nvSpPr>
        <p:spPr>
          <a:xfrm>
            <a:off x="10098753" y="3018370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8542E-F600-A4F7-E98F-C85394745A4F}"/>
              </a:ext>
            </a:extLst>
          </p:cNvPr>
          <p:cNvSpPr/>
          <p:nvPr/>
        </p:nvSpPr>
        <p:spPr>
          <a:xfrm>
            <a:off x="10098753" y="2422316"/>
            <a:ext cx="1962714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0A35-1013-CC0A-3230-21CEFD11BF1E}"/>
              </a:ext>
            </a:extLst>
          </p:cNvPr>
          <p:cNvSpPr/>
          <p:nvPr/>
        </p:nvSpPr>
        <p:spPr>
          <a:xfrm>
            <a:off x="10098753" y="2720343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B720-A250-7B16-13C5-F5FAA5A841A2}"/>
              </a:ext>
            </a:extLst>
          </p:cNvPr>
          <p:cNvSpPr/>
          <p:nvPr/>
        </p:nvSpPr>
        <p:spPr>
          <a:xfrm>
            <a:off x="10098753" y="2124289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AC7F86-4FB3-BB7C-2A58-7662156DA95D}"/>
              </a:ext>
            </a:extLst>
          </p:cNvPr>
          <p:cNvSpPr/>
          <p:nvPr/>
        </p:nvSpPr>
        <p:spPr>
          <a:xfrm>
            <a:off x="10098753" y="1826262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C4371-3780-7A1C-D8CD-1E8BC14DB055}"/>
              </a:ext>
            </a:extLst>
          </p:cNvPr>
          <p:cNvSpPr/>
          <p:nvPr/>
        </p:nvSpPr>
        <p:spPr>
          <a:xfrm>
            <a:off x="10098753" y="1230208"/>
            <a:ext cx="1962714" cy="24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pooling</a:t>
            </a:r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FFE69-E875-0156-6779-DEDDBE52057A}"/>
              </a:ext>
            </a:extLst>
          </p:cNvPr>
          <p:cNvSpPr/>
          <p:nvPr/>
        </p:nvSpPr>
        <p:spPr>
          <a:xfrm>
            <a:off x="10098753" y="1528235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512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67422-6D40-E487-53D2-D73BF1C6AD96}"/>
              </a:ext>
            </a:extLst>
          </p:cNvPr>
          <p:cNvSpPr/>
          <p:nvPr/>
        </p:nvSpPr>
        <p:spPr>
          <a:xfrm>
            <a:off x="10098752" y="932181"/>
            <a:ext cx="943539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AA7C8-A759-32F2-E504-0BF4057CEC47}"/>
              </a:ext>
            </a:extLst>
          </p:cNvPr>
          <p:cNvSpPr/>
          <p:nvPr/>
        </p:nvSpPr>
        <p:spPr>
          <a:xfrm>
            <a:off x="10098752" y="634154"/>
            <a:ext cx="943539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1A040-E932-6FC3-3911-A18B4BF182D2}"/>
              </a:ext>
            </a:extLst>
          </p:cNvPr>
          <p:cNvSpPr/>
          <p:nvPr/>
        </p:nvSpPr>
        <p:spPr>
          <a:xfrm>
            <a:off x="10098752" y="38100"/>
            <a:ext cx="943539" cy="243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softmax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26CBF8-E60B-FAB2-3393-72F137824520}"/>
              </a:ext>
            </a:extLst>
          </p:cNvPr>
          <p:cNvSpPr/>
          <p:nvPr/>
        </p:nvSpPr>
        <p:spPr>
          <a:xfrm>
            <a:off x="10098752" y="336127"/>
            <a:ext cx="943539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1000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D9E40F-8EE0-5145-95FC-2322B8BC02A9}"/>
              </a:ext>
            </a:extLst>
          </p:cNvPr>
          <p:cNvSpPr/>
          <p:nvPr/>
        </p:nvSpPr>
        <p:spPr>
          <a:xfrm>
            <a:off x="10098753" y="3912451"/>
            <a:ext cx="1962714" cy="243898"/>
          </a:xfrm>
          <a:prstGeom prst="rect">
            <a:avLst/>
          </a:prstGeom>
          <a:solidFill>
            <a:srgbClr val="F6B2B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</a:t>
            </a:r>
            <a:r>
              <a:rPr lang="pt-BR" dirty="0"/>
              <a:t> 3x3, 256</a:t>
            </a:r>
          </a:p>
        </p:txBody>
      </p:sp>
      <p:pic>
        <p:nvPicPr>
          <p:cNvPr id="22530" name="Picture 2" descr="Funny Cat Videos: 40 Short Clips That Will Make You Giggle - Woman's World">
            <a:extLst>
              <a:ext uri="{FF2B5EF4-FFF2-40B4-BE49-F238E27FC236}">
                <a16:creationId xmlns:a16="http://schemas.microsoft.com/office/drawing/2014/main" id="{4BD370CA-AE06-8256-64DD-1B3284494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4"/>
          <a:stretch/>
        </p:blipFill>
        <p:spPr bwMode="auto">
          <a:xfrm>
            <a:off x="438150" y="4334669"/>
            <a:ext cx="303847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7CFEB89-6BFC-B7DF-E84D-69720CC8B737}"/>
              </a:ext>
            </a:extLst>
          </p:cNvPr>
          <p:cNvSpPr/>
          <p:nvPr/>
        </p:nvSpPr>
        <p:spPr>
          <a:xfrm>
            <a:off x="962025" y="4665802"/>
            <a:ext cx="2381250" cy="13140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/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(0.2, 0.1)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214F8-A5F9-2509-29E9-320FE23E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4" y="4320337"/>
                <a:ext cx="1019175" cy="369332"/>
              </a:xfrm>
              <a:prstGeom prst="rect">
                <a:avLst/>
              </a:prstGeom>
              <a:blipFill>
                <a:blip r:embed="rId3"/>
                <a:stretch>
                  <a:fillRect l="-1796" r="-6587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93D68D7C-F429-021B-B210-CC822EE6367F}"/>
              </a:ext>
            </a:extLst>
          </p:cNvPr>
          <p:cNvSpPr/>
          <p:nvPr/>
        </p:nvSpPr>
        <p:spPr>
          <a:xfrm rot="5400000">
            <a:off x="1993110" y="4956322"/>
            <a:ext cx="276226" cy="242410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/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084DD4-D9F1-7BFE-A33B-0855D6277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635" y="6271541"/>
                <a:ext cx="10191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/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D530F1-9E49-106D-C48D-D75EC33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088" y="5138164"/>
                <a:ext cx="10191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9436A10D-DF2E-6D18-3174-5A86469E1EDE}"/>
              </a:ext>
            </a:extLst>
          </p:cNvPr>
          <p:cNvSpPr/>
          <p:nvPr/>
        </p:nvSpPr>
        <p:spPr>
          <a:xfrm>
            <a:off x="3419484" y="4689669"/>
            <a:ext cx="180967" cy="128172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D8E771-D600-B8AB-BF55-C0FCD3F31E0B}"/>
              </a:ext>
            </a:extLst>
          </p:cNvPr>
          <p:cNvSpPr/>
          <p:nvPr/>
        </p:nvSpPr>
        <p:spPr>
          <a:xfrm>
            <a:off x="11117927" y="932181"/>
            <a:ext cx="943539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CF72-6EF1-A185-0CEA-2185EEBBE06B}"/>
              </a:ext>
            </a:extLst>
          </p:cNvPr>
          <p:cNvSpPr/>
          <p:nvPr/>
        </p:nvSpPr>
        <p:spPr>
          <a:xfrm>
            <a:off x="11117927" y="634154"/>
            <a:ext cx="943539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4096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82458E-EFC5-2054-C7B5-AA9F4DE1C2F0}"/>
              </a:ext>
            </a:extLst>
          </p:cNvPr>
          <p:cNvSpPr/>
          <p:nvPr/>
        </p:nvSpPr>
        <p:spPr>
          <a:xfrm>
            <a:off x="11117927" y="38100"/>
            <a:ext cx="943539" cy="243898"/>
          </a:xfrm>
          <a:prstGeom prst="rect">
            <a:avLst/>
          </a:prstGeom>
          <a:solidFill>
            <a:srgbClr val="F9C7EC"/>
          </a:solidFill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6D8C9B-02FC-1B8F-BA65-5B893871A56C}"/>
              </a:ext>
            </a:extLst>
          </p:cNvPr>
          <p:cNvSpPr/>
          <p:nvPr/>
        </p:nvSpPr>
        <p:spPr>
          <a:xfrm>
            <a:off x="11117927" y="336127"/>
            <a:ext cx="943539" cy="243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fc</a:t>
            </a:r>
            <a:r>
              <a:rPr lang="pt-BR" dirty="0"/>
              <a:t>, 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BC710F-A52A-41EE-E249-D4D272E5E9CD}"/>
              </a:ext>
            </a:extLst>
          </p:cNvPr>
          <p:cNvSpPr txBox="1"/>
          <p:nvPr/>
        </p:nvSpPr>
        <p:spPr>
          <a:xfrm>
            <a:off x="1849265" y="4156349"/>
            <a:ext cx="752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>
                <a:solidFill>
                  <a:srgbClr val="FF0000"/>
                </a:solidFill>
              </a:rPr>
              <a:t>cat</a:t>
            </a:r>
            <a:endParaRPr lang="pt-BR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5410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7DA8-AD4E-083C-E367-C844238E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Segmentação Semântica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8A579-B1E6-F152-E040-15E4E1AC4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Basicamente uma classificação em nível de pixel</a:t>
            </a:r>
          </a:p>
          <a:p>
            <a:pPr lvl="1"/>
            <a:r>
              <a:rPr lang="pt-BR" dirty="0"/>
              <a:t>Cada pixel da imagem recebe uma probabilidade de pertencer a uma classe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AFCF4-BD94-67EF-2CB9-C78D1773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40</a:t>
            </a:fld>
            <a:endParaRPr lang="pt-BR"/>
          </a:p>
        </p:txBody>
      </p:sp>
      <p:pic>
        <p:nvPicPr>
          <p:cNvPr id="2050" name="Picture 2" descr="Semantic Segmentation: A Complete Guide – Towards AI">
            <a:extLst>
              <a:ext uri="{FF2B5EF4-FFF2-40B4-BE49-F238E27FC236}">
                <a16:creationId xmlns:a16="http://schemas.microsoft.com/office/drawing/2014/main" id="{C3199A18-818B-9FE3-D383-C2C57DB43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662" y="3216912"/>
            <a:ext cx="4675112" cy="364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291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7449A1D-CB4A-E809-EF7C-4121631F05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23" r="6204"/>
          <a:stretch/>
        </p:blipFill>
        <p:spPr bwMode="auto">
          <a:xfrm>
            <a:off x="3865469" y="3620319"/>
            <a:ext cx="7150461" cy="324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A17DA8-AD4E-083C-E367-C844238E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Segmentação Semântica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8A579-B1E6-F152-E040-15E4E1AC4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Primeiras ideias</a:t>
            </a:r>
          </a:p>
          <a:p>
            <a:pPr lvl="1"/>
            <a:r>
              <a:rPr lang="pt-BR" dirty="0"/>
              <a:t>Separar a imagem em </a:t>
            </a:r>
            <a:r>
              <a:rPr lang="pt-BR" i="1" dirty="0"/>
              <a:t>patches</a:t>
            </a:r>
          </a:p>
          <a:p>
            <a:pPr lvl="1"/>
            <a:r>
              <a:rPr lang="pt-BR" dirty="0"/>
              <a:t>CNN faz a classificação do pixel central do </a:t>
            </a:r>
            <a:r>
              <a:rPr lang="pt-BR" i="1" dirty="0"/>
              <a:t>patch</a:t>
            </a:r>
          </a:p>
          <a:p>
            <a:pPr lvl="1"/>
            <a:r>
              <a:rPr lang="pt-BR" dirty="0"/>
              <a:t>Extremamente ineficiente </a:t>
            </a:r>
            <a:r>
              <a:rPr lang="pt-BR" dirty="0">
                <a:sym typeface="Wingdings" panose="05000000000000000000" pitchFamily="2" charset="2"/>
              </a:rPr>
              <a:t></a:t>
            </a:r>
          </a:p>
          <a:p>
            <a:pPr lvl="2"/>
            <a:r>
              <a:rPr lang="pt-BR" dirty="0" err="1">
                <a:sym typeface="Wingdings" panose="05000000000000000000" pitchFamily="2" charset="2"/>
              </a:rPr>
              <a:t>Multiplos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i="1" dirty="0" err="1">
                <a:sym typeface="Wingdings" panose="05000000000000000000" pitchFamily="2" charset="2"/>
              </a:rPr>
              <a:t>forwards</a:t>
            </a:r>
            <a:r>
              <a:rPr lang="pt-BR" i="1" dirty="0">
                <a:sym typeface="Wingdings" panose="05000000000000000000" pitchFamily="2" charset="2"/>
              </a:rPr>
              <a:t> </a:t>
            </a:r>
            <a:r>
              <a:rPr lang="pt-BR" dirty="0">
                <a:sym typeface="Wingdings" panose="05000000000000000000" pitchFamily="2" charset="2"/>
              </a:rPr>
              <a:t>para inferir uma imagem 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AFCF4-BD94-67EF-2CB9-C78D1773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41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CF684-2169-6291-22D8-D3E3194FAB37}"/>
              </a:ext>
            </a:extLst>
          </p:cNvPr>
          <p:cNvSpPr txBox="1"/>
          <p:nvPr/>
        </p:nvSpPr>
        <p:spPr>
          <a:xfrm>
            <a:off x="-34247" y="6627168"/>
            <a:ext cx="807895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SERMANET, Pierre et al. </a:t>
            </a:r>
            <a:r>
              <a:rPr lang="en-US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Overfeat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Integrated recognition, localization and detection using convolutional networks. </a:t>
            </a:r>
            <a:r>
              <a:rPr lang="en-US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arXiv:1312.6229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2013.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28992949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8702D9-F5B5-E26A-351D-56F4BDD93F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618"/>
          <a:stretch/>
        </p:blipFill>
        <p:spPr>
          <a:xfrm>
            <a:off x="219974" y="3482507"/>
            <a:ext cx="5568352" cy="30549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A17DA8-AD4E-083C-E367-C844238E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Segmentação Semântica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8A579-B1E6-F152-E040-15E4E1AC4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Ideia: CNN deve classificar todos os pixels em um </a:t>
            </a:r>
            <a:r>
              <a:rPr lang="pt-BR" i="1" dirty="0" err="1"/>
              <a:t>forward</a:t>
            </a:r>
            <a:endParaRPr lang="pt-BR" i="1" dirty="0"/>
          </a:p>
          <a:p>
            <a:r>
              <a:rPr lang="pt-BR" dirty="0"/>
              <a:t>Diminuir a imagem com VGG-16 (</a:t>
            </a:r>
            <a:r>
              <a:rPr lang="pt-BR" i="1" dirty="0" err="1"/>
              <a:t>Encoder</a:t>
            </a:r>
            <a:r>
              <a:rPr lang="pt-BR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AFCF4-BD94-67EF-2CB9-C78D1773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42</a:t>
            </a:fld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CF684-2169-6291-22D8-D3E3194FAB37}"/>
              </a:ext>
            </a:extLst>
          </p:cNvPr>
          <p:cNvSpPr txBox="1"/>
          <p:nvPr/>
        </p:nvSpPr>
        <p:spPr>
          <a:xfrm>
            <a:off x="-34247" y="6627168"/>
            <a:ext cx="1166265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NOH,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Hyeonwoo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HONG,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Seunghoon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HAN,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Bohyung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Learning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deconvolution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network for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semantic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segmentation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In: 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IEEE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conference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computer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2015. p. 1520-1528.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32109027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8702D9-F5B5-E26A-351D-56F4BDD93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3" y="3482507"/>
            <a:ext cx="11752053" cy="30549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A17DA8-AD4E-083C-E367-C844238E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Segmentação Semântica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8A579-B1E6-F152-E040-15E4E1AC4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Ideia: CNN deve classificar todos os pixels em um </a:t>
            </a:r>
            <a:r>
              <a:rPr lang="pt-BR" i="1" dirty="0" err="1"/>
              <a:t>forward</a:t>
            </a:r>
            <a:endParaRPr lang="pt-BR" i="1" dirty="0"/>
          </a:p>
          <a:p>
            <a:r>
              <a:rPr lang="pt-BR" dirty="0"/>
              <a:t>Diminuir a imagem com VGG-16 (</a:t>
            </a:r>
            <a:r>
              <a:rPr lang="pt-BR" i="1" dirty="0" err="1"/>
              <a:t>Encoder</a:t>
            </a:r>
            <a:r>
              <a:rPr lang="pt-BR" dirty="0"/>
              <a:t>)</a:t>
            </a:r>
          </a:p>
          <a:p>
            <a:r>
              <a:rPr lang="pt-BR" dirty="0"/>
              <a:t>Aumentar a imagem com VGG-16 </a:t>
            </a:r>
            <a:r>
              <a:rPr lang="pt-BR" dirty="0" err="1"/>
              <a:t>conv</a:t>
            </a:r>
            <a:r>
              <a:rPr lang="pt-BR" dirty="0"/>
              <a:t> transposta (</a:t>
            </a:r>
            <a:r>
              <a:rPr lang="pt-BR" i="1" dirty="0" err="1"/>
              <a:t>Decoder</a:t>
            </a:r>
            <a:r>
              <a:rPr lang="pt-BR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AFCF4-BD94-67EF-2CB9-C78D1773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43</a:t>
            </a:fld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CF684-2169-6291-22D8-D3E3194FAB37}"/>
              </a:ext>
            </a:extLst>
          </p:cNvPr>
          <p:cNvSpPr txBox="1"/>
          <p:nvPr/>
        </p:nvSpPr>
        <p:spPr>
          <a:xfrm>
            <a:off x="-34247" y="6627168"/>
            <a:ext cx="1166265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NOH,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Hyeonwoo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HONG,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Seunghoon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HAN,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Bohyung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Learning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deconvolution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network for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semantic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segmentation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In: 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IEEE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conference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computer</a:t>
            </a:r>
            <a:r>
              <a:rPr lang="pt-BR" sz="9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9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lang="pt-BR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2015. p. 1520-1528.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3448366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C5A4-B923-E047-E53C-D58DC3A6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Detecção de Objetos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7CE59-8753-8F69-C094-5D19D1E48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Muito parecido com classificação + localização</a:t>
            </a:r>
          </a:p>
          <a:p>
            <a:pPr lvl="1"/>
            <a:r>
              <a:rPr lang="pt-BR" dirty="0"/>
              <a:t>Porém contempla mais de um objeto simultaneamente</a:t>
            </a:r>
          </a:p>
          <a:p>
            <a:pPr lvl="1"/>
            <a:r>
              <a:rPr lang="pt-BR" dirty="0"/>
              <a:t>Desafiador pois não sabemos de antemão quantos objetos podem aparecer na imagem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20C64-5B60-D7BD-4C1F-BAE0BF38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44</a:t>
            </a:fld>
            <a:endParaRPr lang="pt-BR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3423FF-EA4B-E2C9-5E15-D221374AD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6826" b="20741"/>
          <a:stretch/>
        </p:blipFill>
        <p:spPr bwMode="auto">
          <a:xfrm>
            <a:off x="2581275" y="3675542"/>
            <a:ext cx="6391275" cy="292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7110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C5A4-B923-E047-E53C-D58DC3A6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Segmentação de Instâncias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7CE59-8753-8F69-C094-5D19D1E48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Muito parecido com detecção de objetos</a:t>
            </a:r>
          </a:p>
          <a:p>
            <a:pPr lvl="1"/>
            <a:r>
              <a:rPr lang="pt-BR" dirty="0"/>
              <a:t>Porém temos um valor por pixel e não uma </a:t>
            </a:r>
            <a:r>
              <a:rPr lang="pt-BR" i="1" dirty="0" err="1"/>
              <a:t>bounding</a:t>
            </a:r>
            <a:r>
              <a:rPr lang="pt-BR" i="1" dirty="0"/>
              <a:t> box</a:t>
            </a:r>
          </a:p>
          <a:p>
            <a:pPr lvl="1"/>
            <a:r>
              <a:rPr lang="pt-BR" dirty="0"/>
              <a:t>Instâncias diferentes da mesma classe são diferenciadas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20C64-5B60-D7BD-4C1F-BAE0BF38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45</a:t>
            </a:fld>
            <a:endParaRPr lang="pt-BR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3423FF-EA4B-E2C9-5E15-D221374AD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371" b="20741"/>
          <a:stretch/>
        </p:blipFill>
        <p:spPr bwMode="auto">
          <a:xfrm>
            <a:off x="1546105" y="3563728"/>
            <a:ext cx="8702076" cy="292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2713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C5A4-B923-E047-E53C-D58DC3A6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Segmentação Semântica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7CE59-8753-8F69-C094-5D19D1E48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Muito parecido com segmentação de instâncias, mas não diferenciamos dois objetos da mesma classe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20C64-5B60-D7BD-4C1F-BAE0BF38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46</a:t>
            </a:fld>
            <a:endParaRPr lang="pt-BR"/>
          </a:p>
        </p:txBody>
      </p:sp>
      <p:pic>
        <p:nvPicPr>
          <p:cNvPr id="1026" name="Picture 2" descr="Semantic Segmentation vs. Instance Segmentation">
            <a:extLst>
              <a:ext uri="{FF2B5EF4-FFF2-40B4-BE49-F238E27FC236}">
                <a16:creationId xmlns:a16="http://schemas.microsoft.com/office/drawing/2014/main" id="{1E0654B4-26DD-78D5-317C-0BC7D5EEF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679" y="2809688"/>
            <a:ext cx="7906642" cy="3242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3205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C7106-D367-45F4-8EA3-8F49E713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901DB4-318B-45F1-8005-C67D26C7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Sugere-se </a:t>
            </a:r>
            <a:r>
              <a:rPr lang="pt-BR" sz="2400" b="1" i="1" dirty="0"/>
              <a:t>fortemente</a:t>
            </a:r>
            <a:r>
              <a:rPr lang="pt-BR" sz="2400" dirty="0"/>
              <a:t> a leitura de:</a:t>
            </a:r>
          </a:p>
          <a:p>
            <a:pPr lvl="1"/>
            <a:r>
              <a:rPr lang="pt-BR" sz="2000" dirty="0"/>
              <a:t>Capítulo 10 de </a:t>
            </a:r>
            <a:r>
              <a:rPr lang="pt-BR" sz="2000" dirty="0" err="1"/>
              <a:t>Understanding</a:t>
            </a:r>
            <a:r>
              <a:rPr lang="pt-BR" sz="2000" dirty="0"/>
              <a:t> </a:t>
            </a:r>
            <a:r>
              <a:rPr lang="pt-BR" sz="2000" dirty="0" err="1"/>
              <a:t>Deep</a:t>
            </a:r>
            <a:r>
              <a:rPr lang="pt-BR" sz="2000" dirty="0"/>
              <a:t> Learning</a:t>
            </a:r>
          </a:p>
          <a:p>
            <a:pPr lvl="2"/>
            <a:r>
              <a:rPr lang="pt-BR" sz="1600" dirty="0">
                <a:hlinkClick r:id="rId2"/>
              </a:rPr>
              <a:t>https://udlbook.github.io/udlbook/</a:t>
            </a:r>
            <a:r>
              <a:rPr lang="pt-BR" sz="1600" dirty="0"/>
              <a:t> </a:t>
            </a:r>
          </a:p>
          <a:p>
            <a:r>
              <a:rPr lang="pt-BR" sz="2400" dirty="0"/>
              <a:t>Os artigos abaixo são fáceis de ler e fornecem a visão original dos autores sobre as ideias apresentadas nessa aula </a:t>
            </a:r>
          </a:p>
          <a:p>
            <a:pPr lvl="1"/>
            <a:r>
              <a:rPr lang="pt-BR" sz="1600" b="0" i="0" dirty="0">
                <a:solidFill>
                  <a:srgbClr val="222222"/>
                </a:solidFill>
                <a:effectLst/>
              </a:rPr>
              <a:t>SIMONYAN, Karen; ZISSERMAN, Andrew. </a:t>
            </a:r>
            <a:r>
              <a:rPr lang="pt-BR" sz="1600" b="0" i="0" dirty="0" err="1">
                <a:solidFill>
                  <a:srgbClr val="222222"/>
                </a:solidFill>
                <a:effectLst/>
              </a:rPr>
              <a:t>Very</a:t>
            </a:r>
            <a:r>
              <a:rPr lang="pt-BR" sz="1600" b="0" i="0" dirty="0">
                <a:solidFill>
                  <a:srgbClr val="222222"/>
                </a:solidFill>
                <a:effectLst/>
              </a:rPr>
              <a:t> </a:t>
            </a:r>
            <a:r>
              <a:rPr lang="pt-BR" sz="1600" b="0" i="0" dirty="0" err="1">
                <a:solidFill>
                  <a:srgbClr val="222222"/>
                </a:solidFill>
                <a:effectLst/>
              </a:rPr>
              <a:t>deep</a:t>
            </a:r>
            <a:r>
              <a:rPr lang="pt-BR" sz="1600" b="0" i="0" dirty="0">
                <a:solidFill>
                  <a:srgbClr val="222222"/>
                </a:solidFill>
                <a:effectLst/>
              </a:rPr>
              <a:t> </a:t>
            </a:r>
            <a:r>
              <a:rPr lang="pt-BR" sz="1600" b="0" i="0" dirty="0" err="1">
                <a:solidFill>
                  <a:srgbClr val="222222"/>
                </a:solidFill>
                <a:effectLst/>
              </a:rPr>
              <a:t>convolutional</a:t>
            </a:r>
            <a:r>
              <a:rPr lang="pt-BR" sz="1600" b="0" i="0" dirty="0">
                <a:solidFill>
                  <a:srgbClr val="222222"/>
                </a:solidFill>
                <a:effectLst/>
              </a:rPr>
              <a:t> networks for </a:t>
            </a:r>
            <a:r>
              <a:rPr lang="pt-BR" sz="1600" b="0" i="0" dirty="0" err="1">
                <a:solidFill>
                  <a:srgbClr val="222222"/>
                </a:solidFill>
                <a:effectLst/>
              </a:rPr>
              <a:t>large-scale</a:t>
            </a:r>
            <a:r>
              <a:rPr lang="pt-BR" sz="1600" b="0" i="0" dirty="0">
                <a:solidFill>
                  <a:srgbClr val="222222"/>
                </a:solidFill>
                <a:effectLst/>
              </a:rPr>
              <a:t> </a:t>
            </a:r>
            <a:r>
              <a:rPr lang="pt-BR" sz="1600" b="0" i="0" dirty="0" err="1">
                <a:solidFill>
                  <a:srgbClr val="222222"/>
                </a:solidFill>
                <a:effectLst/>
              </a:rPr>
              <a:t>image</a:t>
            </a:r>
            <a:r>
              <a:rPr lang="pt-BR" sz="1600" b="0" i="0" dirty="0">
                <a:solidFill>
                  <a:srgbClr val="222222"/>
                </a:solidFill>
                <a:effectLst/>
              </a:rPr>
              <a:t> </a:t>
            </a:r>
            <a:r>
              <a:rPr lang="pt-BR" sz="1600" b="0" i="0" dirty="0" err="1">
                <a:solidFill>
                  <a:srgbClr val="222222"/>
                </a:solidFill>
                <a:effectLst/>
              </a:rPr>
              <a:t>recognition</a:t>
            </a:r>
            <a:r>
              <a:rPr lang="pt-BR" sz="1600" b="0" i="0" dirty="0">
                <a:solidFill>
                  <a:srgbClr val="222222"/>
                </a:solidFill>
                <a:effectLst/>
              </a:rPr>
              <a:t>. </a:t>
            </a:r>
            <a:r>
              <a:rPr lang="pt-BR" sz="1600" b="1" i="0" dirty="0" err="1">
                <a:solidFill>
                  <a:srgbClr val="222222"/>
                </a:solidFill>
                <a:effectLst/>
              </a:rPr>
              <a:t>arXiv</a:t>
            </a:r>
            <a:r>
              <a:rPr lang="pt-BR" sz="1600" b="1" i="0" dirty="0">
                <a:solidFill>
                  <a:srgbClr val="222222"/>
                </a:solidFill>
                <a:effectLst/>
              </a:rPr>
              <a:t> </a:t>
            </a:r>
            <a:r>
              <a:rPr lang="pt-BR" sz="1600" b="1" i="0" dirty="0" err="1">
                <a:solidFill>
                  <a:srgbClr val="222222"/>
                </a:solidFill>
                <a:effectLst/>
              </a:rPr>
              <a:t>preprint</a:t>
            </a:r>
            <a:r>
              <a:rPr lang="pt-BR" sz="1600" b="1" i="0" dirty="0">
                <a:solidFill>
                  <a:srgbClr val="222222"/>
                </a:solidFill>
                <a:effectLst/>
              </a:rPr>
              <a:t> arXiv:1409.1556</a:t>
            </a:r>
            <a:r>
              <a:rPr lang="pt-BR" sz="1600" b="0" i="0" dirty="0">
                <a:solidFill>
                  <a:srgbClr val="222222"/>
                </a:solidFill>
                <a:effectLst/>
              </a:rPr>
              <a:t>, 2014.</a:t>
            </a:r>
          </a:p>
          <a:p>
            <a:pPr lvl="1"/>
            <a:r>
              <a:rPr lang="en-US" sz="1600" b="0" i="0" dirty="0">
                <a:solidFill>
                  <a:srgbClr val="222222"/>
                </a:solidFill>
                <a:effectLst/>
              </a:rPr>
              <a:t>SERMANET, Pierre et al. </a:t>
            </a:r>
            <a:r>
              <a:rPr lang="en-US" sz="1600" b="0" i="0" dirty="0" err="1">
                <a:solidFill>
                  <a:srgbClr val="222222"/>
                </a:solidFill>
                <a:effectLst/>
              </a:rPr>
              <a:t>Overfeat</a:t>
            </a:r>
            <a:r>
              <a:rPr lang="en-US" sz="1600" b="0" i="0" dirty="0">
                <a:solidFill>
                  <a:srgbClr val="222222"/>
                </a:solidFill>
                <a:effectLst/>
              </a:rPr>
              <a:t>: Integrated recognition, localization and detection using convolutional networks. </a:t>
            </a:r>
            <a:r>
              <a:rPr lang="en-US" sz="1600" b="1" i="0" dirty="0" err="1">
                <a:solidFill>
                  <a:srgbClr val="222222"/>
                </a:solidFill>
                <a:effectLst/>
              </a:rPr>
              <a:t>arXiv</a:t>
            </a:r>
            <a:r>
              <a:rPr lang="en-US" sz="1600" b="1" i="0" dirty="0">
                <a:solidFill>
                  <a:srgbClr val="222222"/>
                </a:solidFill>
                <a:effectLst/>
              </a:rPr>
              <a:t> preprint arXiv:1312.6229</a:t>
            </a:r>
            <a:r>
              <a:rPr lang="en-US" sz="1600" b="0" i="0" dirty="0">
                <a:solidFill>
                  <a:srgbClr val="222222"/>
                </a:solidFill>
                <a:effectLst/>
              </a:rPr>
              <a:t>, 2013.</a:t>
            </a:r>
            <a:endParaRPr lang="pt-BR" sz="2000" dirty="0"/>
          </a:p>
          <a:p>
            <a:pPr lvl="1"/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NOH, </a:t>
            </a:r>
            <a:r>
              <a:rPr lang="pt-BR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Hyeonwoo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HONG, </a:t>
            </a:r>
            <a:r>
              <a:rPr lang="pt-BR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Seunghoon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HAN, </a:t>
            </a:r>
            <a:r>
              <a:rPr lang="pt-BR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Bohyung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Learning </a:t>
            </a:r>
            <a:r>
              <a:rPr lang="pt-BR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deconvolution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network for </a:t>
            </a:r>
            <a:r>
              <a:rPr lang="pt-BR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semantic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segmentation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In: </a:t>
            </a:r>
            <a:r>
              <a:rPr lang="pt-BR" sz="14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</a:t>
            </a:r>
            <a:r>
              <a:rPr lang="pt-B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4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pt-B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4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pt-B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IEEE </a:t>
            </a:r>
            <a:r>
              <a:rPr lang="pt-BR" sz="14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</a:t>
            </a:r>
            <a:r>
              <a:rPr lang="pt-B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4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conference</a:t>
            </a:r>
            <a:r>
              <a:rPr lang="pt-B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4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</a:t>
            </a:r>
            <a:r>
              <a:rPr lang="pt-B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4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computer</a:t>
            </a:r>
            <a:r>
              <a:rPr lang="pt-B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4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2015. p. 1520-1528.</a:t>
            </a:r>
            <a:endParaRPr lang="pt-BR" sz="1400" dirty="0"/>
          </a:p>
          <a:p>
            <a:pPr lvl="1"/>
            <a:endParaRPr lang="pt-B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5F3A4-8CC9-6799-A160-6C78BD5F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3078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10488</TotalTime>
  <Words>3251</Words>
  <Application>Microsoft Office PowerPoint</Application>
  <PresentationFormat>Widescreen</PresentationFormat>
  <Paragraphs>886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-apple-system</vt:lpstr>
      <vt:lpstr>Arial</vt:lpstr>
      <vt:lpstr>Calibri</vt:lpstr>
      <vt:lpstr>Calibri Light</vt:lpstr>
      <vt:lpstr>Cambria Math</vt:lpstr>
      <vt:lpstr>Tema do Office</vt:lpstr>
      <vt:lpstr>Aprendizado Profundo 1</vt:lpstr>
      <vt:lpstr>Agenda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VGG</vt:lpstr>
      <vt:lpstr>Localização</vt:lpstr>
      <vt:lpstr>Localização</vt:lpstr>
      <vt:lpstr>Localização</vt:lpstr>
      <vt:lpstr>Localização</vt:lpstr>
      <vt:lpstr>Localização</vt:lpstr>
      <vt:lpstr>Localização</vt:lpstr>
      <vt:lpstr>Localização</vt:lpstr>
      <vt:lpstr>Localização</vt:lpstr>
      <vt:lpstr>Localização</vt:lpstr>
      <vt:lpstr>Localização</vt:lpstr>
      <vt:lpstr>Localização</vt:lpstr>
      <vt:lpstr>Localização</vt:lpstr>
      <vt:lpstr>Localização - Resumindo</vt:lpstr>
      <vt:lpstr>Classificação e Localização</vt:lpstr>
      <vt:lpstr>Classificação e Localização</vt:lpstr>
      <vt:lpstr>Classificação e Localização</vt:lpstr>
      <vt:lpstr>Segmentação Semântica</vt:lpstr>
      <vt:lpstr>Segmentação Semântica</vt:lpstr>
      <vt:lpstr>Segmentação Semântica</vt:lpstr>
      <vt:lpstr>Segmentação Semântica</vt:lpstr>
      <vt:lpstr>Detecção de Objetos</vt:lpstr>
      <vt:lpstr>Segmentação de Instâncias</vt:lpstr>
      <vt:lpstr>Segmentação Semântica</vt:lpstr>
      <vt:lpstr>Referências: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de Máquina Turma 010 - 2021/2</dc:title>
  <dc:creator>Lucas Silveira Kupssinsku</dc:creator>
  <cp:lastModifiedBy>Lucas Kupssinskü</cp:lastModifiedBy>
  <cp:revision>180</cp:revision>
  <dcterms:created xsi:type="dcterms:W3CDTF">2021-08-01T11:35:46Z</dcterms:created>
  <dcterms:modified xsi:type="dcterms:W3CDTF">2023-10-24T23:10:08Z</dcterms:modified>
</cp:coreProperties>
</file>