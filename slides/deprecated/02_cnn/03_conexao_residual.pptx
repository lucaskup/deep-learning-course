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3"/>
  </p:notesMasterIdLst>
  <p:sldIdLst>
    <p:sldId id="256" r:id="rId2"/>
    <p:sldId id="294" r:id="rId3"/>
    <p:sldId id="295" r:id="rId4"/>
    <p:sldId id="297" r:id="rId5"/>
    <p:sldId id="298" r:id="rId6"/>
    <p:sldId id="299" r:id="rId7"/>
    <p:sldId id="300" r:id="rId8"/>
    <p:sldId id="301" r:id="rId9"/>
    <p:sldId id="302" r:id="rId10"/>
    <p:sldId id="303" r:id="rId11"/>
    <p:sldId id="304" r:id="rId12"/>
    <p:sldId id="305" r:id="rId13"/>
    <p:sldId id="306" r:id="rId14"/>
    <p:sldId id="307" r:id="rId15"/>
    <p:sldId id="308" r:id="rId16"/>
    <p:sldId id="316" r:id="rId17"/>
    <p:sldId id="309" r:id="rId18"/>
    <p:sldId id="310" r:id="rId19"/>
    <p:sldId id="311" r:id="rId20"/>
    <p:sldId id="317" r:id="rId21"/>
    <p:sldId id="318" r:id="rId22"/>
    <p:sldId id="319" r:id="rId23"/>
    <p:sldId id="320" r:id="rId24"/>
    <p:sldId id="321" r:id="rId25"/>
    <p:sldId id="322" r:id="rId26"/>
    <p:sldId id="323" r:id="rId27"/>
    <p:sldId id="324" r:id="rId28"/>
    <p:sldId id="325" r:id="rId29"/>
    <p:sldId id="326" r:id="rId30"/>
    <p:sldId id="327" r:id="rId31"/>
    <p:sldId id="328" r:id="rId32"/>
    <p:sldId id="329" r:id="rId33"/>
    <p:sldId id="330" r:id="rId34"/>
    <p:sldId id="341" r:id="rId35"/>
    <p:sldId id="331" r:id="rId36"/>
    <p:sldId id="344" r:id="rId37"/>
    <p:sldId id="345" r:id="rId38"/>
    <p:sldId id="346" r:id="rId39"/>
    <p:sldId id="347" r:id="rId40"/>
    <p:sldId id="348" r:id="rId41"/>
    <p:sldId id="349" r:id="rId42"/>
    <p:sldId id="350" r:id="rId43"/>
    <p:sldId id="333" r:id="rId44"/>
    <p:sldId id="334" r:id="rId45"/>
    <p:sldId id="340" r:id="rId46"/>
    <p:sldId id="335" r:id="rId47"/>
    <p:sldId id="338" r:id="rId48"/>
    <p:sldId id="339" r:id="rId49"/>
    <p:sldId id="337" r:id="rId50"/>
    <p:sldId id="336" r:id="rId51"/>
    <p:sldId id="293" r:id="rId52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AE3F3"/>
    <a:srgbClr val="FF0000"/>
    <a:srgbClr val="FB29FB"/>
    <a:srgbClr val="F6B2B0"/>
    <a:srgbClr val="B482DA"/>
    <a:srgbClr val="AFEBF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Estilo Claro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29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30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1DBEC8-B7CD-4879-87AE-64AF7BD7DF30}" type="datetimeFigureOut">
              <a:rPr lang="pt-BR" smtClean="0"/>
              <a:t>01/11/2023</a:t>
            </a:fld>
            <a:endParaRPr lang="pt-B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CF50156-6885-4B39-8E78-85D0C1AED0F8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871531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936A27-9130-4759-A47A-23D3EAB304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41A88DD-808F-4F8D-84A5-3916FE3D844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5AD0587-6BA5-4755-A254-BA8BAB6A2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523EE8-82C7-4BB9-8AE0-A839B9F0439B}" type="datetime1">
              <a:rPr lang="pt-BR" smtClean="0"/>
              <a:t>01/11/2023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654C2AD-8133-48B1-A30D-493AEB541A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085C79A-F85A-4516-A45F-AA8BEF572D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316969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26CC7B-9026-47F0-A53D-971D687FFB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179AE47-E774-440E-BB95-261546E48D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B6D0AA4-83FF-4C0C-8613-B3D0E93752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A7079A-94C2-45A1-88AB-6250F7D03304}" type="datetime1">
              <a:rPr lang="pt-BR" smtClean="0"/>
              <a:t>01/11/2023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A984507-0CE8-4D65-8720-EE422B9554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1BCF4AD-DDBF-4D80-A019-F4FEC8F4CC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957771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767D888-DBC5-4160-A401-DF4296CF8D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C41015C-6433-4AA1-82DC-E038C8C7CB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8375D2A-D6E9-4EA5-9A79-B02009078A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FB87A7-29BF-49EF-AFD5-EA48A803025A}" type="datetime1">
              <a:rPr lang="pt-BR" smtClean="0"/>
              <a:t>01/11/2023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DB65A21-5BD0-48CC-9633-CD3EBDDBA1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818FF30-0E8C-4739-A740-930FD7CE5C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035803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CD98A0D-47CA-4BF5-8A53-03DEDDB1ED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C6693E7-97F4-43B7-A4A2-B26156714F3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EBA5FED8-E805-40F8-AED2-2B37F607D8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92B54B3-3070-46A9-BB16-347D6E911E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8B6DB7-59BC-4CD2-BD08-E2943D1EF069}" type="datetime1">
              <a:rPr lang="pt-BR" smtClean="0"/>
              <a:t>01/11/2023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6695434-EDA8-4C3C-8BF0-E097E53C02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2483E8E-C241-4C26-AD63-8E1145727B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244102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5F86158-79AD-47BA-94A0-7B5C1B2F23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2F05BE3-8146-47FD-B959-DE98B68C20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EAA55466-A0D9-4326-8C0B-11D9ECB997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CD8DD07B-B6ED-4D98-9C41-AB40AAD2EB1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4E0E32ED-0580-4733-8A15-EF1A54EE767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80B57CC4-6BEE-4C56-B5A7-8348FFBAA7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893418-6918-484A-8421-0D025D0D8A67}" type="datetime1">
              <a:rPr lang="pt-BR" smtClean="0"/>
              <a:t>01/11/2023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EF8A9786-CC6C-453F-88B8-EDE8FEEEE4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C7ACE4B8-7B8A-4602-8AC9-3F4E66D79E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960339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BE1E33F-43CC-4BCB-A00F-C169AF1321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7E9A7E1A-8845-4FE6-ADDC-740512EC6B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10CAA2-036D-405F-9538-4B646274D645}" type="datetime1">
              <a:rPr lang="pt-BR" smtClean="0"/>
              <a:t>01/11/2023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095CA399-4971-4420-B53F-37EB8ACF28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8FB00EC4-0A80-464E-9415-C3F9673812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25788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19EE76B2-7187-484D-B134-A77D8B3011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813415-C3D3-416A-BA17-3FEFA32702EE}" type="datetime1">
              <a:rPr lang="pt-BR" smtClean="0"/>
              <a:t>01/11/2023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29238519-4661-42E6-A172-40EEF015F4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0CD207DA-461C-448E-83A6-5E42627CC4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901431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769BC73-075F-4C57-B083-A2A53A76C7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753C72F-F7F4-4065-B66E-03AF5711EC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ED830101-D942-46FF-BA69-E5E55509A2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45132C4-FE9A-407F-A499-CB1C142D98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994281-F446-41F4-852D-AF0C5F0FB8E5}" type="datetime1">
              <a:rPr lang="pt-BR" smtClean="0"/>
              <a:t>01/11/2023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DBC6E7AD-95AD-4059-AE42-AA92FD2F82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E715626A-7012-4235-A6D7-A1A7523445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336534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7642BC7-D688-430F-A256-18657B5F36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E33CB283-3B59-4BAD-87DF-1422F776B67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553F9CF2-5A0D-4F0C-9FD8-7DB051EB07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776D9E3-8099-4187-BE37-EBC90D5390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ACD1-8F4F-450B-9F25-92B5A7643D6C}" type="datetime1">
              <a:rPr lang="pt-BR" smtClean="0"/>
              <a:t>01/11/2023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EFBBD30-A1E3-4861-9D26-E9EED18B0E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3C0BD16-792A-45CC-8B4D-E0A7A8839E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272153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AD3F8C5-185D-49E1-A53C-2E55BD5A1F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32D78D96-867E-469F-983A-80ACE30235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086A972-7A5F-4745-BB5E-7D0DDADC0B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75C635-A7DF-42C1-A820-15BA95751108}" type="datetime1">
              <a:rPr lang="pt-BR" smtClean="0"/>
              <a:t>01/11/2023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42C18A6-57BF-49F1-97EA-7F9ACD0BAD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EFE4627-EAD2-4008-B1FA-614849F55F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917966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F9E7A39B-F7E2-4A69-942C-6AEFE2C7B06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83298851-909A-4BB7-9514-2A3766F2D8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D06C408-EEE6-4851-8B3F-CBF1451B74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B8CA80-3A23-4BED-BFDD-EC237E1C9920}" type="datetime1">
              <a:rPr lang="pt-BR" smtClean="0"/>
              <a:t>01/11/2023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5E5DE8C-E893-46D9-9054-DB6F88FD06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422E16A-56BB-4B7D-8AA6-C3A5B37614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773872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DB1A29FE-D65E-4440-A657-262577AA05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167D270-2A8A-433A-93D9-8D998D06BE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8BC1113-45B0-4701-87FE-8C670E00051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F95C9C-EC44-4A90-8C72-29D4E173E628}" type="datetime1">
              <a:rPr lang="pt-BR" smtClean="0"/>
              <a:t>01/11/2023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F72D9F7-AA55-448C-B21A-88D3674318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6BF8157-6D2F-4A31-942D-5AE190A464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BE6AF0-DA65-4AAF-B1B6-D34C9150970C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954074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28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33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33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33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13" Type="http://schemas.openxmlformats.org/officeDocument/2006/relationships/image" Target="../media/image51.png"/><Relationship Id="rId18" Type="http://schemas.openxmlformats.org/officeDocument/2006/relationships/image" Target="../media/image56.png"/><Relationship Id="rId26" Type="http://schemas.openxmlformats.org/officeDocument/2006/relationships/image" Target="../media/image64.png"/><Relationship Id="rId3" Type="http://schemas.openxmlformats.org/officeDocument/2006/relationships/image" Target="../media/image40.png"/><Relationship Id="rId21" Type="http://schemas.openxmlformats.org/officeDocument/2006/relationships/image" Target="../media/image59.png"/><Relationship Id="rId7" Type="http://schemas.openxmlformats.org/officeDocument/2006/relationships/image" Target="../media/image44.png"/><Relationship Id="rId12" Type="http://schemas.openxmlformats.org/officeDocument/2006/relationships/image" Target="../media/image49.png"/><Relationship Id="rId17" Type="http://schemas.openxmlformats.org/officeDocument/2006/relationships/image" Target="../media/image55.png"/><Relationship Id="rId25" Type="http://schemas.openxmlformats.org/officeDocument/2006/relationships/image" Target="../media/image63.png"/><Relationship Id="rId2" Type="http://schemas.openxmlformats.org/officeDocument/2006/relationships/image" Target="../media/image39.png"/><Relationship Id="rId16" Type="http://schemas.openxmlformats.org/officeDocument/2006/relationships/image" Target="../media/image54.png"/><Relationship Id="rId20" Type="http://schemas.openxmlformats.org/officeDocument/2006/relationships/image" Target="../media/image5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.png"/><Relationship Id="rId11" Type="http://schemas.openxmlformats.org/officeDocument/2006/relationships/image" Target="../media/image48.png"/><Relationship Id="rId24" Type="http://schemas.openxmlformats.org/officeDocument/2006/relationships/image" Target="../media/image62.png"/><Relationship Id="rId5" Type="http://schemas.openxmlformats.org/officeDocument/2006/relationships/image" Target="../media/image42.png"/><Relationship Id="rId15" Type="http://schemas.openxmlformats.org/officeDocument/2006/relationships/image" Target="../media/image53.png"/><Relationship Id="rId23" Type="http://schemas.openxmlformats.org/officeDocument/2006/relationships/image" Target="../media/image61.png"/><Relationship Id="rId10" Type="http://schemas.openxmlformats.org/officeDocument/2006/relationships/image" Target="../media/image47.png"/><Relationship Id="rId19" Type="http://schemas.openxmlformats.org/officeDocument/2006/relationships/image" Target="../media/image57.png"/><Relationship Id="rId4" Type="http://schemas.openxmlformats.org/officeDocument/2006/relationships/image" Target="../media/image41.png"/><Relationship Id="rId9" Type="http://schemas.openxmlformats.org/officeDocument/2006/relationships/image" Target="../media/image46.png"/><Relationship Id="rId14" Type="http://schemas.openxmlformats.org/officeDocument/2006/relationships/image" Target="../media/image52.png"/><Relationship Id="rId22" Type="http://schemas.openxmlformats.org/officeDocument/2006/relationships/image" Target="../media/image60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0.png"/><Relationship Id="rId13" Type="http://schemas.openxmlformats.org/officeDocument/2006/relationships/image" Target="../media/image74.png"/><Relationship Id="rId18" Type="http://schemas.openxmlformats.org/officeDocument/2006/relationships/image" Target="../media/image79.png"/><Relationship Id="rId26" Type="http://schemas.openxmlformats.org/officeDocument/2006/relationships/image" Target="../media/image87.png"/><Relationship Id="rId3" Type="http://schemas.openxmlformats.org/officeDocument/2006/relationships/image" Target="../media/image88.png"/><Relationship Id="rId21" Type="http://schemas.openxmlformats.org/officeDocument/2006/relationships/image" Target="../media/image82.png"/><Relationship Id="rId7" Type="http://schemas.openxmlformats.org/officeDocument/2006/relationships/image" Target="../media/image89.png"/><Relationship Id="rId12" Type="http://schemas.openxmlformats.org/officeDocument/2006/relationships/image" Target="../media/image73.png"/><Relationship Id="rId17" Type="http://schemas.openxmlformats.org/officeDocument/2006/relationships/image" Target="../media/image78.png"/><Relationship Id="rId25" Type="http://schemas.openxmlformats.org/officeDocument/2006/relationships/image" Target="../media/image86.png"/><Relationship Id="rId2" Type="http://schemas.openxmlformats.org/officeDocument/2006/relationships/image" Target="../media/image66.png"/><Relationship Id="rId16" Type="http://schemas.openxmlformats.org/officeDocument/2006/relationships/image" Target="../media/image77.png"/><Relationship Id="rId20" Type="http://schemas.openxmlformats.org/officeDocument/2006/relationships/image" Target="../media/image91.png"/><Relationship Id="rId29" Type="http://schemas.openxmlformats.org/officeDocument/2006/relationships/image" Target="../media/image9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9.png"/><Relationship Id="rId11" Type="http://schemas.openxmlformats.org/officeDocument/2006/relationships/image" Target="../media/image72.png"/><Relationship Id="rId24" Type="http://schemas.openxmlformats.org/officeDocument/2006/relationships/image" Target="../media/image92.png"/><Relationship Id="rId5" Type="http://schemas.openxmlformats.org/officeDocument/2006/relationships/image" Target="../media/image68.png"/><Relationship Id="rId15" Type="http://schemas.openxmlformats.org/officeDocument/2006/relationships/image" Target="../media/image76.png"/><Relationship Id="rId23" Type="http://schemas.openxmlformats.org/officeDocument/2006/relationships/image" Target="../media/image84.png"/><Relationship Id="rId28" Type="http://schemas.openxmlformats.org/officeDocument/2006/relationships/image" Target="../media/image94.png"/><Relationship Id="rId10" Type="http://schemas.openxmlformats.org/officeDocument/2006/relationships/image" Target="../media/image90.png"/><Relationship Id="rId19" Type="http://schemas.openxmlformats.org/officeDocument/2006/relationships/image" Target="../media/image80.png"/><Relationship Id="rId31" Type="http://schemas.openxmlformats.org/officeDocument/2006/relationships/image" Target="../media/image97.png"/><Relationship Id="rId4" Type="http://schemas.openxmlformats.org/officeDocument/2006/relationships/image" Target="../media/image67.png"/><Relationship Id="rId9" Type="http://schemas.openxmlformats.org/officeDocument/2006/relationships/image" Target="../media/image71.png"/><Relationship Id="rId14" Type="http://schemas.openxmlformats.org/officeDocument/2006/relationships/image" Target="../media/image75.png"/><Relationship Id="rId22" Type="http://schemas.openxmlformats.org/officeDocument/2006/relationships/image" Target="../media/image83.png"/><Relationship Id="rId27" Type="http://schemas.openxmlformats.org/officeDocument/2006/relationships/image" Target="../media/image93.png"/><Relationship Id="rId30" Type="http://schemas.openxmlformats.org/officeDocument/2006/relationships/image" Target="../media/image96.png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0.png"/><Relationship Id="rId13" Type="http://schemas.openxmlformats.org/officeDocument/2006/relationships/image" Target="../media/image74.png"/><Relationship Id="rId18" Type="http://schemas.openxmlformats.org/officeDocument/2006/relationships/image" Target="../media/image79.png"/><Relationship Id="rId26" Type="http://schemas.openxmlformats.org/officeDocument/2006/relationships/image" Target="../media/image87.png"/><Relationship Id="rId3" Type="http://schemas.openxmlformats.org/officeDocument/2006/relationships/image" Target="../media/image88.png"/><Relationship Id="rId21" Type="http://schemas.openxmlformats.org/officeDocument/2006/relationships/image" Target="../media/image82.png"/><Relationship Id="rId7" Type="http://schemas.openxmlformats.org/officeDocument/2006/relationships/image" Target="../media/image89.png"/><Relationship Id="rId12" Type="http://schemas.openxmlformats.org/officeDocument/2006/relationships/image" Target="../media/image73.png"/><Relationship Id="rId17" Type="http://schemas.openxmlformats.org/officeDocument/2006/relationships/image" Target="../media/image78.png"/><Relationship Id="rId25" Type="http://schemas.openxmlformats.org/officeDocument/2006/relationships/image" Target="../media/image86.png"/><Relationship Id="rId2" Type="http://schemas.openxmlformats.org/officeDocument/2006/relationships/image" Target="../media/image66.png"/><Relationship Id="rId16" Type="http://schemas.openxmlformats.org/officeDocument/2006/relationships/image" Target="../media/image77.png"/><Relationship Id="rId20" Type="http://schemas.openxmlformats.org/officeDocument/2006/relationships/image" Target="../media/image91.png"/><Relationship Id="rId29" Type="http://schemas.openxmlformats.org/officeDocument/2006/relationships/image" Target="../media/image9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9.png"/><Relationship Id="rId11" Type="http://schemas.openxmlformats.org/officeDocument/2006/relationships/image" Target="../media/image72.png"/><Relationship Id="rId24" Type="http://schemas.openxmlformats.org/officeDocument/2006/relationships/image" Target="../media/image92.png"/><Relationship Id="rId32" Type="http://schemas.openxmlformats.org/officeDocument/2006/relationships/image" Target="../media/image98.png"/><Relationship Id="rId5" Type="http://schemas.openxmlformats.org/officeDocument/2006/relationships/image" Target="../media/image68.png"/><Relationship Id="rId15" Type="http://schemas.openxmlformats.org/officeDocument/2006/relationships/image" Target="../media/image76.png"/><Relationship Id="rId23" Type="http://schemas.openxmlformats.org/officeDocument/2006/relationships/image" Target="../media/image84.png"/><Relationship Id="rId28" Type="http://schemas.openxmlformats.org/officeDocument/2006/relationships/image" Target="../media/image94.png"/><Relationship Id="rId10" Type="http://schemas.openxmlformats.org/officeDocument/2006/relationships/image" Target="../media/image90.png"/><Relationship Id="rId19" Type="http://schemas.openxmlformats.org/officeDocument/2006/relationships/image" Target="../media/image80.png"/><Relationship Id="rId31" Type="http://schemas.openxmlformats.org/officeDocument/2006/relationships/image" Target="../media/image97.png"/><Relationship Id="rId4" Type="http://schemas.openxmlformats.org/officeDocument/2006/relationships/image" Target="../media/image67.png"/><Relationship Id="rId9" Type="http://schemas.openxmlformats.org/officeDocument/2006/relationships/image" Target="../media/image71.png"/><Relationship Id="rId14" Type="http://schemas.openxmlformats.org/officeDocument/2006/relationships/image" Target="../media/image75.png"/><Relationship Id="rId22" Type="http://schemas.openxmlformats.org/officeDocument/2006/relationships/image" Target="../media/image83.png"/><Relationship Id="rId27" Type="http://schemas.openxmlformats.org/officeDocument/2006/relationships/image" Target="../media/image93.png"/><Relationship Id="rId30" Type="http://schemas.openxmlformats.org/officeDocument/2006/relationships/image" Target="../media/image96.png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0.png"/><Relationship Id="rId13" Type="http://schemas.openxmlformats.org/officeDocument/2006/relationships/image" Target="../media/image74.png"/><Relationship Id="rId18" Type="http://schemas.openxmlformats.org/officeDocument/2006/relationships/image" Target="../media/image79.png"/><Relationship Id="rId26" Type="http://schemas.openxmlformats.org/officeDocument/2006/relationships/image" Target="../media/image87.png"/><Relationship Id="rId3" Type="http://schemas.openxmlformats.org/officeDocument/2006/relationships/image" Target="../media/image88.png"/><Relationship Id="rId21" Type="http://schemas.openxmlformats.org/officeDocument/2006/relationships/image" Target="../media/image82.png"/><Relationship Id="rId7" Type="http://schemas.openxmlformats.org/officeDocument/2006/relationships/image" Target="../media/image89.png"/><Relationship Id="rId12" Type="http://schemas.openxmlformats.org/officeDocument/2006/relationships/image" Target="../media/image73.png"/><Relationship Id="rId17" Type="http://schemas.openxmlformats.org/officeDocument/2006/relationships/image" Target="../media/image78.png"/><Relationship Id="rId25" Type="http://schemas.openxmlformats.org/officeDocument/2006/relationships/image" Target="../media/image86.png"/><Relationship Id="rId2" Type="http://schemas.openxmlformats.org/officeDocument/2006/relationships/image" Target="../media/image66.png"/><Relationship Id="rId16" Type="http://schemas.openxmlformats.org/officeDocument/2006/relationships/image" Target="../media/image77.png"/><Relationship Id="rId20" Type="http://schemas.openxmlformats.org/officeDocument/2006/relationships/image" Target="../media/image91.png"/><Relationship Id="rId29" Type="http://schemas.openxmlformats.org/officeDocument/2006/relationships/image" Target="../media/image9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9.png"/><Relationship Id="rId11" Type="http://schemas.openxmlformats.org/officeDocument/2006/relationships/image" Target="../media/image72.png"/><Relationship Id="rId24" Type="http://schemas.openxmlformats.org/officeDocument/2006/relationships/image" Target="../media/image92.png"/><Relationship Id="rId32" Type="http://schemas.openxmlformats.org/officeDocument/2006/relationships/image" Target="../media/image99.png"/><Relationship Id="rId5" Type="http://schemas.openxmlformats.org/officeDocument/2006/relationships/image" Target="../media/image68.png"/><Relationship Id="rId15" Type="http://schemas.openxmlformats.org/officeDocument/2006/relationships/image" Target="../media/image76.png"/><Relationship Id="rId23" Type="http://schemas.openxmlformats.org/officeDocument/2006/relationships/image" Target="../media/image84.png"/><Relationship Id="rId28" Type="http://schemas.openxmlformats.org/officeDocument/2006/relationships/image" Target="../media/image94.png"/><Relationship Id="rId10" Type="http://schemas.openxmlformats.org/officeDocument/2006/relationships/image" Target="../media/image81.png"/><Relationship Id="rId19" Type="http://schemas.openxmlformats.org/officeDocument/2006/relationships/image" Target="../media/image80.png"/><Relationship Id="rId31" Type="http://schemas.openxmlformats.org/officeDocument/2006/relationships/image" Target="../media/image97.png"/><Relationship Id="rId4" Type="http://schemas.openxmlformats.org/officeDocument/2006/relationships/image" Target="../media/image67.png"/><Relationship Id="rId9" Type="http://schemas.openxmlformats.org/officeDocument/2006/relationships/image" Target="../media/image71.png"/><Relationship Id="rId14" Type="http://schemas.openxmlformats.org/officeDocument/2006/relationships/image" Target="../media/image75.png"/><Relationship Id="rId22" Type="http://schemas.openxmlformats.org/officeDocument/2006/relationships/image" Target="../media/image83.png"/><Relationship Id="rId27" Type="http://schemas.openxmlformats.org/officeDocument/2006/relationships/image" Target="../media/image93.png"/><Relationship Id="rId30" Type="http://schemas.openxmlformats.org/officeDocument/2006/relationships/image" Target="../media/image96.png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0.png"/><Relationship Id="rId13" Type="http://schemas.openxmlformats.org/officeDocument/2006/relationships/image" Target="../media/image74.png"/><Relationship Id="rId18" Type="http://schemas.openxmlformats.org/officeDocument/2006/relationships/image" Target="../media/image79.png"/><Relationship Id="rId26" Type="http://schemas.openxmlformats.org/officeDocument/2006/relationships/image" Target="../media/image87.png"/><Relationship Id="rId3" Type="http://schemas.openxmlformats.org/officeDocument/2006/relationships/image" Target="../media/image88.png"/><Relationship Id="rId21" Type="http://schemas.openxmlformats.org/officeDocument/2006/relationships/image" Target="../media/image82.png"/><Relationship Id="rId7" Type="http://schemas.openxmlformats.org/officeDocument/2006/relationships/image" Target="../media/image89.png"/><Relationship Id="rId12" Type="http://schemas.openxmlformats.org/officeDocument/2006/relationships/image" Target="../media/image73.png"/><Relationship Id="rId17" Type="http://schemas.openxmlformats.org/officeDocument/2006/relationships/image" Target="../media/image78.png"/><Relationship Id="rId25" Type="http://schemas.openxmlformats.org/officeDocument/2006/relationships/image" Target="../media/image86.png"/><Relationship Id="rId2" Type="http://schemas.openxmlformats.org/officeDocument/2006/relationships/image" Target="../media/image66.png"/><Relationship Id="rId16" Type="http://schemas.openxmlformats.org/officeDocument/2006/relationships/image" Target="../media/image77.png"/><Relationship Id="rId20" Type="http://schemas.openxmlformats.org/officeDocument/2006/relationships/image" Target="../media/image91.png"/><Relationship Id="rId29" Type="http://schemas.openxmlformats.org/officeDocument/2006/relationships/image" Target="../media/image9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9.png"/><Relationship Id="rId11" Type="http://schemas.openxmlformats.org/officeDocument/2006/relationships/image" Target="../media/image72.png"/><Relationship Id="rId24" Type="http://schemas.openxmlformats.org/officeDocument/2006/relationships/image" Target="../media/image92.png"/><Relationship Id="rId32" Type="http://schemas.openxmlformats.org/officeDocument/2006/relationships/image" Target="../media/image100.png"/><Relationship Id="rId5" Type="http://schemas.openxmlformats.org/officeDocument/2006/relationships/image" Target="../media/image68.png"/><Relationship Id="rId15" Type="http://schemas.openxmlformats.org/officeDocument/2006/relationships/image" Target="../media/image76.png"/><Relationship Id="rId23" Type="http://schemas.openxmlformats.org/officeDocument/2006/relationships/image" Target="../media/image84.png"/><Relationship Id="rId28" Type="http://schemas.openxmlformats.org/officeDocument/2006/relationships/image" Target="../media/image94.png"/><Relationship Id="rId10" Type="http://schemas.openxmlformats.org/officeDocument/2006/relationships/image" Target="../media/image81.png"/><Relationship Id="rId19" Type="http://schemas.openxmlformats.org/officeDocument/2006/relationships/image" Target="../media/image80.png"/><Relationship Id="rId31" Type="http://schemas.openxmlformats.org/officeDocument/2006/relationships/image" Target="../media/image97.png"/><Relationship Id="rId4" Type="http://schemas.openxmlformats.org/officeDocument/2006/relationships/image" Target="../media/image67.png"/><Relationship Id="rId9" Type="http://schemas.openxmlformats.org/officeDocument/2006/relationships/image" Target="../media/image71.png"/><Relationship Id="rId14" Type="http://schemas.openxmlformats.org/officeDocument/2006/relationships/image" Target="../media/image75.png"/><Relationship Id="rId22" Type="http://schemas.openxmlformats.org/officeDocument/2006/relationships/image" Target="../media/image83.png"/><Relationship Id="rId27" Type="http://schemas.openxmlformats.org/officeDocument/2006/relationships/image" Target="../media/image93.png"/><Relationship Id="rId30" Type="http://schemas.openxmlformats.org/officeDocument/2006/relationships/image" Target="../media/image96.png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0.png"/><Relationship Id="rId13" Type="http://schemas.openxmlformats.org/officeDocument/2006/relationships/image" Target="../media/image74.png"/><Relationship Id="rId18" Type="http://schemas.openxmlformats.org/officeDocument/2006/relationships/image" Target="../media/image79.png"/><Relationship Id="rId26" Type="http://schemas.openxmlformats.org/officeDocument/2006/relationships/image" Target="../media/image87.png"/><Relationship Id="rId3" Type="http://schemas.openxmlformats.org/officeDocument/2006/relationships/image" Target="../media/image88.png"/><Relationship Id="rId21" Type="http://schemas.openxmlformats.org/officeDocument/2006/relationships/image" Target="../media/image82.png"/><Relationship Id="rId7" Type="http://schemas.openxmlformats.org/officeDocument/2006/relationships/image" Target="../media/image89.png"/><Relationship Id="rId12" Type="http://schemas.openxmlformats.org/officeDocument/2006/relationships/image" Target="../media/image73.png"/><Relationship Id="rId17" Type="http://schemas.openxmlformats.org/officeDocument/2006/relationships/image" Target="../media/image78.png"/><Relationship Id="rId25" Type="http://schemas.openxmlformats.org/officeDocument/2006/relationships/image" Target="../media/image86.png"/><Relationship Id="rId2" Type="http://schemas.openxmlformats.org/officeDocument/2006/relationships/image" Target="../media/image66.png"/><Relationship Id="rId16" Type="http://schemas.openxmlformats.org/officeDocument/2006/relationships/image" Target="../media/image77.png"/><Relationship Id="rId20" Type="http://schemas.openxmlformats.org/officeDocument/2006/relationships/image" Target="../media/image91.png"/><Relationship Id="rId29" Type="http://schemas.openxmlformats.org/officeDocument/2006/relationships/image" Target="../media/image8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9.png"/><Relationship Id="rId11" Type="http://schemas.openxmlformats.org/officeDocument/2006/relationships/image" Target="../media/image72.png"/><Relationship Id="rId24" Type="http://schemas.openxmlformats.org/officeDocument/2006/relationships/image" Target="../media/image92.png"/><Relationship Id="rId32" Type="http://schemas.openxmlformats.org/officeDocument/2006/relationships/image" Target="../media/image101.png"/><Relationship Id="rId5" Type="http://schemas.openxmlformats.org/officeDocument/2006/relationships/image" Target="../media/image68.png"/><Relationship Id="rId15" Type="http://schemas.openxmlformats.org/officeDocument/2006/relationships/image" Target="../media/image76.png"/><Relationship Id="rId23" Type="http://schemas.openxmlformats.org/officeDocument/2006/relationships/image" Target="../media/image84.png"/><Relationship Id="rId28" Type="http://schemas.openxmlformats.org/officeDocument/2006/relationships/image" Target="../media/image94.png"/><Relationship Id="rId10" Type="http://schemas.openxmlformats.org/officeDocument/2006/relationships/image" Target="../media/image81.png"/><Relationship Id="rId19" Type="http://schemas.openxmlformats.org/officeDocument/2006/relationships/image" Target="../media/image80.png"/><Relationship Id="rId31" Type="http://schemas.openxmlformats.org/officeDocument/2006/relationships/image" Target="../media/image97.png"/><Relationship Id="rId4" Type="http://schemas.openxmlformats.org/officeDocument/2006/relationships/image" Target="../media/image67.png"/><Relationship Id="rId9" Type="http://schemas.openxmlformats.org/officeDocument/2006/relationships/image" Target="../media/image71.png"/><Relationship Id="rId14" Type="http://schemas.openxmlformats.org/officeDocument/2006/relationships/image" Target="../media/image75.png"/><Relationship Id="rId22" Type="http://schemas.openxmlformats.org/officeDocument/2006/relationships/image" Target="../media/image83.png"/><Relationship Id="rId27" Type="http://schemas.openxmlformats.org/officeDocument/2006/relationships/image" Target="../media/image93.png"/><Relationship Id="rId30" Type="http://schemas.openxmlformats.org/officeDocument/2006/relationships/image" Target="../media/image96.png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0.png"/><Relationship Id="rId13" Type="http://schemas.openxmlformats.org/officeDocument/2006/relationships/image" Target="../media/image74.png"/><Relationship Id="rId18" Type="http://schemas.openxmlformats.org/officeDocument/2006/relationships/image" Target="../media/image79.png"/><Relationship Id="rId26" Type="http://schemas.openxmlformats.org/officeDocument/2006/relationships/image" Target="../media/image87.png"/><Relationship Id="rId3" Type="http://schemas.openxmlformats.org/officeDocument/2006/relationships/image" Target="../media/image88.png"/><Relationship Id="rId21" Type="http://schemas.openxmlformats.org/officeDocument/2006/relationships/image" Target="../media/image82.png"/><Relationship Id="rId7" Type="http://schemas.openxmlformats.org/officeDocument/2006/relationships/image" Target="../media/image89.png"/><Relationship Id="rId12" Type="http://schemas.openxmlformats.org/officeDocument/2006/relationships/image" Target="../media/image73.png"/><Relationship Id="rId17" Type="http://schemas.openxmlformats.org/officeDocument/2006/relationships/image" Target="../media/image78.png"/><Relationship Id="rId25" Type="http://schemas.openxmlformats.org/officeDocument/2006/relationships/image" Target="../media/image86.png"/><Relationship Id="rId2" Type="http://schemas.openxmlformats.org/officeDocument/2006/relationships/image" Target="../media/image66.png"/><Relationship Id="rId16" Type="http://schemas.openxmlformats.org/officeDocument/2006/relationships/image" Target="../media/image77.png"/><Relationship Id="rId20" Type="http://schemas.openxmlformats.org/officeDocument/2006/relationships/image" Target="../media/image91.png"/><Relationship Id="rId29" Type="http://schemas.openxmlformats.org/officeDocument/2006/relationships/image" Target="../media/image8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9.png"/><Relationship Id="rId11" Type="http://schemas.openxmlformats.org/officeDocument/2006/relationships/image" Target="../media/image72.png"/><Relationship Id="rId24" Type="http://schemas.openxmlformats.org/officeDocument/2006/relationships/image" Target="../media/image92.png"/><Relationship Id="rId5" Type="http://schemas.openxmlformats.org/officeDocument/2006/relationships/image" Target="../media/image68.png"/><Relationship Id="rId15" Type="http://schemas.openxmlformats.org/officeDocument/2006/relationships/image" Target="../media/image76.png"/><Relationship Id="rId23" Type="http://schemas.openxmlformats.org/officeDocument/2006/relationships/image" Target="../media/image84.png"/><Relationship Id="rId28" Type="http://schemas.openxmlformats.org/officeDocument/2006/relationships/image" Target="../media/image94.png"/><Relationship Id="rId10" Type="http://schemas.openxmlformats.org/officeDocument/2006/relationships/image" Target="../media/image81.png"/><Relationship Id="rId19" Type="http://schemas.openxmlformats.org/officeDocument/2006/relationships/image" Target="../media/image80.png"/><Relationship Id="rId31" Type="http://schemas.openxmlformats.org/officeDocument/2006/relationships/image" Target="../media/image97.png"/><Relationship Id="rId4" Type="http://schemas.openxmlformats.org/officeDocument/2006/relationships/image" Target="../media/image67.png"/><Relationship Id="rId9" Type="http://schemas.openxmlformats.org/officeDocument/2006/relationships/image" Target="../media/image71.png"/><Relationship Id="rId14" Type="http://schemas.openxmlformats.org/officeDocument/2006/relationships/image" Target="../media/image75.png"/><Relationship Id="rId22" Type="http://schemas.openxmlformats.org/officeDocument/2006/relationships/image" Target="../media/image83.png"/><Relationship Id="rId27" Type="http://schemas.openxmlformats.org/officeDocument/2006/relationships/image" Target="../media/image93.png"/><Relationship Id="rId30" Type="http://schemas.openxmlformats.org/officeDocument/2006/relationships/image" Target="../media/image96.png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0.png"/><Relationship Id="rId13" Type="http://schemas.openxmlformats.org/officeDocument/2006/relationships/image" Target="../media/image74.png"/><Relationship Id="rId18" Type="http://schemas.openxmlformats.org/officeDocument/2006/relationships/image" Target="../media/image79.png"/><Relationship Id="rId26" Type="http://schemas.openxmlformats.org/officeDocument/2006/relationships/image" Target="../media/image87.png"/><Relationship Id="rId3" Type="http://schemas.openxmlformats.org/officeDocument/2006/relationships/image" Target="../media/image88.png"/><Relationship Id="rId21" Type="http://schemas.openxmlformats.org/officeDocument/2006/relationships/image" Target="../media/image82.png"/><Relationship Id="rId7" Type="http://schemas.openxmlformats.org/officeDocument/2006/relationships/image" Target="../media/image89.png"/><Relationship Id="rId12" Type="http://schemas.openxmlformats.org/officeDocument/2006/relationships/image" Target="../media/image73.png"/><Relationship Id="rId17" Type="http://schemas.openxmlformats.org/officeDocument/2006/relationships/image" Target="../media/image78.png"/><Relationship Id="rId25" Type="http://schemas.openxmlformats.org/officeDocument/2006/relationships/image" Target="../media/image86.png"/><Relationship Id="rId2" Type="http://schemas.openxmlformats.org/officeDocument/2006/relationships/image" Target="../media/image66.png"/><Relationship Id="rId16" Type="http://schemas.openxmlformats.org/officeDocument/2006/relationships/image" Target="../media/image77.png"/><Relationship Id="rId20" Type="http://schemas.openxmlformats.org/officeDocument/2006/relationships/image" Target="../media/image91.png"/><Relationship Id="rId29" Type="http://schemas.openxmlformats.org/officeDocument/2006/relationships/image" Target="../media/image8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9.png"/><Relationship Id="rId11" Type="http://schemas.openxmlformats.org/officeDocument/2006/relationships/image" Target="../media/image72.png"/><Relationship Id="rId24" Type="http://schemas.openxmlformats.org/officeDocument/2006/relationships/image" Target="../media/image92.png"/><Relationship Id="rId32" Type="http://schemas.openxmlformats.org/officeDocument/2006/relationships/image" Target="../media/image102.png"/><Relationship Id="rId5" Type="http://schemas.openxmlformats.org/officeDocument/2006/relationships/image" Target="../media/image68.png"/><Relationship Id="rId15" Type="http://schemas.openxmlformats.org/officeDocument/2006/relationships/image" Target="../media/image76.png"/><Relationship Id="rId23" Type="http://schemas.openxmlformats.org/officeDocument/2006/relationships/image" Target="../media/image84.png"/><Relationship Id="rId28" Type="http://schemas.openxmlformats.org/officeDocument/2006/relationships/image" Target="../media/image94.png"/><Relationship Id="rId10" Type="http://schemas.openxmlformats.org/officeDocument/2006/relationships/image" Target="../media/image81.png"/><Relationship Id="rId19" Type="http://schemas.openxmlformats.org/officeDocument/2006/relationships/image" Target="../media/image80.png"/><Relationship Id="rId31" Type="http://schemas.openxmlformats.org/officeDocument/2006/relationships/image" Target="../media/image97.png"/><Relationship Id="rId4" Type="http://schemas.openxmlformats.org/officeDocument/2006/relationships/image" Target="../media/image67.png"/><Relationship Id="rId9" Type="http://schemas.openxmlformats.org/officeDocument/2006/relationships/image" Target="../media/image71.png"/><Relationship Id="rId14" Type="http://schemas.openxmlformats.org/officeDocument/2006/relationships/image" Target="../media/image75.png"/><Relationship Id="rId22" Type="http://schemas.openxmlformats.org/officeDocument/2006/relationships/image" Target="../media/image83.png"/><Relationship Id="rId27" Type="http://schemas.openxmlformats.org/officeDocument/2006/relationships/image" Target="../media/image93.png"/><Relationship Id="rId30" Type="http://schemas.openxmlformats.org/officeDocument/2006/relationships/image" Target="../media/image96.png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3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3.png"/><Relationship Id="rId2" Type="http://schemas.openxmlformats.org/officeDocument/2006/relationships/image" Target="../media/image430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4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5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6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7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8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hyperlink" Target="https://udlbook.github.io/udlbook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924B37C-3C8E-4FDE-9CD8-8FDBB9948AB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pt-BR" b="0" i="0" dirty="0">
                <a:solidFill>
                  <a:srgbClr val="212529"/>
                </a:solidFill>
                <a:effectLst/>
                <a:latin typeface="-apple-system"/>
              </a:rPr>
              <a:t>Aprendizado Profundo 1</a:t>
            </a:r>
            <a:endParaRPr lang="pt-BR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E46BC0D-1C18-420A-8181-4599D8380A9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dirty="0"/>
              <a:t>Conexões Residuais</a:t>
            </a:r>
          </a:p>
          <a:p>
            <a:r>
              <a:rPr lang="pt-BR" dirty="0"/>
              <a:t>Professor: Lucas Silveira Kupssinskü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95EE3B-E0A9-0563-6E9A-DC0A22FB0D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630251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80D1B5-CEF4-EE24-211E-02EECE078E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Contexto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50F597-24B1-16CB-FF8F-3F30A4E220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Até agora vimos que:</a:t>
            </a:r>
          </a:p>
          <a:p>
            <a:pPr lvl="1"/>
            <a:r>
              <a:rPr lang="pt-BR" dirty="0" err="1"/>
              <a:t>MLPs</a:t>
            </a:r>
            <a:r>
              <a:rPr lang="pt-BR" dirty="0"/>
              <a:t> são bons para resolver problemas de regressão e classificação</a:t>
            </a:r>
          </a:p>
          <a:p>
            <a:pPr lvl="1"/>
            <a:r>
              <a:rPr lang="pt-BR" dirty="0"/>
              <a:t>Camadas </a:t>
            </a:r>
            <a:r>
              <a:rPr lang="pt-BR" dirty="0" err="1"/>
              <a:t>convolucionais</a:t>
            </a:r>
            <a:r>
              <a:rPr lang="pt-BR" dirty="0"/>
              <a:t> são boas para trabalhar com imagens</a:t>
            </a:r>
          </a:p>
          <a:p>
            <a:pPr lvl="1"/>
            <a:r>
              <a:rPr lang="pt-BR" dirty="0"/>
              <a:t>Aumentar a profundidade da rede melhora os resultados</a:t>
            </a:r>
          </a:p>
          <a:p>
            <a:pPr lvl="1"/>
            <a:r>
              <a:rPr lang="pt-BR" dirty="0"/>
              <a:t>Gradiente que se dissipa e gradiente explosivo são problemas</a:t>
            </a:r>
          </a:p>
          <a:p>
            <a:pPr lvl="2"/>
            <a:r>
              <a:rPr lang="pt-BR" dirty="0"/>
              <a:t>Principalmente em redes neurais mais profundas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CAE479-1885-E65C-5BE0-96877DDBBC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864106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80D1B5-CEF4-EE24-211E-02EECE078E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Contexto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C50F597-24B1-16CB-FF8F-3F30A4E2207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pt-BR" dirty="0"/>
                  <a:t>O que vamos ver agora</a:t>
                </a:r>
              </a:p>
              <a:p>
                <a:pPr lvl="1"/>
                <a:r>
                  <a:rPr lang="pt-BR" dirty="0"/>
                  <a:t>Modificações aditivas possibilitam treinar redes mais profundas</a:t>
                </a:r>
              </a:p>
              <a:p>
                <a:pPr lvl="2"/>
                <a:r>
                  <a:rPr lang="en-US" b="0" dirty="0" err="1"/>
                  <a:t>Isso</a:t>
                </a:r>
                <a:r>
                  <a:rPr lang="en-US" b="0" dirty="0"/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[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pt-BR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</m:oMath>
                </a14:m>
                <a:r>
                  <a:rPr lang="pt-BR" dirty="0"/>
                  <a:t> </a:t>
                </a:r>
              </a:p>
              <a:p>
                <a:pPr lvl="2"/>
                <a:r>
                  <a:rPr lang="pt-BR" dirty="0"/>
                  <a:t>Ao invés de: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d>
                          <m:dPr>
                            <m:begChr m:val="["/>
                            <m:endChr m:val="]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, 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  <m:r>
                          <a:rPr lang="en-US" i="1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endParaRPr lang="en-US" b="0" dirty="0"/>
              </a:p>
              <a:p>
                <a:pPr lvl="1"/>
                <a:r>
                  <a:rPr lang="pt-BR" dirty="0"/>
                  <a:t>Esses “caminhos alternativos” recebem o nome de conexões residuais ou </a:t>
                </a:r>
                <a:r>
                  <a:rPr lang="pt-BR" i="1" dirty="0" err="1"/>
                  <a:t>skip</a:t>
                </a:r>
                <a:r>
                  <a:rPr lang="pt-BR" i="1" dirty="0"/>
                  <a:t> connections</a:t>
                </a:r>
              </a:p>
              <a:p>
                <a:pPr lvl="1"/>
                <a:r>
                  <a:rPr lang="pt-BR" dirty="0"/>
                  <a:t>Introduzimos </a:t>
                </a:r>
                <a:r>
                  <a:rPr lang="pt-BR" i="1" dirty="0"/>
                  <a:t>batch </a:t>
                </a:r>
                <a:r>
                  <a:rPr lang="pt-BR" i="1" dirty="0" err="1"/>
                  <a:t>norm</a:t>
                </a:r>
                <a:r>
                  <a:rPr lang="pt-BR" i="1" dirty="0"/>
                  <a:t> </a:t>
                </a:r>
                <a:r>
                  <a:rPr lang="pt-BR" dirty="0"/>
                  <a:t>para evitar gradiente explosivo</a:t>
                </a:r>
                <a:endParaRPr lang="pt-BR" i="1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C50F597-24B1-16CB-FF8F-3F30A4E2207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 r="-58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CAE479-1885-E65C-5BE0-96877DDBBC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659144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5BA95B-8740-80CF-F98C-4654D879A1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Processamento Sequencial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F789A13-B186-3EDA-7E03-DB5A45764E7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pt-BR" dirty="0"/>
                  <a:t>Tanto as </a:t>
                </a:r>
                <a:r>
                  <a:rPr lang="pt-BR" dirty="0" err="1"/>
                  <a:t>CNNs</a:t>
                </a:r>
                <a:r>
                  <a:rPr lang="pt-BR" dirty="0"/>
                  <a:t> quanto os </a:t>
                </a:r>
                <a:r>
                  <a:rPr lang="pt-BR" dirty="0" err="1"/>
                  <a:t>MLPs</a:t>
                </a:r>
                <a:r>
                  <a:rPr lang="pt-BR" dirty="0"/>
                  <a:t> que vimos até agora processam sequencialmente cada uma das suas camadas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</m:oMath>
                </a14:m>
                <a:endParaRPr lang="en-US" sz="2000" b="0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endParaRPr lang="en-US" sz="2000" b="0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e>
                    </m:d>
                  </m:oMath>
                </a14:m>
                <a:endParaRPr lang="en-US" sz="2000" b="0" dirty="0"/>
              </a:p>
              <a:p>
                <a:r>
                  <a:rPr lang="en-US" sz="2000" b="0" dirty="0"/>
                  <a:t>…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</m:oMath>
                </a14:m>
                <a:endParaRPr lang="en-US" b="0" dirty="0"/>
              </a:p>
              <a:p>
                <a:pPr marL="0" indent="0">
                  <a:buNone/>
                </a:pPr>
                <a:endParaRPr lang="pt-BR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F789A13-B186-3EDA-7E03-DB5A45764E7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F80869-3DC7-B5E2-F295-D01517C333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4</a:t>
            </a:fld>
            <a:endParaRPr lang="pt-BR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11623DA-83FB-0545-DA99-8B4632F2ED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7225" y="5154827"/>
            <a:ext cx="8957550" cy="5982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78021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5BA95B-8740-80CF-F98C-4654D879A1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Processamento Sequencial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F789A13-B186-3EDA-7E03-DB5A45764E7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pt-BR" dirty="0"/>
                  <a:t>Uma forma alternativa de pensar é escrever a mesma expressão como uma composição de funções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</m:oMath>
                </a14:m>
                <a:endParaRPr lang="en-US" sz="2000" b="0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…</m:t>
                        </m:r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d>
                          <m:dPr>
                            <m:begChr m:val="["/>
                            <m:endChr m:val="]"/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</m:e>
                              <m:sub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d>
                              <m:dPr>
                                <m:begChr m:val="["/>
                                <m:endChr m:val="]"/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sSub>
                                      <m:sSubPr>
                                        <m:ctrlPr>
                                          <a:rPr lang="en-US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000" i="1">
                                            <a:latin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e>
                                      <m:sub>
                                        <m:r>
                                          <a:rPr lang="en-US" sz="2000" i="1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</m:d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  <m:sub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d>
                            <m:r>
                              <m:rPr>
                                <m:nor/>
                              </m:rPr>
                              <a:rPr lang="en-US" sz="2000" dirty="0"/>
                              <m:t> 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  <m:sub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</m:sSub>
                          </m:e>
                        </m:d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</m:oMath>
                </a14:m>
                <a:endParaRPr lang="en-US" b="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F789A13-B186-3EDA-7E03-DB5A45764E7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F80869-3DC7-B5E2-F295-D01517C333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5</a:t>
            </a:fld>
            <a:endParaRPr lang="pt-BR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11623DA-83FB-0545-DA99-8B4632F2ED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7225" y="5154827"/>
            <a:ext cx="8957550" cy="5982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12387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5BA95B-8740-80CF-F98C-4654D879A1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Processamento Sequencial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789A13-B186-3EDA-7E03-DB5A45764E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b="0" dirty="0" err="1"/>
              <a:t>AlexNet</a:t>
            </a:r>
            <a:endParaRPr lang="pt-BR" b="0" dirty="0"/>
          </a:p>
          <a:p>
            <a:pPr lvl="1"/>
            <a:r>
              <a:rPr lang="pt-BR" dirty="0"/>
              <a:t>8 camadas</a:t>
            </a:r>
          </a:p>
          <a:p>
            <a:pPr lvl="1"/>
            <a:r>
              <a:rPr lang="pt-BR" b="0" dirty="0"/>
              <a:t>Acurácia 84.7% </a:t>
            </a:r>
          </a:p>
          <a:p>
            <a:r>
              <a:rPr lang="pt-BR" dirty="0"/>
              <a:t>VGG-16</a:t>
            </a:r>
          </a:p>
          <a:p>
            <a:pPr lvl="1"/>
            <a:r>
              <a:rPr lang="pt-BR" b="0" dirty="0"/>
              <a:t>16 camadas</a:t>
            </a:r>
          </a:p>
          <a:p>
            <a:pPr lvl="1"/>
            <a:r>
              <a:rPr lang="pt-BR" dirty="0"/>
              <a:t>Acurácia 92.7%</a:t>
            </a:r>
          </a:p>
          <a:p>
            <a:r>
              <a:rPr lang="pt-BR" b="0" dirty="0"/>
              <a:t>Por que não aumentar a profundidade?</a:t>
            </a:r>
          </a:p>
          <a:p>
            <a:pPr lvl="1"/>
            <a:r>
              <a:rPr lang="pt-BR" dirty="0"/>
              <a:t>Pois a acurácia começa a piorar…</a:t>
            </a:r>
            <a:endParaRPr lang="pt-BR" b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F80869-3DC7-B5E2-F295-D01517C333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419003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9A3AD8-B8E8-2848-404A-8B5657608A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Processamento Sequencial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2C9953-41BB-5B91-5F5E-8E0D483E80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3683" y="1825625"/>
            <a:ext cx="11360989" cy="4351338"/>
          </a:xfrm>
        </p:spPr>
        <p:txBody>
          <a:bodyPr>
            <a:normAutofit/>
          </a:bodyPr>
          <a:lstStyle/>
          <a:p>
            <a:r>
              <a:rPr lang="pt-BR" sz="2400" dirty="0"/>
              <a:t>Esse fenômeno não é completamente compreendido/explicado</a:t>
            </a:r>
          </a:p>
          <a:p>
            <a:r>
              <a:rPr lang="pt-BR" sz="2400" dirty="0"/>
              <a:t>A hipótese mais aceita é a do “gradiente quebrado” (</a:t>
            </a:r>
            <a:r>
              <a:rPr lang="en-US" sz="2400" i="1" dirty="0"/>
              <a:t>shattered gradient</a:t>
            </a:r>
            <a:r>
              <a:rPr lang="pt-BR" sz="2400" dirty="0"/>
              <a:t>)</a:t>
            </a:r>
          </a:p>
          <a:p>
            <a:r>
              <a:rPr lang="pt-BR" sz="2400" dirty="0"/>
              <a:t>Pequenas mudanças nos pesos causam mudanças erráticas nas camadas seguintes</a:t>
            </a:r>
          </a:p>
          <a:p>
            <a:pPr lvl="1"/>
            <a:r>
              <a:rPr lang="pt-BR" sz="2000" dirty="0"/>
              <a:t>A diferença do passo “infinitesimal” das equações para o passo utilizado fazem mais diferença</a:t>
            </a:r>
          </a:p>
          <a:p>
            <a:pPr lvl="1"/>
            <a:endParaRPr lang="pt-BR" sz="2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3E8FFD-FBE7-8EB9-0D93-984E297D21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7</a:t>
            </a:fld>
            <a:endParaRPr lang="pt-BR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8387EDA-06ED-D0C3-C860-EDC040802216}"/>
              </a:ext>
            </a:extLst>
          </p:cNvPr>
          <p:cNvSpPr txBox="1"/>
          <p:nvPr/>
        </p:nvSpPr>
        <p:spPr>
          <a:xfrm>
            <a:off x="0" y="6598364"/>
            <a:ext cx="1118702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BALDUZZI, David et al. The shattered gradients problem: If </a:t>
            </a:r>
            <a:r>
              <a:rPr lang="en-US" sz="10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resnets</a:t>
            </a:r>
            <a:r>
              <a:rPr lang="en-US" sz="10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are the answer, then what is the question?. In: </a:t>
            </a:r>
            <a:r>
              <a:rPr lang="en-US" sz="1000" b="1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International Conference on Machine Learning</a:t>
            </a:r>
            <a:r>
              <a:rPr lang="en-US" sz="10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. PMLR, 2017. p. 342-350.</a:t>
            </a:r>
            <a:endParaRPr lang="pt-BR" sz="1000" dirty="0"/>
          </a:p>
        </p:txBody>
      </p:sp>
    </p:spTree>
    <p:extLst>
      <p:ext uri="{BB962C8B-B14F-4D97-AF65-F5344CB8AC3E}">
        <p14:creationId xmlns:p14="http://schemas.microsoft.com/office/powerpoint/2010/main" val="12187423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B3003812-67C0-AB14-5664-E7968C1B729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1098"/>
          <a:stretch/>
        </p:blipFill>
        <p:spPr>
          <a:xfrm>
            <a:off x="312611" y="3217653"/>
            <a:ext cx="11435614" cy="338071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99A3AD8-B8E8-2848-404A-8B5657608A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Processamento Sequencial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3E8FFD-FBE7-8EB9-0D93-984E297D21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8</a:t>
            </a:fld>
            <a:endParaRPr lang="pt-BR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8387EDA-06ED-D0C3-C860-EDC040802216}"/>
              </a:ext>
            </a:extLst>
          </p:cNvPr>
          <p:cNvSpPr txBox="1"/>
          <p:nvPr/>
        </p:nvSpPr>
        <p:spPr>
          <a:xfrm>
            <a:off x="0" y="6598364"/>
            <a:ext cx="1118702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BALDUZZI, David et al. The shattered gradients problem: If </a:t>
            </a:r>
            <a:r>
              <a:rPr lang="en-US" sz="10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resnets</a:t>
            </a:r>
            <a:r>
              <a:rPr lang="en-US" sz="10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are the answer, then what is the question?. In: </a:t>
            </a:r>
            <a:r>
              <a:rPr lang="en-US" sz="1000" b="1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International Conference on Machine Learning</a:t>
            </a:r>
            <a:r>
              <a:rPr lang="en-US" sz="10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. PMLR, 2017. p. 342-350.</a:t>
            </a:r>
            <a:endParaRPr lang="pt-BR" sz="10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CF234CE-9AAB-F2C2-F795-3F6B7C8835DC}"/>
              </a:ext>
            </a:extLst>
          </p:cNvPr>
          <p:cNvSpPr/>
          <p:nvPr/>
        </p:nvSpPr>
        <p:spPr>
          <a:xfrm>
            <a:off x="8784077" y="6229033"/>
            <a:ext cx="1198123" cy="24622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Content Placeholder 8">
                <a:extLst>
                  <a:ext uri="{FF2B5EF4-FFF2-40B4-BE49-F238E27FC236}">
                    <a16:creationId xmlns:a16="http://schemas.microsoft.com/office/drawing/2014/main" id="{FDB25FAE-EF33-D516-7C36-4A151A00EA2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pt-BR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den>
                    </m:f>
                    <m:f>
                      <m:f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  <m:f>
                      <m:f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</m:oMath>
                </a14:m>
                <a:endParaRPr lang="pt-BR" dirty="0"/>
              </a:p>
              <a:p>
                <a:r>
                  <a:rPr lang="pt-BR" sz="2400" dirty="0"/>
                  <a:t>Repare que uma mudança em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pt-BR" sz="2400" dirty="0"/>
                  <a:t> altera todas as funções subsequentes</a:t>
                </a:r>
              </a:p>
              <a:p>
                <a:endParaRPr lang="pt-BR" dirty="0"/>
              </a:p>
            </p:txBody>
          </p:sp>
        </mc:Choice>
        <mc:Fallback xmlns="">
          <p:sp>
            <p:nvSpPr>
              <p:cNvPr id="9" name="Content Placeholder 8">
                <a:extLst>
                  <a:ext uri="{FF2B5EF4-FFF2-40B4-BE49-F238E27FC236}">
                    <a16:creationId xmlns:a16="http://schemas.microsoft.com/office/drawing/2014/main" id="{FDB25FAE-EF33-D516-7C36-4A151A00EA2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812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048932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3D932B-48FD-6E9A-81C6-50CBD87226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 err="1"/>
              <a:t>Conexões</a:t>
            </a:r>
            <a:r>
              <a:rPr lang="en-US" sz="4000" dirty="0"/>
              <a:t> </a:t>
            </a:r>
            <a:r>
              <a:rPr lang="en-US" sz="4000" dirty="0" err="1"/>
              <a:t>Residuais</a:t>
            </a:r>
            <a:r>
              <a:rPr lang="en-US" sz="4000" dirty="0"/>
              <a:t> (</a:t>
            </a:r>
            <a:r>
              <a:rPr lang="en-US" sz="4000" i="1" dirty="0"/>
              <a:t>Residual</a:t>
            </a:r>
            <a:r>
              <a:rPr lang="en-US" sz="4000" dirty="0"/>
              <a:t> </a:t>
            </a:r>
            <a:r>
              <a:rPr lang="en-US" sz="4000" dirty="0" err="1"/>
              <a:t>ou</a:t>
            </a:r>
            <a:r>
              <a:rPr lang="en-US" sz="4000" dirty="0"/>
              <a:t> </a:t>
            </a:r>
            <a:r>
              <a:rPr lang="en-US" sz="4000" i="1" dirty="0"/>
              <a:t>Skip Connections</a:t>
            </a:r>
            <a:r>
              <a:rPr lang="en-US" sz="4000" dirty="0"/>
              <a:t>)</a:t>
            </a:r>
            <a:endParaRPr lang="pt-BR" sz="4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DB69D0D-BC60-9868-89B2-B2D46D30FA0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pt-BR" dirty="0"/>
                  <a:t>Criamos ramos no grafo computacional</a:t>
                </a:r>
              </a:p>
              <a:p>
                <a:pPr lvl="1"/>
                <a:r>
                  <a:rPr lang="pt-BR" dirty="0"/>
                  <a:t>Adicionamos uma mudança a entrada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[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pt-BR" dirty="0"/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[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pt-BR" dirty="0"/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[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pt-BR" dirty="0"/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</m:oMath>
                </a14:m>
                <a:r>
                  <a:rPr lang="pt-BR" dirty="0"/>
                  <a:t> </a:t>
                </a:r>
              </a:p>
              <a:p>
                <a:pPr lvl="1"/>
                <a:r>
                  <a:rPr lang="pt-BR" dirty="0"/>
                  <a:t>O temo que está sendo adicionado é a conexão residual</a:t>
                </a:r>
              </a:p>
              <a:p>
                <a:pPr lvl="2"/>
                <a:r>
                  <a:rPr lang="pt-BR" dirty="0"/>
                  <a:t>Repare que agora temos a restrição da saída ter o mesmo tamanho da entrada </a:t>
                </a:r>
              </a:p>
              <a:p>
                <a:pPr lvl="1"/>
                <a:r>
                  <a:rPr lang="pt-BR" dirty="0"/>
                  <a:t>Cada mudança aditiva que realizamos é conhecida como </a:t>
                </a:r>
                <a:r>
                  <a:rPr lang="pt-BR" i="1" dirty="0"/>
                  <a:t>residual </a:t>
                </a:r>
                <a:r>
                  <a:rPr lang="pt-BR" i="1" dirty="0" err="1"/>
                  <a:t>block</a:t>
                </a:r>
                <a:r>
                  <a:rPr lang="pt-BR" dirty="0"/>
                  <a:t> ou </a:t>
                </a:r>
                <a:r>
                  <a:rPr lang="pt-BR" i="1" dirty="0"/>
                  <a:t>residual </a:t>
                </a:r>
                <a:r>
                  <a:rPr lang="pt-BR" i="1" dirty="0" err="1"/>
                  <a:t>layer</a:t>
                </a:r>
                <a:endParaRPr lang="pt-BR" i="1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DB69D0D-BC60-9868-89B2-B2D46D30FA0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6088C3-1160-FBC7-7578-8FBFC57FAA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9</a:t>
            </a:fld>
            <a:endParaRPr lang="pt-BR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BBF33E4-39CB-65E0-3385-4D7583F8A1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8634" y="5707395"/>
            <a:ext cx="9376913" cy="939136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92E366EE-E229-BDF3-C7F0-921C5DB1FE23}"/>
              </a:ext>
            </a:extLst>
          </p:cNvPr>
          <p:cNvSpPr/>
          <p:nvPr/>
        </p:nvSpPr>
        <p:spPr>
          <a:xfrm>
            <a:off x="958634" y="5707395"/>
            <a:ext cx="344872" cy="46956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439790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3D932B-48FD-6E9A-81C6-50CBD87226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 err="1"/>
              <a:t>Conexões</a:t>
            </a:r>
            <a:r>
              <a:rPr lang="en-US" sz="4000" dirty="0"/>
              <a:t> </a:t>
            </a:r>
            <a:r>
              <a:rPr lang="en-US" sz="4000" dirty="0" err="1"/>
              <a:t>Residuais</a:t>
            </a:r>
            <a:r>
              <a:rPr lang="en-US" sz="4000" dirty="0"/>
              <a:t> (</a:t>
            </a:r>
            <a:r>
              <a:rPr lang="en-US" sz="4000" i="1" dirty="0"/>
              <a:t>Residual</a:t>
            </a:r>
            <a:r>
              <a:rPr lang="en-US" sz="4000" dirty="0"/>
              <a:t> </a:t>
            </a:r>
            <a:r>
              <a:rPr lang="en-US" sz="4000" dirty="0" err="1"/>
              <a:t>ou</a:t>
            </a:r>
            <a:r>
              <a:rPr lang="en-US" sz="4000" dirty="0"/>
              <a:t> </a:t>
            </a:r>
            <a:r>
              <a:rPr lang="en-US" sz="4000" i="1" dirty="0"/>
              <a:t>Skip Connections</a:t>
            </a:r>
            <a:r>
              <a:rPr lang="en-US" sz="4000" dirty="0"/>
              <a:t>)</a:t>
            </a:r>
            <a:endParaRPr lang="pt-BR" sz="4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DB69D0D-BC60-9868-89B2-B2D46D30FA0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pt-BR" dirty="0"/>
                  <a:t>Abrindo as expressões anteriores temos: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b="0" dirty="0"/>
                  <a:t>         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d>
                          <m:dPr>
                            <m:begChr m:val="["/>
                            <m:endChr m:val="]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d>
                  </m:oMath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b="0" dirty="0"/>
                  <a:t>         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d>
                          <m:dPr>
                            <m:begChr m:val="["/>
                            <m:endChr m:val="]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d>
                          <m:dPr>
                            <m:begChr m:val="["/>
                            <m:endChr m:val="]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d>
                              <m:dPr>
                                <m:begChr m:val="["/>
                                <m:endChr m:val="]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</m:e>
                        </m:d>
                      </m:e>
                    </m:d>
                  </m:oMath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b="0" dirty="0"/>
                  <a:t>         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d>
                          <m:dPr>
                            <m:begChr m:val="["/>
                            <m:endChr m:val="]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d>
                          <m:dPr>
                            <m:begChr m:val="["/>
                            <m:endChr m:val="]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d>
                              <m:dPr>
                                <m:begChr m:val="["/>
                                <m:endChr m:val="]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d>
                          <m:dPr>
                            <m:begChr m:val="["/>
                            <m:endChr m:val="]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d>
                              <m:dPr>
                                <m:begChr m:val="["/>
                                <m:endChr m:val="]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d>
                              <m:dPr>
                                <m:begChr m:val="["/>
                                <m:endChr m:val="]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d>
                              </m:e>
                            </m:d>
                          </m:e>
                        </m:d>
                      </m:e>
                    </m:d>
                  </m:oMath>
                </a14:m>
                <a:endParaRPr lang="pt-BR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DB69D0D-BC60-9868-89B2-B2D46D30FA0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6088C3-1160-FBC7-7578-8FBFC57FAA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10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143578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6088C3-1160-FBC7-7578-8FBFC57FAA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11</a:t>
            </a:fld>
            <a:endParaRPr lang="pt-BR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CF66D22-2DB0-F5F5-0435-33BA7C83DE4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523" t="1130"/>
          <a:stretch/>
        </p:blipFill>
        <p:spPr>
          <a:xfrm>
            <a:off x="2159277" y="0"/>
            <a:ext cx="787344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26208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6088C3-1160-FBC7-7578-8FBFC57FAA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12</a:t>
            </a:fld>
            <a:endParaRPr lang="pt-BR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CF66D22-2DB0-F5F5-0435-33BA7C83DE4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523" t="1130"/>
          <a:stretch/>
        </p:blipFill>
        <p:spPr>
          <a:xfrm>
            <a:off x="2159277" y="0"/>
            <a:ext cx="7873446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0B5E64CA-3AE7-7979-BA5C-0EF94A5DFD28}"/>
              </a:ext>
            </a:extLst>
          </p:cNvPr>
          <p:cNvSpPr/>
          <p:nvPr/>
        </p:nvSpPr>
        <p:spPr>
          <a:xfrm>
            <a:off x="9431547" y="414068"/>
            <a:ext cx="2760453" cy="914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err="1"/>
              <a:t>Quantos</a:t>
            </a:r>
            <a:r>
              <a:rPr lang="en-US" sz="1600" dirty="0"/>
              <a:t> </a:t>
            </a:r>
            <a:r>
              <a:rPr lang="en-US" sz="1600" dirty="0" err="1"/>
              <a:t>caminhos</a:t>
            </a:r>
            <a:r>
              <a:rPr lang="en-US" sz="1600" dirty="0"/>
              <a:t> </a:t>
            </a:r>
            <a:r>
              <a:rPr lang="en-US" sz="1600" dirty="0" err="1"/>
              <a:t>temos</a:t>
            </a:r>
            <a:r>
              <a:rPr lang="en-US" sz="1600" dirty="0"/>
              <a:t> </a:t>
            </a:r>
            <a:r>
              <a:rPr lang="en-US" sz="1600" dirty="0" err="1"/>
              <a:t>desde</a:t>
            </a:r>
            <a:r>
              <a:rPr lang="en-US" sz="1600" dirty="0"/>
              <a:t> a entrada </a:t>
            </a:r>
            <a:r>
              <a:rPr lang="en-US" sz="1600" dirty="0" err="1"/>
              <a:t>até</a:t>
            </a:r>
            <a:r>
              <a:rPr lang="en-US" sz="1600" dirty="0"/>
              <a:t> a </a:t>
            </a:r>
            <a:r>
              <a:rPr lang="en-US" sz="1600" dirty="0" err="1"/>
              <a:t>saída</a:t>
            </a:r>
            <a:r>
              <a:rPr lang="en-US" sz="1600" dirty="0"/>
              <a:t>?</a:t>
            </a:r>
            <a:endParaRPr lang="pt-BR" sz="1600" dirty="0"/>
          </a:p>
        </p:txBody>
      </p:sp>
    </p:spTree>
    <p:extLst>
      <p:ext uri="{BB962C8B-B14F-4D97-AF65-F5344CB8AC3E}">
        <p14:creationId xmlns:p14="http://schemas.microsoft.com/office/powerpoint/2010/main" val="2940540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6088C3-1160-FBC7-7578-8FBFC57FAA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13</a:t>
            </a:fld>
            <a:endParaRPr lang="pt-BR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CF66D22-2DB0-F5F5-0435-33BA7C83DE4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523" t="1130"/>
          <a:stretch/>
        </p:blipFill>
        <p:spPr>
          <a:xfrm>
            <a:off x="2159277" y="0"/>
            <a:ext cx="7873446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0B5E64CA-3AE7-7979-BA5C-0EF94A5DFD28}"/>
              </a:ext>
            </a:extLst>
          </p:cNvPr>
          <p:cNvSpPr/>
          <p:nvPr/>
        </p:nvSpPr>
        <p:spPr>
          <a:xfrm>
            <a:off x="9431547" y="414068"/>
            <a:ext cx="2760453" cy="914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err="1"/>
              <a:t>Quantos</a:t>
            </a:r>
            <a:r>
              <a:rPr lang="en-US" sz="1600" dirty="0"/>
              <a:t> </a:t>
            </a:r>
            <a:r>
              <a:rPr lang="en-US" sz="1600" dirty="0" err="1"/>
              <a:t>caminhos</a:t>
            </a:r>
            <a:r>
              <a:rPr lang="en-US" sz="1600" dirty="0"/>
              <a:t> </a:t>
            </a:r>
            <a:r>
              <a:rPr lang="en-US" sz="1600" dirty="0" err="1"/>
              <a:t>temos</a:t>
            </a:r>
            <a:r>
              <a:rPr lang="en-US" sz="1600" dirty="0"/>
              <a:t> </a:t>
            </a:r>
            <a:r>
              <a:rPr lang="en-US" sz="1600" dirty="0" err="1"/>
              <a:t>desde</a:t>
            </a:r>
            <a:r>
              <a:rPr lang="en-US" sz="1600" dirty="0"/>
              <a:t> a entrada </a:t>
            </a:r>
            <a:r>
              <a:rPr lang="en-US" sz="1600" dirty="0" err="1"/>
              <a:t>até</a:t>
            </a:r>
            <a:r>
              <a:rPr lang="en-US" sz="1600" dirty="0"/>
              <a:t> a </a:t>
            </a:r>
            <a:r>
              <a:rPr lang="en-US" sz="1600" dirty="0" err="1"/>
              <a:t>saída</a:t>
            </a:r>
            <a:r>
              <a:rPr lang="en-US" sz="1600" dirty="0"/>
              <a:t>?</a:t>
            </a:r>
            <a:endParaRPr lang="pt-BR" sz="16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D12C4C9-2277-9C1A-9871-3B2C34D863D9}"/>
              </a:ext>
            </a:extLst>
          </p:cNvPr>
          <p:cNvSpPr/>
          <p:nvPr/>
        </p:nvSpPr>
        <p:spPr>
          <a:xfrm>
            <a:off x="10338757" y="1541254"/>
            <a:ext cx="946031" cy="914400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16</a:t>
            </a:r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415740453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6088C3-1160-FBC7-7578-8FBFC57FAA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14</a:t>
            </a:fld>
            <a:endParaRPr lang="pt-BR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CF66D22-2DB0-F5F5-0435-33BA7C83DE4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523" t="1130"/>
          <a:stretch/>
        </p:blipFill>
        <p:spPr>
          <a:xfrm>
            <a:off x="2159277" y="0"/>
            <a:ext cx="7873446" cy="68580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0B5E64CA-3AE7-7979-BA5C-0EF94A5DFD28}"/>
                  </a:ext>
                </a:extLst>
              </p:cNvPr>
              <p:cNvSpPr/>
              <p:nvPr/>
            </p:nvSpPr>
            <p:spPr>
              <a:xfrm>
                <a:off x="9431547" y="414068"/>
                <a:ext cx="2760453" cy="914400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pt-BR" sz="2400" dirty="0"/>
                  <a:t> tem 8 caminhos</a:t>
                </a:r>
              </a:p>
            </p:txBody>
          </p:sp>
        </mc:Choice>
        <mc:Fallback xmlns="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0B5E64CA-3AE7-7979-BA5C-0EF94A5DFD2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31547" y="414068"/>
                <a:ext cx="2760453" cy="9144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B9C57619-4515-5576-10F1-FE6807F30282}"/>
              </a:ext>
            </a:extLst>
          </p:cNvPr>
          <p:cNvCxnSpPr/>
          <p:nvPr/>
        </p:nvCxnSpPr>
        <p:spPr>
          <a:xfrm>
            <a:off x="2682815" y="543464"/>
            <a:ext cx="3692106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695FBE99-E2FE-1B9A-FCB7-2CCF5BE2518C}"/>
              </a:ext>
            </a:extLst>
          </p:cNvPr>
          <p:cNvCxnSpPr/>
          <p:nvPr/>
        </p:nvCxnSpPr>
        <p:spPr>
          <a:xfrm>
            <a:off x="2682815" y="1328468"/>
            <a:ext cx="3692106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91248327-4435-3CC8-7831-1E9C2CB16B2C}"/>
              </a:ext>
            </a:extLst>
          </p:cNvPr>
          <p:cNvCxnSpPr>
            <a:cxnSpLocks/>
          </p:cNvCxnSpPr>
          <p:nvPr/>
        </p:nvCxnSpPr>
        <p:spPr>
          <a:xfrm>
            <a:off x="2682815" y="2119651"/>
            <a:ext cx="1986462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7629968F-96B7-D65B-CF62-3235FFA26159}"/>
              </a:ext>
            </a:extLst>
          </p:cNvPr>
          <p:cNvCxnSpPr>
            <a:cxnSpLocks/>
          </p:cNvCxnSpPr>
          <p:nvPr/>
        </p:nvCxnSpPr>
        <p:spPr>
          <a:xfrm>
            <a:off x="2682815" y="2904349"/>
            <a:ext cx="4632385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0F3C49BF-E607-0408-D606-3B5EAF339296}"/>
              </a:ext>
            </a:extLst>
          </p:cNvPr>
          <p:cNvCxnSpPr>
            <a:cxnSpLocks/>
          </p:cNvCxnSpPr>
          <p:nvPr/>
        </p:nvCxnSpPr>
        <p:spPr>
          <a:xfrm>
            <a:off x="2682815" y="3679319"/>
            <a:ext cx="3309423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D3ECA355-D870-AE7E-A779-08EC6F18237B}"/>
              </a:ext>
            </a:extLst>
          </p:cNvPr>
          <p:cNvCxnSpPr>
            <a:cxnSpLocks/>
          </p:cNvCxnSpPr>
          <p:nvPr/>
        </p:nvCxnSpPr>
        <p:spPr>
          <a:xfrm>
            <a:off x="2682815" y="4454289"/>
            <a:ext cx="3309423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91D4007B-CC1B-B179-B66C-48899C215D36}"/>
              </a:ext>
            </a:extLst>
          </p:cNvPr>
          <p:cNvCxnSpPr>
            <a:cxnSpLocks/>
          </p:cNvCxnSpPr>
          <p:nvPr/>
        </p:nvCxnSpPr>
        <p:spPr>
          <a:xfrm>
            <a:off x="2682815" y="5248714"/>
            <a:ext cx="2589576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E2DD77C3-C9B7-A20F-D448-F125333FF433}"/>
              </a:ext>
            </a:extLst>
          </p:cNvPr>
          <p:cNvCxnSpPr>
            <a:cxnSpLocks/>
          </p:cNvCxnSpPr>
          <p:nvPr/>
        </p:nvCxnSpPr>
        <p:spPr>
          <a:xfrm>
            <a:off x="2757394" y="6043140"/>
            <a:ext cx="2589576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13406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6088C3-1160-FBC7-7578-8FBFC57FAA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15</a:t>
            </a:fld>
            <a:endParaRPr lang="pt-BR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CF66D22-2DB0-F5F5-0435-33BA7C83DE4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523" t="1130"/>
          <a:stretch/>
        </p:blipFill>
        <p:spPr>
          <a:xfrm>
            <a:off x="5427088" y="0"/>
            <a:ext cx="6025876" cy="524871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0B5E64CA-3AE7-7979-BA5C-0EF94A5DFD28}"/>
                  </a:ext>
                </a:extLst>
              </p:cNvPr>
              <p:cNvSpPr/>
              <p:nvPr/>
            </p:nvSpPr>
            <p:spPr>
              <a:xfrm>
                <a:off x="112449" y="170081"/>
                <a:ext cx="2760453" cy="914400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pt-BR" sz="2400" dirty="0"/>
                  <a:t> tem 8 caminhos</a:t>
                </a:r>
              </a:p>
            </p:txBody>
          </p:sp>
        </mc:Choice>
        <mc:Fallback xmlns="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0B5E64CA-3AE7-7979-BA5C-0EF94A5DFD2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449" y="170081"/>
                <a:ext cx="2760453" cy="9144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B9C57619-4515-5576-10F1-FE6807F30282}"/>
              </a:ext>
            </a:extLst>
          </p:cNvPr>
          <p:cNvCxnSpPr/>
          <p:nvPr/>
        </p:nvCxnSpPr>
        <p:spPr>
          <a:xfrm>
            <a:off x="5828158" y="417004"/>
            <a:ext cx="3692106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1D8CCC7-CAE3-FD3B-175D-677523B13525}"/>
                  </a:ext>
                </a:extLst>
              </p:cNvPr>
              <p:cNvSpPr txBox="1"/>
              <p:nvPr/>
            </p:nvSpPr>
            <p:spPr>
              <a:xfrm>
                <a:off x="112449" y="5730539"/>
                <a:ext cx="10582070" cy="85933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pt-BR" sz="2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+…</m:t>
                      </m:r>
                    </m:oMath>
                  </m:oMathPara>
                </a14:m>
                <a:endParaRPr lang="pt-BR" sz="24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1D8CCC7-CAE3-FD3B-175D-677523B135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449" y="5730539"/>
                <a:ext cx="10582070" cy="85933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5106796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6088C3-1160-FBC7-7578-8FBFC57FAA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16</a:t>
            </a:fld>
            <a:endParaRPr lang="pt-BR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CF66D22-2DB0-F5F5-0435-33BA7C83DE4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523" t="1130"/>
          <a:stretch/>
        </p:blipFill>
        <p:spPr>
          <a:xfrm>
            <a:off x="5427088" y="0"/>
            <a:ext cx="6025876" cy="524871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0B5E64CA-3AE7-7979-BA5C-0EF94A5DFD28}"/>
                  </a:ext>
                </a:extLst>
              </p:cNvPr>
              <p:cNvSpPr/>
              <p:nvPr/>
            </p:nvSpPr>
            <p:spPr>
              <a:xfrm>
                <a:off x="112449" y="170081"/>
                <a:ext cx="2760453" cy="914400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pt-BR" sz="2400" dirty="0"/>
                  <a:t> tem 8 caminhos</a:t>
                </a:r>
              </a:p>
            </p:txBody>
          </p:sp>
        </mc:Choice>
        <mc:Fallback xmlns="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0B5E64CA-3AE7-7979-BA5C-0EF94A5DFD2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449" y="170081"/>
                <a:ext cx="2760453" cy="9144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B9C57619-4515-5576-10F1-FE6807F30282}"/>
              </a:ext>
            </a:extLst>
          </p:cNvPr>
          <p:cNvCxnSpPr/>
          <p:nvPr/>
        </p:nvCxnSpPr>
        <p:spPr>
          <a:xfrm>
            <a:off x="5828158" y="417004"/>
            <a:ext cx="3692106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1D8CCC7-CAE3-FD3B-175D-677523B13525}"/>
                  </a:ext>
                </a:extLst>
              </p:cNvPr>
              <p:cNvSpPr txBox="1"/>
              <p:nvPr/>
            </p:nvSpPr>
            <p:spPr>
              <a:xfrm>
                <a:off x="112449" y="5730539"/>
                <a:ext cx="10582070" cy="85933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pt-BR" sz="2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i="1" smtClean="0"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+…</m:t>
                      </m:r>
                    </m:oMath>
                  </m:oMathPara>
                </a14:m>
                <a:endParaRPr lang="pt-BR" sz="24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1D8CCC7-CAE3-FD3B-175D-677523B135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449" y="5730539"/>
                <a:ext cx="10582070" cy="85933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8651769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6088C3-1160-FBC7-7578-8FBFC57FAA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17</a:t>
            </a:fld>
            <a:endParaRPr lang="pt-BR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CF66D22-2DB0-F5F5-0435-33BA7C83DE4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523" t="1130"/>
          <a:stretch/>
        </p:blipFill>
        <p:spPr>
          <a:xfrm>
            <a:off x="5427088" y="0"/>
            <a:ext cx="6025876" cy="524871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0B5E64CA-3AE7-7979-BA5C-0EF94A5DFD28}"/>
                  </a:ext>
                </a:extLst>
              </p:cNvPr>
              <p:cNvSpPr/>
              <p:nvPr/>
            </p:nvSpPr>
            <p:spPr>
              <a:xfrm>
                <a:off x="112449" y="170081"/>
                <a:ext cx="2760453" cy="914400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pt-BR" sz="2400" dirty="0"/>
                  <a:t> tem 8 caminhos</a:t>
                </a:r>
              </a:p>
            </p:txBody>
          </p:sp>
        </mc:Choice>
        <mc:Fallback xmlns="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0B5E64CA-3AE7-7979-BA5C-0EF94A5DFD2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449" y="170081"/>
                <a:ext cx="2760453" cy="9144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B9C57619-4515-5576-10F1-FE6807F30282}"/>
              </a:ext>
            </a:extLst>
          </p:cNvPr>
          <p:cNvCxnSpPr/>
          <p:nvPr/>
        </p:nvCxnSpPr>
        <p:spPr>
          <a:xfrm>
            <a:off x="5828158" y="417004"/>
            <a:ext cx="3692106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695FBE99-E2FE-1B9A-FCB7-2CCF5BE2518C}"/>
              </a:ext>
            </a:extLst>
          </p:cNvPr>
          <p:cNvCxnSpPr/>
          <p:nvPr/>
        </p:nvCxnSpPr>
        <p:spPr>
          <a:xfrm>
            <a:off x="5828158" y="1007456"/>
            <a:ext cx="3692106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1D8CCC7-CAE3-FD3B-175D-677523B13525}"/>
                  </a:ext>
                </a:extLst>
              </p:cNvPr>
              <p:cNvSpPr txBox="1"/>
              <p:nvPr/>
            </p:nvSpPr>
            <p:spPr>
              <a:xfrm>
                <a:off x="112449" y="5730539"/>
                <a:ext cx="10582070" cy="85933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pt-BR" sz="2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pt-BR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+…</m:t>
                      </m:r>
                    </m:oMath>
                  </m:oMathPara>
                </a14:m>
                <a:endParaRPr lang="pt-BR" sz="24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1D8CCC7-CAE3-FD3B-175D-677523B135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449" y="5730539"/>
                <a:ext cx="10582070" cy="85933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9265750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6088C3-1160-FBC7-7578-8FBFC57FAA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18</a:t>
            </a:fld>
            <a:endParaRPr lang="pt-BR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CF66D22-2DB0-F5F5-0435-33BA7C83DE4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523" t="1130"/>
          <a:stretch/>
        </p:blipFill>
        <p:spPr>
          <a:xfrm>
            <a:off x="5427088" y="0"/>
            <a:ext cx="6025876" cy="524871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0B5E64CA-3AE7-7979-BA5C-0EF94A5DFD28}"/>
                  </a:ext>
                </a:extLst>
              </p:cNvPr>
              <p:cNvSpPr/>
              <p:nvPr/>
            </p:nvSpPr>
            <p:spPr>
              <a:xfrm>
                <a:off x="112449" y="170081"/>
                <a:ext cx="2760453" cy="914400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pt-BR" sz="2400" dirty="0"/>
                  <a:t> tem 8 caminhos</a:t>
                </a:r>
              </a:p>
            </p:txBody>
          </p:sp>
        </mc:Choice>
        <mc:Fallback xmlns="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0B5E64CA-3AE7-7979-BA5C-0EF94A5DFD2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449" y="170081"/>
                <a:ext cx="2760453" cy="9144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B9C57619-4515-5576-10F1-FE6807F30282}"/>
              </a:ext>
            </a:extLst>
          </p:cNvPr>
          <p:cNvCxnSpPr/>
          <p:nvPr/>
        </p:nvCxnSpPr>
        <p:spPr>
          <a:xfrm>
            <a:off x="5828158" y="417004"/>
            <a:ext cx="3692106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695FBE99-E2FE-1B9A-FCB7-2CCF5BE2518C}"/>
              </a:ext>
            </a:extLst>
          </p:cNvPr>
          <p:cNvCxnSpPr/>
          <p:nvPr/>
        </p:nvCxnSpPr>
        <p:spPr>
          <a:xfrm>
            <a:off x="5828158" y="1007456"/>
            <a:ext cx="3692106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91248327-4435-3CC8-7831-1E9C2CB16B2C}"/>
              </a:ext>
            </a:extLst>
          </p:cNvPr>
          <p:cNvCxnSpPr>
            <a:cxnSpLocks/>
          </p:cNvCxnSpPr>
          <p:nvPr/>
        </p:nvCxnSpPr>
        <p:spPr>
          <a:xfrm>
            <a:off x="5828158" y="1633268"/>
            <a:ext cx="1986462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7629968F-96B7-D65B-CF62-3235FFA26159}"/>
              </a:ext>
            </a:extLst>
          </p:cNvPr>
          <p:cNvCxnSpPr>
            <a:cxnSpLocks/>
          </p:cNvCxnSpPr>
          <p:nvPr/>
        </p:nvCxnSpPr>
        <p:spPr>
          <a:xfrm>
            <a:off x="5828158" y="2223412"/>
            <a:ext cx="3692106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1D8CCC7-CAE3-FD3B-175D-677523B13525}"/>
                  </a:ext>
                </a:extLst>
              </p:cNvPr>
              <p:cNvSpPr txBox="1"/>
              <p:nvPr/>
            </p:nvSpPr>
            <p:spPr>
              <a:xfrm>
                <a:off x="112449" y="5730539"/>
                <a:ext cx="10582070" cy="92217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pt-BR" sz="2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pt-BR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pt-BR" sz="240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sSub>
                                <m:sSub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den>
                          </m:f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pt-BR" sz="2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den>
                          </m:f>
                          <m:f>
                            <m:fPr>
                              <m:ctrlPr>
                                <a:rPr lang="pt-BR" sz="2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den>
                          </m:f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+…</m:t>
                      </m:r>
                    </m:oMath>
                  </m:oMathPara>
                </a14:m>
                <a:endParaRPr lang="pt-BR" sz="24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1D8CCC7-CAE3-FD3B-175D-677523B135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449" y="5730539"/>
                <a:ext cx="10582070" cy="92217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2549352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6088C3-1160-FBC7-7578-8FBFC57FAA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19</a:t>
            </a:fld>
            <a:endParaRPr lang="pt-BR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CF66D22-2DB0-F5F5-0435-33BA7C83DE4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523" t="1130"/>
          <a:stretch/>
        </p:blipFill>
        <p:spPr>
          <a:xfrm>
            <a:off x="5427088" y="0"/>
            <a:ext cx="6025876" cy="524871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0B5E64CA-3AE7-7979-BA5C-0EF94A5DFD28}"/>
                  </a:ext>
                </a:extLst>
              </p:cNvPr>
              <p:cNvSpPr/>
              <p:nvPr/>
            </p:nvSpPr>
            <p:spPr>
              <a:xfrm>
                <a:off x="112449" y="170081"/>
                <a:ext cx="2760453" cy="914400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pt-BR" sz="2400" dirty="0"/>
                  <a:t> tem 8 caminhos</a:t>
                </a:r>
              </a:p>
            </p:txBody>
          </p:sp>
        </mc:Choice>
        <mc:Fallback xmlns="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0B5E64CA-3AE7-7979-BA5C-0EF94A5DFD2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449" y="170081"/>
                <a:ext cx="2760453" cy="9144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B9C57619-4515-5576-10F1-FE6807F30282}"/>
              </a:ext>
            </a:extLst>
          </p:cNvPr>
          <p:cNvCxnSpPr/>
          <p:nvPr/>
        </p:nvCxnSpPr>
        <p:spPr>
          <a:xfrm>
            <a:off x="5828158" y="417004"/>
            <a:ext cx="3692106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695FBE99-E2FE-1B9A-FCB7-2CCF5BE2518C}"/>
              </a:ext>
            </a:extLst>
          </p:cNvPr>
          <p:cNvCxnSpPr/>
          <p:nvPr/>
        </p:nvCxnSpPr>
        <p:spPr>
          <a:xfrm>
            <a:off x="5828158" y="1007456"/>
            <a:ext cx="3692106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91248327-4435-3CC8-7831-1E9C2CB16B2C}"/>
              </a:ext>
            </a:extLst>
          </p:cNvPr>
          <p:cNvCxnSpPr>
            <a:cxnSpLocks/>
          </p:cNvCxnSpPr>
          <p:nvPr/>
        </p:nvCxnSpPr>
        <p:spPr>
          <a:xfrm>
            <a:off x="5828158" y="1633268"/>
            <a:ext cx="1986462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7629968F-96B7-D65B-CF62-3235FFA26159}"/>
              </a:ext>
            </a:extLst>
          </p:cNvPr>
          <p:cNvCxnSpPr>
            <a:cxnSpLocks/>
          </p:cNvCxnSpPr>
          <p:nvPr/>
        </p:nvCxnSpPr>
        <p:spPr>
          <a:xfrm>
            <a:off x="5828158" y="2223412"/>
            <a:ext cx="3692106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0F3C49BF-E607-0408-D606-3B5EAF339296}"/>
              </a:ext>
            </a:extLst>
          </p:cNvPr>
          <p:cNvCxnSpPr>
            <a:cxnSpLocks/>
          </p:cNvCxnSpPr>
          <p:nvPr/>
        </p:nvCxnSpPr>
        <p:spPr>
          <a:xfrm>
            <a:off x="5828158" y="2813558"/>
            <a:ext cx="1986462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D3ECA355-D870-AE7E-A779-08EC6F18237B}"/>
              </a:ext>
            </a:extLst>
          </p:cNvPr>
          <p:cNvCxnSpPr>
            <a:cxnSpLocks/>
          </p:cNvCxnSpPr>
          <p:nvPr/>
        </p:nvCxnSpPr>
        <p:spPr>
          <a:xfrm>
            <a:off x="5828158" y="3408565"/>
            <a:ext cx="1986462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91D4007B-CC1B-B179-B66C-48899C215D36}"/>
              </a:ext>
            </a:extLst>
          </p:cNvPr>
          <p:cNvCxnSpPr>
            <a:cxnSpLocks/>
          </p:cNvCxnSpPr>
          <p:nvPr/>
        </p:nvCxnSpPr>
        <p:spPr>
          <a:xfrm>
            <a:off x="5828158" y="4023029"/>
            <a:ext cx="1986462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E2DD77C3-C9B7-A20F-D448-F125333FF433}"/>
              </a:ext>
            </a:extLst>
          </p:cNvPr>
          <p:cNvCxnSpPr>
            <a:cxnSpLocks/>
          </p:cNvCxnSpPr>
          <p:nvPr/>
        </p:nvCxnSpPr>
        <p:spPr>
          <a:xfrm>
            <a:off x="5828158" y="4622901"/>
            <a:ext cx="1986462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1D8CCC7-CAE3-FD3B-175D-677523B13525}"/>
                  </a:ext>
                </a:extLst>
              </p:cNvPr>
              <p:cNvSpPr txBox="1"/>
              <p:nvPr/>
            </p:nvSpPr>
            <p:spPr>
              <a:xfrm>
                <a:off x="112449" y="5730539"/>
                <a:ext cx="10582070" cy="92217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pt-BR" sz="2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pt-BR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pt-BR" sz="240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sSub>
                                <m:sSub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den>
                          </m:f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pt-BR" sz="2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den>
                          </m:f>
                          <m:f>
                            <m:fPr>
                              <m:ctrlPr>
                                <a:rPr lang="pt-BR" sz="2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den>
                          </m:f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pt-BR" sz="2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den>
                          </m:f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pt-BR" sz="2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den>
                          </m:f>
                          <m:f>
                            <m:fPr>
                              <m:ctrlPr>
                                <a:rPr lang="pt-BR" sz="2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den>
                          </m:f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pt-BR" sz="2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den>
                          </m:f>
                          <m:f>
                            <m:fPr>
                              <m:ctrlPr>
                                <a:rPr lang="pt-BR" sz="2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den>
                          </m:f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pt-BR" sz="2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den>
                          </m:f>
                          <m:f>
                            <m:fPr>
                              <m:ctrlPr>
                                <a:rPr lang="pt-BR" sz="2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den>
                          </m:f>
                          <m:f>
                            <m:fPr>
                              <m:ctrlPr>
                                <a:rPr lang="pt-BR" sz="2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den>
                          </m:f>
                        </m:e>
                      </m:d>
                    </m:oMath>
                  </m:oMathPara>
                </a14:m>
                <a:endParaRPr lang="pt-BR" sz="24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1D8CCC7-CAE3-FD3B-175D-677523B135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449" y="5730539"/>
                <a:ext cx="10582070" cy="92217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0056455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7ACA50-D274-AA6E-E7C4-0384E43A1D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Bloco Residual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E2824DA-6B26-3196-F2FA-04C430440BC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pt-BR" dirty="0"/>
                  <a:t>Até agora parece que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pt-BR" dirty="0"/>
                  <a:t> poderia ser uma camada qualquer</a:t>
                </a:r>
              </a:p>
              <a:p>
                <a:pPr lvl="1"/>
                <a:r>
                  <a:rPr lang="pt-BR" dirty="0"/>
                  <a:t>Tecnicamente é verdade, mas na prática podemos fazer algumas mudanças para obter um resultado melhor</a:t>
                </a:r>
              </a:p>
              <a:p>
                <a:r>
                  <a:rPr lang="pt-BR" dirty="0"/>
                  <a:t>Abaixo uma ilustração do que seria uma conexão residual em uma camada típica</a:t>
                </a:r>
              </a:p>
              <a:p>
                <a:pPr lvl="1"/>
                <a:r>
                  <a:rPr lang="pt-BR" dirty="0"/>
                  <a:t>Repare que nessa configuração a conexão residual só consegue aumentar o valor da representação recebida como entrada, nunca diminuir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E2824DA-6B26-3196-F2FA-04C430440BC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1C3896-BA02-8EAA-780C-9B672D2878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20</a:t>
            </a:fld>
            <a:endParaRPr lang="pt-BR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0D5F9EB-5E19-26F0-50EE-C8BD0FFB21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91005" y="4862782"/>
            <a:ext cx="6209990" cy="10443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321582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7ACA50-D274-AA6E-E7C4-0384E43A1D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Bloco Residual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2824DA-6B26-3196-F2FA-04C430440B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Inverter a ordem da ativação e da transformação linear possibilita que a representação sofra adições e subtrações</a:t>
            </a:r>
          </a:p>
          <a:p>
            <a:pPr lvl="1"/>
            <a:r>
              <a:rPr lang="pt-BR" dirty="0"/>
              <a:t>Porém agora temos um outro problema, se a entrada chegar toda negativa vamos “matar” a propagação </a:t>
            </a:r>
            <a:r>
              <a:rPr lang="pt-BR" i="1" dirty="0" err="1"/>
              <a:t>forward</a:t>
            </a:r>
            <a:endParaRPr lang="pt-BR" i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1C3896-BA02-8EAA-780C-9B672D2878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21</a:t>
            </a:fld>
            <a:endParaRPr lang="pt-BR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B463077-64C1-C716-BD9D-8E1136BD84C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4464"/>
          <a:stretch/>
        </p:blipFill>
        <p:spPr>
          <a:xfrm>
            <a:off x="3554082" y="4556714"/>
            <a:ext cx="5518977" cy="141942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B183E25-E287-E098-21BC-4E0F2AA8B5D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2" r="92578"/>
          <a:stretch/>
        </p:blipFill>
        <p:spPr>
          <a:xfrm>
            <a:off x="2930104" y="4556714"/>
            <a:ext cx="623978" cy="1419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232130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7ACA50-D274-AA6E-E7C4-0384E43A1D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Bloco Residual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2824DA-6B26-3196-F2FA-04C430440B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Inverter a ordem da ativação e da transformação linear possibilita que a representação sofra adições e subtrações</a:t>
            </a:r>
          </a:p>
          <a:p>
            <a:pPr lvl="1"/>
            <a:r>
              <a:rPr lang="pt-BR" dirty="0"/>
              <a:t>Porém agora temos um outro problema, se a entrada chegar toda negativa vamos “matar” a propagação </a:t>
            </a:r>
            <a:r>
              <a:rPr lang="pt-BR" i="1" dirty="0" err="1"/>
              <a:t>forward</a:t>
            </a:r>
            <a:endParaRPr lang="pt-BR" i="1" dirty="0"/>
          </a:p>
          <a:p>
            <a:pPr lvl="1"/>
            <a:r>
              <a:rPr lang="pt-BR" dirty="0"/>
              <a:t>Solução: Começamos a rede com uma transformação linear antes dos blocos residuais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1C3896-BA02-8EAA-780C-9B672D2878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22</a:t>
            </a:fld>
            <a:endParaRPr lang="pt-BR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B463077-64C1-C716-BD9D-8E1136BD84C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58"/>
          <a:stretch/>
        </p:blipFill>
        <p:spPr>
          <a:xfrm>
            <a:off x="1908840" y="4496329"/>
            <a:ext cx="8374319" cy="1419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151568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7ACA50-D274-AA6E-E7C4-0384E43A1D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Bloco Residual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2824DA-6B26-3196-F2FA-04C430440B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Podemos adicionar mais de uma transformação no mesmo bloco residual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1C3896-BA02-8EAA-780C-9B672D2878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23</a:t>
            </a:fld>
            <a:endParaRPr lang="pt-BR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7F3678A-7CDC-8884-B4A9-94609616F7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2382" y="4026015"/>
            <a:ext cx="8805723" cy="14791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35F1568-46F7-11A4-4FCE-B7640E85F0F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0" r="67760"/>
          <a:stretch/>
        </p:blipFill>
        <p:spPr>
          <a:xfrm>
            <a:off x="443226" y="4013326"/>
            <a:ext cx="2714042" cy="1419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971699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F27810-2A7C-14F8-B5F1-A29EA65C33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Aumentando a profundidade da rede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16B357-5A72-8CA3-3E6A-4B616E4FF6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Ao adicionar conexões residuais conseguimos dobrar a profundidade das redes </a:t>
            </a:r>
            <a:r>
              <a:rPr lang="pt-BR" dirty="0" err="1"/>
              <a:t>convolucionais</a:t>
            </a:r>
            <a:r>
              <a:rPr lang="pt-BR" dirty="0"/>
              <a:t> e ainda assim manter o aumento de performance</a:t>
            </a:r>
          </a:p>
          <a:p>
            <a:pPr lvl="1"/>
            <a:r>
              <a:rPr lang="pt-BR" dirty="0"/>
              <a:t>Mas ainda existem fenômenos que nos impedem de ir mais profundamente</a:t>
            </a:r>
          </a:p>
          <a:p>
            <a:pPr lvl="1"/>
            <a:r>
              <a:rPr lang="pt-BR" dirty="0"/>
              <a:t>Para compreender isso, precisamos estudar a variância das ativações em redes com </a:t>
            </a:r>
            <a:r>
              <a:rPr lang="pt-BR" i="1" dirty="0" err="1"/>
              <a:t>skip</a:t>
            </a:r>
            <a:r>
              <a:rPr lang="pt-BR" i="1" dirty="0"/>
              <a:t> connections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888FE0-E247-F73E-C491-884C7E1F8A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24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6042548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F27810-2A7C-14F8-B5F1-A29EA65C33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Variância das Ativações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016B357-5A72-8CA3-3E6A-4B616E4FF6F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pt-BR" dirty="0"/>
                  <a:t>A inicialização He garante que a variância de uma variável aleatória após uma transformação linear + </a:t>
                </a:r>
                <a:r>
                  <a:rPr lang="pt-BR" dirty="0" err="1"/>
                  <a:t>ReLU</a:t>
                </a:r>
                <a:r>
                  <a:rPr lang="pt-BR" dirty="0"/>
                  <a:t> não será modificada</a:t>
                </a:r>
              </a:p>
              <a:p>
                <a:pPr marL="457200" lvl="1" indent="0">
                  <a:buNone/>
                </a:pPr>
                <a:endParaRPr lang="en-US" b="0" i="1" dirty="0">
                  <a:latin typeface="Cambria Math" panose="02040503050406030204" pitchFamily="18" charset="0"/>
                </a:endParaRP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𝑖𝑛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𝑜𝑢𝑡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pt-BR" i="1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016B357-5A72-8CA3-3E6A-4B616E4FF6F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888FE0-E247-F73E-C491-884C7E1F8A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25</a:t>
            </a:fld>
            <a:endParaRPr lang="pt-BR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D3E5AFB-F31F-A729-6D45-77B4423F06C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36088" r="11614"/>
          <a:stretch/>
        </p:blipFill>
        <p:spPr>
          <a:xfrm>
            <a:off x="2991005" y="3856008"/>
            <a:ext cx="5488761" cy="667457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A90698ED-35EE-7AFB-07D7-CA9A88901F16}"/>
              </a:ext>
            </a:extLst>
          </p:cNvPr>
          <p:cNvSpPr/>
          <p:nvPr/>
        </p:nvSpPr>
        <p:spPr>
          <a:xfrm>
            <a:off x="4063042" y="3735238"/>
            <a:ext cx="362309" cy="44857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CDA51EC-D3BC-4E9A-F8D6-05B8317374E0}"/>
                  </a:ext>
                </a:extLst>
              </p:cNvPr>
              <p:cNvSpPr txBox="1"/>
              <p:nvPr/>
            </p:nvSpPr>
            <p:spPr>
              <a:xfrm>
                <a:off x="4063042" y="4250217"/>
                <a:ext cx="732508" cy="54649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𝑖𝑛</m:t>
                          </m:r>
                        </m:sub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pt-BR" sz="28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CDA51EC-D3BC-4E9A-F8D6-05B8317374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63042" y="4250217"/>
                <a:ext cx="732508" cy="54649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99D2B33-6473-59A1-1F26-7983E8DA9446}"/>
                  </a:ext>
                </a:extLst>
              </p:cNvPr>
              <p:cNvSpPr txBox="1"/>
              <p:nvPr/>
            </p:nvSpPr>
            <p:spPr>
              <a:xfrm>
                <a:off x="7400397" y="4285725"/>
                <a:ext cx="913007" cy="52604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𝑜𝑢𝑡</m:t>
                          </m:r>
                        </m:sub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pt-BR" sz="28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99D2B33-6473-59A1-1F26-7983E8DA94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00397" y="4285725"/>
                <a:ext cx="913007" cy="52604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9693015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F27810-2A7C-14F8-B5F1-A29EA65C33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Variância das Ativações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016B357-5A72-8CA3-3E6A-4B616E4FF6F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pt-BR" dirty="0"/>
                  <a:t>A inicialização He garante que a variância de uma variável aleatória após uma transformação linear + </a:t>
                </a:r>
                <a:r>
                  <a:rPr lang="pt-BR" dirty="0" err="1"/>
                  <a:t>ReLU</a:t>
                </a:r>
                <a:r>
                  <a:rPr lang="pt-BR" dirty="0"/>
                  <a:t> não será modificada</a:t>
                </a:r>
              </a:p>
              <a:p>
                <a:pPr lvl="1"/>
                <a:r>
                  <a:rPr lang="pt-BR" dirty="0"/>
                  <a:t>Porém agora temos a </a:t>
                </a:r>
                <a:r>
                  <a:rPr lang="pt-BR" i="1" dirty="0" err="1"/>
                  <a:t>skip</a:t>
                </a:r>
                <a:r>
                  <a:rPr lang="pt-BR" i="1" dirty="0"/>
                  <a:t> connection</a:t>
                </a:r>
              </a:p>
              <a:p>
                <a:pPr lvl="1"/>
                <a:r>
                  <a:rPr lang="pt-BR" dirty="0"/>
                  <a:t>Como a variância da saída se comporta?</a:t>
                </a:r>
              </a:p>
              <a:p>
                <a:pPr marL="457200" lvl="1" indent="0">
                  <a:buNone/>
                </a:pPr>
                <a:endParaRPr lang="en-US" b="0" i="1" dirty="0">
                  <a:latin typeface="Cambria Math" panose="02040503050406030204" pitchFamily="18" charset="0"/>
                </a:endParaRP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𝑜𝑢𝑡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 ?</m:t>
                      </m:r>
                    </m:oMath>
                  </m:oMathPara>
                </a14:m>
                <a:endParaRPr lang="pt-BR" i="1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016B357-5A72-8CA3-3E6A-4B616E4FF6F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888FE0-E247-F73E-C491-884C7E1F8A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26</a:t>
            </a:fld>
            <a:endParaRPr lang="pt-BR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D3E5AFB-F31F-A729-6D45-77B4423F06C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5448" r="640"/>
          <a:stretch/>
        </p:blipFill>
        <p:spPr>
          <a:xfrm>
            <a:off x="3034137" y="4863119"/>
            <a:ext cx="6170248" cy="98744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A90698ED-35EE-7AFB-07D7-CA9A88901F16}"/>
              </a:ext>
            </a:extLst>
          </p:cNvPr>
          <p:cNvSpPr/>
          <p:nvPr/>
        </p:nvSpPr>
        <p:spPr>
          <a:xfrm>
            <a:off x="4063042" y="3735238"/>
            <a:ext cx="362309" cy="44857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CDA51EC-D3BC-4E9A-F8D6-05B8317374E0}"/>
                  </a:ext>
                </a:extLst>
              </p:cNvPr>
              <p:cNvSpPr txBox="1"/>
              <p:nvPr/>
            </p:nvSpPr>
            <p:spPr>
              <a:xfrm>
                <a:off x="4425351" y="5623874"/>
                <a:ext cx="732508" cy="54649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𝑖𝑛</m:t>
                          </m:r>
                        </m:sub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pt-BR" sz="28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CDA51EC-D3BC-4E9A-F8D6-05B8317374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25351" y="5623874"/>
                <a:ext cx="732508" cy="54649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99D2B33-6473-59A1-1F26-7983E8DA9446}"/>
                  </a:ext>
                </a:extLst>
              </p:cNvPr>
              <p:cNvSpPr txBox="1"/>
              <p:nvPr/>
            </p:nvSpPr>
            <p:spPr>
              <a:xfrm>
                <a:off x="9204385" y="5198122"/>
                <a:ext cx="913007" cy="52604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𝑜𝑢𝑡</m:t>
                          </m:r>
                        </m:sub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pt-BR" sz="28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99D2B33-6473-59A1-1F26-7983E8DA94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04385" y="5198122"/>
                <a:ext cx="913007" cy="52604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7E14B6D-9556-FB46-49BD-F131195D8675}"/>
                  </a:ext>
                </a:extLst>
              </p:cNvPr>
              <p:cNvSpPr txBox="1"/>
              <p:nvPr/>
            </p:nvSpPr>
            <p:spPr>
              <a:xfrm>
                <a:off x="7580896" y="5577311"/>
                <a:ext cx="732508" cy="54649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𝑖𝑛</m:t>
                          </m:r>
                        </m:sub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pt-BR" sz="28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7E14B6D-9556-FB46-49BD-F131195D86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80896" y="5577311"/>
                <a:ext cx="732508" cy="54649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6B68AF5-1B23-97FB-A3CB-5BECCB04D8D4}"/>
                  </a:ext>
                </a:extLst>
              </p:cNvPr>
              <p:cNvSpPr txBox="1"/>
              <p:nvPr/>
            </p:nvSpPr>
            <p:spPr>
              <a:xfrm>
                <a:off x="8069726" y="4354964"/>
                <a:ext cx="732508" cy="54649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𝑖𝑛</m:t>
                          </m:r>
                        </m:sub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pt-BR" sz="28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6B68AF5-1B23-97FB-A3CB-5BECCB04D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69726" y="4354964"/>
                <a:ext cx="732508" cy="546496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5329365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F27810-2A7C-14F8-B5F1-A29EA65C33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Variância das Ativações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016B357-5A72-8CA3-3E6A-4B616E4FF6F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94891" y="1825625"/>
                <a:ext cx="11706045" cy="4351338"/>
              </a:xfrm>
            </p:spPr>
            <p:txBody>
              <a:bodyPr/>
              <a:lstStyle/>
              <a:p>
                <a:r>
                  <a:rPr lang="en-US" i="1" dirty="0"/>
                  <a:t>Back to basics </a:t>
                </a:r>
                <a:r>
                  <a:rPr lang="en-US" dirty="0">
                    <a:sym typeface="Wingdings" panose="05000000000000000000" pitchFamily="2" charset="2"/>
                  </a:rPr>
                  <a:t>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𝑉𝑎𝑟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</m:d>
                                </m:e>
                              </m:d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sz="2400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𝑉𝑎𝑟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d>
                                    <m:dPr>
                                      <m:ctrlP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𝑌</m:t>
                                      </m:r>
                                    </m:e>
                                  </m:d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𝑌</m:t>
                                      </m:r>
                                    </m:e>
                                  </m:d>
                                </m:e>
                              </m:d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pt-BR" sz="2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016B357-5A72-8CA3-3E6A-4B616E4FF6F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4891" y="1825625"/>
                <a:ext cx="11706045" cy="4351338"/>
              </a:xfrm>
              <a:blipFill>
                <a:blip r:embed="rId2"/>
                <a:stretch>
                  <a:fillRect l="-938" t="-266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888FE0-E247-F73E-C491-884C7E1F8A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27</a:t>
            </a:fld>
            <a:endParaRPr lang="pt-BR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D3E5AFB-F31F-A729-6D45-77B4423F06C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5448" r="640"/>
          <a:stretch/>
        </p:blipFill>
        <p:spPr>
          <a:xfrm>
            <a:off x="2542432" y="5505435"/>
            <a:ext cx="6170248" cy="98744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CDA51EC-D3BC-4E9A-F8D6-05B8317374E0}"/>
                  </a:ext>
                </a:extLst>
              </p:cNvPr>
              <p:cNvSpPr txBox="1"/>
              <p:nvPr/>
            </p:nvSpPr>
            <p:spPr>
              <a:xfrm>
                <a:off x="3933646" y="6266190"/>
                <a:ext cx="732508" cy="54649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𝑖𝑛</m:t>
                          </m:r>
                        </m:sub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pt-BR" sz="28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CDA51EC-D3BC-4E9A-F8D6-05B8317374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3646" y="6266190"/>
                <a:ext cx="732508" cy="54649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99D2B33-6473-59A1-1F26-7983E8DA9446}"/>
                  </a:ext>
                </a:extLst>
              </p:cNvPr>
              <p:cNvSpPr txBox="1"/>
              <p:nvPr/>
            </p:nvSpPr>
            <p:spPr>
              <a:xfrm>
                <a:off x="8712680" y="5840438"/>
                <a:ext cx="913007" cy="52604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𝑜𝑢𝑡</m:t>
                          </m:r>
                        </m:sub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pt-BR" sz="28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99D2B33-6473-59A1-1F26-7983E8DA94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12680" y="5840438"/>
                <a:ext cx="913007" cy="52604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7E14B6D-9556-FB46-49BD-F131195D8675}"/>
                  </a:ext>
                </a:extLst>
              </p:cNvPr>
              <p:cNvSpPr txBox="1"/>
              <p:nvPr/>
            </p:nvSpPr>
            <p:spPr>
              <a:xfrm>
                <a:off x="7089191" y="6219627"/>
                <a:ext cx="732508" cy="54649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𝑖𝑛</m:t>
                          </m:r>
                        </m:sub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pt-BR" sz="28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7E14B6D-9556-FB46-49BD-F131195D86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89191" y="6219627"/>
                <a:ext cx="732508" cy="54649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6B68AF5-1B23-97FB-A3CB-5BECCB04D8D4}"/>
                  </a:ext>
                </a:extLst>
              </p:cNvPr>
              <p:cNvSpPr txBox="1"/>
              <p:nvPr/>
            </p:nvSpPr>
            <p:spPr>
              <a:xfrm>
                <a:off x="7578021" y="4997280"/>
                <a:ext cx="732508" cy="54649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𝑖𝑛</m:t>
                          </m:r>
                        </m:sub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pt-BR" sz="28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6B68AF5-1B23-97FB-A3CB-5BECCB04D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78021" y="4997280"/>
                <a:ext cx="732508" cy="546496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4690865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F27810-2A7C-14F8-B5F1-A29EA65C33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Variância das Ativações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016B357-5A72-8CA3-3E6A-4B616E4FF6F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94891" y="1825625"/>
                <a:ext cx="11706045" cy="4351338"/>
              </a:xfrm>
            </p:spPr>
            <p:txBody>
              <a:bodyPr/>
              <a:lstStyle/>
              <a:p>
                <a:r>
                  <a:rPr lang="en-US" i="1" dirty="0"/>
                  <a:t>Back to basics </a:t>
                </a:r>
                <a:r>
                  <a:rPr lang="en-US" dirty="0">
                    <a:sym typeface="Wingdings" panose="05000000000000000000" pitchFamily="2" charset="2"/>
                  </a:rPr>
                  <a:t>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𝑉𝑎𝑟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</m:d>
                                </m:e>
                              </m:d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sz="2400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𝑉𝑎𝑟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d>
                                    <m:dPr>
                                      <m:ctrlP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𝑌</m:t>
                                      </m:r>
                                    </m:e>
                                  </m:d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𝑌</m:t>
                                      </m:r>
                                    </m:e>
                                  </m:d>
                                </m:e>
                              </m:d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pt-BR" sz="24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𝑉𝑎𝑟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𝑌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</m:d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𝑌</m:t>
                                      </m:r>
                                    </m:e>
                                  </m:d>
                                </m:e>
                              </m:d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sz="2400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𝑉𝑎𝑟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d>
                                    <m:dPr>
                                      <m:ctrlP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𝐸</m:t>
                                      </m:r>
                                      <m:d>
                                        <m:dPr>
                                          <m:begChr m:val="["/>
                                          <m:endChr m:val="]"/>
                                          <m:ctrlPr>
                                            <a:rPr lang="en-US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2400" i="1">
                                              <a:latin typeface="Cambria Math" panose="02040503050406030204" pitchFamily="18" charset="0"/>
                                            </a:rPr>
                                            <m:t>𝑋</m:t>
                                          </m:r>
                                        </m:e>
                                      </m:d>
                                    </m:e>
                                  </m:d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d>
                                    <m:dPr>
                                      <m:ctrlP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𝑌</m:t>
                                      </m:r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𝐸</m:t>
                                      </m:r>
                                      <m:d>
                                        <m:dPr>
                                          <m:begChr m:val="["/>
                                          <m:endChr m:val="]"/>
                                          <m:ctrlP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𝑌</m:t>
                                          </m:r>
                                        </m:e>
                                      </m:d>
                                    </m:e>
                                  </m:d>
                                </m:e>
                              </m:d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sz="2400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𝑉𝑎𝑟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</m:d>
                                </m:e>
                              </m:d>
                            </m:e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+2</m:t>
                          </m:r>
                          <m:d>
                            <m:d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</m:d>
                            </m:e>
                          </m:d>
                          <m:d>
                            <m:d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𝑌</m:t>
                                  </m:r>
                                </m:e>
                              </m:d>
                            </m:e>
                          </m:d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𝑌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𝑌</m:t>
                                      </m:r>
                                    </m:e>
                                  </m:d>
                                </m:e>
                              </m:d>
                            </m:e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𝑉𝑎𝑟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𝐸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[</m:t>
                          </m:r>
                          <m:d>
                            <m:d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</m:d>
                            </m:e>
                          </m:d>
                        </m:e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i="1">
                          <a:latin typeface="Cambria Math" panose="02040503050406030204" pitchFamily="18" charset="0"/>
                        </a:rPr>
                        <m:t>]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</m:d>
                            </m:e>
                          </m:d>
                          <m:d>
                            <m:d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𝑌</m:t>
                                  </m:r>
                                </m:e>
                              </m:d>
                            </m:e>
                          </m:d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𝑌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𝑌</m:t>
                                      </m:r>
                                    </m:e>
                                  </m:d>
                                </m:e>
                              </m:d>
                            </m:e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𝑉𝑎𝑟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𝑉𝑎𝑟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𝐶𝑜𝑣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)+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𝑉𝑎𝑟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</m:d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016B357-5A72-8CA3-3E6A-4B616E4FF6F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4891" y="1825625"/>
                <a:ext cx="11706045" cy="4351338"/>
              </a:xfrm>
              <a:blipFill>
                <a:blip r:embed="rId2"/>
                <a:stretch>
                  <a:fillRect l="-938" t="-266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888FE0-E247-F73E-C491-884C7E1F8A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28</a:t>
            </a:fld>
            <a:endParaRPr lang="pt-BR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D3E5AFB-F31F-A729-6D45-77B4423F06C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5448" r="640"/>
          <a:stretch/>
        </p:blipFill>
        <p:spPr>
          <a:xfrm>
            <a:off x="2542432" y="5505435"/>
            <a:ext cx="6170248" cy="98744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CDA51EC-D3BC-4E9A-F8D6-05B8317374E0}"/>
                  </a:ext>
                </a:extLst>
              </p:cNvPr>
              <p:cNvSpPr txBox="1"/>
              <p:nvPr/>
            </p:nvSpPr>
            <p:spPr>
              <a:xfrm>
                <a:off x="3933646" y="6266190"/>
                <a:ext cx="732508" cy="54649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𝑖𝑛</m:t>
                          </m:r>
                        </m:sub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pt-BR" sz="28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CDA51EC-D3BC-4E9A-F8D6-05B8317374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3646" y="6266190"/>
                <a:ext cx="732508" cy="54649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99D2B33-6473-59A1-1F26-7983E8DA9446}"/>
                  </a:ext>
                </a:extLst>
              </p:cNvPr>
              <p:cNvSpPr txBox="1"/>
              <p:nvPr/>
            </p:nvSpPr>
            <p:spPr>
              <a:xfrm>
                <a:off x="8712680" y="5840438"/>
                <a:ext cx="913007" cy="52604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𝑜𝑢𝑡</m:t>
                          </m:r>
                        </m:sub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pt-BR" sz="28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99D2B33-6473-59A1-1F26-7983E8DA94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12680" y="5840438"/>
                <a:ext cx="913007" cy="52604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7E14B6D-9556-FB46-49BD-F131195D8675}"/>
                  </a:ext>
                </a:extLst>
              </p:cNvPr>
              <p:cNvSpPr txBox="1"/>
              <p:nvPr/>
            </p:nvSpPr>
            <p:spPr>
              <a:xfrm>
                <a:off x="7089191" y="6219627"/>
                <a:ext cx="732508" cy="54649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𝑖𝑛</m:t>
                          </m:r>
                        </m:sub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pt-BR" sz="28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7E14B6D-9556-FB46-49BD-F131195D86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89191" y="6219627"/>
                <a:ext cx="732508" cy="54649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6B68AF5-1B23-97FB-A3CB-5BECCB04D8D4}"/>
                  </a:ext>
                </a:extLst>
              </p:cNvPr>
              <p:cNvSpPr txBox="1"/>
              <p:nvPr/>
            </p:nvSpPr>
            <p:spPr>
              <a:xfrm>
                <a:off x="7578021" y="4997280"/>
                <a:ext cx="732508" cy="54649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𝑖𝑛</m:t>
                          </m:r>
                        </m:sub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pt-BR" sz="28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6B68AF5-1B23-97FB-A3CB-5BECCB04D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78021" y="4997280"/>
                <a:ext cx="732508" cy="546496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0959620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F27810-2A7C-14F8-B5F1-A29EA65C33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Variância das Ativações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016B357-5A72-8CA3-3E6A-4B616E4FF6F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94891" y="1825625"/>
                <a:ext cx="11706045" cy="4351338"/>
              </a:xfrm>
            </p:spPr>
            <p:txBody>
              <a:bodyPr/>
              <a:lstStyle/>
              <a:p>
                <a:r>
                  <a:rPr lang="en-US" i="1" dirty="0"/>
                  <a:t>Back to basics </a:t>
                </a:r>
                <a:r>
                  <a:rPr lang="en-US" dirty="0">
                    <a:sym typeface="Wingdings" panose="05000000000000000000" pitchFamily="2" charset="2"/>
                  </a:rPr>
                  <a:t>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𝑉𝑎𝑟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𝑉𝑎𝑟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𝐶𝑜𝑣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𝑉𝑎𝑟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</m:d>
                    </m:oMath>
                  </m:oMathPara>
                </a14:m>
                <a:endParaRPr lang="en-US" sz="2400" b="0" dirty="0"/>
              </a:p>
              <a:p>
                <a:pPr marL="0" indent="0">
                  <a:buNone/>
                </a:pPr>
                <a:endParaRPr lang="pt-BR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𝑉𝑎𝑟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𝑉𝑎𝑟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𝑉𝑎𝑟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</m:d>
                    </m:oMath>
                  </m:oMathPara>
                </a14:m>
                <a:endParaRPr lang="pt-BR" sz="2400" dirty="0"/>
              </a:p>
              <a:p>
                <a:pPr marL="0" indent="0">
                  <a:buNone/>
                </a:pPr>
                <a:endParaRPr lang="pt-BR" dirty="0"/>
              </a:p>
              <a:p>
                <a:pPr marL="0" indent="0">
                  <a:buNone/>
                </a:pPr>
                <a:r>
                  <a:rPr lang="pt-BR" dirty="0"/>
                  <a:t>A variância vai dobrar depois de cada bloco residual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2</m:t>
                      </m:r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𝑖𝑛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𝑜𝑢𝑡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016B357-5A72-8CA3-3E6A-4B616E4FF6F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4891" y="1825625"/>
                <a:ext cx="11706045" cy="4351338"/>
              </a:xfrm>
              <a:blipFill>
                <a:blip r:embed="rId2"/>
                <a:stretch>
                  <a:fillRect l="-1094" t="-266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888FE0-E247-F73E-C491-884C7E1F8A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29</a:t>
            </a:fld>
            <a:endParaRPr lang="pt-BR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D3E5AFB-F31F-A729-6D45-77B4423F06C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5448" r="640"/>
          <a:stretch/>
        </p:blipFill>
        <p:spPr>
          <a:xfrm>
            <a:off x="2542432" y="5505435"/>
            <a:ext cx="6170248" cy="98744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CDA51EC-D3BC-4E9A-F8D6-05B8317374E0}"/>
                  </a:ext>
                </a:extLst>
              </p:cNvPr>
              <p:cNvSpPr txBox="1"/>
              <p:nvPr/>
            </p:nvSpPr>
            <p:spPr>
              <a:xfrm>
                <a:off x="3933646" y="6266190"/>
                <a:ext cx="732508" cy="54649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𝑖𝑛</m:t>
                          </m:r>
                        </m:sub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pt-BR" sz="28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CDA51EC-D3BC-4E9A-F8D6-05B8317374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3646" y="6266190"/>
                <a:ext cx="732508" cy="54649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99D2B33-6473-59A1-1F26-7983E8DA9446}"/>
                  </a:ext>
                </a:extLst>
              </p:cNvPr>
              <p:cNvSpPr txBox="1"/>
              <p:nvPr/>
            </p:nvSpPr>
            <p:spPr>
              <a:xfrm>
                <a:off x="8712680" y="5840438"/>
                <a:ext cx="913007" cy="52604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𝑜𝑢𝑡</m:t>
                          </m:r>
                        </m:sub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pt-BR" sz="28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99D2B33-6473-59A1-1F26-7983E8DA94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12680" y="5840438"/>
                <a:ext cx="913007" cy="52604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7E14B6D-9556-FB46-49BD-F131195D8675}"/>
                  </a:ext>
                </a:extLst>
              </p:cNvPr>
              <p:cNvSpPr txBox="1"/>
              <p:nvPr/>
            </p:nvSpPr>
            <p:spPr>
              <a:xfrm>
                <a:off x="7089191" y="6219627"/>
                <a:ext cx="732508" cy="54649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𝑖𝑛</m:t>
                          </m:r>
                        </m:sub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pt-BR" sz="28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7E14B6D-9556-FB46-49BD-F131195D86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89191" y="6219627"/>
                <a:ext cx="732508" cy="54649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6B68AF5-1B23-97FB-A3CB-5BECCB04D8D4}"/>
                  </a:ext>
                </a:extLst>
              </p:cNvPr>
              <p:cNvSpPr txBox="1"/>
              <p:nvPr/>
            </p:nvSpPr>
            <p:spPr>
              <a:xfrm>
                <a:off x="7578021" y="4997280"/>
                <a:ext cx="732508" cy="54649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𝑖𝑛</m:t>
                          </m:r>
                        </m:sub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pt-BR" sz="28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6B68AF5-1B23-97FB-A3CB-5BECCB04D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78021" y="4997280"/>
                <a:ext cx="732508" cy="546496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 5">
            <a:extLst>
              <a:ext uri="{FF2B5EF4-FFF2-40B4-BE49-F238E27FC236}">
                <a16:creationId xmlns:a16="http://schemas.microsoft.com/office/drawing/2014/main" id="{C1D5CA44-AB41-5960-1F0C-1F8829B4A2D7}"/>
              </a:ext>
            </a:extLst>
          </p:cNvPr>
          <p:cNvSpPr/>
          <p:nvPr/>
        </p:nvSpPr>
        <p:spPr>
          <a:xfrm>
            <a:off x="6096000" y="2198843"/>
            <a:ext cx="1555630" cy="42358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4B0864E-6AA8-7587-2E3B-1E82D2769B8E}"/>
              </a:ext>
            </a:extLst>
          </p:cNvPr>
          <p:cNvSpPr txBox="1"/>
          <p:nvPr/>
        </p:nvSpPr>
        <p:spPr>
          <a:xfrm>
            <a:off x="6716816" y="1632959"/>
            <a:ext cx="3723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>
                <a:solidFill>
                  <a:srgbClr val="FF0000"/>
                </a:solidFill>
              </a:rPr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353913246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F27810-2A7C-14F8-B5F1-A29EA65C33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Variância das Ativações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16B357-5A72-8CA3-3E6A-4B616E4FF6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436525" cy="4351338"/>
          </a:xfrm>
        </p:spPr>
        <p:txBody>
          <a:bodyPr/>
          <a:lstStyle/>
          <a:p>
            <a:r>
              <a:rPr lang="pt-BR" dirty="0"/>
              <a:t>Em uma rede com muitas camadas rapidamente podemos exceder a precisão de ponto flutuante</a:t>
            </a:r>
          </a:p>
          <a:p>
            <a:pPr lvl="1"/>
            <a:r>
              <a:rPr lang="pt-BR" dirty="0"/>
              <a:t>Solução é usar </a:t>
            </a:r>
            <a:r>
              <a:rPr lang="pt-BR" i="1" dirty="0"/>
              <a:t>batch </a:t>
            </a:r>
            <a:r>
              <a:rPr lang="pt-BR" i="1" dirty="0" err="1"/>
              <a:t>norm</a:t>
            </a:r>
            <a:endParaRPr lang="pt-BR" i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888FE0-E247-F73E-C491-884C7E1F8A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30</a:t>
            </a:fld>
            <a:endParaRPr lang="pt-BR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FAA4AF61-A63A-83E5-8E00-433E5E7C19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339" y="3329798"/>
            <a:ext cx="11056245" cy="1130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704755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839EA5-D312-93A9-B084-C39FADB337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Batch Norm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E2D480-FFC6-C701-6C6D-F97FF3CC77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É uma normalização aplicada a ativações em camadas ocultas da rede</a:t>
            </a:r>
          </a:p>
          <a:p>
            <a:pPr lvl="1"/>
            <a:r>
              <a:rPr lang="pt-BR" dirty="0"/>
              <a:t>Desloca e reescala média e desvio padrão dos </a:t>
            </a:r>
            <a:r>
              <a:rPr lang="pt-BR" dirty="0" err="1"/>
              <a:t>batchs</a:t>
            </a:r>
            <a:r>
              <a:rPr lang="pt-BR" dirty="0"/>
              <a:t> para valores aprendidos durante o treinamento</a:t>
            </a:r>
          </a:p>
          <a:p>
            <a:r>
              <a:rPr lang="pt-BR" dirty="0"/>
              <a:t>Necessita que utilizemos </a:t>
            </a:r>
            <a:r>
              <a:rPr lang="pt-BR" i="1" dirty="0"/>
              <a:t>batch </a:t>
            </a:r>
            <a:r>
              <a:rPr lang="pt-BR" i="1" dirty="0" err="1"/>
              <a:t>size</a:t>
            </a:r>
            <a:r>
              <a:rPr lang="pt-BR" i="1" dirty="0"/>
              <a:t> &gt; 1</a:t>
            </a:r>
          </a:p>
          <a:p>
            <a:endParaRPr lang="pt-B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CAE728-17C8-60F0-FE58-26D37AFA3C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31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3885417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839EA5-D312-93A9-B084-C39FADB337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Batch Norm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1E2D480-FFC6-C701-6C6D-F97FF3CC772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pt-BR" dirty="0"/>
                  <a:t>Como funciona:</a:t>
                </a:r>
              </a:p>
              <a:p>
                <a:r>
                  <a:rPr lang="pt-BR" dirty="0"/>
                  <a:t>Computar a média e o desvio padrão empíricos do </a:t>
                </a:r>
                <a:r>
                  <a:rPr lang="pt-BR" i="1" dirty="0"/>
                  <a:t>mini batch</a:t>
                </a:r>
                <a:r>
                  <a:rPr lang="pt-BR" dirty="0"/>
                  <a:t> atual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d>
                          <m:dPr>
                            <m:begChr m:val="|"/>
                            <m:endChr m:val="|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</m:d>
                      </m:den>
                    </m:f>
                    <m:nary>
                      <m:naryPr>
                        <m:chr m:val="∑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</m:oMath>
                </a14:m>
                <a:endParaRPr lang="pt-BR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d>
                              <m:dPr>
                                <m:begChr m:val="|"/>
                                <m:endChr m:val="|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</m:e>
                            </m:d>
                          </m:den>
                        </m:f>
                        <m:nary>
                          <m:naryPr>
                            <m:chr m:val="∑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∈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𝐵</m:t>
                            </m:r>
                          </m:sub>
                          <m:sup/>
                          <m:e>
                            <m:sSup>
                              <m:s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h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𝜇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h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nary>
                      </m:e>
                    </m:rad>
                  </m:oMath>
                </a14:m>
                <a:endParaRPr lang="pt-BR" dirty="0"/>
              </a:p>
              <a:p>
                <a:pPr lvl="1"/>
                <a:r>
                  <a:rPr lang="pt-BR" dirty="0"/>
                  <a:t>Repare que todas as quantidades aqui são escalares</a:t>
                </a:r>
              </a:p>
              <a:p>
                <a:endParaRPr lang="pt-BR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1E2D480-FFC6-C701-6C6D-F97FF3CC772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CAE728-17C8-60F0-FE58-26D37AFA3C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32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5704019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839EA5-D312-93A9-B084-C39FADB337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Batch Norm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1E2D480-FFC6-C701-6C6D-F97FF3CC772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pt-BR" dirty="0"/>
                  <a:t>Como funciona:</a:t>
                </a:r>
              </a:p>
              <a:p>
                <a:r>
                  <a:rPr lang="pt-BR" dirty="0"/>
                  <a:t>Padronizamos as ativações para ter media 0 e desvio padrão igual a 1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←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h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h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𝜖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∀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pt-BR" dirty="0"/>
                  <a:t> </a:t>
                </a:r>
              </a:p>
              <a:p>
                <a:r>
                  <a:rPr lang="pt-BR" dirty="0"/>
                  <a:t>Por último reescalamos as ativações por </a:t>
                </a:r>
                <a14:m>
                  <m:oMath xmlns:m="http://schemas.openxmlformats.org/officeDocument/2006/math">
                    <m:r>
                      <a:rPr lang="pt-B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𝛾</m:t>
                    </m:r>
                  </m:oMath>
                </a14:m>
                <a:r>
                  <a:rPr lang="pt-BR" dirty="0"/>
                  <a:t> e deslocamos por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endParaRPr lang="pt-BR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←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𝛾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𝛽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∀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</m:oMath>
                </a14:m>
                <a:endParaRPr lang="pt-BR" dirty="0"/>
              </a:p>
              <a:p>
                <a:endParaRPr lang="pt-BR" dirty="0"/>
              </a:p>
              <a:p>
                <a:endParaRPr lang="pt-BR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1E2D480-FFC6-C701-6C6D-F97FF3CC772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CAE728-17C8-60F0-FE58-26D37AFA3C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33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8986449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9" name="Rectangle: Rounded Corners 1038">
            <a:extLst>
              <a:ext uri="{FF2B5EF4-FFF2-40B4-BE49-F238E27FC236}">
                <a16:creationId xmlns:a16="http://schemas.microsoft.com/office/drawing/2014/main" id="{206AFDD9-1F26-000E-6015-4C8FEC37AF5D}"/>
              </a:ext>
            </a:extLst>
          </p:cNvPr>
          <p:cNvSpPr/>
          <p:nvPr/>
        </p:nvSpPr>
        <p:spPr>
          <a:xfrm>
            <a:off x="3237449" y="2797253"/>
            <a:ext cx="6564777" cy="3545153"/>
          </a:xfrm>
          <a:prstGeom prst="roundRect">
            <a:avLst>
              <a:gd name="adj" fmla="val 7217"/>
            </a:avLst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839EA5-D312-93A9-B084-C39FADB337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Batch Norm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1E2D480-FFC6-C701-6C6D-F97FF3CC772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sz="2400" dirty="0" err="1"/>
                  <a:t>Existe</a:t>
                </a:r>
                <a:r>
                  <a:rPr lang="en-US" sz="2400" dirty="0"/>
                  <a:t> um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𝛾</m:t>
                    </m:r>
                  </m:oMath>
                </a14:m>
                <a:r>
                  <a:rPr lang="pt-BR" sz="2400" dirty="0"/>
                  <a:t>, um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pt-BR" sz="2400" dirty="0"/>
                  <a:t>, um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pt-BR" sz="2400" dirty="0"/>
                  <a:t> e um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pt-BR" sz="2400" dirty="0"/>
                  <a:t> por unidade oculta em uma camada densa</a:t>
                </a:r>
              </a:p>
              <a:p>
                <a:pPr lvl="2"/>
                <a:r>
                  <a:rPr lang="pt-BR" dirty="0"/>
                  <a:t>4 parâmetros por unidade oculta, dois deles são treináveis</a:t>
                </a:r>
              </a:p>
              <a:p>
                <a:pPr lvl="2"/>
                <a:endParaRPr lang="pt-BR" dirty="0"/>
              </a:p>
              <a:p>
                <a:endParaRPr lang="pt-BR" dirty="0"/>
              </a:p>
              <a:p>
                <a:pPr lvl="1"/>
                <a:endParaRPr lang="pt-BR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1E2D480-FFC6-C701-6C6D-F97FF3CC772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12" t="-196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CAE728-17C8-60F0-FE58-26D37AFA3C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34</a:t>
            </a:fld>
            <a:endParaRPr lang="pt-BR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BC3EE46-2D0B-78F6-C106-1216F939EDF9}"/>
              </a:ext>
            </a:extLst>
          </p:cNvPr>
          <p:cNvSpPr txBox="1"/>
          <p:nvPr/>
        </p:nvSpPr>
        <p:spPr>
          <a:xfrm>
            <a:off x="0" y="6582975"/>
            <a:ext cx="956453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200" dirty="0"/>
              <a:t>Fonte imagem: https://towardsdatascience.com/batch-norm-explained-visually-how-it-works-and-why-neural-networks-need-it-b18919692739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B10146F-6A3C-E9EB-51F7-56358628A632}"/>
              </a:ext>
            </a:extLst>
          </p:cNvPr>
          <p:cNvSpPr/>
          <p:nvPr/>
        </p:nvSpPr>
        <p:spPr>
          <a:xfrm>
            <a:off x="1335147" y="4423759"/>
            <a:ext cx="319177" cy="319177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7FF3EE-CA26-EC19-BD8E-FA5C86DAEEB0}"/>
              </a:ext>
            </a:extLst>
          </p:cNvPr>
          <p:cNvSpPr/>
          <p:nvPr/>
        </p:nvSpPr>
        <p:spPr>
          <a:xfrm>
            <a:off x="1671876" y="4423759"/>
            <a:ext cx="319177" cy="319177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C8BA06A-F643-7ACB-4AFA-E9ADA6154FFB}"/>
              </a:ext>
            </a:extLst>
          </p:cNvPr>
          <p:cNvSpPr/>
          <p:nvPr/>
        </p:nvSpPr>
        <p:spPr>
          <a:xfrm>
            <a:off x="2011780" y="4423759"/>
            <a:ext cx="319177" cy="319177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75DDA18-6DF6-F035-0D03-265ED01685BD}"/>
              </a:ext>
            </a:extLst>
          </p:cNvPr>
          <p:cNvSpPr/>
          <p:nvPr/>
        </p:nvSpPr>
        <p:spPr>
          <a:xfrm>
            <a:off x="2351684" y="4423758"/>
            <a:ext cx="319177" cy="319177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C1E78E6-2EE3-F5D9-A92A-295464DE9863}"/>
              </a:ext>
            </a:extLst>
          </p:cNvPr>
          <p:cNvSpPr/>
          <p:nvPr/>
        </p:nvSpPr>
        <p:spPr>
          <a:xfrm>
            <a:off x="1335147" y="4061163"/>
            <a:ext cx="319177" cy="319177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662516E-2EF8-ED53-D25C-F8285584E3D8}"/>
              </a:ext>
            </a:extLst>
          </p:cNvPr>
          <p:cNvSpPr/>
          <p:nvPr/>
        </p:nvSpPr>
        <p:spPr>
          <a:xfrm>
            <a:off x="1671876" y="4061163"/>
            <a:ext cx="319177" cy="319177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1645738-3C6E-1A0A-B8F0-64A182A07F99}"/>
              </a:ext>
            </a:extLst>
          </p:cNvPr>
          <p:cNvSpPr/>
          <p:nvPr/>
        </p:nvSpPr>
        <p:spPr>
          <a:xfrm>
            <a:off x="2011780" y="4061163"/>
            <a:ext cx="319177" cy="319177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8D43920-4369-388A-9E74-7B6AF0D1EE55}"/>
              </a:ext>
            </a:extLst>
          </p:cNvPr>
          <p:cNvSpPr/>
          <p:nvPr/>
        </p:nvSpPr>
        <p:spPr>
          <a:xfrm>
            <a:off x="2351684" y="4061162"/>
            <a:ext cx="319177" cy="319177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C95A93A-E7BC-C5AF-7462-13DACB311257}"/>
              </a:ext>
            </a:extLst>
          </p:cNvPr>
          <p:cNvSpPr/>
          <p:nvPr/>
        </p:nvSpPr>
        <p:spPr>
          <a:xfrm>
            <a:off x="1335147" y="3698567"/>
            <a:ext cx="319177" cy="319177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69463FB-E674-6629-3672-CD3F6CD4A541}"/>
              </a:ext>
            </a:extLst>
          </p:cNvPr>
          <p:cNvSpPr/>
          <p:nvPr/>
        </p:nvSpPr>
        <p:spPr>
          <a:xfrm>
            <a:off x="1671876" y="3698567"/>
            <a:ext cx="319177" cy="319177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2926178-20B9-CB69-D5F9-3A635322357A}"/>
              </a:ext>
            </a:extLst>
          </p:cNvPr>
          <p:cNvSpPr/>
          <p:nvPr/>
        </p:nvSpPr>
        <p:spPr>
          <a:xfrm>
            <a:off x="2011780" y="3698567"/>
            <a:ext cx="319177" cy="319177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0C263CE-A8A2-A35B-AB10-FC893977635A}"/>
              </a:ext>
            </a:extLst>
          </p:cNvPr>
          <p:cNvSpPr/>
          <p:nvPr/>
        </p:nvSpPr>
        <p:spPr>
          <a:xfrm>
            <a:off x="2351684" y="3698566"/>
            <a:ext cx="319177" cy="319177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D341D891-C4A6-BBD1-C92A-0143C1BC86D2}"/>
              </a:ext>
            </a:extLst>
          </p:cNvPr>
          <p:cNvCxnSpPr>
            <a:cxnSpLocks/>
          </p:cNvCxnSpPr>
          <p:nvPr/>
        </p:nvCxnSpPr>
        <p:spPr>
          <a:xfrm>
            <a:off x="1323196" y="3574146"/>
            <a:ext cx="1347665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6E578679-F5D5-D099-1219-024994E4CEB5}"/>
              </a:ext>
            </a:extLst>
          </p:cNvPr>
          <p:cNvSpPr txBox="1"/>
          <p:nvPr/>
        </p:nvSpPr>
        <p:spPr>
          <a:xfrm>
            <a:off x="1335147" y="3161395"/>
            <a:ext cx="9544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/>
              <a:t>features</a:t>
            </a:r>
            <a:endParaRPr lang="pt-BR" dirty="0"/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1ACF99AE-33B4-94A6-B2D2-B8C963B09196}"/>
              </a:ext>
            </a:extLst>
          </p:cNvPr>
          <p:cNvCxnSpPr>
            <a:cxnSpLocks/>
          </p:cNvCxnSpPr>
          <p:nvPr/>
        </p:nvCxnSpPr>
        <p:spPr>
          <a:xfrm>
            <a:off x="1163204" y="3698566"/>
            <a:ext cx="0" cy="1044369"/>
          </a:xfrm>
          <a:prstGeom prst="straightConnector1">
            <a:avLst/>
          </a:prstGeom>
          <a:ln w="28575">
            <a:solidFill>
              <a:srgbClr val="0070C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DB52A70C-389D-48CD-77A6-C76A35F7600D}"/>
              </a:ext>
            </a:extLst>
          </p:cNvPr>
          <p:cNvSpPr txBox="1"/>
          <p:nvPr/>
        </p:nvSpPr>
        <p:spPr>
          <a:xfrm>
            <a:off x="0" y="3777427"/>
            <a:ext cx="119122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rgbClr val="0070C0"/>
                </a:solidFill>
              </a:rPr>
              <a:t>samples</a:t>
            </a:r>
          </a:p>
          <a:p>
            <a:r>
              <a:rPr lang="pt-BR" dirty="0" err="1">
                <a:solidFill>
                  <a:srgbClr val="0070C0"/>
                </a:solidFill>
              </a:rPr>
              <a:t>mini-batch</a:t>
            </a:r>
            <a:endParaRPr lang="pt-BR" dirty="0">
              <a:solidFill>
                <a:srgbClr val="0070C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614DAD50-672D-7F4F-B671-E0EF74F88BCC}"/>
                  </a:ext>
                </a:extLst>
              </p:cNvPr>
              <p:cNvSpPr/>
              <p:nvPr/>
            </p:nvSpPr>
            <p:spPr>
              <a:xfrm>
                <a:off x="3577780" y="4056097"/>
                <a:ext cx="319177" cy="319177"/>
              </a:xfrm>
              <a:prstGeom prst="rect">
                <a:avLst/>
              </a:prstGeom>
            </p:spPr>
            <p:style>
              <a:lnRef idx="2">
                <a:schemeClr val="accent5">
                  <a:shade val="15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614DAD50-672D-7F4F-B671-E0EF74F88BC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77780" y="4056097"/>
                <a:ext cx="319177" cy="319177"/>
              </a:xfrm>
              <a:prstGeom prst="rect">
                <a:avLst/>
              </a:prstGeom>
              <a:blipFill>
                <a:blip r:embed="rId3"/>
                <a:stretch>
                  <a:fillRect l="-9259" b="-5455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FB67D806-D665-EA8A-9981-6AB16DE7E82D}"/>
                  </a:ext>
                </a:extLst>
              </p:cNvPr>
              <p:cNvSpPr/>
              <p:nvPr/>
            </p:nvSpPr>
            <p:spPr>
              <a:xfrm>
                <a:off x="3914509" y="4056097"/>
                <a:ext cx="319177" cy="319177"/>
              </a:xfrm>
              <a:prstGeom prst="rect">
                <a:avLst/>
              </a:prstGeom>
            </p:spPr>
            <p:style>
              <a:lnRef idx="2">
                <a:schemeClr val="accent5">
                  <a:shade val="15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FB67D806-D665-EA8A-9981-6AB16DE7E82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14509" y="4056097"/>
                <a:ext cx="319177" cy="319177"/>
              </a:xfrm>
              <a:prstGeom prst="rect">
                <a:avLst/>
              </a:prstGeom>
              <a:blipFill>
                <a:blip r:embed="rId4"/>
                <a:stretch>
                  <a:fillRect l="-9091" b="-5455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35568E5A-3F79-2331-A1AD-32935F21918D}"/>
                  </a:ext>
                </a:extLst>
              </p:cNvPr>
              <p:cNvSpPr/>
              <p:nvPr/>
            </p:nvSpPr>
            <p:spPr>
              <a:xfrm>
                <a:off x="4254413" y="4056097"/>
                <a:ext cx="319177" cy="319177"/>
              </a:xfrm>
              <a:prstGeom prst="rect">
                <a:avLst/>
              </a:prstGeom>
            </p:spPr>
            <p:style>
              <a:lnRef idx="2">
                <a:schemeClr val="accent5">
                  <a:shade val="15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35568E5A-3F79-2331-A1AD-32935F21918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54413" y="4056097"/>
                <a:ext cx="319177" cy="319177"/>
              </a:xfrm>
              <a:prstGeom prst="rect">
                <a:avLst/>
              </a:prstGeom>
              <a:blipFill>
                <a:blip r:embed="rId5"/>
                <a:stretch>
                  <a:fillRect l="-11111" b="-5455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DEA5C93A-485F-A60E-719C-35A41744DA0B}"/>
                  </a:ext>
                </a:extLst>
              </p:cNvPr>
              <p:cNvSpPr/>
              <p:nvPr/>
            </p:nvSpPr>
            <p:spPr>
              <a:xfrm>
                <a:off x="4594317" y="4056096"/>
                <a:ext cx="319177" cy="319177"/>
              </a:xfrm>
              <a:prstGeom prst="rect">
                <a:avLst/>
              </a:prstGeom>
            </p:spPr>
            <p:style>
              <a:lnRef idx="2">
                <a:schemeClr val="accent5">
                  <a:shade val="15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DEA5C93A-485F-A60E-719C-35A41744DA0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94317" y="4056096"/>
                <a:ext cx="319177" cy="319177"/>
              </a:xfrm>
              <a:prstGeom prst="rect">
                <a:avLst/>
              </a:prstGeom>
              <a:blipFill>
                <a:blip r:embed="rId6"/>
                <a:stretch>
                  <a:fillRect l="-11111" b="-5455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Rectangle 37">
                <a:extLst>
                  <a:ext uri="{FF2B5EF4-FFF2-40B4-BE49-F238E27FC236}">
                    <a16:creationId xmlns:a16="http://schemas.microsoft.com/office/drawing/2014/main" id="{1727C0A4-31A4-4F8C-0753-9667F1BC43FA}"/>
                  </a:ext>
                </a:extLst>
              </p:cNvPr>
              <p:cNvSpPr/>
              <p:nvPr/>
            </p:nvSpPr>
            <p:spPr>
              <a:xfrm>
                <a:off x="3577780" y="3655148"/>
                <a:ext cx="319177" cy="319177"/>
              </a:xfrm>
              <a:prstGeom prst="rect">
                <a:avLst/>
              </a:prstGeom>
            </p:spPr>
            <p:style>
              <a:lnRef idx="2">
                <a:schemeClr val="accent5">
                  <a:shade val="15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38" name="Rectangle 37">
                <a:extLst>
                  <a:ext uri="{FF2B5EF4-FFF2-40B4-BE49-F238E27FC236}">
                    <a16:creationId xmlns:a16="http://schemas.microsoft.com/office/drawing/2014/main" id="{1727C0A4-31A4-4F8C-0753-9667F1BC43F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77780" y="3655148"/>
                <a:ext cx="319177" cy="319177"/>
              </a:xfrm>
              <a:prstGeom prst="rect">
                <a:avLst/>
              </a:prstGeom>
              <a:blipFill>
                <a:blip r:embed="rId7"/>
                <a:stretch>
                  <a:fillRect l="-16667" b="-1111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Rectangle 38">
                <a:extLst>
                  <a:ext uri="{FF2B5EF4-FFF2-40B4-BE49-F238E27FC236}">
                    <a16:creationId xmlns:a16="http://schemas.microsoft.com/office/drawing/2014/main" id="{6E04EA64-A3BF-29A1-D065-B493D5FB4821}"/>
                  </a:ext>
                </a:extLst>
              </p:cNvPr>
              <p:cNvSpPr/>
              <p:nvPr/>
            </p:nvSpPr>
            <p:spPr>
              <a:xfrm>
                <a:off x="3914509" y="3655148"/>
                <a:ext cx="319177" cy="319177"/>
              </a:xfrm>
              <a:prstGeom prst="rect">
                <a:avLst/>
              </a:prstGeom>
            </p:spPr>
            <p:style>
              <a:lnRef idx="2">
                <a:schemeClr val="accent5">
                  <a:shade val="15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39" name="Rectangle 38">
                <a:extLst>
                  <a:ext uri="{FF2B5EF4-FFF2-40B4-BE49-F238E27FC236}">
                    <a16:creationId xmlns:a16="http://schemas.microsoft.com/office/drawing/2014/main" id="{6E04EA64-A3BF-29A1-D065-B493D5FB482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14509" y="3655148"/>
                <a:ext cx="319177" cy="319177"/>
              </a:xfrm>
              <a:prstGeom prst="rect">
                <a:avLst/>
              </a:prstGeom>
              <a:blipFill>
                <a:blip r:embed="rId8"/>
                <a:stretch>
                  <a:fillRect l="-16364" b="-1111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8E8889CC-9894-6F0B-433C-B4EAA0B05DB4}"/>
                  </a:ext>
                </a:extLst>
              </p:cNvPr>
              <p:cNvSpPr/>
              <p:nvPr/>
            </p:nvSpPr>
            <p:spPr>
              <a:xfrm>
                <a:off x="4254413" y="3655148"/>
                <a:ext cx="319177" cy="319177"/>
              </a:xfrm>
              <a:prstGeom prst="rect">
                <a:avLst/>
              </a:prstGeom>
            </p:spPr>
            <p:style>
              <a:lnRef idx="2">
                <a:schemeClr val="accent5">
                  <a:shade val="15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8E8889CC-9894-6F0B-433C-B4EAA0B05DB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54413" y="3655148"/>
                <a:ext cx="319177" cy="319177"/>
              </a:xfrm>
              <a:prstGeom prst="rect">
                <a:avLst/>
              </a:prstGeom>
              <a:blipFill>
                <a:blip r:embed="rId9"/>
                <a:stretch>
                  <a:fillRect l="-18519" b="-1111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Rectangle 40">
                <a:extLst>
                  <a:ext uri="{FF2B5EF4-FFF2-40B4-BE49-F238E27FC236}">
                    <a16:creationId xmlns:a16="http://schemas.microsoft.com/office/drawing/2014/main" id="{CC73C869-4D94-A403-8EE8-FA1F50EE4364}"/>
                  </a:ext>
                </a:extLst>
              </p:cNvPr>
              <p:cNvSpPr/>
              <p:nvPr/>
            </p:nvSpPr>
            <p:spPr>
              <a:xfrm>
                <a:off x="4594317" y="3655147"/>
                <a:ext cx="319177" cy="319177"/>
              </a:xfrm>
              <a:prstGeom prst="rect">
                <a:avLst/>
              </a:prstGeom>
            </p:spPr>
            <p:style>
              <a:lnRef idx="2">
                <a:schemeClr val="accent5">
                  <a:shade val="15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41" name="Rectangle 40">
                <a:extLst>
                  <a:ext uri="{FF2B5EF4-FFF2-40B4-BE49-F238E27FC236}">
                    <a16:creationId xmlns:a16="http://schemas.microsoft.com/office/drawing/2014/main" id="{CC73C869-4D94-A403-8EE8-FA1F50EE436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94317" y="3655147"/>
                <a:ext cx="319177" cy="319177"/>
              </a:xfrm>
              <a:prstGeom prst="rect">
                <a:avLst/>
              </a:prstGeom>
              <a:blipFill>
                <a:blip r:embed="rId10"/>
                <a:stretch>
                  <a:fillRect l="-18519" b="-1111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2" name="Rectangle 41">
            <a:extLst>
              <a:ext uri="{FF2B5EF4-FFF2-40B4-BE49-F238E27FC236}">
                <a16:creationId xmlns:a16="http://schemas.microsoft.com/office/drawing/2014/main" id="{6A0C4496-4D4A-3C41-880A-5E7010B9BD3F}"/>
              </a:ext>
            </a:extLst>
          </p:cNvPr>
          <p:cNvSpPr/>
          <p:nvPr/>
        </p:nvSpPr>
        <p:spPr>
          <a:xfrm>
            <a:off x="5912028" y="4423758"/>
            <a:ext cx="319177" cy="319177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CAF37550-4D00-8329-E906-DEDDB3CFA746}"/>
              </a:ext>
            </a:extLst>
          </p:cNvPr>
          <p:cNvSpPr/>
          <p:nvPr/>
        </p:nvSpPr>
        <p:spPr>
          <a:xfrm>
            <a:off x="6248757" y="4423758"/>
            <a:ext cx="319177" cy="319177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5D26D497-8734-E334-7631-33D040BB9829}"/>
              </a:ext>
            </a:extLst>
          </p:cNvPr>
          <p:cNvSpPr/>
          <p:nvPr/>
        </p:nvSpPr>
        <p:spPr>
          <a:xfrm>
            <a:off x="6588661" y="4423758"/>
            <a:ext cx="319177" cy="319177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7DE4AE57-2C8B-6A30-CCF3-2C8515B94EB4}"/>
              </a:ext>
            </a:extLst>
          </p:cNvPr>
          <p:cNvSpPr/>
          <p:nvPr/>
        </p:nvSpPr>
        <p:spPr>
          <a:xfrm>
            <a:off x="6928565" y="4423757"/>
            <a:ext cx="319177" cy="319177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8BBCC91F-FDA5-3A8A-5215-358988A3143B}"/>
              </a:ext>
            </a:extLst>
          </p:cNvPr>
          <p:cNvSpPr/>
          <p:nvPr/>
        </p:nvSpPr>
        <p:spPr>
          <a:xfrm>
            <a:off x="5912028" y="4061162"/>
            <a:ext cx="319177" cy="319177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0EB22968-84F7-FC8F-8BFC-14236F5E2BA2}"/>
              </a:ext>
            </a:extLst>
          </p:cNvPr>
          <p:cNvSpPr/>
          <p:nvPr/>
        </p:nvSpPr>
        <p:spPr>
          <a:xfrm>
            <a:off x="6248757" y="4061162"/>
            <a:ext cx="319177" cy="319177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6D91FB11-FE02-1FB7-5D0E-200C44D8BC10}"/>
              </a:ext>
            </a:extLst>
          </p:cNvPr>
          <p:cNvSpPr/>
          <p:nvPr/>
        </p:nvSpPr>
        <p:spPr>
          <a:xfrm>
            <a:off x="6588661" y="4061162"/>
            <a:ext cx="319177" cy="319177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B438367C-7271-AE6C-8965-BF9FC5433605}"/>
              </a:ext>
            </a:extLst>
          </p:cNvPr>
          <p:cNvSpPr/>
          <p:nvPr/>
        </p:nvSpPr>
        <p:spPr>
          <a:xfrm>
            <a:off x="6928565" y="4061161"/>
            <a:ext cx="319177" cy="319177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AA7FCF3C-958C-340A-BED5-F59B13B8CD7E}"/>
              </a:ext>
            </a:extLst>
          </p:cNvPr>
          <p:cNvSpPr/>
          <p:nvPr/>
        </p:nvSpPr>
        <p:spPr>
          <a:xfrm>
            <a:off x="5912028" y="3698566"/>
            <a:ext cx="319177" cy="319177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D3338B19-1552-E0E1-D778-87795F526C73}"/>
              </a:ext>
            </a:extLst>
          </p:cNvPr>
          <p:cNvSpPr/>
          <p:nvPr/>
        </p:nvSpPr>
        <p:spPr>
          <a:xfrm>
            <a:off x="6248757" y="3698566"/>
            <a:ext cx="319177" cy="319177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C423CA8C-0505-ABC4-8A28-FC3672BF7BD0}"/>
              </a:ext>
            </a:extLst>
          </p:cNvPr>
          <p:cNvSpPr/>
          <p:nvPr/>
        </p:nvSpPr>
        <p:spPr>
          <a:xfrm>
            <a:off x="6588661" y="3698566"/>
            <a:ext cx="319177" cy="319177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D7F39CA0-E88E-ED6B-2F28-D74AC8B74926}"/>
              </a:ext>
            </a:extLst>
          </p:cNvPr>
          <p:cNvSpPr/>
          <p:nvPr/>
        </p:nvSpPr>
        <p:spPr>
          <a:xfrm>
            <a:off x="6928565" y="3698565"/>
            <a:ext cx="319177" cy="319177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4" name="Rectangle 53">
                <a:extLst>
                  <a:ext uri="{FF2B5EF4-FFF2-40B4-BE49-F238E27FC236}">
                    <a16:creationId xmlns:a16="http://schemas.microsoft.com/office/drawing/2014/main" id="{CC933B5B-9DC6-3265-B2AB-43C8DC59B11E}"/>
                  </a:ext>
                </a:extLst>
              </p:cNvPr>
              <p:cNvSpPr/>
              <p:nvPr/>
            </p:nvSpPr>
            <p:spPr>
              <a:xfrm>
                <a:off x="8129166" y="4056097"/>
                <a:ext cx="319177" cy="319177"/>
              </a:xfrm>
              <a:prstGeom prst="rect">
                <a:avLst/>
              </a:prstGeom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54" name="Rectangle 53">
                <a:extLst>
                  <a:ext uri="{FF2B5EF4-FFF2-40B4-BE49-F238E27FC236}">
                    <a16:creationId xmlns:a16="http://schemas.microsoft.com/office/drawing/2014/main" id="{CC933B5B-9DC6-3265-B2AB-43C8DC59B11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29166" y="4056097"/>
                <a:ext cx="319177" cy="319177"/>
              </a:xfrm>
              <a:prstGeom prst="rect">
                <a:avLst/>
              </a:prstGeom>
              <a:blipFill>
                <a:blip r:embed="rId11"/>
                <a:stretch>
                  <a:fillRect l="-25926" b="-2000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Rectangle 54">
                <a:extLst>
                  <a:ext uri="{FF2B5EF4-FFF2-40B4-BE49-F238E27FC236}">
                    <a16:creationId xmlns:a16="http://schemas.microsoft.com/office/drawing/2014/main" id="{EE0863D9-2BF9-B6DA-44EF-011C63D07292}"/>
                  </a:ext>
                </a:extLst>
              </p:cNvPr>
              <p:cNvSpPr/>
              <p:nvPr/>
            </p:nvSpPr>
            <p:spPr>
              <a:xfrm>
                <a:off x="8465895" y="4056097"/>
                <a:ext cx="319177" cy="319177"/>
              </a:xfrm>
              <a:prstGeom prst="rect">
                <a:avLst/>
              </a:prstGeom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55" name="Rectangle 54">
                <a:extLst>
                  <a:ext uri="{FF2B5EF4-FFF2-40B4-BE49-F238E27FC236}">
                    <a16:creationId xmlns:a16="http://schemas.microsoft.com/office/drawing/2014/main" id="{EE0863D9-2BF9-B6DA-44EF-011C63D0729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65895" y="4056097"/>
                <a:ext cx="319177" cy="319177"/>
              </a:xfrm>
              <a:prstGeom prst="rect">
                <a:avLst/>
              </a:prstGeom>
              <a:blipFill>
                <a:blip r:embed="rId12"/>
                <a:stretch>
                  <a:fillRect l="-25926" b="-2000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Rectangle 55">
                <a:extLst>
                  <a:ext uri="{FF2B5EF4-FFF2-40B4-BE49-F238E27FC236}">
                    <a16:creationId xmlns:a16="http://schemas.microsoft.com/office/drawing/2014/main" id="{8408E87B-C7A4-8D69-DAD1-B1A56C00E439}"/>
                  </a:ext>
                </a:extLst>
              </p:cNvPr>
              <p:cNvSpPr/>
              <p:nvPr/>
            </p:nvSpPr>
            <p:spPr>
              <a:xfrm>
                <a:off x="8805799" y="4056097"/>
                <a:ext cx="319177" cy="319177"/>
              </a:xfrm>
              <a:prstGeom prst="rect">
                <a:avLst/>
              </a:prstGeom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56" name="Rectangle 55">
                <a:extLst>
                  <a:ext uri="{FF2B5EF4-FFF2-40B4-BE49-F238E27FC236}">
                    <a16:creationId xmlns:a16="http://schemas.microsoft.com/office/drawing/2014/main" id="{8408E87B-C7A4-8D69-DAD1-B1A56C00E43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05799" y="4056097"/>
                <a:ext cx="319177" cy="319177"/>
              </a:xfrm>
              <a:prstGeom prst="rect">
                <a:avLst/>
              </a:prstGeom>
              <a:blipFill>
                <a:blip r:embed="rId13"/>
                <a:stretch>
                  <a:fillRect l="-25926" b="-2000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Rectangle 56">
                <a:extLst>
                  <a:ext uri="{FF2B5EF4-FFF2-40B4-BE49-F238E27FC236}">
                    <a16:creationId xmlns:a16="http://schemas.microsoft.com/office/drawing/2014/main" id="{131EBB07-1682-B804-AA07-21F7AEA07557}"/>
                  </a:ext>
                </a:extLst>
              </p:cNvPr>
              <p:cNvSpPr/>
              <p:nvPr/>
            </p:nvSpPr>
            <p:spPr>
              <a:xfrm>
                <a:off x="9145703" y="4056096"/>
                <a:ext cx="319177" cy="319177"/>
              </a:xfrm>
              <a:prstGeom prst="rect">
                <a:avLst/>
              </a:prstGeom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57" name="Rectangle 56">
                <a:extLst>
                  <a:ext uri="{FF2B5EF4-FFF2-40B4-BE49-F238E27FC236}">
                    <a16:creationId xmlns:a16="http://schemas.microsoft.com/office/drawing/2014/main" id="{131EBB07-1682-B804-AA07-21F7AEA0755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5703" y="4056096"/>
                <a:ext cx="319177" cy="319177"/>
              </a:xfrm>
              <a:prstGeom prst="rect">
                <a:avLst/>
              </a:prstGeom>
              <a:blipFill>
                <a:blip r:embed="rId14"/>
                <a:stretch>
                  <a:fillRect l="-23636" b="-2000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Rectangle 57">
                <a:extLst>
                  <a:ext uri="{FF2B5EF4-FFF2-40B4-BE49-F238E27FC236}">
                    <a16:creationId xmlns:a16="http://schemas.microsoft.com/office/drawing/2014/main" id="{3B9A7BF8-DB55-47C0-A632-CA270BA2F6AC}"/>
                  </a:ext>
                </a:extLst>
              </p:cNvPr>
              <p:cNvSpPr/>
              <p:nvPr/>
            </p:nvSpPr>
            <p:spPr>
              <a:xfrm>
                <a:off x="8125518" y="3655148"/>
                <a:ext cx="319177" cy="319177"/>
              </a:xfrm>
              <a:prstGeom prst="rect">
                <a:avLst/>
              </a:prstGeom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𝛾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58" name="Rectangle 57">
                <a:extLst>
                  <a:ext uri="{FF2B5EF4-FFF2-40B4-BE49-F238E27FC236}">
                    <a16:creationId xmlns:a16="http://schemas.microsoft.com/office/drawing/2014/main" id="{3B9A7BF8-DB55-47C0-A632-CA270BA2F6A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25518" y="3655148"/>
                <a:ext cx="319177" cy="319177"/>
              </a:xfrm>
              <a:prstGeom prst="rect">
                <a:avLst/>
              </a:prstGeom>
              <a:blipFill>
                <a:blip r:embed="rId15"/>
                <a:stretch>
                  <a:fillRect l="-14815" b="-1111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Rectangle 58">
                <a:extLst>
                  <a:ext uri="{FF2B5EF4-FFF2-40B4-BE49-F238E27FC236}">
                    <a16:creationId xmlns:a16="http://schemas.microsoft.com/office/drawing/2014/main" id="{C1AB75CC-353D-EF66-AD63-1A8574C45A8B}"/>
                  </a:ext>
                </a:extLst>
              </p:cNvPr>
              <p:cNvSpPr/>
              <p:nvPr/>
            </p:nvSpPr>
            <p:spPr>
              <a:xfrm>
                <a:off x="8462247" y="3655148"/>
                <a:ext cx="319177" cy="319177"/>
              </a:xfrm>
              <a:prstGeom prst="rect">
                <a:avLst/>
              </a:prstGeom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𝛾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59" name="Rectangle 58">
                <a:extLst>
                  <a:ext uri="{FF2B5EF4-FFF2-40B4-BE49-F238E27FC236}">
                    <a16:creationId xmlns:a16="http://schemas.microsoft.com/office/drawing/2014/main" id="{C1AB75CC-353D-EF66-AD63-1A8574C45A8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62247" y="3655148"/>
                <a:ext cx="319177" cy="319177"/>
              </a:xfrm>
              <a:prstGeom prst="rect">
                <a:avLst/>
              </a:prstGeom>
              <a:blipFill>
                <a:blip r:embed="rId16"/>
                <a:stretch>
                  <a:fillRect l="-14545" b="-1111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" name="Rectangle 59">
                <a:extLst>
                  <a:ext uri="{FF2B5EF4-FFF2-40B4-BE49-F238E27FC236}">
                    <a16:creationId xmlns:a16="http://schemas.microsoft.com/office/drawing/2014/main" id="{C8820546-C3AC-9CC2-4E4A-91919E47E20A}"/>
                  </a:ext>
                </a:extLst>
              </p:cNvPr>
              <p:cNvSpPr/>
              <p:nvPr/>
            </p:nvSpPr>
            <p:spPr>
              <a:xfrm>
                <a:off x="8802151" y="3655148"/>
                <a:ext cx="319177" cy="319177"/>
              </a:xfrm>
              <a:prstGeom prst="rect">
                <a:avLst/>
              </a:prstGeom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𝛾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60" name="Rectangle 59">
                <a:extLst>
                  <a:ext uri="{FF2B5EF4-FFF2-40B4-BE49-F238E27FC236}">
                    <a16:creationId xmlns:a16="http://schemas.microsoft.com/office/drawing/2014/main" id="{C8820546-C3AC-9CC2-4E4A-91919E47E20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02151" y="3655148"/>
                <a:ext cx="319177" cy="319177"/>
              </a:xfrm>
              <a:prstGeom prst="rect">
                <a:avLst/>
              </a:prstGeom>
              <a:blipFill>
                <a:blip r:embed="rId17"/>
                <a:stretch>
                  <a:fillRect l="-16667" b="-1111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Rectangle 60">
                <a:extLst>
                  <a:ext uri="{FF2B5EF4-FFF2-40B4-BE49-F238E27FC236}">
                    <a16:creationId xmlns:a16="http://schemas.microsoft.com/office/drawing/2014/main" id="{9846CC8F-B11B-379E-FF02-22B61579C3D0}"/>
                  </a:ext>
                </a:extLst>
              </p:cNvPr>
              <p:cNvSpPr/>
              <p:nvPr/>
            </p:nvSpPr>
            <p:spPr>
              <a:xfrm>
                <a:off x="9142055" y="3655147"/>
                <a:ext cx="319177" cy="319177"/>
              </a:xfrm>
              <a:prstGeom prst="rect">
                <a:avLst/>
              </a:prstGeom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𝛾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61" name="Rectangle 60">
                <a:extLst>
                  <a:ext uri="{FF2B5EF4-FFF2-40B4-BE49-F238E27FC236}">
                    <a16:creationId xmlns:a16="http://schemas.microsoft.com/office/drawing/2014/main" id="{9846CC8F-B11B-379E-FF02-22B61579C3D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2055" y="3655147"/>
                <a:ext cx="319177" cy="319177"/>
              </a:xfrm>
              <a:prstGeom prst="rect">
                <a:avLst/>
              </a:prstGeom>
              <a:blipFill>
                <a:blip r:embed="rId18"/>
                <a:stretch>
                  <a:fillRect l="-14815" b="-1111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2" name="Rectangle 61">
            <a:extLst>
              <a:ext uri="{FF2B5EF4-FFF2-40B4-BE49-F238E27FC236}">
                <a16:creationId xmlns:a16="http://schemas.microsoft.com/office/drawing/2014/main" id="{02101889-9C2E-7C35-2C76-646F146A92B6}"/>
              </a:ext>
            </a:extLst>
          </p:cNvPr>
          <p:cNvSpPr/>
          <p:nvPr/>
        </p:nvSpPr>
        <p:spPr>
          <a:xfrm>
            <a:off x="10518415" y="4423759"/>
            <a:ext cx="319177" cy="319177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021E400B-3264-F778-F78A-A840F3A55F9B}"/>
              </a:ext>
            </a:extLst>
          </p:cNvPr>
          <p:cNvSpPr/>
          <p:nvPr/>
        </p:nvSpPr>
        <p:spPr>
          <a:xfrm>
            <a:off x="10855144" y="4423759"/>
            <a:ext cx="319177" cy="319177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24" name="Rectangle 1023">
            <a:extLst>
              <a:ext uri="{FF2B5EF4-FFF2-40B4-BE49-F238E27FC236}">
                <a16:creationId xmlns:a16="http://schemas.microsoft.com/office/drawing/2014/main" id="{3911DC4D-ED99-DC29-9534-1551945E5645}"/>
              </a:ext>
            </a:extLst>
          </p:cNvPr>
          <p:cNvSpPr/>
          <p:nvPr/>
        </p:nvSpPr>
        <p:spPr>
          <a:xfrm>
            <a:off x="11195048" y="4423759"/>
            <a:ext cx="319177" cy="319177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25" name="Rectangle 1024">
            <a:extLst>
              <a:ext uri="{FF2B5EF4-FFF2-40B4-BE49-F238E27FC236}">
                <a16:creationId xmlns:a16="http://schemas.microsoft.com/office/drawing/2014/main" id="{D540BF0C-2325-FB2E-0C1E-D2D227C2E81B}"/>
              </a:ext>
            </a:extLst>
          </p:cNvPr>
          <p:cNvSpPr/>
          <p:nvPr/>
        </p:nvSpPr>
        <p:spPr>
          <a:xfrm>
            <a:off x="11534952" y="4423758"/>
            <a:ext cx="319177" cy="319177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27" name="Rectangle 1026">
            <a:extLst>
              <a:ext uri="{FF2B5EF4-FFF2-40B4-BE49-F238E27FC236}">
                <a16:creationId xmlns:a16="http://schemas.microsoft.com/office/drawing/2014/main" id="{D002E31E-AE28-8D01-52F9-7834E46AD1BF}"/>
              </a:ext>
            </a:extLst>
          </p:cNvPr>
          <p:cNvSpPr/>
          <p:nvPr/>
        </p:nvSpPr>
        <p:spPr>
          <a:xfrm>
            <a:off x="10518415" y="4061163"/>
            <a:ext cx="319177" cy="319177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28" name="Rectangle 1027">
            <a:extLst>
              <a:ext uri="{FF2B5EF4-FFF2-40B4-BE49-F238E27FC236}">
                <a16:creationId xmlns:a16="http://schemas.microsoft.com/office/drawing/2014/main" id="{A606A69F-FD22-88D8-724D-A787955A6E8E}"/>
              </a:ext>
            </a:extLst>
          </p:cNvPr>
          <p:cNvSpPr/>
          <p:nvPr/>
        </p:nvSpPr>
        <p:spPr>
          <a:xfrm>
            <a:off x="10855144" y="4061163"/>
            <a:ext cx="319177" cy="319177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29" name="Rectangle 1028">
            <a:extLst>
              <a:ext uri="{FF2B5EF4-FFF2-40B4-BE49-F238E27FC236}">
                <a16:creationId xmlns:a16="http://schemas.microsoft.com/office/drawing/2014/main" id="{21B4ECBD-A4E6-BD3B-C572-E48A98D5D93C}"/>
              </a:ext>
            </a:extLst>
          </p:cNvPr>
          <p:cNvSpPr/>
          <p:nvPr/>
        </p:nvSpPr>
        <p:spPr>
          <a:xfrm>
            <a:off x="11195048" y="4061163"/>
            <a:ext cx="319177" cy="319177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30" name="Rectangle 1029">
            <a:extLst>
              <a:ext uri="{FF2B5EF4-FFF2-40B4-BE49-F238E27FC236}">
                <a16:creationId xmlns:a16="http://schemas.microsoft.com/office/drawing/2014/main" id="{FC786455-3FE6-A59A-9D85-5F18FF9DA0AF}"/>
              </a:ext>
            </a:extLst>
          </p:cNvPr>
          <p:cNvSpPr/>
          <p:nvPr/>
        </p:nvSpPr>
        <p:spPr>
          <a:xfrm>
            <a:off x="11534952" y="4061162"/>
            <a:ext cx="319177" cy="319177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31" name="Rectangle 1030">
            <a:extLst>
              <a:ext uri="{FF2B5EF4-FFF2-40B4-BE49-F238E27FC236}">
                <a16:creationId xmlns:a16="http://schemas.microsoft.com/office/drawing/2014/main" id="{0514B687-7B75-1511-AB40-A55D3AF08EAC}"/>
              </a:ext>
            </a:extLst>
          </p:cNvPr>
          <p:cNvSpPr/>
          <p:nvPr/>
        </p:nvSpPr>
        <p:spPr>
          <a:xfrm>
            <a:off x="10518415" y="3698567"/>
            <a:ext cx="319177" cy="319177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32" name="Rectangle 1031">
            <a:extLst>
              <a:ext uri="{FF2B5EF4-FFF2-40B4-BE49-F238E27FC236}">
                <a16:creationId xmlns:a16="http://schemas.microsoft.com/office/drawing/2014/main" id="{CB2A25C3-BC51-B118-B331-3A0064FC5494}"/>
              </a:ext>
            </a:extLst>
          </p:cNvPr>
          <p:cNvSpPr/>
          <p:nvPr/>
        </p:nvSpPr>
        <p:spPr>
          <a:xfrm>
            <a:off x="10855144" y="3698567"/>
            <a:ext cx="319177" cy="319177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33" name="Rectangle 1032">
            <a:extLst>
              <a:ext uri="{FF2B5EF4-FFF2-40B4-BE49-F238E27FC236}">
                <a16:creationId xmlns:a16="http://schemas.microsoft.com/office/drawing/2014/main" id="{42882319-FC35-B3C5-51BA-5382D636AB65}"/>
              </a:ext>
            </a:extLst>
          </p:cNvPr>
          <p:cNvSpPr/>
          <p:nvPr/>
        </p:nvSpPr>
        <p:spPr>
          <a:xfrm>
            <a:off x="11195048" y="3698567"/>
            <a:ext cx="319177" cy="319177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34" name="Rectangle 1033">
            <a:extLst>
              <a:ext uri="{FF2B5EF4-FFF2-40B4-BE49-F238E27FC236}">
                <a16:creationId xmlns:a16="http://schemas.microsoft.com/office/drawing/2014/main" id="{B862C082-2004-5400-0033-60066A85A8EB}"/>
              </a:ext>
            </a:extLst>
          </p:cNvPr>
          <p:cNvSpPr/>
          <p:nvPr/>
        </p:nvSpPr>
        <p:spPr>
          <a:xfrm>
            <a:off x="11534952" y="3698566"/>
            <a:ext cx="319177" cy="319177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035" name="Straight Arrow Connector 1034">
            <a:extLst>
              <a:ext uri="{FF2B5EF4-FFF2-40B4-BE49-F238E27FC236}">
                <a16:creationId xmlns:a16="http://schemas.microsoft.com/office/drawing/2014/main" id="{6143EF1A-E438-EA24-5158-FEC150A9610E}"/>
              </a:ext>
            </a:extLst>
          </p:cNvPr>
          <p:cNvCxnSpPr>
            <a:cxnSpLocks/>
          </p:cNvCxnSpPr>
          <p:nvPr/>
        </p:nvCxnSpPr>
        <p:spPr>
          <a:xfrm>
            <a:off x="10506464" y="3574146"/>
            <a:ext cx="1347665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6" name="TextBox 1035">
            <a:extLst>
              <a:ext uri="{FF2B5EF4-FFF2-40B4-BE49-F238E27FC236}">
                <a16:creationId xmlns:a16="http://schemas.microsoft.com/office/drawing/2014/main" id="{4C661ACC-67B4-258C-015A-3832A5B76434}"/>
              </a:ext>
            </a:extLst>
          </p:cNvPr>
          <p:cNvSpPr txBox="1"/>
          <p:nvPr/>
        </p:nvSpPr>
        <p:spPr>
          <a:xfrm>
            <a:off x="10518415" y="3161395"/>
            <a:ext cx="9544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/>
              <a:t>features</a:t>
            </a:r>
            <a:endParaRPr lang="pt-BR" dirty="0"/>
          </a:p>
        </p:txBody>
      </p:sp>
      <p:cxnSp>
        <p:nvCxnSpPr>
          <p:cNvPr id="1037" name="Straight Arrow Connector 1036">
            <a:extLst>
              <a:ext uri="{FF2B5EF4-FFF2-40B4-BE49-F238E27FC236}">
                <a16:creationId xmlns:a16="http://schemas.microsoft.com/office/drawing/2014/main" id="{188908CB-0EE3-4E5A-E132-61303364FB7C}"/>
              </a:ext>
            </a:extLst>
          </p:cNvPr>
          <p:cNvCxnSpPr>
            <a:cxnSpLocks/>
          </p:cNvCxnSpPr>
          <p:nvPr/>
        </p:nvCxnSpPr>
        <p:spPr>
          <a:xfrm>
            <a:off x="12002744" y="3733019"/>
            <a:ext cx="0" cy="1044369"/>
          </a:xfrm>
          <a:prstGeom prst="straightConnector1">
            <a:avLst/>
          </a:prstGeom>
          <a:ln w="28575">
            <a:solidFill>
              <a:srgbClr val="0070C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0" name="Rectangle 1039">
            <a:extLst>
              <a:ext uri="{FF2B5EF4-FFF2-40B4-BE49-F238E27FC236}">
                <a16:creationId xmlns:a16="http://schemas.microsoft.com/office/drawing/2014/main" id="{86E43187-4259-FCA9-AA89-CC3E66BC1DFE}"/>
              </a:ext>
            </a:extLst>
          </p:cNvPr>
          <p:cNvSpPr/>
          <p:nvPr/>
        </p:nvSpPr>
        <p:spPr>
          <a:xfrm>
            <a:off x="3467897" y="3229584"/>
            <a:ext cx="1573789" cy="1340246"/>
          </a:xfrm>
          <a:prstGeom prst="rect">
            <a:avLst/>
          </a:prstGeom>
          <a:noFill/>
          <a:ln w="1905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41" name="Rectangle 1040">
            <a:extLst>
              <a:ext uri="{FF2B5EF4-FFF2-40B4-BE49-F238E27FC236}">
                <a16:creationId xmlns:a16="http://schemas.microsoft.com/office/drawing/2014/main" id="{F543F008-6F11-B14F-DFA6-D9A2AAC0AB71}"/>
              </a:ext>
            </a:extLst>
          </p:cNvPr>
          <p:cNvSpPr/>
          <p:nvPr/>
        </p:nvSpPr>
        <p:spPr>
          <a:xfrm>
            <a:off x="7990749" y="3217649"/>
            <a:ext cx="1573789" cy="1352182"/>
          </a:xfrm>
          <a:prstGeom prst="rect">
            <a:avLst/>
          </a:prstGeom>
          <a:noFill/>
          <a:ln w="1905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42" name="TextBox 1041">
            <a:extLst>
              <a:ext uri="{FF2B5EF4-FFF2-40B4-BE49-F238E27FC236}">
                <a16:creationId xmlns:a16="http://schemas.microsoft.com/office/drawing/2014/main" id="{02A1225E-C4CB-3460-EAEF-B431C6B64197}"/>
              </a:ext>
            </a:extLst>
          </p:cNvPr>
          <p:cNvSpPr txBox="1"/>
          <p:nvPr/>
        </p:nvSpPr>
        <p:spPr>
          <a:xfrm>
            <a:off x="3624775" y="3257699"/>
            <a:ext cx="12592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i="1" dirty="0" err="1"/>
              <a:t>mean</a:t>
            </a:r>
            <a:r>
              <a:rPr lang="pt-BR" dirty="0"/>
              <a:t> e </a:t>
            </a:r>
            <a:r>
              <a:rPr lang="pt-BR" i="1" dirty="0" err="1"/>
              <a:t>std</a:t>
            </a:r>
            <a:endParaRPr lang="pt-BR" i="1" dirty="0"/>
          </a:p>
        </p:txBody>
      </p:sp>
      <p:sp>
        <p:nvSpPr>
          <p:cNvPr id="1044" name="TextBox 1043">
            <a:extLst>
              <a:ext uri="{FF2B5EF4-FFF2-40B4-BE49-F238E27FC236}">
                <a16:creationId xmlns:a16="http://schemas.microsoft.com/office/drawing/2014/main" id="{678F97EA-AC4C-2098-0682-311BF2D591D5}"/>
              </a:ext>
            </a:extLst>
          </p:cNvPr>
          <p:cNvSpPr txBox="1"/>
          <p:nvPr/>
        </p:nvSpPr>
        <p:spPr>
          <a:xfrm>
            <a:off x="8144844" y="3229743"/>
            <a:ext cx="14196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i="1" dirty="0" err="1"/>
              <a:t>scale</a:t>
            </a:r>
            <a:r>
              <a:rPr lang="pt-BR" i="1" dirty="0"/>
              <a:t> </a:t>
            </a:r>
            <a:r>
              <a:rPr lang="pt-BR" dirty="0"/>
              <a:t>e</a:t>
            </a:r>
            <a:r>
              <a:rPr lang="pt-BR" i="1" dirty="0"/>
              <a:t> shift</a:t>
            </a:r>
          </a:p>
        </p:txBody>
      </p:sp>
      <p:sp>
        <p:nvSpPr>
          <p:cNvPr id="1045" name="TextBox 1044">
            <a:extLst>
              <a:ext uri="{FF2B5EF4-FFF2-40B4-BE49-F238E27FC236}">
                <a16:creationId xmlns:a16="http://schemas.microsoft.com/office/drawing/2014/main" id="{CD1A54F1-C48E-AD37-28DD-9F50E2C12F40}"/>
              </a:ext>
            </a:extLst>
          </p:cNvPr>
          <p:cNvSpPr txBox="1"/>
          <p:nvPr/>
        </p:nvSpPr>
        <p:spPr>
          <a:xfrm>
            <a:off x="5529929" y="2820929"/>
            <a:ext cx="196049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i="1" dirty="0"/>
              <a:t>batch </a:t>
            </a:r>
            <a:r>
              <a:rPr lang="pt-BR" sz="2800" i="1" dirty="0" err="1"/>
              <a:t>norm</a:t>
            </a:r>
            <a:endParaRPr lang="pt-BR" sz="2800" i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46" name="Rectangle 1045">
                <a:extLst>
                  <a:ext uri="{FF2B5EF4-FFF2-40B4-BE49-F238E27FC236}">
                    <a16:creationId xmlns:a16="http://schemas.microsoft.com/office/drawing/2014/main" id="{D41B99D9-8747-0A9B-82B4-72458674E90E}"/>
                  </a:ext>
                </a:extLst>
              </p:cNvPr>
              <p:cNvSpPr/>
              <p:nvPr/>
            </p:nvSpPr>
            <p:spPr>
              <a:xfrm>
                <a:off x="3567618" y="5779610"/>
                <a:ext cx="424826" cy="319177"/>
              </a:xfrm>
              <a:prstGeom prst="rect">
                <a:avLst/>
              </a:prstGeom>
              <a:solidFill>
                <a:srgbClr val="0070C0"/>
              </a:solidFill>
            </p:spPr>
            <p:style>
              <a:lnRef idx="2">
                <a:schemeClr val="accent5">
                  <a:shade val="15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1046" name="Rectangle 1045">
                <a:extLst>
                  <a:ext uri="{FF2B5EF4-FFF2-40B4-BE49-F238E27FC236}">
                    <a16:creationId xmlns:a16="http://schemas.microsoft.com/office/drawing/2014/main" id="{D41B99D9-8747-0A9B-82B4-72458674E90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67618" y="5779610"/>
                <a:ext cx="424826" cy="319177"/>
              </a:xfrm>
              <a:prstGeom prst="rect">
                <a:avLst/>
              </a:prstGeom>
              <a:blipFill>
                <a:blip r:embed="rId19"/>
                <a:stretch>
                  <a:fillRect l="-12500" b="-5556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47" name="Rectangle 1046">
                <a:extLst>
                  <a:ext uri="{FF2B5EF4-FFF2-40B4-BE49-F238E27FC236}">
                    <a16:creationId xmlns:a16="http://schemas.microsoft.com/office/drawing/2014/main" id="{3D5D08D1-C166-C4DA-8567-A11C776C7FC2}"/>
                  </a:ext>
                </a:extLst>
              </p:cNvPr>
              <p:cNvSpPr/>
              <p:nvPr/>
            </p:nvSpPr>
            <p:spPr>
              <a:xfrm>
                <a:off x="4042774" y="5787494"/>
                <a:ext cx="424826" cy="319177"/>
              </a:xfrm>
              <a:prstGeom prst="rect">
                <a:avLst/>
              </a:prstGeom>
              <a:solidFill>
                <a:srgbClr val="0070C0"/>
              </a:solidFill>
            </p:spPr>
            <p:style>
              <a:lnRef idx="2">
                <a:schemeClr val="accent5">
                  <a:shade val="15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1047" name="Rectangle 1046">
                <a:extLst>
                  <a:ext uri="{FF2B5EF4-FFF2-40B4-BE49-F238E27FC236}">
                    <a16:creationId xmlns:a16="http://schemas.microsoft.com/office/drawing/2014/main" id="{3D5D08D1-C166-C4DA-8567-A11C776C7FC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42774" y="5787494"/>
                <a:ext cx="424826" cy="319177"/>
              </a:xfrm>
              <a:prstGeom prst="rect">
                <a:avLst/>
              </a:prstGeom>
              <a:blipFill>
                <a:blip r:embed="rId20"/>
                <a:stretch>
                  <a:fillRect l="-12500" b="-5455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48" name="Rectangle 1047">
                <a:extLst>
                  <a:ext uri="{FF2B5EF4-FFF2-40B4-BE49-F238E27FC236}">
                    <a16:creationId xmlns:a16="http://schemas.microsoft.com/office/drawing/2014/main" id="{C359048D-8A89-4D4A-9D45-D60AF6954E0E}"/>
                  </a:ext>
                </a:extLst>
              </p:cNvPr>
              <p:cNvSpPr/>
              <p:nvPr/>
            </p:nvSpPr>
            <p:spPr>
              <a:xfrm>
                <a:off x="4517930" y="5787494"/>
                <a:ext cx="424826" cy="319177"/>
              </a:xfrm>
              <a:prstGeom prst="rect">
                <a:avLst/>
              </a:prstGeom>
              <a:solidFill>
                <a:srgbClr val="0070C0"/>
              </a:solidFill>
            </p:spPr>
            <p:style>
              <a:lnRef idx="2">
                <a:schemeClr val="accent5">
                  <a:shade val="15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1048" name="Rectangle 1047">
                <a:extLst>
                  <a:ext uri="{FF2B5EF4-FFF2-40B4-BE49-F238E27FC236}">
                    <a16:creationId xmlns:a16="http://schemas.microsoft.com/office/drawing/2014/main" id="{C359048D-8A89-4D4A-9D45-D60AF6954E0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17930" y="5787494"/>
                <a:ext cx="424826" cy="319177"/>
              </a:xfrm>
              <a:prstGeom prst="rect">
                <a:avLst/>
              </a:prstGeom>
              <a:blipFill>
                <a:blip r:embed="rId21"/>
                <a:stretch>
                  <a:fillRect l="-12500" b="-5455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49" name="Rectangle 1048">
                <a:extLst>
                  <a:ext uri="{FF2B5EF4-FFF2-40B4-BE49-F238E27FC236}">
                    <a16:creationId xmlns:a16="http://schemas.microsoft.com/office/drawing/2014/main" id="{7C7278F0-9DAD-AD89-C5A4-15313BE22F95}"/>
                  </a:ext>
                </a:extLst>
              </p:cNvPr>
              <p:cNvSpPr/>
              <p:nvPr/>
            </p:nvSpPr>
            <p:spPr>
              <a:xfrm>
                <a:off x="4974559" y="5787494"/>
                <a:ext cx="424826" cy="319177"/>
              </a:xfrm>
              <a:prstGeom prst="rect">
                <a:avLst/>
              </a:prstGeom>
              <a:solidFill>
                <a:srgbClr val="0070C0"/>
              </a:solidFill>
            </p:spPr>
            <p:style>
              <a:lnRef idx="2">
                <a:schemeClr val="accent5">
                  <a:shade val="15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1049" name="Rectangle 1048">
                <a:extLst>
                  <a:ext uri="{FF2B5EF4-FFF2-40B4-BE49-F238E27FC236}">
                    <a16:creationId xmlns:a16="http://schemas.microsoft.com/office/drawing/2014/main" id="{7C7278F0-9DAD-AD89-C5A4-15313BE22F9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74559" y="5787494"/>
                <a:ext cx="424826" cy="319177"/>
              </a:xfrm>
              <a:prstGeom prst="rect">
                <a:avLst/>
              </a:prstGeom>
              <a:blipFill>
                <a:blip r:embed="rId22"/>
                <a:stretch>
                  <a:fillRect l="-13889" b="-5455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50" name="Rectangle 1049">
                <a:extLst>
                  <a:ext uri="{FF2B5EF4-FFF2-40B4-BE49-F238E27FC236}">
                    <a16:creationId xmlns:a16="http://schemas.microsoft.com/office/drawing/2014/main" id="{FCD8FE0B-B06D-EDC0-5E76-2548E5E010AD}"/>
                  </a:ext>
                </a:extLst>
              </p:cNvPr>
              <p:cNvSpPr/>
              <p:nvPr/>
            </p:nvSpPr>
            <p:spPr>
              <a:xfrm>
                <a:off x="3567618" y="5393397"/>
                <a:ext cx="424826" cy="319177"/>
              </a:xfrm>
              <a:prstGeom prst="rect">
                <a:avLst/>
              </a:prstGeom>
              <a:solidFill>
                <a:srgbClr val="0070C0"/>
              </a:solidFill>
            </p:spPr>
            <p:style>
              <a:lnRef idx="2">
                <a:schemeClr val="accent5">
                  <a:shade val="15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1050" name="Rectangle 1049">
                <a:extLst>
                  <a:ext uri="{FF2B5EF4-FFF2-40B4-BE49-F238E27FC236}">
                    <a16:creationId xmlns:a16="http://schemas.microsoft.com/office/drawing/2014/main" id="{FCD8FE0B-B06D-EDC0-5E76-2548E5E010A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67618" y="5393397"/>
                <a:ext cx="424826" cy="319177"/>
              </a:xfrm>
              <a:prstGeom prst="rect">
                <a:avLst/>
              </a:prstGeom>
              <a:blipFill>
                <a:blip r:embed="rId23"/>
                <a:stretch>
                  <a:fillRect l="-18056" r="-1389" b="-1111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51" name="Rectangle 1050">
                <a:extLst>
                  <a:ext uri="{FF2B5EF4-FFF2-40B4-BE49-F238E27FC236}">
                    <a16:creationId xmlns:a16="http://schemas.microsoft.com/office/drawing/2014/main" id="{D8DCCF45-9944-0F39-BF4F-41C912D50B0F}"/>
                  </a:ext>
                </a:extLst>
              </p:cNvPr>
              <p:cNvSpPr/>
              <p:nvPr/>
            </p:nvSpPr>
            <p:spPr>
              <a:xfrm>
                <a:off x="4042774" y="5393397"/>
                <a:ext cx="424826" cy="319177"/>
              </a:xfrm>
              <a:prstGeom prst="rect">
                <a:avLst/>
              </a:prstGeom>
              <a:solidFill>
                <a:srgbClr val="0070C0"/>
              </a:solidFill>
            </p:spPr>
            <p:style>
              <a:lnRef idx="2">
                <a:schemeClr val="accent5">
                  <a:shade val="15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1051" name="Rectangle 1050">
                <a:extLst>
                  <a:ext uri="{FF2B5EF4-FFF2-40B4-BE49-F238E27FC236}">
                    <a16:creationId xmlns:a16="http://schemas.microsoft.com/office/drawing/2014/main" id="{D8DCCF45-9944-0F39-BF4F-41C912D50B0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42774" y="5393397"/>
                <a:ext cx="424826" cy="319177"/>
              </a:xfrm>
              <a:prstGeom prst="rect">
                <a:avLst/>
              </a:prstGeom>
              <a:blipFill>
                <a:blip r:embed="rId24"/>
                <a:stretch>
                  <a:fillRect l="-19444" b="-1111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52" name="Rectangle 1051">
                <a:extLst>
                  <a:ext uri="{FF2B5EF4-FFF2-40B4-BE49-F238E27FC236}">
                    <a16:creationId xmlns:a16="http://schemas.microsoft.com/office/drawing/2014/main" id="{73747D17-DFB5-FDC1-E344-752D4EF174F7}"/>
                  </a:ext>
                </a:extLst>
              </p:cNvPr>
              <p:cNvSpPr/>
              <p:nvPr/>
            </p:nvSpPr>
            <p:spPr>
              <a:xfrm>
                <a:off x="4517930" y="5393397"/>
                <a:ext cx="424826" cy="319177"/>
              </a:xfrm>
              <a:prstGeom prst="rect">
                <a:avLst/>
              </a:prstGeom>
              <a:solidFill>
                <a:srgbClr val="0070C0"/>
              </a:solidFill>
            </p:spPr>
            <p:style>
              <a:lnRef idx="2">
                <a:schemeClr val="accent5">
                  <a:shade val="15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1052" name="Rectangle 1051">
                <a:extLst>
                  <a:ext uri="{FF2B5EF4-FFF2-40B4-BE49-F238E27FC236}">
                    <a16:creationId xmlns:a16="http://schemas.microsoft.com/office/drawing/2014/main" id="{73747D17-DFB5-FDC1-E344-752D4EF174F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17930" y="5393397"/>
                <a:ext cx="424826" cy="319177"/>
              </a:xfrm>
              <a:prstGeom prst="rect">
                <a:avLst/>
              </a:prstGeom>
              <a:blipFill>
                <a:blip r:embed="rId25"/>
                <a:stretch>
                  <a:fillRect l="-19444" b="-1111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53" name="Rectangle 1052">
                <a:extLst>
                  <a:ext uri="{FF2B5EF4-FFF2-40B4-BE49-F238E27FC236}">
                    <a16:creationId xmlns:a16="http://schemas.microsoft.com/office/drawing/2014/main" id="{E525BFFD-C7C4-9348-1446-568ED36A8A8C}"/>
                  </a:ext>
                </a:extLst>
              </p:cNvPr>
              <p:cNvSpPr/>
              <p:nvPr/>
            </p:nvSpPr>
            <p:spPr>
              <a:xfrm>
                <a:off x="4974559" y="5391775"/>
                <a:ext cx="424826" cy="319177"/>
              </a:xfrm>
              <a:prstGeom prst="rect">
                <a:avLst/>
              </a:prstGeom>
              <a:solidFill>
                <a:srgbClr val="0070C0"/>
              </a:solidFill>
            </p:spPr>
            <p:style>
              <a:lnRef idx="2">
                <a:schemeClr val="accent5">
                  <a:shade val="15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1053" name="Rectangle 1052">
                <a:extLst>
                  <a:ext uri="{FF2B5EF4-FFF2-40B4-BE49-F238E27FC236}">
                    <a16:creationId xmlns:a16="http://schemas.microsoft.com/office/drawing/2014/main" id="{E525BFFD-C7C4-9348-1446-568ED36A8A8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74559" y="5391775"/>
                <a:ext cx="424826" cy="319177"/>
              </a:xfrm>
              <a:prstGeom prst="rect">
                <a:avLst/>
              </a:prstGeom>
              <a:blipFill>
                <a:blip r:embed="rId26"/>
                <a:stretch>
                  <a:fillRect l="-19444" b="-10909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54" name="Rectangle 1053">
            <a:extLst>
              <a:ext uri="{FF2B5EF4-FFF2-40B4-BE49-F238E27FC236}">
                <a16:creationId xmlns:a16="http://schemas.microsoft.com/office/drawing/2014/main" id="{DD92244D-7A23-91B7-1294-C5EFEFCFA14E}"/>
              </a:ext>
            </a:extLst>
          </p:cNvPr>
          <p:cNvSpPr/>
          <p:nvPr/>
        </p:nvSpPr>
        <p:spPr>
          <a:xfrm>
            <a:off x="3471472" y="4985761"/>
            <a:ext cx="2033051" cy="1226690"/>
          </a:xfrm>
          <a:prstGeom prst="rect">
            <a:avLst/>
          </a:prstGeom>
          <a:noFill/>
          <a:ln w="1905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55" name="TextBox 1054">
            <a:extLst>
              <a:ext uri="{FF2B5EF4-FFF2-40B4-BE49-F238E27FC236}">
                <a16:creationId xmlns:a16="http://schemas.microsoft.com/office/drawing/2014/main" id="{1BCC8390-7469-D90B-8130-44CEB6839792}"/>
              </a:ext>
            </a:extLst>
          </p:cNvPr>
          <p:cNvSpPr txBox="1"/>
          <p:nvPr/>
        </p:nvSpPr>
        <p:spPr>
          <a:xfrm>
            <a:off x="3471473" y="5013876"/>
            <a:ext cx="16760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i="1" dirty="0" err="1"/>
              <a:t>moving</a:t>
            </a:r>
            <a:r>
              <a:rPr lang="pt-BR" sz="1600" i="1" dirty="0"/>
              <a:t> </a:t>
            </a:r>
            <a:r>
              <a:rPr lang="pt-BR" sz="1600" i="1" dirty="0" err="1"/>
              <a:t>averages</a:t>
            </a:r>
            <a:endParaRPr lang="pt-BR" sz="1600" i="1" dirty="0"/>
          </a:p>
        </p:txBody>
      </p:sp>
      <p:sp>
        <p:nvSpPr>
          <p:cNvPr id="1056" name="Rectangle 1055">
            <a:extLst>
              <a:ext uri="{FF2B5EF4-FFF2-40B4-BE49-F238E27FC236}">
                <a16:creationId xmlns:a16="http://schemas.microsoft.com/office/drawing/2014/main" id="{E03A0A68-985E-2A84-FA90-53C4244CC769}"/>
              </a:ext>
            </a:extLst>
          </p:cNvPr>
          <p:cNvSpPr/>
          <p:nvPr/>
        </p:nvSpPr>
        <p:spPr>
          <a:xfrm>
            <a:off x="1663534" y="3655147"/>
            <a:ext cx="327518" cy="1111723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57" name="Rectangle 1056">
            <a:extLst>
              <a:ext uri="{FF2B5EF4-FFF2-40B4-BE49-F238E27FC236}">
                <a16:creationId xmlns:a16="http://schemas.microsoft.com/office/drawing/2014/main" id="{52F7FF5B-2A43-688C-A18E-489BD285A7A9}"/>
              </a:ext>
            </a:extLst>
          </p:cNvPr>
          <p:cNvSpPr/>
          <p:nvPr/>
        </p:nvSpPr>
        <p:spPr>
          <a:xfrm>
            <a:off x="3906168" y="3619340"/>
            <a:ext cx="327518" cy="811257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58" name="Rectangle 1057">
            <a:extLst>
              <a:ext uri="{FF2B5EF4-FFF2-40B4-BE49-F238E27FC236}">
                <a16:creationId xmlns:a16="http://schemas.microsoft.com/office/drawing/2014/main" id="{933245CB-8401-072F-5B67-3734C2134F82}"/>
              </a:ext>
            </a:extLst>
          </p:cNvPr>
          <p:cNvSpPr/>
          <p:nvPr/>
        </p:nvSpPr>
        <p:spPr>
          <a:xfrm>
            <a:off x="6244971" y="3645975"/>
            <a:ext cx="327518" cy="1131413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59" name="Rectangle 1058">
            <a:extLst>
              <a:ext uri="{FF2B5EF4-FFF2-40B4-BE49-F238E27FC236}">
                <a16:creationId xmlns:a16="http://schemas.microsoft.com/office/drawing/2014/main" id="{5944823A-F47B-DD1F-EE7E-2B36E2F43501}"/>
              </a:ext>
            </a:extLst>
          </p:cNvPr>
          <p:cNvSpPr/>
          <p:nvPr/>
        </p:nvSpPr>
        <p:spPr>
          <a:xfrm>
            <a:off x="8438679" y="3599076"/>
            <a:ext cx="327518" cy="831522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60" name="Rectangle 1059">
            <a:extLst>
              <a:ext uri="{FF2B5EF4-FFF2-40B4-BE49-F238E27FC236}">
                <a16:creationId xmlns:a16="http://schemas.microsoft.com/office/drawing/2014/main" id="{A5573C45-4461-1EBA-0058-5B9D1456F120}"/>
              </a:ext>
            </a:extLst>
          </p:cNvPr>
          <p:cNvSpPr/>
          <p:nvPr/>
        </p:nvSpPr>
        <p:spPr>
          <a:xfrm>
            <a:off x="10846803" y="3640334"/>
            <a:ext cx="327518" cy="1137053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61" name="Rectangle 1060">
            <a:extLst>
              <a:ext uri="{FF2B5EF4-FFF2-40B4-BE49-F238E27FC236}">
                <a16:creationId xmlns:a16="http://schemas.microsoft.com/office/drawing/2014/main" id="{A8AB8CE9-6B4D-6269-0334-5030EF517CB8}"/>
              </a:ext>
            </a:extLst>
          </p:cNvPr>
          <p:cNvSpPr/>
          <p:nvPr/>
        </p:nvSpPr>
        <p:spPr>
          <a:xfrm>
            <a:off x="4024247" y="5355823"/>
            <a:ext cx="461880" cy="777720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64" name="Arrow: Right 1063">
            <a:extLst>
              <a:ext uri="{FF2B5EF4-FFF2-40B4-BE49-F238E27FC236}">
                <a16:creationId xmlns:a16="http://schemas.microsoft.com/office/drawing/2014/main" id="{DC24B390-A258-C970-6835-0AF790649027}"/>
              </a:ext>
            </a:extLst>
          </p:cNvPr>
          <p:cNvSpPr/>
          <p:nvPr/>
        </p:nvSpPr>
        <p:spPr>
          <a:xfrm>
            <a:off x="2775625" y="4032778"/>
            <a:ext cx="581919" cy="374146"/>
          </a:xfrm>
          <a:prstGeom prst="rightArrow">
            <a:avLst>
              <a:gd name="adj1" fmla="val 32449"/>
              <a:gd name="adj2" fmla="val 54388"/>
            </a:avLst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65" name="Arrow: Right 1064">
            <a:extLst>
              <a:ext uri="{FF2B5EF4-FFF2-40B4-BE49-F238E27FC236}">
                <a16:creationId xmlns:a16="http://schemas.microsoft.com/office/drawing/2014/main" id="{6C9C7C38-A2A4-57C4-0A0D-14A15B110151}"/>
              </a:ext>
            </a:extLst>
          </p:cNvPr>
          <p:cNvSpPr/>
          <p:nvPr/>
        </p:nvSpPr>
        <p:spPr>
          <a:xfrm>
            <a:off x="5182243" y="4001294"/>
            <a:ext cx="581919" cy="374146"/>
          </a:xfrm>
          <a:prstGeom prst="rightArrow">
            <a:avLst>
              <a:gd name="adj1" fmla="val 32449"/>
              <a:gd name="adj2" fmla="val 54388"/>
            </a:avLst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66" name="Arrow: Right 1065">
            <a:extLst>
              <a:ext uri="{FF2B5EF4-FFF2-40B4-BE49-F238E27FC236}">
                <a16:creationId xmlns:a16="http://schemas.microsoft.com/office/drawing/2014/main" id="{2192D9E9-B2FE-FBA9-1632-5C3E9C48447E}"/>
              </a:ext>
            </a:extLst>
          </p:cNvPr>
          <p:cNvSpPr/>
          <p:nvPr/>
        </p:nvSpPr>
        <p:spPr>
          <a:xfrm>
            <a:off x="7344047" y="4003473"/>
            <a:ext cx="581919" cy="374146"/>
          </a:xfrm>
          <a:prstGeom prst="rightArrow">
            <a:avLst>
              <a:gd name="adj1" fmla="val 32449"/>
              <a:gd name="adj2" fmla="val 54388"/>
            </a:avLst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67" name="Arrow: Right 1066">
            <a:extLst>
              <a:ext uri="{FF2B5EF4-FFF2-40B4-BE49-F238E27FC236}">
                <a16:creationId xmlns:a16="http://schemas.microsoft.com/office/drawing/2014/main" id="{78B04179-4555-2540-DE65-EB9E14B4A292}"/>
              </a:ext>
            </a:extLst>
          </p:cNvPr>
          <p:cNvSpPr/>
          <p:nvPr/>
        </p:nvSpPr>
        <p:spPr>
          <a:xfrm>
            <a:off x="9729371" y="3974324"/>
            <a:ext cx="581919" cy="374146"/>
          </a:xfrm>
          <a:prstGeom prst="rightArrow">
            <a:avLst>
              <a:gd name="adj1" fmla="val 32449"/>
              <a:gd name="adj2" fmla="val 54388"/>
            </a:avLst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68" name="Arrow: Right 1067">
            <a:extLst>
              <a:ext uri="{FF2B5EF4-FFF2-40B4-BE49-F238E27FC236}">
                <a16:creationId xmlns:a16="http://schemas.microsoft.com/office/drawing/2014/main" id="{C4CF2CDA-80F0-64B8-C7B7-A43A8D3627A5}"/>
              </a:ext>
            </a:extLst>
          </p:cNvPr>
          <p:cNvSpPr/>
          <p:nvPr/>
        </p:nvSpPr>
        <p:spPr>
          <a:xfrm rot="5400000">
            <a:off x="4229798" y="4610625"/>
            <a:ext cx="338553" cy="374146"/>
          </a:xfrm>
          <a:prstGeom prst="rightArrow">
            <a:avLst>
              <a:gd name="adj1" fmla="val 32449"/>
              <a:gd name="adj2" fmla="val 54388"/>
            </a:avLst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2407163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839EA5-D312-93A9-B084-C39FADB337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Batch Norm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1E2D480-FFC6-C701-6C6D-F97FF3CC772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pt-BR" dirty="0"/>
                  <a:t>Como funciona:</a:t>
                </a:r>
              </a:p>
              <a:p>
                <a:r>
                  <a:rPr lang="en-US" dirty="0" err="1"/>
                  <a:t>Importante</a:t>
                </a:r>
                <a:r>
                  <a:rPr lang="en-US" dirty="0"/>
                  <a:t>:</a:t>
                </a:r>
              </a:p>
              <a:p>
                <a:pPr lvl="1"/>
                <a:r>
                  <a:rPr lang="en-US" dirty="0" err="1"/>
                  <a:t>existe</a:t>
                </a:r>
                <a:r>
                  <a:rPr lang="en-US" dirty="0"/>
                  <a:t> um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𝛾</m:t>
                    </m:r>
                  </m:oMath>
                </a14:m>
                <a:r>
                  <a:rPr lang="pt-BR" dirty="0"/>
                  <a:t>, um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pt-BR" dirty="0"/>
                  <a:t>, um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pt-BR" dirty="0"/>
                  <a:t> e um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pt-BR" dirty="0"/>
                  <a:t> por unidade oculta em uma camada densa</a:t>
                </a:r>
              </a:p>
              <a:p>
                <a:pPr lvl="2"/>
                <a:r>
                  <a:rPr lang="pt-BR" dirty="0"/>
                  <a:t>4 parâmetros por unidade oculta</a:t>
                </a:r>
              </a:p>
              <a:p>
                <a:pPr lvl="1"/>
                <a:r>
                  <a:rPr lang="en-US" dirty="0"/>
                  <a:t>existe um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𝛾</m:t>
                    </m:r>
                  </m:oMath>
                </a14:m>
                <a:r>
                  <a:rPr lang="pt-BR" dirty="0"/>
                  <a:t>, um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pt-BR" dirty="0"/>
                  <a:t>, um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pt-BR" dirty="0"/>
                  <a:t> e um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𝜎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pt-BR" dirty="0"/>
                  <a:t>por canal em uma camada </a:t>
                </a:r>
                <a:r>
                  <a:rPr lang="pt-BR" dirty="0" err="1"/>
                  <a:t>convolucional</a:t>
                </a:r>
                <a:endParaRPr lang="pt-BR" dirty="0"/>
              </a:p>
              <a:p>
                <a:pPr lvl="1"/>
                <a:r>
                  <a:rPr lang="en-US" b="0" dirty="0" err="1"/>
                  <a:t>Apenas</a:t>
                </a:r>
                <a:r>
                  <a:rPr lang="en-US" b="0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𝛾</m:t>
                    </m:r>
                  </m:oMath>
                </a14:m>
                <a:r>
                  <a:rPr lang="pt-BR" dirty="0"/>
                  <a:t> 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𝛿</m:t>
                    </m:r>
                  </m:oMath>
                </a14:m>
                <a:r>
                  <a:rPr lang="pt-BR" dirty="0"/>
                  <a:t> são parâmetros aprendidos,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pt-BR" dirty="0"/>
                  <a:t> 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pt-BR" dirty="0"/>
                  <a:t> são calculados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𝛾</m:t>
                    </m:r>
                  </m:oMath>
                </a14:m>
                <a:r>
                  <a:rPr lang="pt-BR" dirty="0"/>
                  <a:t> 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𝛿</m:t>
                    </m:r>
                  </m:oMath>
                </a14:m>
                <a:r>
                  <a:rPr lang="pt-BR" dirty="0"/>
                  <a:t> são inicializados com 1 e 0 respectivamente</a:t>
                </a:r>
              </a:p>
              <a:p>
                <a:endParaRPr lang="pt-BR" dirty="0"/>
              </a:p>
              <a:p>
                <a:endParaRPr lang="pt-BR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1E2D480-FFC6-C701-6C6D-F97FF3CC772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CAE728-17C8-60F0-FE58-26D37AFA3C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35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3704206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9" name="Rectangle: Rounded Corners 1038">
            <a:extLst>
              <a:ext uri="{FF2B5EF4-FFF2-40B4-BE49-F238E27FC236}">
                <a16:creationId xmlns:a16="http://schemas.microsoft.com/office/drawing/2014/main" id="{206AFDD9-1F26-000E-6015-4C8FEC37AF5D}"/>
              </a:ext>
            </a:extLst>
          </p:cNvPr>
          <p:cNvSpPr/>
          <p:nvPr/>
        </p:nvSpPr>
        <p:spPr>
          <a:xfrm>
            <a:off x="2438654" y="2789051"/>
            <a:ext cx="6838658" cy="3545153"/>
          </a:xfrm>
          <a:prstGeom prst="roundRect">
            <a:avLst>
              <a:gd name="adj" fmla="val 7217"/>
            </a:avLst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839EA5-D312-93A9-B084-C39FADB337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Batch Norm - Exemplo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CAE728-17C8-60F0-FE58-26D37AFA3C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36</a:t>
            </a:fld>
            <a:endParaRPr lang="pt-BR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BC3EE46-2D0B-78F6-C106-1216F939EDF9}"/>
              </a:ext>
            </a:extLst>
          </p:cNvPr>
          <p:cNvSpPr txBox="1"/>
          <p:nvPr/>
        </p:nvSpPr>
        <p:spPr>
          <a:xfrm>
            <a:off x="0" y="6582975"/>
            <a:ext cx="956453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200" dirty="0"/>
              <a:t>Fonte imagem: https://towardsdatascience.com/batch-norm-explained-visually-how-it-works-and-why-neural-networks-need-it-b18919692739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B10146F-6A3C-E9EB-51F7-56358628A632}"/>
              </a:ext>
            </a:extLst>
          </p:cNvPr>
          <p:cNvSpPr/>
          <p:nvPr/>
        </p:nvSpPr>
        <p:spPr>
          <a:xfrm>
            <a:off x="337871" y="4322032"/>
            <a:ext cx="319177" cy="319177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7FF3EE-CA26-EC19-BD8E-FA5C86DAEEB0}"/>
              </a:ext>
            </a:extLst>
          </p:cNvPr>
          <p:cNvSpPr/>
          <p:nvPr/>
        </p:nvSpPr>
        <p:spPr>
          <a:xfrm>
            <a:off x="674600" y="4322032"/>
            <a:ext cx="375688" cy="319177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2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C8BA06A-F643-7ACB-4AFA-E9ADA6154FFB}"/>
              </a:ext>
            </a:extLst>
          </p:cNvPr>
          <p:cNvSpPr/>
          <p:nvPr/>
        </p:nvSpPr>
        <p:spPr>
          <a:xfrm>
            <a:off x="1064694" y="4320147"/>
            <a:ext cx="319177" cy="319177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75DDA18-6DF6-F035-0D03-265ED01685BD}"/>
              </a:ext>
            </a:extLst>
          </p:cNvPr>
          <p:cNvSpPr/>
          <p:nvPr/>
        </p:nvSpPr>
        <p:spPr>
          <a:xfrm>
            <a:off x="1404598" y="4320146"/>
            <a:ext cx="319177" cy="319177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C1E78E6-2EE3-F5D9-A92A-295464DE9863}"/>
              </a:ext>
            </a:extLst>
          </p:cNvPr>
          <p:cNvSpPr/>
          <p:nvPr/>
        </p:nvSpPr>
        <p:spPr>
          <a:xfrm>
            <a:off x="337871" y="3959436"/>
            <a:ext cx="319177" cy="319177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662516E-2EF8-ED53-D25C-F8285584E3D8}"/>
              </a:ext>
            </a:extLst>
          </p:cNvPr>
          <p:cNvSpPr/>
          <p:nvPr/>
        </p:nvSpPr>
        <p:spPr>
          <a:xfrm>
            <a:off x="674600" y="3959436"/>
            <a:ext cx="375688" cy="319177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-1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1645738-3C6E-1A0A-B8F0-64A182A07F99}"/>
              </a:ext>
            </a:extLst>
          </p:cNvPr>
          <p:cNvSpPr/>
          <p:nvPr/>
        </p:nvSpPr>
        <p:spPr>
          <a:xfrm>
            <a:off x="1064694" y="3957551"/>
            <a:ext cx="319177" cy="319177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8D43920-4369-388A-9E74-7B6AF0D1EE55}"/>
              </a:ext>
            </a:extLst>
          </p:cNvPr>
          <p:cNvSpPr/>
          <p:nvPr/>
        </p:nvSpPr>
        <p:spPr>
          <a:xfrm>
            <a:off x="1404598" y="3957550"/>
            <a:ext cx="319177" cy="319177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C95A93A-E7BC-C5AF-7462-13DACB311257}"/>
              </a:ext>
            </a:extLst>
          </p:cNvPr>
          <p:cNvSpPr/>
          <p:nvPr/>
        </p:nvSpPr>
        <p:spPr>
          <a:xfrm>
            <a:off x="337871" y="3596840"/>
            <a:ext cx="319177" cy="319177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69463FB-E674-6629-3672-CD3F6CD4A541}"/>
              </a:ext>
            </a:extLst>
          </p:cNvPr>
          <p:cNvSpPr/>
          <p:nvPr/>
        </p:nvSpPr>
        <p:spPr>
          <a:xfrm>
            <a:off x="674600" y="3596840"/>
            <a:ext cx="375688" cy="319177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3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2926178-20B9-CB69-D5F9-3A635322357A}"/>
              </a:ext>
            </a:extLst>
          </p:cNvPr>
          <p:cNvSpPr/>
          <p:nvPr/>
        </p:nvSpPr>
        <p:spPr>
          <a:xfrm>
            <a:off x="1064694" y="3594955"/>
            <a:ext cx="319177" cy="319177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0C263CE-A8A2-A35B-AB10-FC893977635A}"/>
              </a:ext>
            </a:extLst>
          </p:cNvPr>
          <p:cNvSpPr/>
          <p:nvPr/>
        </p:nvSpPr>
        <p:spPr>
          <a:xfrm>
            <a:off x="1404598" y="3594954"/>
            <a:ext cx="319177" cy="319177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D341D891-C4A6-BBD1-C92A-0143C1BC86D2}"/>
              </a:ext>
            </a:extLst>
          </p:cNvPr>
          <p:cNvCxnSpPr>
            <a:cxnSpLocks/>
          </p:cNvCxnSpPr>
          <p:nvPr/>
        </p:nvCxnSpPr>
        <p:spPr>
          <a:xfrm>
            <a:off x="325920" y="3472419"/>
            <a:ext cx="1347665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6E578679-F5D5-D099-1219-024994E4CEB5}"/>
              </a:ext>
            </a:extLst>
          </p:cNvPr>
          <p:cNvSpPr txBox="1"/>
          <p:nvPr/>
        </p:nvSpPr>
        <p:spPr>
          <a:xfrm>
            <a:off x="337871" y="3059668"/>
            <a:ext cx="9544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/>
              <a:t>features</a:t>
            </a:r>
            <a:endParaRPr lang="pt-BR" dirty="0"/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1ACF99AE-33B4-94A6-B2D2-B8C963B09196}"/>
              </a:ext>
            </a:extLst>
          </p:cNvPr>
          <p:cNvCxnSpPr>
            <a:cxnSpLocks/>
          </p:cNvCxnSpPr>
          <p:nvPr/>
        </p:nvCxnSpPr>
        <p:spPr>
          <a:xfrm>
            <a:off x="165928" y="3596839"/>
            <a:ext cx="0" cy="1044369"/>
          </a:xfrm>
          <a:prstGeom prst="straightConnector1">
            <a:avLst/>
          </a:prstGeom>
          <a:ln w="28575">
            <a:solidFill>
              <a:srgbClr val="0070C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614DAD50-672D-7F4F-B671-E0EF74F88BCC}"/>
                  </a:ext>
                </a:extLst>
              </p:cNvPr>
              <p:cNvSpPr/>
              <p:nvPr/>
            </p:nvSpPr>
            <p:spPr>
              <a:xfrm>
                <a:off x="2706730" y="4047895"/>
                <a:ext cx="468000" cy="319177"/>
              </a:xfrm>
              <a:prstGeom prst="rect">
                <a:avLst/>
              </a:prstGeom>
            </p:spPr>
            <p:style>
              <a:lnRef idx="2">
                <a:schemeClr val="accent5">
                  <a:shade val="15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614DAD50-672D-7F4F-B671-E0EF74F88BC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06730" y="4047895"/>
                <a:ext cx="468000" cy="319177"/>
              </a:xfrm>
              <a:prstGeom prst="rect">
                <a:avLst/>
              </a:prstGeom>
              <a:blipFill>
                <a:blip r:embed="rId2"/>
                <a:stretch>
                  <a:fillRect b="-5556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FB67D806-D665-EA8A-9981-6AB16DE7E82D}"/>
                  </a:ext>
                </a:extLst>
              </p:cNvPr>
              <p:cNvSpPr/>
              <p:nvPr/>
            </p:nvSpPr>
            <p:spPr>
              <a:xfrm>
                <a:off x="3202565" y="4047895"/>
                <a:ext cx="468000" cy="319177"/>
              </a:xfrm>
              <a:prstGeom prst="rect">
                <a:avLst/>
              </a:prstGeom>
            </p:spPr>
            <p:style>
              <a:lnRef idx="2">
                <a:schemeClr val="accent5">
                  <a:shade val="15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1,7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FB67D806-D665-EA8A-9981-6AB16DE7E82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2565" y="4047895"/>
                <a:ext cx="468000" cy="319177"/>
              </a:xfrm>
              <a:prstGeom prst="rect">
                <a:avLst/>
              </a:prstGeom>
              <a:blipFill>
                <a:blip r:embed="rId3"/>
                <a:stretch>
                  <a:fillRect l="-379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35568E5A-3F79-2331-A1AD-32935F21918D}"/>
                  </a:ext>
                </a:extLst>
              </p:cNvPr>
              <p:cNvSpPr/>
              <p:nvPr/>
            </p:nvSpPr>
            <p:spPr>
              <a:xfrm>
                <a:off x="3698400" y="4047895"/>
                <a:ext cx="468000" cy="319177"/>
              </a:xfrm>
              <a:prstGeom prst="rect">
                <a:avLst/>
              </a:prstGeom>
            </p:spPr>
            <p:style>
              <a:lnRef idx="2">
                <a:schemeClr val="accent5">
                  <a:shade val="15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35568E5A-3F79-2331-A1AD-32935F21918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98400" y="4047895"/>
                <a:ext cx="468000" cy="319177"/>
              </a:xfrm>
              <a:prstGeom prst="rect">
                <a:avLst/>
              </a:prstGeom>
              <a:blipFill>
                <a:blip r:embed="rId4"/>
                <a:stretch>
                  <a:fillRect b="-5556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DEA5C93A-485F-A60E-719C-35A41744DA0B}"/>
                  </a:ext>
                </a:extLst>
              </p:cNvPr>
              <p:cNvSpPr/>
              <p:nvPr/>
            </p:nvSpPr>
            <p:spPr>
              <a:xfrm>
                <a:off x="4194234" y="4047894"/>
                <a:ext cx="468000" cy="319177"/>
              </a:xfrm>
              <a:prstGeom prst="rect">
                <a:avLst/>
              </a:prstGeom>
            </p:spPr>
            <p:style>
              <a:lnRef idx="2">
                <a:schemeClr val="accent5">
                  <a:shade val="15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DEA5C93A-485F-A60E-719C-35A41744DA0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94234" y="4047894"/>
                <a:ext cx="468000" cy="319177"/>
              </a:xfrm>
              <a:prstGeom prst="rect">
                <a:avLst/>
              </a:prstGeom>
              <a:blipFill>
                <a:blip r:embed="rId5"/>
                <a:stretch>
                  <a:fillRect b="-5556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Rectangle 37">
                <a:extLst>
                  <a:ext uri="{FF2B5EF4-FFF2-40B4-BE49-F238E27FC236}">
                    <a16:creationId xmlns:a16="http://schemas.microsoft.com/office/drawing/2014/main" id="{1727C0A4-31A4-4F8C-0753-9667F1BC43FA}"/>
                  </a:ext>
                </a:extLst>
              </p:cNvPr>
              <p:cNvSpPr/>
              <p:nvPr/>
            </p:nvSpPr>
            <p:spPr>
              <a:xfrm>
                <a:off x="2706730" y="3646945"/>
                <a:ext cx="468000" cy="319177"/>
              </a:xfrm>
              <a:prstGeom prst="rect">
                <a:avLst/>
              </a:prstGeom>
            </p:spPr>
            <p:style>
              <a:lnRef idx="2">
                <a:schemeClr val="accent5">
                  <a:shade val="15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38" name="Rectangle 37">
                <a:extLst>
                  <a:ext uri="{FF2B5EF4-FFF2-40B4-BE49-F238E27FC236}">
                    <a16:creationId xmlns:a16="http://schemas.microsoft.com/office/drawing/2014/main" id="{1727C0A4-31A4-4F8C-0753-9667F1BC43F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06730" y="3646945"/>
                <a:ext cx="468000" cy="319177"/>
              </a:xfrm>
              <a:prstGeom prst="rect">
                <a:avLst/>
              </a:prstGeom>
              <a:blipFill>
                <a:blip r:embed="rId6"/>
                <a:stretch>
                  <a:fillRect b="-909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Rectangle 38">
                <a:extLst>
                  <a:ext uri="{FF2B5EF4-FFF2-40B4-BE49-F238E27FC236}">
                    <a16:creationId xmlns:a16="http://schemas.microsoft.com/office/drawing/2014/main" id="{6E04EA64-A3BF-29A1-D065-B493D5FB4821}"/>
                  </a:ext>
                </a:extLst>
              </p:cNvPr>
              <p:cNvSpPr/>
              <p:nvPr/>
            </p:nvSpPr>
            <p:spPr>
              <a:xfrm>
                <a:off x="3202565" y="3646945"/>
                <a:ext cx="468000" cy="319177"/>
              </a:xfrm>
              <a:prstGeom prst="rect">
                <a:avLst/>
              </a:prstGeom>
            </p:spPr>
            <p:style>
              <a:lnRef idx="2">
                <a:schemeClr val="accent5">
                  <a:shade val="15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1,33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39" name="Rectangle 38">
                <a:extLst>
                  <a:ext uri="{FF2B5EF4-FFF2-40B4-BE49-F238E27FC236}">
                    <a16:creationId xmlns:a16="http://schemas.microsoft.com/office/drawing/2014/main" id="{6E04EA64-A3BF-29A1-D065-B493D5FB482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2565" y="3646945"/>
                <a:ext cx="468000" cy="319177"/>
              </a:xfrm>
              <a:prstGeom prst="rect">
                <a:avLst/>
              </a:prstGeom>
              <a:blipFill>
                <a:blip r:embed="rId7"/>
                <a:stretch>
                  <a:fillRect l="-16456" r="-7595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8E8889CC-9894-6F0B-433C-B4EAA0B05DB4}"/>
                  </a:ext>
                </a:extLst>
              </p:cNvPr>
              <p:cNvSpPr/>
              <p:nvPr/>
            </p:nvSpPr>
            <p:spPr>
              <a:xfrm>
                <a:off x="3698400" y="3646946"/>
                <a:ext cx="468000" cy="319177"/>
              </a:xfrm>
              <a:prstGeom prst="rect">
                <a:avLst/>
              </a:prstGeom>
            </p:spPr>
            <p:style>
              <a:lnRef idx="2">
                <a:schemeClr val="accent5">
                  <a:shade val="15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8E8889CC-9894-6F0B-433C-B4EAA0B05DB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98400" y="3646946"/>
                <a:ext cx="468000" cy="319177"/>
              </a:xfrm>
              <a:prstGeom prst="rect">
                <a:avLst/>
              </a:prstGeom>
              <a:blipFill>
                <a:blip r:embed="rId8"/>
                <a:stretch>
                  <a:fillRect b="-909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Rectangle 40">
                <a:extLst>
                  <a:ext uri="{FF2B5EF4-FFF2-40B4-BE49-F238E27FC236}">
                    <a16:creationId xmlns:a16="http://schemas.microsoft.com/office/drawing/2014/main" id="{CC73C869-4D94-A403-8EE8-FA1F50EE4364}"/>
                  </a:ext>
                </a:extLst>
              </p:cNvPr>
              <p:cNvSpPr/>
              <p:nvPr/>
            </p:nvSpPr>
            <p:spPr>
              <a:xfrm>
                <a:off x="4194234" y="3646945"/>
                <a:ext cx="468000" cy="319177"/>
              </a:xfrm>
              <a:prstGeom prst="rect">
                <a:avLst/>
              </a:prstGeom>
            </p:spPr>
            <p:style>
              <a:lnRef idx="2">
                <a:schemeClr val="accent5">
                  <a:shade val="15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41" name="Rectangle 40">
                <a:extLst>
                  <a:ext uri="{FF2B5EF4-FFF2-40B4-BE49-F238E27FC236}">
                    <a16:creationId xmlns:a16="http://schemas.microsoft.com/office/drawing/2014/main" id="{CC73C869-4D94-A403-8EE8-FA1F50EE436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94234" y="3646945"/>
                <a:ext cx="468000" cy="319177"/>
              </a:xfrm>
              <a:prstGeom prst="rect">
                <a:avLst/>
              </a:prstGeom>
              <a:blipFill>
                <a:blip r:embed="rId9"/>
                <a:stretch>
                  <a:fillRect b="-909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0" name="Rectangle 49">
            <a:extLst>
              <a:ext uri="{FF2B5EF4-FFF2-40B4-BE49-F238E27FC236}">
                <a16:creationId xmlns:a16="http://schemas.microsoft.com/office/drawing/2014/main" id="{AA7FCF3C-958C-340A-BED5-F59B13B8CD7E}"/>
              </a:ext>
            </a:extLst>
          </p:cNvPr>
          <p:cNvSpPr/>
          <p:nvPr/>
        </p:nvSpPr>
        <p:spPr>
          <a:xfrm>
            <a:off x="5271186" y="3684914"/>
            <a:ext cx="468000" cy="319177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1" name="Rectangle 50">
                <a:extLst>
                  <a:ext uri="{FF2B5EF4-FFF2-40B4-BE49-F238E27FC236}">
                    <a16:creationId xmlns:a16="http://schemas.microsoft.com/office/drawing/2014/main" id="{D3338B19-1552-E0E1-D778-87795F526C73}"/>
                  </a:ext>
                </a:extLst>
              </p:cNvPr>
              <p:cNvSpPr/>
              <p:nvPr/>
            </p:nvSpPr>
            <p:spPr>
              <a:xfrm>
                <a:off x="5761515" y="3684914"/>
                <a:ext cx="468000" cy="319177"/>
              </a:xfrm>
              <a:prstGeom prst="rect">
                <a:avLst/>
              </a:prstGeom>
              <a:solidFill>
                <a:srgbClr val="FFFF00"/>
              </a:solidFill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1,33</m:t>
                      </m:r>
                    </m:oMath>
                  </m:oMathPara>
                </a14:m>
                <a:endParaRPr lang="pt-BR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1" name="Rectangle 50">
                <a:extLst>
                  <a:ext uri="{FF2B5EF4-FFF2-40B4-BE49-F238E27FC236}">
                    <a16:creationId xmlns:a16="http://schemas.microsoft.com/office/drawing/2014/main" id="{D3338B19-1552-E0E1-D778-87795F526C7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61515" y="3684914"/>
                <a:ext cx="468000" cy="319177"/>
              </a:xfrm>
              <a:prstGeom prst="rect">
                <a:avLst/>
              </a:prstGeom>
              <a:blipFill>
                <a:blip r:embed="rId10"/>
                <a:stretch>
                  <a:fillRect l="-886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2" name="Rectangle 51">
            <a:extLst>
              <a:ext uri="{FF2B5EF4-FFF2-40B4-BE49-F238E27FC236}">
                <a16:creationId xmlns:a16="http://schemas.microsoft.com/office/drawing/2014/main" id="{C423CA8C-0505-ABC4-8A28-FC3672BF7BD0}"/>
              </a:ext>
            </a:extLst>
          </p:cNvPr>
          <p:cNvSpPr/>
          <p:nvPr/>
        </p:nvSpPr>
        <p:spPr>
          <a:xfrm>
            <a:off x="6251844" y="3684914"/>
            <a:ext cx="468000" cy="319177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D7F39CA0-E88E-ED6B-2F28-D74AC8B74926}"/>
              </a:ext>
            </a:extLst>
          </p:cNvPr>
          <p:cNvSpPr/>
          <p:nvPr/>
        </p:nvSpPr>
        <p:spPr>
          <a:xfrm>
            <a:off x="6742173" y="3684914"/>
            <a:ext cx="468000" cy="319177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4" name="Rectangle 53">
                <a:extLst>
                  <a:ext uri="{FF2B5EF4-FFF2-40B4-BE49-F238E27FC236}">
                    <a16:creationId xmlns:a16="http://schemas.microsoft.com/office/drawing/2014/main" id="{CC933B5B-9DC6-3265-B2AB-43C8DC59B11E}"/>
                  </a:ext>
                </a:extLst>
              </p:cNvPr>
              <p:cNvSpPr/>
              <p:nvPr/>
            </p:nvSpPr>
            <p:spPr>
              <a:xfrm>
                <a:off x="7729083" y="4047895"/>
                <a:ext cx="319177" cy="319177"/>
              </a:xfrm>
              <a:prstGeom prst="rect">
                <a:avLst/>
              </a:prstGeom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54" name="Rectangle 53">
                <a:extLst>
                  <a:ext uri="{FF2B5EF4-FFF2-40B4-BE49-F238E27FC236}">
                    <a16:creationId xmlns:a16="http://schemas.microsoft.com/office/drawing/2014/main" id="{CC933B5B-9DC6-3265-B2AB-43C8DC59B11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29083" y="4047895"/>
                <a:ext cx="319177" cy="319177"/>
              </a:xfrm>
              <a:prstGeom prst="rect">
                <a:avLst/>
              </a:prstGeom>
              <a:blipFill>
                <a:blip r:embed="rId11"/>
                <a:stretch>
                  <a:fillRect l="-25926" b="-22222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Rectangle 54">
                <a:extLst>
                  <a:ext uri="{FF2B5EF4-FFF2-40B4-BE49-F238E27FC236}">
                    <a16:creationId xmlns:a16="http://schemas.microsoft.com/office/drawing/2014/main" id="{EE0863D9-2BF9-B6DA-44EF-011C63D07292}"/>
                  </a:ext>
                </a:extLst>
              </p:cNvPr>
              <p:cNvSpPr/>
              <p:nvPr/>
            </p:nvSpPr>
            <p:spPr>
              <a:xfrm>
                <a:off x="8065812" y="4047895"/>
                <a:ext cx="319177" cy="319177"/>
              </a:xfrm>
              <a:prstGeom prst="rect">
                <a:avLst/>
              </a:prstGeom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55" name="Rectangle 54">
                <a:extLst>
                  <a:ext uri="{FF2B5EF4-FFF2-40B4-BE49-F238E27FC236}">
                    <a16:creationId xmlns:a16="http://schemas.microsoft.com/office/drawing/2014/main" id="{EE0863D9-2BF9-B6DA-44EF-011C63D0729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65812" y="4047895"/>
                <a:ext cx="319177" cy="319177"/>
              </a:xfrm>
              <a:prstGeom prst="rect">
                <a:avLst/>
              </a:prstGeom>
              <a:blipFill>
                <a:blip r:embed="rId12"/>
                <a:stretch>
                  <a:fillRect l="-1852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Rectangle 55">
                <a:extLst>
                  <a:ext uri="{FF2B5EF4-FFF2-40B4-BE49-F238E27FC236}">
                    <a16:creationId xmlns:a16="http://schemas.microsoft.com/office/drawing/2014/main" id="{8408E87B-C7A4-8D69-DAD1-B1A56C00E439}"/>
                  </a:ext>
                </a:extLst>
              </p:cNvPr>
              <p:cNvSpPr/>
              <p:nvPr/>
            </p:nvSpPr>
            <p:spPr>
              <a:xfrm>
                <a:off x="8405716" y="4047895"/>
                <a:ext cx="319177" cy="319177"/>
              </a:xfrm>
              <a:prstGeom prst="rect">
                <a:avLst/>
              </a:prstGeom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56" name="Rectangle 55">
                <a:extLst>
                  <a:ext uri="{FF2B5EF4-FFF2-40B4-BE49-F238E27FC236}">
                    <a16:creationId xmlns:a16="http://schemas.microsoft.com/office/drawing/2014/main" id="{8408E87B-C7A4-8D69-DAD1-B1A56C00E43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05716" y="4047895"/>
                <a:ext cx="319177" cy="319177"/>
              </a:xfrm>
              <a:prstGeom prst="rect">
                <a:avLst/>
              </a:prstGeom>
              <a:blipFill>
                <a:blip r:embed="rId13"/>
                <a:stretch>
                  <a:fillRect l="-25926" b="-22222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Rectangle 56">
                <a:extLst>
                  <a:ext uri="{FF2B5EF4-FFF2-40B4-BE49-F238E27FC236}">
                    <a16:creationId xmlns:a16="http://schemas.microsoft.com/office/drawing/2014/main" id="{131EBB07-1682-B804-AA07-21F7AEA07557}"/>
                  </a:ext>
                </a:extLst>
              </p:cNvPr>
              <p:cNvSpPr/>
              <p:nvPr/>
            </p:nvSpPr>
            <p:spPr>
              <a:xfrm>
                <a:off x="8745620" y="4047894"/>
                <a:ext cx="319177" cy="319177"/>
              </a:xfrm>
              <a:prstGeom prst="rect">
                <a:avLst/>
              </a:prstGeom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57" name="Rectangle 56">
                <a:extLst>
                  <a:ext uri="{FF2B5EF4-FFF2-40B4-BE49-F238E27FC236}">
                    <a16:creationId xmlns:a16="http://schemas.microsoft.com/office/drawing/2014/main" id="{131EBB07-1682-B804-AA07-21F7AEA0755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45620" y="4047894"/>
                <a:ext cx="319177" cy="319177"/>
              </a:xfrm>
              <a:prstGeom prst="rect">
                <a:avLst/>
              </a:prstGeom>
              <a:blipFill>
                <a:blip r:embed="rId14"/>
                <a:stretch>
                  <a:fillRect l="-25926" b="-22222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Rectangle 57">
                <a:extLst>
                  <a:ext uri="{FF2B5EF4-FFF2-40B4-BE49-F238E27FC236}">
                    <a16:creationId xmlns:a16="http://schemas.microsoft.com/office/drawing/2014/main" id="{3B9A7BF8-DB55-47C0-A632-CA270BA2F6AC}"/>
                  </a:ext>
                </a:extLst>
              </p:cNvPr>
              <p:cNvSpPr/>
              <p:nvPr/>
            </p:nvSpPr>
            <p:spPr>
              <a:xfrm>
                <a:off x="7725435" y="3646946"/>
                <a:ext cx="319177" cy="319177"/>
              </a:xfrm>
              <a:prstGeom prst="rect">
                <a:avLst/>
              </a:prstGeom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𝛾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58" name="Rectangle 57">
                <a:extLst>
                  <a:ext uri="{FF2B5EF4-FFF2-40B4-BE49-F238E27FC236}">
                    <a16:creationId xmlns:a16="http://schemas.microsoft.com/office/drawing/2014/main" id="{3B9A7BF8-DB55-47C0-A632-CA270BA2F6A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25435" y="3646946"/>
                <a:ext cx="319177" cy="319177"/>
              </a:xfrm>
              <a:prstGeom prst="rect">
                <a:avLst/>
              </a:prstGeom>
              <a:blipFill>
                <a:blip r:embed="rId15"/>
                <a:stretch>
                  <a:fillRect l="-14545" b="-909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Rectangle 58">
                <a:extLst>
                  <a:ext uri="{FF2B5EF4-FFF2-40B4-BE49-F238E27FC236}">
                    <a16:creationId xmlns:a16="http://schemas.microsoft.com/office/drawing/2014/main" id="{C1AB75CC-353D-EF66-AD63-1A8574C45A8B}"/>
                  </a:ext>
                </a:extLst>
              </p:cNvPr>
              <p:cNvSpPr/>
              <p:nvPr/>
            </p:nvSpPr>
            <p:spPr>
              <a:xfrm>
                <a:off x="8062164" y="3646946"/>
                <a:ext cx="319177" cy="319177"/>
              </a:xfrm>
              <a:prstGeom prst="rect">
                <a:avLst/>
              </a:prstGeom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59" name="Rectangle 58">
                <a:extLst>
                  <a:ext uri="{FF2B5EF4-FFF2-40B4-BE49-F238E27FC236}">
                    <a16:creationId xmlns:a16="http://schemas.microsoft.com/office/drawing/2014/main" id="{C1AB75CC-353D-EF66-AD63-1A8574C45A8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62164" y="3646946"/>
                <a:ext cx="319177" cy="319177"/>
              </a:xfrm>
              <a:prstGeom prst="rect">
                <a:avLst/>
              </a:prstGeom>
              <a:blipFill>
                <a:blip r:embed="rId16"/>
                <a:stretch>
                  <a:fillRect l="-1852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" name="Rectangle 59">
                <a:extLst>
                  <a:ext uri="{FF2B5EF4-FFF2-40B4-BE49-F238E27FC236}">
                    <a16:creationId xmlns:a16="http://schemas.microsoft.com/office/drawing/2014/main" id="{C8820546-C3AC-9CC2-4E4A-91919E47E20A}"/>
                  </a:ext>
                </a:extLst>
              </p:cNvPr>
              <p:cNvSpPr/>
              <p:nvPr/>
            </p:nvSpPr>
            <p:spPr>
              <a:xfrm>
                <a:off x="8402068" y="3646946"/>
                <a:ext cx="319177" cy="319177"/>
              </a:xfrm>
              <a:prstGeom prst="rect">
                <a:avLst/>
              </a:prstGeom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𝛾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60" name="Rectangle 59">
                <a:extLst>
                  <a:ext uri="{FF2B5EF4-FFF2-40B4-BE49-F238E27FC236}">
                    <a16:creationId xmlns:a16="http://schemas.microsoft.com/office/drawing/2014/main" id="{C8820546-C3AC-9CC2-4E4A-91919E47E20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02068" y="3646946"/>
                <a:ext cx="319177" cy="319177"/>
              </a:xfrm>
              <a:prstGeom prst="rect">
                <a:avLst/>
              </a:prstGeom>
              <a:blipFill>
                <a:blip r:embed="rId17"/>
                <a:stretch>
                  <a:fillRect l="-14545" b="-909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Rectangle 60">
                <a:extLst>
                  <a:ext uri="{FF2B5EF4-FFF2-40B4-BE49-F238E27FC236}">
                    <a16:creationId xmlns:a16="http://schemas.microsoft.com/office/drawing/2014/main" id="{9846CC8F-B11B-379E-FF02-22B61579C3D0}"/>
                  </a:ext>
                </a:extLst>
              </p:cNvPr>
              <p:cNvSpPr/>
              <p:nvPr/>
            </p:nvSpPr>
            <p:spPr>
              <a:xfrm>
                <a:off x="8741972" y="3646945"/>
                <a:ext cx="319177" cy="319177"/>
              </a:xfrm>
              <a:prstGeom prst="rect">
                <a:avLst/>
              </a:prstGeom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𝛾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61" name="Rectangle 60">
                <a:extLst>
                  <a:ext uri="{FF2B5EF4-FFF2-40B4-BE49-F238E27FC236}">
                    <a16:creationId xmlns:a16="http://schemas.microsoft.com/office/drawing/2014/main" id="{9846CC8F-B11B-379E-FF02-22B61579C3D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41972" y="3646945"/>
                <a:ext cx="319177" cy="319177"/>
              </a:xfrm>
              <a:prstGeom prst="rect">
                <a:avLst/>
              </a:prstGeom>
              <a:blipFill>
                <a:blip r:embed="rId18"/>
                <a:stretch>
                  <a:fillRect l="-14815" b="-909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35" name="Straight Arrow Connector 1034">
            <a:extLst>
              <a:ext uri="{FF2B5EF4-FFF2-40B4-BE49-F238E27FC236}">
                <a16:creationId xmlns:a16="http://schemas.microsoft.com/office/drawing/2014/main" id="{6143EF1A-E438-EA24-5158-FEC150A9610E}"/>
              </a:ext>
            </a:extLst>
          </p:cNvPr>
          <p:cNvCxnSpPr>
            <a:cxnSpLocks/>
          </p:cNvCxnSpPr>
          <p:nvPr/>
        </p:nvCxnSpPr>
        <p:spPr>
          <a:xfrm>
            <a:off x="10506464" y="3574146"/>
            <a:ext cx="1347665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6" name="TextBox 1035">
            <a:extLst>
              <a:ext uri="{FF2B5EF4-FFF2-40B4-BE49-F238E27FC236}">
                <a16:creationId xmlns:a16="http://schemas.microsoft.com/office/drawing/2014/main" id="{4C661ACC-67B4-258C-015A-3832A5B76434}"/>
              </a:ext>
            </a:extLst>
          </p:cNvPr>
          <p:cNvSpPr txBox="1"/>
          <p:nvPr/>
        </p:nvSpPr>
        <p:spPr>
          <a:xfrm>
            <a:off x="10518415" y="3161395"/>
            <a:ext cx="9544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/>
              <a:t>features</a:t>
            </a:r>
            <a:endParaRPr lang="pt-BR" dirty="0"/>
          </a:p>
        </p:txBody>
      </p:sp>
      <p:cxnSp>
        <p:nvCxnSpPr>
          <p:cNvPr id="1037" name="Straight Arrow Connector 1036">
            <a:extLst>
              <a:ext uri="{FF2B5EF4-FFF2-40B4-BE49-F238E27FC236}">
                <a16:creationId xmlns:a16="http://schemas.microsoft.com/office/drawing/2014/main" id="{188908CB-0EE3-4E5A-E132-61303364FB7C}"/>
              </a:ext>
            </a:extLst>
          </p:cNvPr>
          <p:cNvCxnSpPr>
            <a:cxnSpLocks/>
          </p:cNvCxnSpPr>
          <p:nvPr/>
        </p:nvCxnSpPr>
        <p:spPr>
          <a:xfrm>
            <a:off x="12002744" y="3733019"/>
            <a:ext cx="0" cy="1044369"/>
          </a:xfrm>
          <a:prstGeom prst="straightConnector1">
            <a:avLst/>
          </a:prstGeom>
          <a:ln w="28575">
            <a:solidFill>
              <a:srgbClr val="0070C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0" name="Rectangle 1039">
            <a:extLst>
              <a:ext uri="{FF2B5EF4-FFF2-40B4-BE49-F238E27FC236}">
                <a16:creationId xmlns:a16="http://schemas.microsoft.com/office/drawing/2014/main" id="{86E43187-4259-FCA9-AA89-CC3E66BC1DFE}"/>
              </a:ext>
            </a:extLst>
          </p:cNvPr>
          <p:cNvSpPr/>
          <p:nvPr/>
        </p:nvSpPr>
        <p:spPr>
          <a:xfrm>
            <a:off x="2604980" y="3221382"/>
            <a:ext cx="2142450" cy="1226690"/>
          </a:xfrm>
          <a:prstGeom prst="rect">
            <a:avLst/>
          </a:prstGeom>
          <a:noFill/>
          <a:ln w="1905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41" name="Rectangle 1040">
            <a:extLst>
              <a:ext uri="{FF2B5EF4-FFF2-40B4-BE49-F238E27FC236}">
                <a16:creationId xmlns:a16="http://schemas.microsoft.com/office/drawing/2014/main" id="{F543F008-6F11-B14F-DFA6-D9A2AAC0AB71}"/>
              </a:ext>
            </a:extLst>
          </p:cNvPr>
          <p:cNvSpPr/>
          <p:nvPr/>
        </p:nvSpPr>
        <p:spPr>
          <a:xfrm>
            <a:off x="7590666" y="3209447"/>
            <a:ext cx="1573789" cy="1352182"/>
          </a:xfrm>
          <a:prstGeom prst="rect">
            <a:avLst/>
          </a:prstGeom>
          <a:noFill/>
          <a:ln w="1905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42" name="TextBox 1041">
            <a:extLst>
              <a:ext uri="{FF2B5EF4-FFF2-40B4-BE49-F238E27FC236}">
                <a16:creationId xmlns:a16="http://schemas.microsoft.com/office/drawing/2014/main" id="{02A1225E-C4CB-3460-EAEF-B431C6B64197}"/>
              </a:ext>
            </a:extLst>
          </p:cNvPr>
          <p:cNvSpPr txBox="1"/>
          <p:nvPr/>
        </p:nvSpPr>
        <p:spPr>
          <a:xfrm>
            <a:off x="3224692" y="3249497"/>
            <a:ext cx="12592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i="1" dirty="0" err="1"/>
              <a:t>mean</a:t>
            </a:r>
            <a:r>
              <a:rPr lang="pt-BR" dirty="0"/>
              <a:t> e </a:t>
            </a:r>
            <a:r>
              <a:rPr lang="pt-BR" i="1" dirty="0" err="1"/>
              <a:t>std</a:t>
            </a:r>
            <a:endParaRPr lang="pt-BR" i="1" dirty="0"/>
          </a:p>
        </p:txBody>
      </p:sp>
      <p:sp>
        <p:nvSpPr>
          <p:cNvPr id="1044" name="TextBox 1043">
            <a:extLst>
              <a:ext uri="{FF2B5EF4-FFF2-40B4-BE49-F238E27FC236}">
                <a16:creationId xmlns:a16="http://schemas.microsoft.com/office/drawing/2014/main" id="{678F97EA-AC4C-2098-0682-311BF2D591D5}"/>
              </a:ext>
            </a:extLst>
          </p:cNvPr>
          <p:cNvSpPr txBox="1"/>
          <p:nvPr/>
        </p:nvSpPr>
        <p:spPr>
          <a:xfrm>
            <a:off x="7744761" y="3221541"/>
            <a:ext cx="14196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i="1" dirty="0" err="1"/>
              <a:t>scale</a:t>
            </a:r>
            <a:r>
              <a:rPr lang="pt-BR" i="1" dirty="0"/>
              <a:t> </a:t>
            </a:r>
            <a:r>
              <a:rPr lang="pt-BR" dirty="0"/>
              <a:t>e</a:t>
            </a:r>
            <a:r>
              <a:rPr lang="pt-BR" i="1" dirty="0"/>
              <a:t> shift</a:t>
            </a:r>
          </a:p>
        </p:txBody>
      </p:sp>
      <p:sp>
        <p:nvSpPr>
          <p:cNvPr id="1045" name="TextBox 1044">
            <a:extLst>
              <a:ext uri="{FF2B5EF4-FFF2-40B4-BE49-F238E27FC236}">
                <a16:creationId xmlns:a16="http://schemas.microsoft.com/office/drawing/2014/main" id="{CD1A54F1-C48E-AD37-28DD-9F50E2C12F40}"/>
              </a:ext>
            </a:extLst>
          </p:cNvPr>
          <p:cNvSpPr txBox="1"/>
          <p:nvPr/>
        </p:nvSpPr>
        <p:spPr>
          <a:xfrm>
            <a:off x="5118847" y="2734821"/>
            <a:ext cx="196049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i="1" dirty="0"/>
              <a:t>batch </a:t>
            </a:r>
            <a:r>
              <a:rPr lang="pt-BR" sz="2800" i="1" dirty="0" err="1"/>
              <a:t>norm</a:t>
            </a:r>
            <a:endParaRPr lang="pt-BR" sz="2800" i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46" name="Rectangle 1045">
                <a:extLst>
                  <a:ext uri="{FF2B5EF4-FFF2-40B4-BE49-F238E27FC236}">
                    <a16:creationId xmlns:a16="http://schemas.microsoft.com/office/drawing/2014/main" id="{D41B99D9-8747-0A9B-82B4-72458674E90E}"/>
                  </a:ext>
                </a:extLst>
              </p:cNvPr>
              <p:cNvSpPr/>
              <p:nvPr/>
            </p:nvSpPr>
            <p:spPr>
              <a:xfrm>
                <a:off x="3167535" y="5771408"/>
                <a:ext cx="424826" cy="319177"/>
              </a:xfrm>
              <a:prstGeom prst="rect">
                <a:avLst/>
              </a:prstGeom>
              <a:solidFill>
                <a:srgbClr val="0070C0"/>
              </a:solidFill>
            </p:spPr>
            <p:style>
              <a:lnRef idx="2">
                <a:schemeClr val="accent5">
                  <a:shade val="15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1046" name="Rectangle 1045">
                <a:extLst>
                  <a:ext uri="{FF2B5EF4-FFF2-40B4-BE49-F238E27FC236}">
                    <a16:creationId xmlns:a16="http://schemas.microsoft.com/office/drawing/2014/main" id="{D41B99D9-8747-0A9B-82B4-72458674E90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67535" y="5771408"/>
                <a:ext cx="424826" cy="319177"/>
              </a:xfrm>
              <a:prstGeom prst="rect">
                <a:avLst/>
              </a:prstGeom>
              <a:blipFill>
                <a:blip r:embed="rId19"/>
                <a:stretch>
                  <a:fillRect l="-14085" b="-5556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47" name="Rectangle 1046">
                <a:extLst>
                  <a:ext uri="{FF2B5EF4-FFF2-40B4-BE49-F238E27FC236}">
                    <a16:creationId xmlns:a16="http://schemas.microsoft.com/office/drawing/2014/main" id="{3D5D08D1-C166-C4DA-8567-A11C776C7FC2}"/>
                  </a:ext>
                </a:extLst>
              </p:cNvPr>
              <p:cNvSpPr/>
              <p:nvPr/>
            </p:nvSpPr>
            <p:spPr>
              <a:xfrm>
                <a:off x="3642691" y="5779292"/>
                <a:ext cx="424826" cy="319177"/>
              </a:xfrm>
              <a:prstGeom prst="rect">
                <a:avLst/>
              </a:prstGeom>
              <a:solidFill>
                <a:srgbClr val="0070C0"/>
              </a:solidFill>
            </p:spPr>
            <p:style>
              <a:lnRef idx="2">
                <a:schemeClr val="accent5">
                  <a:shade val="15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1,7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1047" name="Rectangle 1046">
                <a:extLst>
                  <a:ext uri="{FF2B5EF4-FFF2-40B4-BE49-F238E27FC236}">
                    <a16:creationId xmlns:a16="http://schemas.microsoft.com/office/drawing/2014/main" id="{3D5D08D1-C166-C4DA-8567-A11C776C7FC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42691" y="5779292"/>
                <a:ext cx="424826" cy="319177"/>
              </a:xfrm>
              <a:prstGeom prst="rect">
                <a:avLst/>
              </a:prstGeom>
              <a:blipFill>
                <a:blip r:embed="rId20"/>
                <a:stretch>
                  <a:fillRect l="-9859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48" name="Rectangle 1047">
                <a:extLst>
                  <a:ext uri="{FF2B5EF4-FFF2-40B4-BE49-F238E27FC236}">
                    <a16:creationId xmlns:a16="http://schemas.microsoft.com/office/drawing/2014/main" id="{C359048D-8A89-4D4A-9D45-D60AF6954E0E}"/>
                  </a:ext>
                </a:extLst>
              </p:cNvPr>
              <p:cNvSpPr/>
              <p:nvPr/>
            </p:nvSpPr>
            <p:spPr>
              <a:xfrm>
                <a:off x="4117847" y="5779292"/>
                <a:ext cx="424826" cy="319177"/>
              </a:xfrm>
              <a:prstGeom prst="rect">
                <a:avLst/>
              </a:prstGeom>
              <a:solidFill>
                <a:srgbClr val="0070C0"/>
              </a:solidFill>
            </p:spPr>
            <p:style>
              <a:lnRef idx="2">
                <a:schemeClr val="accent5">
                  <a:shade val="15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1048" name="Rectangle 1047">
                <a:extLst>
                  <a:ext uri="{FF2B5EF4-FFF2-40B4-BE49-F238E27FC236}">
                    <a16:creationId xmlns:a16="http://schemas.microsoft.com/office/drawing/2014/main" id="{C359048D-8A89-4D4A-9D45-D60AF6954E0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7847" y="5779292"/>
                <a:ext cx="424826" cy="319177"/>
              </a:xfrm>
              <a:prstGeom prst="rect">
                <a:avLst/>
              </a:prstGeom>
              <a:blipFill>
                <a:blip r:embed="rId21"/>
                <a:stretch>
                  <a:fillRect l="-12500" b="-5556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49" name="Rectangle 1048">
                <a:extLst>
                  <a:ext uri="{FF2B5EF4-FFF2-40B4-BE49-F238E27FC236}">
                    <a16:creationId xmlns:a16="http://schemas.microsoft.com/office/drawing/2014/main" id="{7C7278F0-9DAD-AD89-C5A4-15313BE22F95}"/>
                  </a:ext>
                </a:extLst>
              </p:cNvPr>
              <p:cNvSpPr/>
              <p:nvPr/>
            </p:nvSpPr>
            <p:spPr>
              <a:xfrm>
                <a:off x="4574476" y="5779292"/>
                <a:ext cx="424826" cy="319177"/>
              </a:xfrm>
              <a:prstGeom prst="rect">
                <a:avLst/>
              </a:prstGeom>
              <a:solidFill>
                <a:srgbClr val="0070C0"/>
              </a:solidFill>
            </p:spPr>
            <p:style>
              <a:lnRef idx="2">
                <a:schemeClr val="accent5">
                  <a:shade val="15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1049" name="Rectangle 1048">
                <a:extLst>
                  <a:ext uri="{FF2B5EF4-FFF2-40B4-BE49-F238E27FC236}">
                    <a16:creationId xmlns:a16="http://schemas.microsoft.com/office/drawing/2014/main" id="{7C7278F0-9DAD-AD89-C5A4-15313BE22F9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4476" y="5779292"/>
                <a:ext cx="424826" cy="319177"/>
              </a:xfrm>
              <a:prstGeom prst="rect">
                <a:avLst/>
              </a:prstGeom>
              <a:blipFill>
                <a:blip r:embed="rId22"/>
                <a:stretch>
                  <a:fillRect l="-12500" b="-5556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50" name="Rectangle 1049">
                <a:extLst>
                  <a:ext uri="{FF2B5EF4-FFF2-40B4-BE49-F238E27FC236}">
                    <a16:creationId xmlns:a16="http://schemas.microsoft.com/office/drawing/2014/main" id="{FCD8FE0B-B06D-EDC0-5E76-2548E5E010AD}"/>
                  </a:ext>
                </a:extLst>
              </p:cNvPr>
              <p:cNvSpPr/>
              <p:nvPr/>
            </p:nvSpPr>
            <p:spPr>
              <a:xfrm>
                <a:off x="3167535" y="5385195"/>
                <a:ext cx="424826" cy="319177"/>
              </a:xfrm>
              <a:prstGeom prst="rect">
                <a:avLst/>
              </a:prstGeom>
              <a:solidFill>
                <a:srgbClr val="0070C0"/>
              </a:solidFill>
            </p:spPr>
            <p:style>
              <a:lnRef idx="2">
                <a:schemeClr val="accent5">
                  <a:shade val="15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1050" name="Rectangle 1049">
                <a:extLst>
                  <a:ext uri="{FF2B5EF4-FFF2-40B4-BE49-F238E27FC236}">
                    <a16:creationId xmlns:a16="http://schemas.microsoft.com/office/drawing/2014/main" id="{FCD8FE0B-B06D-EDC0-5E76-2548E5E010A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67535" y="5385195"/>
                <a:ext cx="424826" cy="319177"/>
              </a:xfrm>
              <a:prstGeom prst="rect">
                <a:avLst/>
              </a:prstGeom>
              <a:blipFill>
                <a:blip r:embed="rId23"/>
                <a:stretch>
                  <a:fillRect l="-19718" r="-1408" b="-10909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51" name="Rectangle 1050">
                <a:extLst>
                  <a:ext uri="{FF2B5EF4-FFF2-40B4-BE49-F238E27FC236}">
                    <a16:creationId xmlns:a16="http://schemas.microsoft.com/office/drawing/2014/main" id="{D8DCCF45-9944-0F39-BF4F-41C912D50B0F}"/>
                  </a:ext>
                </a:extLst>
              </p:cNvPr>
              <p:cNvSpPr/>
              <p:nvPr/>
            </p:nvSpPr>
            <p:spPr>
              <a:xfrm>
                <a:off x="3642691" y="5385195"/>
                <a:ext cx="424826" cy="319177"/>
              </a:xfrm>
              <a:prstGeom prst="rect">
                <a:avLst/>
              </a:prstGeom>
              <a:solidFill>
                <a:srgbClr val="0070C0"/>
              </a:solidFill>
            </p:spPr>
            <p:style>
              <a:lnRef idx="2">
                <a:schemeClr val="accent5">
                  <a:shade val="15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1,33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1051" name="Rectangle 1050">
                <a:extLst>
                  <a:ext uri="{FF2B5EF4-FFF2-40B4-BE49-F238E27FC236}">
                    <a16:creationId xmlns:a16="http://schemas.microsoft.com/office/drawing/2014/main" id="{D8DCCF45-9944-0F39-BF4F-41C912D50B0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42691" y="5385195"/>
                <a:ext cx="424826" cy="319177"/>
              </a:xfrm>
              <a:prstGeom prst="rect">
                <a:avLst/>
              </a:prstGeom>
              <a:blipFill>
                <a:blip r:embed="rId24"/>
                <a:stretch>
                  <a:fillRect l="-25352" r="-12676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52" name="Rectangle 1051">
                <a:extLst>
                  <a:ext uri="{FF2B5EF4-FFF2-40B4-BE49-F238E27FC236}">
                    <a16:creationId xmlns:a16="http://schemas.microsoft.com/office/drawing/2014/main" id="{73747D17-DFB5-FDC1-E344-752D4EF174F7}"/>
                  </a:ext>
                </a:extLst>
              </p:cNvPr>
              <p:cNvSpPr/>
              <p:nvPr/>
            </p:nvSpPr>
            <p:spPr>
              <a:xfrm>
                <a:off x="4117847" y="5385195"/>
                <a:ext cx="424826" cy="319177"/>
              </a:xfrm>
              <a:prstGeom prst="rect">
                <a:avLst/>
              </a:prstGeom>
              <a:solidFill>
                <a:srgbClr val="0070C0"/>
              </a:solidFill>
            </p:spPr>
            <p:style>
              <a:lnRef idx="2">
                <a:schemeClr val="accent5">
                  <a:shade val="15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1052" name="Rectangle 1051">
                <a:extLst>
                  <a:ext uri="{FF2B5EF4-FFF2-40B4-BE49-F238E27FC236}">
                    <a16:creationId xmlns:a16="http://schemas.microsoft.com/office/drawing/2014/main" id="{73747D17-DFB5-FDC1-E344-752D4EF174F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7847" y="5385195"/>
                <a:ext cx="424826" cy="319177"/>
              </a:xfrm>
              <a:prstGeom prst="rect">
                <a:avLst/>
              </a:prstGeom>
              <a:blipFill>
                <a:blip r:embed="rId25"/>
                <a:stretch>
                  <a:fillRect l="-18056" r="-1389" b="-10909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53" name="Rectangle 1052">
                <a:extLst>
                  <a:ext uri="{FF2B5EF4-FFF2-40B4-BE49-F238E27FC236}">
                    <a16:creationId xmlns:a16="http://schemas.microsoft.com/office/drawing/2014/main" id="{E525BFFD-C7C4-9348-1446-568ED36A8A8C}"/>
                  </a:ext>
                </a:extLst>
              </p:cNvPr>
              <p:cNvSpPr/>
              <p:nvPr/>
            </p:nvSpPr>
            <p:spPr>
              <a:xfrm>
                <a:off x="4574476" y="5383573"/>
                <a:ext cx="424826" cy="319177"/>
              </a:xfrm>
              <a:prstGeom prst="rect">
                <a:avLst/>
              </a:prstGeom>
              <a:solidFill>
                <a:srgbClr val="0070C0"/>
              </a:solidFill>
            </p:spPr>
            <p:style>
              <a:lnRef idx="2">
                <a:schemeClr val="accent5">
                  <a:shade val="15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1053" name="Rectangle 1052">
                <a:extLst>
                  <a:ext uri="{FF2B5EF4-FFF2-40B4-BE49-F238E27FC236}">
                    <a16:creationId xmlns:a16="http://schemas.microsoft.com/office/drawing/2014/main" id="{E525BFFD-C7C4-9348-1446-568ED36A8A8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4476" y="5383573"/>
                <a:ext cx="424826" cy="319177"/>
              </a:xfrm>
              <a:prstGeom prst="rect">
                <a:avLst/>
              </a:prstGeom>
              <a:blipFill>
                <a:blip r:embed="rId26"/>
                <a:stretch>
                  <a:fillRect l="-18056" r="-1389" b="-1111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54" name="Rectangle 1053">
            <a:extLst>
              <a:ext uri="{FF2B5EF4-FFF2-40B4-BE49-F238E27FC236}">
                <a16:creationId xmlns:a16="http://schemas.microsoft.com/office/drawing/2014/main" id="{DD92244D-7A23-91B7-1294-C5EFEFCFA14E}"/>
              </a:ext>
            </a:extLst>
          </p:cNvPr>
          <p:cNvSpPr/>
          <p:nvPr/>
        </p:nvSpPr>
        <p:spPr>
          <a:xfrm>
            <a:off x="3071389" y="4977559"/>
            <a:ext cx="2033051" cy="1226690"/>
          </a:xfrm>
          <a:prstGeom prst="rect">
            <a:avLst/>
          </a:prstGeom>
          <a:noFill/>
          <a:ln w="1905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55" name="TextBox 1054">
            <a:extLst>
              <a:ext uri="{FF2B5EF4-FFF2-40B4-BE49-F238E27FC236}">
                <a16:creationId xmlns:a16="http://schemas.microsoft.com/office/drawing/2014/main" id="{1BCC8390-7469-D90B-8130-44CEB6839792}"/>
              </a:ext>
            </a:extLst>
          </p:cNvPr>
          <p:cNvSpPr txBox="1"/>
          <p:nvPr/>
        </p:nvSpPr>
        <p:spPr>
          <a:xfrm>
            <a:off x="3071390" y="5005674"/>
            <a:ext cx="16760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i="1" dirty="0" err="1"/>
              <a:t>moving</a:t>
            </a:r>
            <a:r>
              <a:rPr lang="pt-BR" sz="1600" i="1" dirty="0"/>
              <a:t> </a:t>
            </a:r>
            <a:r>
              <a:rPr lang="pt-BR" sz="1600" i="1" dirty="0" err="1"/>
              <a:t>averages</a:t>
            </a:r>
            <a:endParaRPr lang="pt-BR" sz="1600" i="1" dirty="0"/>
          </a:p>
        </p:txBody>
      </p:sp>
      <p:sp>
        <p:nvSpPr>
          <p:cNvPr id="1059" name="Rectangle 1058">
            <a:extLst>
              <a:ext uri="{FF2B5EF4-FFF2-40B4-BE49-F238E27FC236}">
                <a16:creationId xmlns:a16="http://schemas.microsoft.com/office/drawing/2014/main" id="{5944823A-F47B-DD1F-EE7E-2B36E2F43501}"/>
              </a:ext>
            </a:extLst>
          </p:cNvPr>
          <p:cNvSpPr/>
          <p:nvPr/>
        </p:nvSpPr>
        <p:spPr>
          <a:xfrm>
            <a:off x="8038596" y="3590874"/>
            <a:ext cx="327518" cy="831522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61" name="Rectangle 1060">
            <a:extLst>
              <a:ext uri="{FF2B5EF4-FFF2-40B4-BE49-F238E27FC236}">
                <a16:creationId xmlns:a16="http://schemas.microsoft.com/office/drawing/2014/main" id="{A8AB8CE9-6B4D-6269-0334-5030EF517CB8}"/>
              </a:ext>
            </a:extLst>
          </p:cNvPr>
          <p:cNvSpPr/>
          <p:nvPr/>
        </p:nvSpPr>
        <p:spPr>
          <a:xfrm>
            <a:off x="3624164" y="5347621"/>
            <a:ext cx="461880" cy="777720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9F11EEC-6354-8CE7-C8D6-FDB94FC292DE}"/>
              </a:ext>
            </a:extLst>
          </p:cNvPr>
          <p:cNvSpPr/>
          <p:nvPr/>
        </p:nvSpPr>
        <p:spPr>
          <a:xfrm>
            <a:off x="5271186" y="4027126"/>
            <a:ext cx="468000" cy="319177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0286FB88-D95D-5C00-BDE1-CDA3675A1FF8}"/>
                  </a:ext>
                </a:extLst>
              </p:cNvPr>
              <p:cNvSpPr/>
              <p:nvPr/>
            </p:nvSpPr>
            <p:spPr>
              <a:xfrm>
                <a:off x="5761515" y="4027126"/>
                <a:ext cx="468000" cy="319177"/>
              </a:xfrm>
              <a:prstGeom prst="rect">
                <a:avLst/>
              </a:prstGeom>
              <a:solidFill>
                <a:srgbClr val="FFFF00"/>
              </a:solidFill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−1,37</m:t>
                      </m:r>
                    </m:oMath>
                  </m:oMathPara>
                </a14:m>
                <a:endParaRPr lang="pt-BR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0286FB88-D95D-5C00-BDE1-CDA3675A1FF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61515" y="4027126"/>
                <a:ext cx="468000" cy="319177"/>
              </a:xfrm>
              <a:prstGeom prst="rect">
                <a:avLst/>
              </a:prstGeom>
              <a:blipFill>
                <a:blip r:embed="rId27"/>
                <a:stretch>
                  <a:fillRect l="-8861" r="-6329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ectangle 9">
            <a:extLst>
              <a:ext uri="{FF2B5EF4-FFF2-40B4-BE49-F238E27FC236}">
                <a16:creationId xmlns:a16="http://schemas.microsoft.com/office/drawing/2014/main" id="{5647B996-D0DC-54BF-68A3-6E01BD9FAAA3}"/>
              </a:ext>
            </a:extLst>
          </p:cNvPr>
          <p:cNvSpPr/>
          <p:nvPr/>
        </p:nvSpPr>
        <p:spPr>
          <a:xfrm>
            <a:off x="6251844" y="4027126"/>
            <a:ext cx="468000" cy="319177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4484A77-4271-07C2-12DB-D591874370FB}"/>
              </a:ext>
            </a:extLst>
          </p:cNvPr>
          <p:cNvSpPr/>
          <p:nvPr/>
        </p:nvSpPr>
        <p:spPr>
          <a:xfrm>
            <a:off x="6742173" y="4027126"/>
            <a:ext cx="468000" cy="319177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FDFC7C0-8059-3ACA-F747-DED452BF2EDB}"/>
              </a:ext>
            </a:extLst>
          </p:cNvPr>
          <p:cNvSpPr/>
          <p:nvPr/>
        </p:nvSpPr>
        <p:spPr>
          <a:xfrm>
            <a:off x="5271186" y="4367071"/>
            <a:ext cx="468000" cy="319177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DAFB020C-C53B-7351-D272-EEE1B1E41625}"/>
                  </a:ext>
                </a:extLst>
              </p:cNvPr>
              <p:cNvSpPr/>
              <p:nvPr/>
            </p:nvSpPr>
            <p:spPr>
              <a:xfrm>
                <a:off x="5761515" y="4367071"/>
                <a:ext cx="468000" cy="319177"/>
              </a:xfrm>
              <a:prstGeom prst="rect">
                <a:avLst/>
              </a:prstGeom>
              <a:solidFill>
                <a:srgbClr val="FFFF00"/>
              </a:solidFill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0,39</m:t>
                      </m:r>
                    </m:oMath>
                  </m:oMathPara>
                </a14:m>
                <a:endParaRPr lang="pt-BR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DAFB020C-C53B-7351-D272-EEE1B1E4162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61515" y="4367071"/>
                <a:ext cx="468000" cy="319177"/>
              </a:xfrm>
              <a:prstGeom prst="rect">
                <a:avLst/>
              </a:prstGeom>
              <a:blipFill>
                <a:blip r:embed="rId28"/>
                <a:stretch>
                  <a:fillRect l="-886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Rectangle 25">
            <a:extLst>
              <a:ext uri="{FF2B5EF4-FFF2-40B4-BE49-F238E27FC236}">
                <a16:creationId xmlns:a16="http://schemas.microsoft.com/office/drawing/2014/main" id="{306175DC-D122-3A23-6F03-6ED3FF128978}"/>
              </a:ext>
            </a:extLst>
          </p:cNvPr>
          <p:cNvSpPr/>
          <p:nvPr/>
        </p:nvSpPr>
        <p:spPr>
          <a:xfrm>
            <a:off x="6251844" y="4367071"/>
            <a:ext cx="468000" cy="319177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AC6C62D-8D61-7095-9F6A-20A917B54E5B}"/>
              </a:ext>
            </a:extLst>
          </p:cNvPr>
          <p:cNvSpPr/>
          <p:nvPr/>
        </p:nvSpPr>
        <p:spPr>
          <a:xfrm>
            <a:off x="6742173" y="4367071"/>
            <a:ext cx="468000" cy="319177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3C5FBA3-4845-20C7-5AB5-C26226AE6C67}"/>
              </a:ext>
            </a:extLst>
          </p:cNvPr>
          <p:cNvSpPr/>
          <p:nvPr/>
        </p:nvSpPr>
        <p:spPr>
          <a:xfrm>
            <a:off x="9912498" y="3776054"/>
            <a:ext cx="468000" cy="319177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53E7BCEF-7560-BBDE-62DD-5794D7A4853A}"/>
                  </a:ext>
                </a:extLst>
              </p:cNvPr>
              <p:cNvSpPr/>
              <p:nvPr/>
            </p:nvSpPr>
            <p:spPr>
              <a:xfrm>
                <a:off x="10402827" y="3776054"/>
                <a:ext cx="468000" cy="319177"/>
              </a:xfrm>
              <a:prstGeom prst="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3,66</m:t>
                      </m:r>
                    </m:oMath>
                  </m:oMathPara>
                </a14:m>
                <a:endParaRPr lang="pt-BR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53E7BCEF-7560-BBDE-62DD-5794D7A4853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02827" y="3776054"/>
                <a:ext cx="468000" cy="319177"/>
              </a:xfrm>
              <a:prstGeom prst="rect">
                <a:avLst/>
              </a:prstGeom>
              <a:blipFill>
                <a:blip r:embed="rId29"/>
                <a:stretch>
                  <a:fillRect l="-2564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26" name="Rectangle 1025">
            <a:extLst>
              <a:ext uri="{FF2B5EF4-FFF2-40B4-BE49-F238E27FC236}">
                <a16:creationId xmlns:a16="http://schemas.microsoft.com/office/drawing/2014/main" id="{7EB84432-A73B-0F7D-9274-8F1213C79CCE}"/>
              </a:ext>
            </a:extLst>
          </p:cNvPr>
          <p:cNvSpPr/>
          <p:nvPr/>
        </p:nvSpPr>
        <p:spPr>
          <a:xfrm>
            <a:off x="10893156" y="3776054"/>
            <a:ext cx="468000" cy="319177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38" name="Rectangle 1037">
            <a:extLst>
              <a:ext uri="{FF2B5EF4-FFF2-40B4-BE49-F238E27FC236}">
                <a16:creationId xmlns:a16="http://schemas.microsoft.com/office/drawing/2014/main" id="{14C4F4E2-171B-8C83-E123-E991D6133B64}"/>
              </a:ext>
            </a:extLst>
          </p:cNvPr>
          <p:cNvSpPr/>
          <p:nvPr/>
        </p:nvSpPr>
        <p:spPr>
          <a:xfrm>
            <a:off x="11383485" y="3776054"/>
            <a:ext cx="468000" cy="319177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43" name="Rectangle 1042">
            <a:extLst>
              <a:ext uri="{FF2B5EF4-FFF2-40B4-BE49-F238E27FC236}">
                <a16:creationId xmlns:a16="http://schemas.microsoft.com/office/drawing/2014/main" id="{30228EB1-33E9-4AF4-356F-81837378979B}"/>
              </a:ext>
            </a:extLst>
          </p:cNvPr>
          <p:cNvSpPr/>
          <p:nvPr/>
        </p:nvSpPr>
        <p:spPr>
          <a:xfrm>
            <a:off x="9912498" y="4118266"/>
            <a:ext cx="468000" cy="319177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62" name="Rectangle 1061">
                <a:extLst>
                  <a:ext uri="{FF2B5EF4-FFF2-40B4-BE49-F238E27FC236}">
                    <a16:creationId xmlns:a16="http://schemas.microsoft.com/office/drawing/2014/main" id="{0EDBCDB4-513E-9F95-321B-12EEDA929E7F}"/>
                  </a:ext>
                </a:extLst>
              </p:cNvPr>
              <p:cNvSpPr/>
              <p:nvPr/>
            </p:nvSpPr>
            <p:spPr>
              <a:xfrm>
                <a:off x="10402827" y="4118266"/>
                <a:ext cx="468000" cy="319177"/>
              </a:xfrm>
              <a:prstGeom prst="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−1,74</m:t>
                      </m:r>
                    </m:oMath>
                  </m:oMathPara>
                </a14:m>
                <a:endParaRPr lang="pt-BR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62" name="Rectangle 1061">
                <a:extLst>
                  <a:ext uri="{FF2B5EF4-FFF2-40B4-BE49-F238E27FC236}">
                    <a16:creationId xmlns:a16="http://schemas.microsoft.com/office/drawing/2014/main" id="{0EDBCDB4-513E-9F95-321B-12EEDA929E7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02827" y="4118266"/>
                <a:ext cx="468000" cy="319177"/>
              </a:xfrm>
              <a:prstGeom prst="rect">
                <a:avLst/>
              </a:prstGeom>
              <a:blipFill>
                <a:blip r:embed="rId30"/>
                <a:stretch>
                  <a:fillRect l="-10256" r="-641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63" name="Rectangle 1062">
            <a:extLst>
              <a:ext uri="{FF2B5EF4-FFF2-40B4-BE49-F238E27FC236}">
                <a16:creationId xmlns:a16="http://schemas.microsoft.com/office/drawing/2014/main" id="{AD5AB29B-F00F-00A1-142A-9ED063851743}"/>
              </a:ext>
            </a:extLst>
          </p:cNvPr>
          <p:cNvSpPr/>
          <p:nvPr/>
        </p:nvSpPr>
        <p:spPr>
          <a:xfrm>
            <a:off x="10893156" y="4118266"/>
            <a:ext cx="468000" cy="319177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64" name="Rectangle 1063">
            <a:extLst>
              <a:ext uri="{FF2B5EF4-FFF2-40B4-BE49-F238E27FC236}">
                <a16:creationId xmlns:a16="http://schemas.microsoft.com/office/drawing/2014/main" id="{2F8C8BC1-EC49-51B1-3D9B-A37EB7A6EDA2}"/>
              </a:ext>
            </a:extLst>
          </p:cNvPr>
          <p:cNvSpPr/>
          <p:nvPr/>
        </p:nvSpPr>
        <p:spPr>
          <a:xfrm>
            <a:off x="11383485" y="4118266"/>
            <a:ext cx="468000" cy="319177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65" name="Rectangle 1064">
            <a:extLst>
              <a:ext uri="{FF2B5EF4-FFF2-40B4-BE49-F238E27FC236}">
                <a16:creationId xmlns:a16="http://schemas.microsoft.com/office/drawing/2014/main" id="{635594EA-F3FA-DB31-4178-1ACF6170442F}"/>
              </a:ext>
            </a:extLst>
          </p:cNvPr>
          <p:cNvSpPr/>
          <p:nvPr/>
        </p:nvSpPr>
        <p:spPr>
          <a:xfrm>
            <a:off x="9912498" y="4458211"/>
            <a:ext cx="468000" cy="319177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66" name="Rectangle 1065">
                <a:extLst>
                  <a:ext uri="{FF2B5EF4-FFF2-40B4-BE49-F238E27FC236}">
                    <a16:creationId xmlns:a16="http://schemas.microsoft.com/office/drawing/2014/main" id="{893AC88F-5D92-4D11-0E95-B177E607821F}"/>
                  </a:ext>
                </a:extLst>
              </p:cNvPr>
              <p:cNvSpPr/>
              <p:nvPr/>
            </p:nvSpPr>
            <p:spPr>
              <a:xfrm>
                <a:off x="10402827" y="4458211"/>
                <a:ext cx="468000" cy="319177"/>
              </a:xfrm>
              <a:prstGeom prst="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1,78</m:t>
                      </m:r>
                    </m:oMath>
                  </m:oMathPara>
                </a14:m>
                <a:endParaRPr lang="pt-BR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66" name="Rectangle 1065">
                <a:extLst>
                  <a:ext uri="{FF2B5EF4-FFF2-40B4-BE49-F238E27FC236}">
                    <a16:creationId xmlns:a16="http://schemas.microsoft.com/office/drawing/2014/main" id="{893AC88F-5D92-4D11-0E95-B177E607821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02827" y="4458211"/>
                <a:ext cx="468000" cy="319177"/>
              </a:xfrm>
              <a:prstGeom prst="rect">
                <a:avLst/>
              </a:prstGeom>
              <a:blipFill>
                <a:blip r:embed="rId31"/>
                <a:stretch>
                  <a:fillRect l="-2564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67" name="Rectangle 1066">
            <a:extLst>
              <a:ext uri="{FF2B5EF4-FFF2-40B4-BE49-F238E27FC236}">
                <a16:creationId xmlns:a16="http://schemas.microsoft.com/office/drawing/2014/main" id="{43C1F803-7906-80F1-B615-3D0BF4750B9E}"/>
              </a:ext>
            </a:extLst>
          </p:cNvPr>
          <p:cNvSpPr/>
          <p:nvPr/>
        </p:nvSpPr>
        <p:spPr>
          <a:xfrm>
            <a:off x="10893156" y="4458211"/>
            <a:ext cx="468000" cy="319177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68" name="Rectangle 1067">
            <a:extLst>
              <a:ext uri="{FF2B5EF4-FFF2-40B4-BE49-F238E27FC236}">
                <a16:creationId xmlns:a16="http://schemas.microsoft.com/office/drawing/2014/main" id="{3E137B0E-D441-C30F-4938-076EC892CF52}"/>
              </a:ext>
            </a:extLst>
          </p:cNvPr>
          <p:cNvSpPr/>
          <p:nvPr/>
        </p:nvSpPr>
        <p:spPr>
          <a:xfrm>
            <a:off x="11383485" y="4458211"/>
            <a:ext cx="468000" cy="319177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69" name="Rectangle 1068">
            <a:extLst>
              <a:ext uri="{FF2B5EF4-FFF2-40B4-BE49-F238E27FC236}">
                <a16:creationId xmlns:a16="http://schemas.microsoft.com/office/drawing/2014/main" id="{4090E3C8-34FE-2AA6-A7DD-DDA51739802C}"/>
              </a:ext>
            </a:extLst>
          </p:cNvPr>
          <p:cNvSpPr/>
          <p:nvPr/>
        </p:nvSpPr>
        <p:spPr>
          <a:xfrm>
            <a:off x="659373" y="3574146"/>
            <a:ext cx="377181" cy="1110482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70" name="Rectangle 1069">
            <a:extLst>
              <a:ext uri="{FF2B5EF4-FFF2-40B4-BE49-F238E27FC236}">
                <a16:creationId xmlns:a16="http://schemas.microsoft.com/office/drawing/2014/main" id="{2DB302CB-CC06-425D-AC40-CA797C546AF1}"/>
              </a:ext>
            </a:extLst>
          </p:cNvPr>
          <p:cNvSpPr/>
          <p:nvPr/>
        </p:nvSpPr>
        <p:spPr>
          <a:xfrm>
            <a:off x="3143755" y="3618829"/>
            <a:ext cx="550621" cy="803567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71" name="Rectangle 1070">
            <a:extLst>
              <a:ext uri="{FF2B5EF4-FFF2-40B4-BE49-F238E27FC236}">
                <a16:creationId xmlns:a16="http://schemas.microsoft.com/office/drawing/2014/main" id="{8D5B7116-BAC6-49ED-E7D0-3708E57397F6}"/>
              </a:ext>
            </a:extLst>
          </p:cNvPr>
          <p:cNvSpPr/>
          <p:nvPr/>
        </p:nvSpPr>
        <p:spPr>
          <a:xfrm>
            <a:off x="5720204" y="3654644"/>
            <a:ext cx="550621" cy="1029984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72" name="Rectangle 1071">
            <a:extLst>
              <a:ext uri="{FF2B5EF4-FFF2-40B4-BE49-F238E27FC236}">
                <a16:creationId xmlns:a16="http://schemas.microsoft.com/office/drawing/2014/main" id="{F3CD0E10-0DBA-848F-415A-837294838A46}"/>
              </a:ext>
            </a:extLst>
          </p:cNvPr>
          <p:cNvSpPr/>
          <p:nvPr/>
        </p:nvSpPr>
        <p:spPr>
          <a:xfrm>
            <a:off x="10348937" y="3692489"/>
            <a:ext cx="550621" cy="1187853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F1FB6DD-64DD-0107-8311-70193EDB1FFF}"/>
              </a:ext>
            </a:extLst>
          </p:cNvPr>
          <p:cNvSpPr txBox="1"/>
          <p:nvPr/>
        </p:nvSpPr>
        <p:spPr>
          <a:xfrm>
            <a:off x="785004" y="1697830"/>
            <a:ext cx="105069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Vamos </a:t>
            </a:r>
            <a:r>
              <a:rPr lang="en-US" sz="2400" dirty="0" err="1"/>
              <a:t>começar</a:t>
            </a:r>
            <a:r>
              <a:rPr lang="en-US" sz="2400" dirty="0"/>
              <a:t> com um </a:t>
            </a:r>
            <a:r>
              <a:rPr lang="en-US" sz="2400" i="1" dirty="0"/>
              <a:t>mini batch </a:t>
            </a:r>
            <a:endParaRPr lang="pt-BR" sz="2400" i="1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F41D953-6DE9-BE45-B303-7FD28966328A}"/>
              </a:ext>
            </a:extLst>
          </p:cNvPr>
          <p:cNvSpPr/>
          <p:nvPr/>
        </p:nvSpPr>
        <p:spPr>
          <a:xfrm>
            <a:off x="2535567" y="3161395"/>
            <a:ext cx="6710184" cy="3107574"/>
          </a:xfrm>
          <a:prstGeom prst="rect">
            <a:avLst/>
          </a:prstGeom>
          <a:solidFill>
            <a:srgbClr val="DAE3F3">
              <a:alpha val="94902"/>
            </a:srgbClr>
          </a:solidFill>
          <a:ln>
            <a:noFill/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912E078-FD71-685C-5596-70A0738E0229}"/>
              </a:ext>
            </a:extLst>
          </p:cNvPr>
          <p:cNvSpPr/>
          <p:nvPr/>
        </p:nvSpPr>
        <p:spPr>
          <a:xfrm>
            <a:off x="9734183" y="3059668"/>
            <a:ext cx="2447442" cy="3107574"/>
          </a:xfrm>
          <a:prstGeom prst="rect">
            <a:avLst/>
          </a:prstGeom>
          <a:solidFill>
            <a:srgbClr val="FFFFFF">
              <a:alpha val="94902"/>
            </a:srgbClr>
          </a:solidFill>
          <a:ln>
            <a:noFill/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4625930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9" name="Rectangle: Rounded Corners 1038">
            <a:extLst>
              <a:ext uri="{FF2B5EF4-FFF2-40B4-BE49-F238E27FC236}">
                <a16:creationId xmlns:a16="http://schemas.microsoft.com/office/drawing/2014/main" id="{206AFDD9-1F26-000E-6015-4C8FEC37AF5D}"/>
              </a:ext>
            </a:extLst>
          </p:cNvPr>
          <p:cNvSpPr/>
          <p:nvPr/>
        </p:nvSpPr>
        <p:spPr>
          <a:xfrm>
            <a:off x="2438654" y="2789051"/>
            <a:ext cx="6838658" cy="3545153"/>
          </a:xfrm>
          <a:prstGeom prst="roundRect">
            <a:avLst>
              <a:gd name="adj" fmla="val 7217"/>
            </a:avLst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839EA5-D312-93A9-B084-C39FADB337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Batch Norm - Exemplo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CAE728-17C8-60F0-FE58-26D37AFA3C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37</a:t>
            </a:fld>
            <a:endParaRPr lang="pt-BR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BC3EE46-2D0B-78F6-C106-1216F939EDF9}"/>
              </a:ext>
            </a:extLst>
          </p:cNvPr>
          <p:cNvSpPr txBox="1"/>
          <p:nvPr/>
        </p:nvSpPr>
        <p:spPr>
          <a:xfrm>
            <a:off x="0" y="6582975"/>
            <a:ext cx="956453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200" dirty="0"/>
              <a:t>Fonte imagem: https://towardsdatascience.com/batch-norm-explained-visually-how-it-works-and-why-neural-networks-need-it-b18919692739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B10146F-6A3C-E9EB-51F7-56358628A632}"/>
              </a:ext>
            </a:extLst>
          </p:cNvPr>
          <p:cNvSpPr/>
          <p:nvPr/>
        </p:nvSpPr>
        <p:spPr>
          <a:xfrm>
            <a:off x="337871" y="4322032"/>
            <a:ext cx="319177" cy="319177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7FF3EE-CA26-EC19-BD8E-FA5C86DAEEB0}"/>
              </a:ext>
            </a:extLst>
          </p:cNvPr>
          <p:cNvSpPr/>
          <p:nvPr/>
        </p:nvSpPr>
        <p:spPr>
          <a:xfrm>
            <a:off x="674600" y="4322032"/>
            <a:ext cx="375688" cy="319177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2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C8BA06A-F643-7ACB-4AFA-E9ADA6154FFB}"/>
              </a:ext>
            </a:extLst>
          </p:cNvPr>
          <p:cNvSpPr/>
          <p:nvPr/>
        </p:nvSpPr>
        <p:spPr>
          <a:xfrm>
            <a:off x="1064694" y="4320147"/>
            <a:ext cx="319177" cy="319177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75DDA18-6DF6-F035-0D03-265ED01685BD}"/>
              </a:ext>
            </a:extLst>
          </p:cNvPr>
          <p:cNvSpPr/>
          <p:nvPr/>
        </p:nvSpPr>
        <p:spPr>
          <a:xfrm>
            <a:off x="1404598" y="4320146"/>
            <a:ext cx="319177" cy="319177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C1E78E6-2EE3-F5D9-A92A-295464DE9863}"/>
              </a:ext>
            </a:extLst>
          </p:cNvPr>
          <p:cNvSpPr/>
          <p:nvPr/>
        </p:nvSpPr>
        <p:spPr>
          <a:xfrm>
            <a:off x="337871" y="3959436"/>
            <a:ext cx="319177" cy="319177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662516E-2EF8-ED53-D25C-F8285584E3D8}"/>
              </a:ext>
            </a:extLst>
          </p:cNvPr>
          <p:cNvSpPr/>
          <p:nvPr/>
        </p:nvSpPr>
        <p:spPr>
          <a:xfrm>
            <a:off x="674600" y="3959436"/>
            <a:ext cx="375688" cy="319177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-1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1645738-3C6E-1A0A-B8F0-64A182A07F99}"/>
              </a:ext>
            </a:extLst>
          </p:cNvPr>
          <p:cNvSpPr/>
          <p:nvPr/>
        </p:nvSpPr>
        <p:spPr>
          <a:xfrm>
            <a:off x="1064694" y="3957551"/>
            <a:ext cx="319177" cy="319177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8D43920-4369-388A-9E74-7B6AF0D1EE55}"/>
              </a:ext>
            </a:extLst>
          </p:cNvPr>
          <p:cNvSpPr/>
          <p:nvPr/>
        </p:nvSpPr>
        <p:spPr>
          <a:xfrm>
            <a:off x="1404598" y="3957550"/>
            <a:ext cx="319177" cy="319177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C95A93A-E7BC-C5AF-7462-13DACB311257}"/>
              </a:ext>
            </a:extLst>
          </p:cNvPr>
          <p:cNvSpPr/>
          <p:nvPr/>
        </p:nvSpPr>
        <p:spPr>
          <a:xfrm>
            <a:off x="337871" y="3596840"/>
            <a:ext cx="319177" cy="319177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69463FB-E674-6629-3672-CD3F6CD4A541}"/>
              </a:ext>
            </a:extLst>
          </p:cNvPr>
          <p:cNvSpPr/>
          <p:nvPr/>
        </p:nvSpPr>
        <p:spPr>
          <a:xfrm>
            <a:off x="674600" y="3596840"/>
            <a:ext cx="375688" cy="319177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3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2926178-20B9-CB69-D5F9-3A635322357A}"/>
              </a:ext>
            </a:extLst>
          </p:cNvPr>
          <p:cNvSpPr/>
          <p:nvPr/>
        </p:nvSpPr>
        <p:spPr>
          <a:xfrm>
            <a:off x="1064694" y="3594955"/>
            <a:ext cx="319177" cy="319177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0C263CE-A8A2-A35B-AB10-FC893977635A}"/>
              </a:ext>
            </a:extLst>
          </p:cNvPr>
          <p:cNvSpPr/>
          <p:nvPr/>
        </p:nvSpPr>
        <p:spPr>
          <a:xfrm>
            <a:off x="1404598" y="3594954"/>
            <a:ext cx="319177" cy="319177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D341D891-C4A6-BBD1-C92A-0143C1BC86D2}"/>
              </a:ext>
            </a:extLst>
          </p:cNvPr>
          <p:cNvCxnSpPr>
            <a:cxnSpLocks/>
          </p:cNvCxnSpPr>
          <p:nvPr/>
        </p:nvCxnSpPr>
        <p:spPr>
          <a:xfrm>
            <a:off x="325920" y="3472419"/>
            <a:ext cx="1347665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6E578679-F5D5-D099-1219-024994E4CEB5}"/>
              </a:ext>
            </a:extLst>
          </p:cNvPr>
          <p:cNvSpPr txBox="1"/>
          <p:nvPr/>
        </p:nvSpPr>
        <p:spPr>
          <a:xfrm>
            <a:off x="337871" y="3059668"/>
            <a:ext cx="9544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/>
              <a:t>features</a:t>
            </a:r>
            <a:endParaRPr lang="pt-BR" dirty="0"/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1ACF99AE-33B4-94A6-B2D2-B8C963B09196}"/>
              </a:ext>
            </a:extLst>
          </p:cNvPr>
          <p:cNvCxnSpPr>
            <a:cxnSpLocks/>
          </p:cNvCxnSpPr>
          <p:nvPr/>
        </p:nvCxnSpPr>
        <p:spPr>
          <a:xfrm>
            <a:off x="165928" y="3596839"/>
            <a:ext cx="0" cy="1044369"/>
          </a:xfrm>
          <a:prstGeom prst="straightConnector1">
            <a:avLst/>
          </a:prstGeom>
          <a:ln w="28575">
            <a:solidFill>
              <a:srgbClr val="0070C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614DAD50-672D-7F4F-B671-E0EF74F88BCC}"/>
                  </a:ext>
                </a:extLst>
              </p:cNvPr>
              <p:cNvSpPr/>
              <p:nvPr/>
            </p:nvSpPr>
            <p:spPr>
              <a:xfrm>
                <a:off x="2706730" y="4047895"/>
                <a:ext cx="468000" cy="319177"/>
              </a:xfrm>
              <a:prstGeom prst="rect">
                <a:avLst/>
              </a:prstGeom>
            </p:spPr>
            <p:style>
              <a:lnRef idx="2">
                <a:schemeClr val="accent5">
                  <a:shade val="15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614DAD50-672D-7F4F-B671-E0EF74F88BC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06730" y="4047895"/>
                <a:ext cx="468000" cy="319177"/>
              </a:xfrm>
              <a:prstGeom prst="rect">
                <a:avLst/>
              </a:prstGeom>
              <a:blipFill>
                <a:blip r:embed="rId2"/>
                <a:stretch>
                  <a:fillRect b="-5556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FB67D806-D665-EA8A-9981-6AB16DE7E82D}"/>
                  </a:ext>
                </a:extLst>
              </p:cNvPr>
              <p:cNvSpPr/>
              <p:nvPr/>
            </p:nvSpPr>
            <p:spPr>
              <a:xfrm>
                <a:off x="3202565" y="4047895"/>
                <a:ext cx="468000" cy="319177"/>
              </a:xfrm>
              <a:prstGeom prst="rect">
                <a:avLst/>
              </a:prstGeom>
            </p:spPr>
            <p:style>
              <a:lnRef idx="2">
                <a:schemeClr val="accent5">
                  <a:shade val="15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1,7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FB67D806-D665-EA8A-9981-6AB16DE7E82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2565" y="4047895"/>
                <a:ext cx="468000" cy="319177"/>
              </a:xfrm>
              <a:prstGeom prst="rect">
                <a:avLst/>
              </a:prstGeom>
              <a:blipFill>
                <a:blip r:embed="rId3"/>
                <a:stretch>
                  <a:fillRect l="-379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35568E5A-3F79-2331-A1AD-32935F21918D}"/>
                  </a:ext>
                </a:extLst>
              </p:cNvPr>
              <p:cNvSpPr/>
              <p:nvPr/>
            </p:nvSpPr>
            <p:spPr>
              <a:xfrm>
                <a:off x="3698400" y="4047895"/>
                <a:ext cx="468000" cy="319177"/>
              </a:xfrm>
              <a:prstGeom prst="rect">
                <a:avLst/>
              </a:prstGeom>
            </p:spPr>
            <p:style>
              <a:lnRef idx="2">
                <a:schemeClr val="accent5">
                  <a:shade val="15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35568E5A-3F79-2331-A1AD-32935F21918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98400" y="4047895"/>
                <a:ext cx="468000" cy="319177"/>
              </a:xfrm>
              <a:prstGeom prst="rect">
                <a:avLst/>
              </a:prstGeom>
              <a:blipFill>
                <a:blip r:embed="rId4"/>
                <a:stretch>
                  <a:fillRect b="-5556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DEA5C93A-485F-A60E-719C-35A41744DA0B}"/>
                  </a:ext>
                </a:extLst>
              </p:cNvPr>
              <p:cNvSpPr/>
              <p:nvPr/>
            </p:nvSpPr>
            <p:spPr>
              <a:xfrm>
                <a:off x="4194234" y="4047894"/>
                <a:ext cx="468000" cy="319177"/>
              </a:xfrm>
              <a:prstGeom prst="rect">
                <a:avLst/>
              </a:prstGeom>
            </p:spPr>
            <p:style>
              <a:lnRef idx="2">
                <a:schemeClr val="accent5">
                  <a:shade val="15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DEA5C93A-485F-A60E-719C-35A41744DA0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94234" y="4047894"/>
                <a:ext cx="468000" cy="319177"/>
              </a:xfrm>
              <a:prstGeom prst="rect">
                <a:avLst/>
              </a:prstGeom>
              <a:blipFill>
                <a:blip r:embed="rId5"/>
                <a:stretch>
                  <a:fillRect b="-5556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Rectangle 37">
                <a:extLst>
                  <a:ext uri="{FF2B5EF4-FFF2-40B4-BE49-F238E27FC236}">
                    <a16:creationId xmlns:a16="http://schemas.microsoft.com/office/drawing/2014/main" id="{1727C0A4-31A4-4F8C-0753-9667F1BC43FA}"/>
                  </a:ext>
                </a:extLst>
              </p:cNvPr>
              <p:cNvSpPr/>
              <p:nvPr/>
            </p:nvSpPr>
            <p:spPr>
              <a:xfrm>
                <a:off x="2706730" y="3646945"/>
                <a:ext cx="468000" cy="319177"/>
              </a:xfrm>
              <a:prstGeom prst="rect">
                <a:avLst/>
              </a:prstGeom>
            </p:spPr>
            <p:style>
              <a:lnRef idx="2">
                <a:schemeClr val="accent5">
                  <a:shade val="15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38" name="Rectangle 37">
                <a:extLst>
                  <a:ext uri="{FF2B5EF4-FFF2-40B4-BE49-F238E27FC236}">
                    <a16:creationId xmlns:a16="http://schemas.microsoft.com/office/drawing/2014/main" id="{1727C0A4-31A4-4F8C-0753-9667F1BC43F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06730" y="3646945"/>
                <a:ext cx="468000" cy="319177"/>
              </a:xfrm>
              <a:prstGeom prst="rect">
                <a:avLst/>
              </a:prstGeom>
              <a:blipFill>
                <a:blip r:embed="rId6"/>
                <a:stretch>
                  <a:fillRect b="-909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Rectangle 38">
                <a:extLst>
                  <a:ext uri="{FF2B5EF4-FFF2-40B4-BE49-F238E27FC236}">
                    <a16:creationId xmlns:a16="http://schemas.microsoft.com/office/drawing/2014/main" id="{6E04EA64-A3BF-29A1-D065-B493D5FB4821}"/>
                  </a:ext>
                </a:extLst>
              </p:cNvPr>
              <p:cNvSpPr/>
              <p:nvPr/>
            </p:nvSpPr>
            <p:spPr>
              <a:xfrm>
                <a:off x="3202565" y="3646945"/>
                <a:ext cx="468000" cy="319177"/>
              </a:xfrm>
              <a:prstGeom prst="rect">
                <a:avLst/>
              </a:prstGeom>
            </p:spPr>
            <p:style>
              <a:lnRef idx="2">
                <a:schemeClr val="accent5">
                  <a:shade val="15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1,33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39" name="Rectangle 38">
                <a:extLst>
                  <a:ext uri="{FF2B5EF4-FFF2-40B4-BE49-F238E27FC236}">
                    <a16:creationId xmlns:a16="http://schemas.microsoft.com/office/drawing/2014/main" id="{6E04EA64-A3BF-29A1-D065-B493D5FB482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2565" y="3646945"/>
                <a:ext cx="468000" cy="319177"/>
              </a:xfrm>
              <a:prstGeom prst="rect">
                <a:avLst/>
              </a:prstGeom>
              <a:blipFill>
                <a:blip r:embed="rId7"/>
                <a:stretch>
                  <a:fillRect l="-16456" r="-7595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8E8889CC-9894-6F0B-433C-B4EAA0B05DB4}"/>
                  </a:ext>
                </a:extLst>
              </p:cNvPr>
              <p:cNvSpPr/>
              <p:nvPr/>
            </p:nvSpPr>
            <p:spPr>
              <a:xfrm>
                <a:off x="3698400" y="3646946"/>
                <a:ext cx="468000" cy="319177"/>
              </a:xfrm>
              <a:prstGeom prst="rect">
                <a:avLst/>
              </a:prstGeom>
            </p:spPr>
            <p:style>
              <a:lnRef idx="2">
                <a:schemeClr val="accent5">
                  <a:shade val="15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8E8889CC-9894-6F0B-433C-B4EAA0B05DB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98400" y="3646946"/>
                <a:ext cx="468000" cy="319177"/>
              </a:xfrm>
              <a:prstGeom prst="rect">
                <a:avLst/>
              </a:prstGeom>
              <a:blipFill>
                <a:blip r:embed="rId8"/>
                <a:stretch>
                  <a:fillRect b="-909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Rectangle 40">
                <a:extLst>
                  <a:ext uri="{FF2B5EF4-FFF2-40B4-BE49-F238E27FC236}">
                    <a16:creationId xmlns:a16="http://schemas.microsoft.com/office/drawing/2014/main" id="{CC73C869-4D94-A403-8EE8-FA1F50EE4364}"/>
                  </a:ext>
                </a:extLst>
              </p:cNvPr>
              <p:cNvSpPr/>
              <p:nvPr/>
            </p:nvSpPr>
            <p:spPr>
              <a:xfrm>
                <a:off x="4194234" y="3646945"/>
                <a:ext cx="468000" cy="319177"/>
              </a:xfrm>
              <a:prstGeom prst="rect">
                <a:avLst/>
              </a:prstGeom>
            </p:spPr>
            <p:style>
              <a:lnRef idx="2">
                <a:schemeClr val="accent5">
                  <a:shade val="15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41" name="Rectangle 40">
                <a:extLst>
                  <a:ext uri="{FF2B5EF4-FFF2-40B4-BE49-F238E27FC236}">
                    <a16:creationId xmlns:a16="http://schemas.microsoft.com/office/drawing/2014/main" id="{CC73C869-4D94-A403-8EE8-FA1F50EE436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94234" y="3646945"/>
                <a:ext cx="468000" cy="319177"/>
              </a:xfrm>
              <a:prstGeom prst="rect">
                <a:avLst/>
              </a:prstGeom>
              <a:blipFill>
                <a:blip r:embed="rId9"/>
                <a:stretch>
                  <a:fillRect b="-909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0" name="Rectangle 49">
            <a:extLst>
              <a:ext uri="{FF2B5EF4-FFF2-40B4-BE49-F238E27FC236}">
                <a16:creationId xmlns:a16="http://schemas.microsoft.com/office/drawing/2014/main" id="{AA7FCF3C-958C-340A-BED5-F59B13B8CD7E}"/>
              </a:ext>
            </a:extLst>
          </p:cNvPr>
          <p:cNvSpPr/>
          <p:nvPr/>
        </p:nvSpPr>
        <p:spPr>
          <a:xfrm>
            <a:off x="5271186" y="3684914"/>
            <a:ext cx="468000" cy="319177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1" name="Rectangle 50">
                <a:extLst>
                  <a:ext uri="{FF2B5EF4-FFF2-40B4-BE49-F238E27FC236}">
                    <a16:creationId xmlns:a16="http://schemas.microsoft.com/office/drawing/2014/main" id="{D3338B19-1552-E0E1-D778-87795F526C73}"/>
                  </a:ext>
                </a:extLst>
              </p:cNvPr>
              <p:cNvSpPr/>
              <p:nvPr/>
            </p:nvSpPr>
            <p:spPr>
              <a:xfrm>
                <a:off x="5761515" y="3684914"/>
                <a:ext cx="468000" cy="319177"/>
              </a:xfrm>
              <a:prstGeom prst="rect">
                <a:avLst/>
              </a:prstGeom>
              <a:solidFill>
                <a:srgbClr val="FFFF00"/>
              </a:solidFill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1,33</m:t>
                      </m:r>
                    </m:oMath>
                  </m:oMathPara>
                </a14:m>
                <a:endParaRPr lang="pt-BR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1" name="Rectangle 50">
                <a:extLst>
                  <a:ext uri="{FF2B5EF4-FFF2-40B4-BE49-F238E27FC236}">
                    <a16:creationId xmlns:a16="http://schemas.microsoft.com/office/drawing/2014/main" id="{D3338B19-1552-E0E1-D778-87795F526C7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61515" y="3684914"/>
                <a:ext cx="468000" cy="319177"/>
              </a:xfrm>
              <a:prstGeom prst="rect">
                <a:avLst/>
              </a:prstGeom>
              <a:blipFill>
                <a:blip r:embed="rId10"/>
                <a:stretch>
                  <a:fillRect l="-886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2" name="Rectangle 51">
            <a:extLst>
              <a:ext uri="{FF2B5EF4-FFF2-40B4-BE49-F238E27FC236}">
                <a16:creationId xmlns:a16="http://schemas.microsoft.com/office/drawing/2014/main" id="{C423CA8C-0505-ABC4-8A28-FC3672BF7BD0}"/>
              </a:ext>
            </a:extLst>
          </p:cNvPr>
          <p:cNvSpPr/>
          <p:nvPr/>
        </p:nvSpPr>
        <p:spPr>
          <a:xfrm>
            <a:off x="6251844" y="3684914"/>
            <a:ext cx="468000" cy="319177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D7F39CA0-E88E-ED6B-2F28-D74AC8B74926}"/>
              </a:ext>
            </a:extLst>
          </p:cNvPr>
          <p:cNvSpPr/>
          <p:nvPr/>
        </p:nvSpPr>
        <p:spPr>
          <a:xfrm>
            <a:off x="6742173" y="3684914"/>
            <a:ext cx="468000" cy="319177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4" name="Rectangle 53">
                <a:extLst>
                  <a:ext uri="{FF2B5EF4-FFF2-40B4-BE49-F238E27FC236}">
                    <a16:creationId xmlns:a16="http://schemas.microsoft.com/office/drawing/2014/main" id="{CC933B5B-9DC6-3265-B2AB-43C8DC59B11E}"/>
                  </a:ext>
                </a:extLst>
              </p:cNvPr>
              <p:cNvSpPr/>
              <p:nvPr/>
            </p:nvSpPr>
            <p:spPr>
              <a:xfrm>
                <a:off x="7729083" y="4047895"/>
                <a:ext cx="319177" cy="319177"/>
              </a:xfrm>
              <a:prstGeom prst="rect">
                <a:avLst/>
              </a:prstGeom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54" name="Rectangle 53">
                <a:extLst>
                  <a:ext uri="{FF2B5EF4-FFF2-40B4-BE49-F238E27FC236}">
                    <a16:creationId xmlns:a16="http://schemas.microsoft.com/office/drawing/2014/main" id="{CC933B5B-9DC6-3265-B2AB-43C8DC59B11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29083" y="4047895"/>
                <a:ext cx="319177" cy="319177"/>
              </a:xfrm>
              <a:prstGeom prst="rect">
                <a:avLst/>
              </a:prstGeom>
              <a:blipFill>
                <a:blip r:embed="rId11"/>
                <a:stretch>
                  <a:fillRect l="-25926" b="-22222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Rectangle 54">
                <a:extLst>
                  <a:ext uri="{FF2B5EF4-FFF2-40B4-BE49-F238E27FC236}">
                    <a16:creationId xmlns:a16="http://schemas.microsoft.com/office/drawing/2014/main" id="{EE0863D9-2BF9-B6DA-44EF-011C63D07292}"/>
                  </a:ext>
                </a:extLst>
              </p:cNvPr>
              <p:cNvSpPr/>
              <p:nvPr/>
            </p:nvSpPr>
            <p:spPr>
              <a:xfrm>
                <a:off x="8065812" y="4047895"/>
                <a:ext cx="319177" cy="319177"/>
              </a:xfrm>
              <a:prstGeom prst="rect">
                <a:avLst/>
              </a:prstGeom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55" name="Rectangle 54">
                <a:extLst>
                  <a:ext uri="{FF2B5EF4-FFF2-40B4-BE49-F238E27FC236}">
                    <a16:creationId xmlns:a16="http://schemas.microsoft.com/office/drawing/2014/main" id="{EE0863D9-2BF9-B6DA-44EF-011C63D0729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65812" y="4047895"/>
                <a:ext cx="319177" cy="319177"/>
              </a:xfrm>
              <a:prstGeom prst="rect">
                <a:avLst/>
              </a:prstGeom>
              <a:blipFill>
                <a:blip r:embed="rId12"/>
                <a:stretch>
                  <a:fillRect l="-1852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Rectangle 55">
                <a:extLst>
                  <a:ext uri="{FF2B5EF4-FFF2-40B4-BE49-F238E27FC236}">
                    <a16:creationId xmlns:a16="http://schemas.microsoft.com/office/drawing/2014/main" id="{8408E87B-C7A4-8D69-DAD1-B1A56C00E439}"/>
                  </a:ext>
                </a:extLst>
              </p:cNvPr>
              <p:cNvSpPr/>
              <p:nvPr/>
            </p:nvSpPr>
            <p:spPr>
              <a:xfrm>
                <a:off x="8405716" y="4047895"/>
                <a:ext cx="319177" cy="319177"/>
              </a:xfrm>
              <a:prstGeom prst="rect">
                <a:avLst/>
              </a:prstGeom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56" name="Rectangle 55">
                <a:extLst>
                  <a:ext uri="{FF2B5EF4-FFF2-40B4-BE49-F238E27FC236}">
                    <a16:creationId xmlns:a16="http://schemas.microsoft.com/office/drawing/2014/main" id="{8408E87B-C7A4-8D69-DAD1-B1A56C00E43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05716" y="4047895"/>
                <a:ext cx="319177" cy="319177"/>
              </a:xfrm>
              <a:prstGeom prst="rect">
                <a:avLst/>
              </a:prstGeom>
              <a:blipFill>
                <a:blip r:embed="rId13"/>
                <a:stretch>
                  <a:fillRect l="-25926" b="-22222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Rectangle 56">
                <a:extLst>
                  <a:ext uri="{FF2B5EF4-FFF2-40B4-BE49-F238E27FC236}">
                    <a16:creationId xmlns:a16="http://schemas.microsoft.com/office/drawing/2014/main" id="{131EBB07-1682-B804-AA07-21F7AEA07557}"/>
                  </a:ext>
                </a:extLst>
              </p:cNvPr>
              <p:cNvSpPr/>
              <p:nvPr/>
            </p:nvSpPr>
            <p:spPr>
              <a:xfrm>
                <a:off x="8745620" y="4047894"/>
                <a:ext cx="319177" cy="319177"/>
              </a:xfrm>
              <a:prstGeom prst="rect">
                <a:avLst/>
              </a:prstGeom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57" name="Rectangle 56">
                <a:extLst>
                  <a:ext uri="{FF2B5EF4-FFF2-40B4-BE49-F238E27FC236}">
                    <a16:creationId xmlns:a16="http://schemas.microsoft.com/office/drawing/2014/main" id="{131EBB07-1682-B804-AA07-21F7AEA0755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45620" y="4047894"/>
                <a:ext cx="319177" cy="319177"/>
              </a:xfrm>
              <a:prstGeom prst="rect">
                <a:avLst/>
              </a:prstGeom>
              <a:blipFill>
                <a:blip r:embed="rId14"/>
                <a:stretch>
                  <a:fillRect l="-25926" b="-22222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Rectangle 57">
                <a:extLst>
                  <a:ext uri="{FF2B5EF4-FFF2-40B4-BE49-F238E27FC236}">
                    <a16:creationId xmlns:a16="http://schemas.microsoft.com/office/drawing/2014/main" id="{3B9A7BF8-DB55-47C0-A632-CA270BA2F6AC}"/>
                  </a:ext>
                </a:extLst>
              </p:cNvPr>
              <p:cNvSpPr/>
              <p:nvPr/>
            </p:nvSpPr>
            <p:spPr>
              <a:xfrm>
                <a:off x="7725435" y="3646946"/>
                <a:ext cx="319177" cy="319177"/>
              </a:xfrm>
              <a:prstGeom prst="rect">
                <a:avLst/>
              </a:prstGeom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𝛾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58" name="Rectangle 57">
                <a:extLst>
                  <a:ext uri="{FF2B5EF4-FFF2-40B4-BE49-F238E27FC236}">
                    <a16:creationId xmlns:a16="http://schemas.microsoft.com/office/drawing/2014/main" id="{3B9A7BF8-DB55-47C0-A632-CA270BA2F6A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25435" y="3646946"/>
                <a:ext cx="319177" cy="319177"/>
              </a:xfrm>
              <a:prstGeom prst="rect">
                <a:avLst/>
              </a:prstGeom>
              <a:blipFill>
                <a:blip r:embed="rId15"/>
                <a:stretch>
                  <a:fillRect l="-14545" b="-909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Rectangle 58">
                <a:extLst>
                  <a:ext uri="{FF2B5EF4-FFF2-40B4-BE49-F238E27FC236}">
                    <a16:creationId xmlns:a16="http://schemas.microsoft.com/office/drawing/2014/main" id="{C1AB75CC-353D-EF66-AD63-1A8574C45A8B}"/>
                  </a:ext>
                </a:extLst>
              </p:cNvPr>
              <p:cNvSpPr/>
              <p:nvPr/>
            </p:nvSpPr>
            <p:spPr>
              <a:xfrm>
                <a:off x="8062164" y="3646946"/>
                <a:ext cx="319177" cy="319177"/>
              </a:xfrm>
              <a:prstGeom prst="rect">
                <a:avLst/>
              </a:prstGeom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59" name="Rectangle 58">
                <a:extLst>
                  <a:ext uri="{FF2B5EF4-FFF2-40B4-BE49-F238E27FC236}">
                    <a16:creationId xmlns:a16="http://schemas.microsoft.com/office/drawing/2014/main" id="{C1AB75CC-353D-EF66-AD63-1A8574C45A8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62164" y="3646946"/>
                <a:ext cx="319177" cy="319177"/>
              </a:xfrm>
              <a:prstGeom prst="rect">
                <a:avLst/>
              </a:prstGeom>
              <a:blipFill>
                <a:blip r:embed="rId16"/>
                <a:stretch>
                  <a:fillRect l="-1852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" name="Rectangle 59">
                <a:extLst>
                  <a:ext uri="{FF2B5EF4-FFF2-40B4-BE49-F238E27FC236}">
                    <a16:creationId xmlns:a16="http://schemas.microsoft.com/office/drawing/2014/main" id="{C8820546-C3AC-9CC2-4E4A-91919E47E20A}"/>
                  </a:ext>
                </a:extLst>
              </p:cNvPr>
              <p:cNvSpPr/>
              <p:nvPr/>
            </p:nvSpPr>
            <p:spPr>
              <a:xfrm>
                <a:off x="8402068" y="3646946"/>
                <a:ext cx="319177" cy="319177"/>
              </a:xfrm>
              <a:prstGeom prst="rect">
                <a:avLst/>
              </a:prstGeom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𝛾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60" name="Rectangle 59">
                <a:extLst>
                  <a:ext uri="{FF2B5EF4-FFF2-40B4-BE49-F238E27FC236}">
                    <a16:creationId xmlns:a16="http://schemas.microsoft.com/office/drawing/2014/main" id="{C8820546-C3AC-9CC2-4E4A-91919E47E20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02068" y="3646946"/>
                <a:ext cx="319177" cy="319177"/>
              </a:xfrm>
              <a:prstGeom prst="rect">
                <a:avLst/>
              </a:prstGeom>
              <a:blipFill>
                <a:blip r:embed="rId17"/>
                <a:stretch>
                  <a:fillRect l="-14545" b="-909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Rectangle 60">
                <a:extLst>
                  <a:ext uri="{FF2B5EF4-FFF2-40B4-BE49-F238E27FC236}">
                    <a16:creationId xmlns:a16="http://schemas.microsoft.com/office/drawing/2014/main" id="{9846CC8F-B11B-379E-FF02-22B61579C3D0}"/>
                  </a:ext>
                </a:extLst>
              </p:cNvPr>
              <p:cNvSpPr/>
              <p:nvPr/>
            </p:nvSpPr>
            <p:spPr>
              <a:xfrm>
                <a:off x="8741972" y="3646945"/>
                <a:ext cx="319177" cy="319177"/>
              </a:xfrm>
              <a:prstGeom prst="rect">
                <a:avLst/>
              </a:prstGeom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𝛾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61" name="Rectangle 60">
                <a:extLst>
                  <a:ext uri="{FF2B5EF4-FFF2-40B4-BE49-F238E27FC236}">
                    <a16:creationId xmlns:a16="http://schemas.microsoft.com/office/drawing/2014/main" id="{9846CC8F-B11B-379E-FF02-22B61579C3D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41972" y="3646945"/>
                <a:ext cx="319177" cy="319177"/>
              </a:xfrm>
              <a:prstGeom prst="rect">
                <a:avLst/>
              </a:prstGeom>
              <a:blipFill>
                <a:blip r:embed="rId18"/>
                <a:stretch>
                  <a:fillRect l="-14815" b="-909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35" name="Straight Arrow Connector 1034">
            <a:extLst>
              <a:ext uri="{FF2B5EF4-FFF2-40B4-BE49-F238E27FC236}">
                <a16:creationId xmlns:a16="http://schemas.microsoft.com/office/drawing/2014/main" id="{6143EF1A-E438-EA24-5158-FEC150A9610E}"/>
              </a:ext>
            </a:extLst>
          </p:cNvPr>
          <p:cNvCxnSpPr>
            <a:cxnSpLocks/>
          </p:cNvCxnSpPr>
          <p:nvPr/>
        </p:nvCxnSpPr>
        <p:spPr>
          <a:xfrm>
            <a:off x="10506464" y="3574146"/>
            <a:ext cx="1347665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6" name="TextBox 1035">
            <a:extLst>
              <a:ext uri="{FF2B5EF4-FFF2-40B4-BE49-F238E27FC236}">
                <a16:creationId xmlns:a16="http://schemas.microsoft.com/office/drawing/2014/main" id="{4C661ACC-67B4-258C-015A-3832A5B76434}"/>
              </a:ext>
            </a:extLst>
          </p:cNvPr>
          <p:cNvSpPr txBox="1"/>
          <p:nvPr/>
        </p:nvSpPr>
        <p:spPr>
          <a:xfrm>
            <a:off x="10518415" y="3161395"/>
            <a:ext cx="9544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/>
              <a:t>features</a:t>
            </a:r>
            <a:endParaRPr lang="pt-BR" dirty="0"/>
          </a:p>
        </p:txBody>
      </p:sp>
      <p:cxnSp>
        <p:nvCxnSpPr>
          <p:cNvPr id="1037" name="Straight Arrow Connector 1036">
            <a:extLst>
              <a:ext uri="{FF2B5EF4-FFF2-40B4-BE49-F238E27FC236}">
                <a16:creationId xmlns:a16="http://schemas.microsoft.com/office/drawing/2014/main" id="{188908CB-0EE3-4E5A-E132-61303364FB7C}"/>
              </a:ext>
            </a:extLst>
          </p:cNvPr>
          <p:cNvCxnSpPr>
            <a:cxnSpLocks/>
          </p:cNvCxnSpPr>
          <p:nvPr/>
        </p:nvCxnSpPr>
        <p:spPr>
          <a:xfrm>
            <a:off x="12002744" y="3733019"/>
            <a:ext cx="0" cy="1044369"/>
          </a:xfrm>
          <a:prstGeom prst="straightConnector1">
            <a:avLst/>
          </a:prstGeom>
          <a:ln w="28575">
            <a:solidFill>
              <a:srgbClr val="0070C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0" name="Rectangle 1039">
            <a:extLst>
              <a:ext uri="{FF2B5EF4-FFF2-40B4-BE49-F238E27FC236}">
                <a16:creationId xmlns:a16="http://schemas.microsoft.com/office/drawing/2014/main" id="{86E43187-4259-FCA9-AA89-CC3E66BC1DFE}"/>
              </a:ext>
            </a:extLst>
          </p:cNvPr>
          <p:cNvSpPr/>
          <p:nvPr/>
        </p:nvSpPr>
        <p:spPr>
          <a:xfrm>
            <a:off x="2604980" y="3221382"/>
            <a:ext cx="2142450" cy="1226690"/>
          </a:xfrm>
          <a:prstGeom prst="rect">
            <a:avLst/>
          </a:prstGeom>
          <a:noFill/>
          <a:ln w="1905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41" name="Rectangle 1040">
            <a:extLst>
              <a:ext uri="{FF2B5EF4-FFF2-40B4-BE49-F238E27FC236}">
                <a16:creationId xmlns:a16="http://schemas.microsoft.com/office/drawing/2014/main" id="{F543F008-6F11-B14F-DFA6-D9A2AAC0AB71}"/>
              </a:ext>
            </a:extLst>
          </p:cNvPr>
          <p:cNvSpPr/>
          <p:nvPr/>
        </p:nvSpPr>
        <p:spPr>
          <a:xfrm>
            <a:off x="7590666" y="3209447"/>
            <a:ext cx="1573789" cy="1352182"/>
          </a:xfrm>
          <a:prstGeom prst="rect">
            <a:avLst/>
          </a:prstGeom>
          <a:noFill/>
          <a:ln w="1905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42" name="TextBox 1041">
            <a:extLst>
              <a:ext uri="{FF2B5EF4-FFF2-40B4-BE49-F238E27FC236}">
                <a16:creationId xmlns:a16="http://schemas.microsoft.com/office/drawing/2014/main" id="{02A1225E-C4CB-3460-EAEF-B431C6B64197}"/>
              </a:ext>
            </a:extLst>
          </p:cNvPr>
          <p:cNvSpPr txBox="1"/>
          <p:nvPr/>
        </p:nvSpPr>
        <p:spPr>
          <a:xfrm>
            <a:off x="3224692" y="3249497"/>
            <a:ext cx="12592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i="1" dirty="0" err="1"/>
              <a:t>mean</a:t>
            </a:r>
            <a:r>
              <a:rPr lang="pt-BR" dirty="0"/>
              <a:t> e </a:t>
            </a:r>
            <a:r>
              <a:rPr lang="pt-BR" i="1" dirty="0" err="1"/>
              <a:t>std</a:t>
            </a:r>
            <a:endParaRPr lang="pt-BR" i="1" dirty="0"/>
          </a:p>
        </p:txBody>
      </p:sp>
      <p:sp>
        <p:nvSpPr>
          <p:cNvPr id="1044" name="TextBox 1043">
            <a:extLst>
              <a:ext uri="{FF2B5EF4-FFF2-40B4-BE49-F238E27FC236}">
                <a16:creationId xmlns:a16="http://schemas.microsoft.com/office/drawing/2014/main" id="{678F97EA-AC4C-2098-0682-311BF2D591D5}"/>
              </a:ext>
            </a:extLst>
          </p:cNvPr>
          <p:cNvSpPr txBox="1"/>
          <p:nvPr/>
        </p:nvSpPr>
        <p:spPr>
          <a:xfrm>
            <a:off x="7744761" y="3221541"/>
            <a:ext cx="14196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i="1" dirty="0" err="1"/>
              <a:t>scale</a:t>
            </a:r>
            <a:r>
              <a:rPr lang="pt-BR" i="1" dirty="0"/>
              <a:t> </a:t>
            </a:r>
            <a:r>
              <a:rPr lang="pt-BR" dirty="0"/>
              <a:t>e</a:t>
            </a:r>
            <a:r>
              <a:rPr lang="pt-BR" i="1" dirty="0"/>
              <a:t> shift</a:t>
            </a:r>
          </a:p>
        </p:txBody>
      </p:sp>
      <p:sp>
        <p:nvSpPr>
          <p:cNvPr id="1045" name="TextBox 1044">
            <a:extLst>
              <a:ext uri="{FF2B5EF4-FFF2-40B4-BE49-F238E27FC236}">
                <a16:creationId xmlns:a16="http://schemas.microsoft.com/office/drawing/2014/main" id="{CD1A54F1-C48E-AD37-28DD-9F50E2C12F40}"/>
              </a:ext>
            </a:extLst>
          </p:cNvPr>
          <p:cNvSpPr txBox="1"/>
          <p:nvPr/>
        </p:nvSpPr>
        <p:spPr>
          <a:xfrm>
            <a:off x="5118847" y="2734821"/>
            <a:ext cx="196049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i="1" dirty="0"/>
              <a:t>batch </a:t>
            </a:r>
            <a:r>
              <a:rPr lang="pt-BR" sz="2800" i="1" dirty="0" err="1"/>
              <a:t>norm</a:t>
            </a:r>
            <a:endParaRPr lang="pt-BR" sz="2800" i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46" name="Rectangle 1045">
                <a:extLst>
                  <a:ext uri="{FF2B5EF4-FFF2-40B4-BE49-F238E27FC236}">
                    <a16:creationId xmlns:a16="http://schemas.microsoft.com/office/drawing/2014/main" id="{D41B99D9-8747-0A9B-82B4-72458674E90E}"/>
                  </a:ext>
                </a:extLst>
              </p:cNvPr>
              <p:cNvSpPr/>
              <p:nvPr/>
            </p:nvSpPr>
            <p:spPr>
              <a:xfrm>
                <a:off x="3167535" y="5771408"/>
                <a:ext cx="424826" cy="319177"/>
              </a:xfrm>
              <a:prstGeom prst="rect">
                <a:avLst/>
              </a:prstGeom>
              <a:solidFill>
                <a:srgbClr val="0070C0"/>
              </a:solidFill>
            </p:spPr>
            <p:style>
              <a:lnRef idx="2">
                <a:schemeClr val="accent5">
                  <a:shade val="15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1046" name="Rectangle 1045">
                <a:extLst>
                  <a:ext uri="{FF2B5EF4-FFF2-40B4-BE49-F238E27FC236}">
                    <a16:creationId xmlns:a16="http://schemas.microsoft.com/office/drawing/2014/main" id="{D41B99D9-8747-0A9B-82B4-72458674E90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67535" y="5771408"/>
                <a:ext cx="424826" cy="319177"/>
              </a:xfrm>
              <a:prstGeom prst="rect">
                <a:avLst/>
              </a:prstGeom>
              <a:blipFill>
                <a:blip r:embed="rId19"/>
                <a:stretch>
                  <a:fillRect l="-14085" b="-5556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47" name="Rectangle 1046">
                <a:extLst>
                  <a:ext uri="{FF2B5EF4-FFF2-40B4-BE49-F238E27FC236}">
                    <a16:creationId xmlns:a16="http://schemas.microsoft.com/office/drawing/2014/main" id="{3D5D08D1-C166-C4DA-8567-A11C776C7FC2}"/>
                  </a:ext>
                </a:extLst>
              </p:cNvPr>
              <p:cNvSpPr/>
              <p:nvPr/>
            </p:nvSpPr>
            <p:spPr>
              <a:xfrm>
                <a:off x="3642691" y="5779292"/>
                <a:ext cx="424826" cy="319177"/>
              </a:xfrm>
              <a:prstGeom prst="rect">
                <a:avLst/>
              </a:prstGeom>
              <a:solidFill>
                <a:srgbClr val="0070C0"/>
              </a:solidFill>
            </p:spPr>
            <p:style>
              <a:lnRef idx="2">
                <a:schemeClr val="accent5">
                  <a:shade val="15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1,7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1047" name="Rectangle 1046">
                <a:extLst>
                  <a:ext uri="{FF2B5EF4-FFF2-40B4-BE49-F238E27FC236}">
                    <a16:creationId xmlns:a16="http://schemas.microsoft.com/office/drawing/2014/main" id="{3D5D08D1-C166-C4DA-8567-A11C776C7FC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42691" y="5779292"/>
                <a:ext cx="424826" cy="319177"/>
              </a:xfrm>
              <a:prstGeom prst="rect">
                <a:avLst/>
              </a:prstGeom>
              <a:blipFill>
                <a:blip r:embed="rId20"/>
                <a:stretch>
                  <a:fillRect l="-9859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48" name="Rectangle 1047">
                <a:extLst>
                  <a:ext uri="{FF2B5EF4-FFF2-40B4-BE49-F238E27FC236}">
                    <a16:creationId xmlns:a16="http://schemas.microsoft.com/office/drawing/2014/main" id="{C359048D-8A89-4D4A-9D45-D60AF6954E0E}"/>
                  </a:ext>
                </a:extLst>
              </p:cNvPr>
              <p:cNvSpPr/>
              <p:nvPr/>
            </p:nvSpPr>
            <p:spPr>
              <a:xfrm>
                <a:off x="4117847" y="5779292"/>
                <a:ext cx="424826" cy="319177"/>
              </a:xfrm>
              <a:prstGeom prst="rect">
                <a:avLst/>
              </a:prstGeom>
              <a:solidFill>
                <a:srgbClr val="0070C0"/>
              </a:solidFill>
            </p:spPr>
            <p:style>
              <a:lnRef idx="2">
                <a:schemeClr val="accent5">
                  <a:shade val="15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1048" name="Rectangle 1047">
                <a:extLst>
                  <a:ext uri="{FF2B5EF4-FFF2-40B4-BE49-F238E27FC236}">
                    <a16:creationId xmlns:a16="http://schemas.microsoft.com/office/drawing/2014/main" id="{C359048D-8A89-4D4A-9D45-D60AF6954E0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7847" y="5779292"/>
                <a:ext cx="424826" cy="319177"/>
              </a:xfrm>
              <a:prstGeom prst="rect">
                <a:avLst/>
              </a:prstGeom>
              <a:blipFill>
                <a:blip r:embed="rId21"/>
                <a:stretch>
                  <a:fillRect l="-12500" b="-5556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49" name="Rectangle 1048">
                <a:extLst>
                  <a:ext uri="{FF2B5EF4-FFF2-40B4-BE49-F238E27FC236}">
                    <a16:creationId xmlns:a16="http://schemas.microsoft.com/office/drawing/2014/main" id="{7C7278F0-9DAD-AD89-C5A4-15313BE22F95}"/>
                  </a:ext>
                </a:extLst>
              </p:cNvPr>
              <p:cNvSpPr/>
              <p:nvPr/>
            </p:nvSpPr>
            <p:spPr>
              <a:xfrm>
                <a:off x="4574476" y="5779292"/>
                <a:ext cx="424826" cy="319177"/>
              </a:xfrm>
              <a:prstGeom prst="rect">
                <a:avLst/>
              </a:prstGeom>
              <a:solidFill>
                <a:srgbClr val="0070C0"/>
              </a:solidFill>
            </p:spPr>
            <p:style>
              <a:lnRef idx="2">
                <a:schemeClr val="accent5">
                  <a:shade val="15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1049" name="Rectangle 1048">
                <a:extLst>
                  <a:ext uri="{FF2B5EF4-FFF2-40B4-BE49-F238E27FC236}">
                    <a16:creationId xmlns:a16="http://schemas.microsoft.com/office/drawing/2014/main" id="{7C7278F0-9DAD-AD89-C5A4-15313BE22F9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4476" y="5779292"/>
                <a:ext cx="424826" cy="319177"/>
              </a:xfrm>
              <a:prstGeom prst="rect">
                <a:avLst/>
              </a:prstGeom>
              <a:blipFill>
                <a:blip r:embed="rId22"/>
                <a:stretch>
                  <a:fillRect l="-12500" b="-5556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50" name="Rectangle 1049">
                <a:extLst>
                  <a:ext uri="{FF2B5EF4-FFF2-40B4-BE49-F238E27FC236}">
                    <a16:creationId xmlns:a16="http://schemas.microsoft.com/office/drawing/2014/main" id="{FCD8FE0B-B06D-EDC0-5E76-2548E5E010AD}"/>
                  </a:ext>
                </a:extLst>
              </p:cNvPr>
              <p:cNvSpPr/>
              <p:nvPr/>
            </p:nvSpPr>
            <p:spPr>
              <a:xfrm>
                <a:off x="3167535" y="5385195"/>
                <a:ext cx="424826" cy="319177"/>
              </a:xfrm>
              <a:prstGeom prst="rect">
                <a:avLst/>
              </a:prstGeom>
              <a:solidFill>
                <a:srgbClr val="0070C0"/>
              </a:solidFill>
            </p:spPr>
            <p:style>
              <a:lnRef idx="2">
                <a:schemeClr val="accent5">
                  <a:shade val="15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1050" name="Rectangle 1049">
                <a:extLst>
                  <a:ext uri="{FF2B5EF4-FFF2-40B4-BE49-F238E27FC236}">
                    <a16:creationId xmlns:a16="http://schemas.microsoft.com/office/drawing/2014/main" id="{FCD8FE0B-B06D-EDC0-5E76-2548E5E010A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67535" y="5385195"/>
                <a:ext cx="424826" cy="319177"/>
              </a:xfrm>
              <a:prstGeom prst="rect">
                <a:avLst/>
              </a:prstGeom>
              <a:blipFill>
                <a:blip r:embed="rId23"/>
                <a:stretch>
                  <a:fillRect l="-19718" r="-1408" b="-10909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51" name="Rectangle 1050">
                <a:extLst>
                  <a:ext uri="{FF2B5EF4-FFF2-40B4-BE49-F238E27FC236}">
                    <a16:creationId xmlns:a16="http://schemas.microsoft.com/office/drawing/2014/main" id="{D8DCCF45-9944-0F39-BF4F-41C912D50B0F}"/>
                  </a:ext>
                </a:extLst>
              </p:cNvPr>
              <p:cNvSpPr/>
              <p:nvPr/>
            </p:nvSpPr>
            <p:spPr>
              <a:xfrm>
                <a:off x="3642691" y="5385195"/>
                <a:ext cx="424826" cy="319177"/>
              </a:xfrm>
              <a:prstGeom prst="rect">
                <a:avLst/>
              </a:prstGeom>
              <a:solidFill>
                <a:srgbClr val="0070C0"/>
              </a:solidFill>
            </p:spPr>
            <p:style>
              <a:lnRef idx="2">
                <a:schemeClr val="accent5">
                  <a:shade val="15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1,33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1051" name="Rectangle 1050">
                <a:extLst>
                  <a:ext uri="{FF2B5EF4-FFF2-40B4-BE49-F238E27FC236}">
                    <a16:creationId xmlns:a16="http://schemas.microsoft.com/office/drawing/2014/main" id="{D8DCCF45-9944-0F39-BF4F-41C912D50B0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42691" y="5385195"/>
                <a:ext cx="424826" cy="319177"/>
              </a:xfrm>
              <a:prstGeom prst="rect">
                <a:avLst/>
              </a:prstGeom>
              <a:blipFill>
                <a:blip r:embed="rId24"/>
                <a:stretch>
                  <a:fillRect l="-25352" r="-12676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52" name="Rectangle 1051">
                <a:extLst>
                  <a:ext uri="{FF2B5EF4-FFF2-40B4-BE49-F238E27FC236}">
                    <a16:creationId xmlns:a16="http://schemas.microsoft.com/office/drawing/2014/main" id="{73747D17-DFB5-FDC1-E344-752D4EF174F7}"/>
                  </a:ext>
                </a:extLst>
              </p:cNvPr>
              <p:cNvSpPr/>
              <p:nvPr/>
            </p:nvSpPr>
            <p:spPr>
              <a:xfrm>
                <a:off x="4117847" y="5385195"/>
                <a:ext cx="424826" cy="319177"/>
              </a:xfrm>
              <a:prstGeom prst="rect">
                <a:avLst/>
              </a:prstGeom>
              <a:solidFill>
                <a:srgbClr val="0070C0"/>
              </a:solidFill>
            </p:spPr>
            <p:style>
              <a:lnRef idx="2">
                <a:schemeClr val="accent5">
                  <a:shade val="15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1052" name="Rectangle 1051">
                <a:extLst>
                  <a:ext uri="{FF2B5EF4-FFF2-40B4-BE49-F238E27FC236}">
                    <a16:creationId xmlns:a16="http://schemas.microsoft.com/office/drawing/2014/main" id="{73747D17-DFB5-FDC1-E344-752D4EF174F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7847" y="5385195"/>
                <a:ext cx="424826" cy="319177"/>
              </a:xfrm>
              <a:prstGeom prst="rect">
                <a:avLst/>
              </a:prstGeom>
              <a:blipFill>
                <a:blip r:embed="rId25"/>
                <a:stretch>
                  <a:fillRect l="-18056" r="-1389" b="-10909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53" name="Rectangle 1052">
                <a:extLst>
                  <a:ext uri="{FF2B5EF4-FFF2-40B4-BE49-F238E27FC236}">
                    <a16:creationId xmlns:a16="http://schemas.microsoft.com/office/drawing/2014/main" id="{E525BFFD-C7C4-9348-1446-568ED36A8A8C}"/>
                  </a:ext>
                </a:extLst>
              </p:cNvPr>
              <p:cNvSpPr/>
              <p:nvPr/>
            </p:nvSpPr>
            <p:spPr>
              <a:xfrm>
                <a:off x="4574476" y="5383573"/>
                <a:ext cx="424826" cy="319177"/>
              </a:xfrm>
              <a:prstGeom prst="rect">
                <a:avLst/>
              </a:prstGeom>
              <a:solidFill>
                <a:srgbClr val="0070C0"/>
              </a:solidFill>
            </p:spPr>
            <p:style>
              <a:lnRef idx="2">
                <a:schemeClr val="accent5">
                  <a:shade val="15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1053" name="Rectangle 1052">
                <a:extLst>
                  <a:ext uri="{FF2B5EF4-FFF2-40B4-BE49-F238E27FC236}">
                    <a16:creationId xmlns:a16="http://schemas.microsoft.com/office/drawing/2014/main" id="{E525BFFD-C7C4-9348-1446-568ED36A8A8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4476" y="5383573"/>
                <a:ext cx="424826" cy="319177"/>
              </a:xfrm>
              <a:prstGeom prst="rect">
                <a:avLst/>
              </a:prstGeom>
              <a:blipFill>
                <a:blip r:embed="rId26"/>
                <a:stretch>
                  <a:fillRect l="-18056" r="-1389" b="-1111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54" name="Rectangle 1053">
            <a:extLst>
              <a:ext uri="{FF2B5EF4-FFF2-40B4-BE49-F238E27FC236}">
                <a16:creationId xmlns:a16="http://schemas.microsoft.com/office/drawing/2014/main" id="{DD92244D-7A23-91B7-1294-C5EFEFCFA14E}"/>
              </a:ext>
            </a:extLst>
          </p:cNvPr>
          <p:cNvSpPr/>
          <p:nvPr/>
        </p:nvSpPr>
        <p:spPr>
          <a:xfrm>
            <a:off x="3071389" y="4977559"/>
            <a:ext cx="2033051" cy="1226690"/>
          </a:xfrm>
          <a:prstGeom prst="rect">
            <a:avLst/>
          </a:prstGeom>
          <a:noFill/>
          <a:ln w="1905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55" name="TextBox 1054">
            <a:extLst>
              <a:ext uri="{FF2B5EF4-FFF2-40B4-BE49-F238E27FC236}">
                <a16:creationId xmlns:a16="http://schemas.microsoft.com/office/drawing/2014/main" id="{1BCC8390-7469-D90B-8130-44CEB6839792}"/>
              </a:ext>
            </a:extLst>
          </p:cNvPr>
          <p:cNvSpPr txBox="1"/>
          <p:nvPr/>
        </p:nvSpPr>
        <p:spPr>
          <a:xfrm>
            <a:off x="3071390" y="5005674"/>
            <a:ext cx="16760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i="1" dirty="0" err="1"/>
              <a:t>moving</a:t>
            </a:r>
            <a:r>
              <a:rPr lang="pt-BR" sz="1600" i="1" dirty="0"/>
              <a:t> </a:t>
            </a:r>
            <a:r>
              <a:rPr lang="pt-BR" sz="1600" i="1" dirty="0" err="1"/>
              <a:t>averages</a:t>
            </a:r>
            <a:endParaRPr lang="pt-BR" sz="1600" i="1" dirty="0"/>
          </a:p>
        </p:txBody>
      </p:sp>
      <p:sp>
        <p:nvSpPr>
          <p:cNvPr id="1059" name="Rectangle 1058">
            <a:extLst>
              <a:ext uri="{FF2B5EF4-FFF2-40B4-BE49-F238E27FC236}">
                <a16:creationId xmlns:a16="http://schemas.microsoft.com/office/drawing/2014/main" id="{5944823A-F47B-DD1F-EE7E-2B36E2F43501}"/>
              </a:ext>
            </a:extLst>
          </p:cNvPr>
          <p:cNvSpPr/>
          <p:nvPr/>
        </p:nvSpPr>
        <p:spPr>
          <a:xfrm>
            <a:off x="8038596" y="3590874"/>
            <a:ext cx="327518" cy="831522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61" name="Rectangle 1060">
            <a:extLst>
              <a:ext uri="{FF2B5EF4-FFF2-40B4-BE49-F238E27FC236}">
                <a16:creationId xmlns:a16="http://schemas.microsoft.com/office/drawing/2014/main" id="{A8AB8CE9-6B4D-6269-0334-5030EF517CB8}"/>
              </a:ext>
            </a:extLst>
          </p:cNvPr>
          <p:cNvSpPr/>
          <p:nvPr/>
        </p:nvSpPr>
        <p:spPr>
          <a:xfrm>
            <a:off x="3624164" y="5347621"/>
            <a:ext cx="461880" cy="777720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9F11EEC-6354-8CE7-C8D6-FDB94FC292DE}"/>
              </a:ext>
            </a:extLst>
          </p:cNvPr>
          <p:cNvSpPr/>
          <p:nvPr/>
        </p:nvSpPr>
        <p:spPr>
          <a:xfrm>
            <a:off x="5271186" y="4027126"/>
            <a:ext cx="468000" cy="319177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0286FB88-D95D-5C00-BDE1-CDA3675A1FF8}"/>
                  </a:ext>
                </a:extLst>
              </p:cNvPr>
              <p:cNvSpPr/>
              <p:nvPr/>
            </p:nvSpPr>
            <p:spPr>
              <a:xfrm>
                <a:off x="5761515" y="4027126"/>
                <a:ext cx="468000" cy="319177"/>
              </a:xfrm>
              <a:prstGeom prst="rect">
                <a:avLst/>
              </a:prstGeom>
              <a:solidFill>
                <a:srgbClr val="FFFF00"/>
              </a:solidFill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−1,37</m:t>
                      </m:r>
                    </m:oMath>
                  </m:oMathPara>
                </a14:m>
                <a:endParaRPr lang="pt-BR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0286FB88-D95D-5C00-BDE1-CDA3675A1FF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61515" y="4027126"/>
                <a:ext cx="468000" cy="319177"/>
              </a:xfrm>
              <a:prstGeom prst="rect">
                <a:avLst/>
              </a:prstGeom>
              <a:blipFill>
                <a:blip r:embed="rId27"/>
                <a:stretch>
                  <a:fillRect l="-8861" r="-6329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ectangle 9">
            <a:extLst>
              <a:ext uri="{FF2B5EF4-FFF2-40B4-BE49-F238E27FC236}">
                <a16:creationId xmlns:a16="http://schemas.microsoft.com/office/drawing/2014/main" id="{5647B996-D0DC-54BF-68A3-6E01BD9FAAA3}"/>
              </a:ext>
            </a:extLst>
          </p:cNvPr>
          <p:cNvSpPr/>
          <p:nvPr/>
        </p:nvSpPr>
        <p:spPr>
          <a:xfrm>
            <a:off x="6251844" y="4027126"/>
            <a:ext cx="468000" cy="319177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4484A77-4271-07C2-12DB-D591874370FB}"/>
              </a:ext>
            </a:extLst>
          </p:cNvPr>
          <p:cNvSpPr/>
          <p:nvPr/>
        </p:nvSpPr>
        <p:spPr>
          <a:xfrm>
            <a:off x="6742173" y="4027126"/>
            <a:ext cx="468000" cy="319177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FDFC7C0-8059-3ACA-F747-DED452BF2EDB}"/>
              </a:ext>
            </a:extLst>
          </p:cNvPr>
          <p:cNvSpPr/>
          <p:nvPr/>
        </p:nvSpPr>
        <p:spPr>
          <a:xfrm>
            <a:off x="5271186" y="4367071"/>
            <a:ext cx="468000" cy="319177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DAFB020C-C53B-7351-D272-EEE1B1E41625}"/>
                  </a:ext>
                </a:extLst>
              </p:cNvPr>
              <p:cNvSpPr/>
              <p:nvPr/>
            </p:nvSpPr>
            <p:spPr>
              <a:xfrm>
                <a:off x="5761515" y="4367071"/>
                <a:ext cx="468000" cy="319177"/>
              </a:xfrm>
              <a:prstGeom prst="rect">
                <a:avLst/>
              </a:prstGeom>
              <a:solidFill>
                <a:srgbClr val="FFFF00"/>
              </a:solidFill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0,39</m:t>
                      </m:r>
                    </m:oMath>
                  </m:oMathPara>
                </a14:m>
                <a:endParaRPr lang="pt-BR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DAFB020C-C53B-7351-D272-EEE1B1E4162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61515" y="4367071"/>
                <a:ext cx="468000" cy="319177"/>
              </a:xfrm>
              <a:prstGeom prst="rect">
                <a:avLst/>
              </a:prstGeom>
              <a:blipFill>
                <a:blip r:embed="rId28"/>
                <a:stretch>
                  <a:fillRect l="-886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Rectangle 25">
            <a:extLst>
              <a:ext uri="{FF2B5EF4-FFF2-40B4-BE49-F238E27FC236}">
                <a16:creationId xmlns:a16="http://schemas.microsoft.com/office/drawing/2014/main" id="{306175DC-D122-3A23-6F03-6ED3FF128978}"/>
              </a:ext>
            </a:extLst>
          </p:cNvPr>
          <p:cNvSpPr/>
          <p:nvPr/>
        </p:nvSpPr>
        <p:spPr>
          <a:xfrm>
            <a:off x="6251844" y="4367071"/>
            <a:ext cx="468000" cy="319177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AC6C62D-8D61-7095-9F6A-20A917B54E5B}"/>
              </a:ext>
            </a:extLst>
          </p:cNvPr>
          <p:cNvSpPr/>
          <p:nvPr/>
        </p:nvSpPr>
        <p:spPr>
          <a:xfrm>
            <a:off x="6742173" y="4367071"/>
            <a:ext cx="468000" cy="319177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3C5FBA3-4845-20C7-5AB5-C26226AE6C67}"/>
              </a:ext>
            </a:extLst>
          </p:cNvPr>
          <p:cNvSpPr/>
          <p:nvPr/>
        </p:nvSpPr>
        <p:spPr>
          <a:xfrm>
            <a:off x="9912498" y="3776054"/>
            <a:ext cx="468000" cy="319177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53E7BCEF-7560-BBDE-62DD-5794D7A4853A}"/>
                  </a:ext>
                </a:extLst>
              </p:cNvPr>
              <p:cNvSpPr/>
              <p:nvPr/>
            </p:nvSpPr>
            <p:spPr>
              <a:xfrm>
                <a:off x="10402827" y="3776054"/>
                <a:ext cx="468000" cy="319177"/>
              </a:xfrm>
              <a:prstGeom prst="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3,66</m:t>
                      </m:r>
                    </m:oMath>
                  </m:oMathPara>
                </a14:m>
                <a:endParaRPr lang="pt-BR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53E7BCEF-7560-BBDE-62DD-5794D7A4853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02827" y="3776054"/>
                <a:ext cx="468000" cy="319177"/>
              </a:xfrm>
              <a:prstGeom prst="rect">
                <a:avLst/>
              </a:prstGeom>
              <a:blipFill>
                <a:blip r:embed="rId29"/>
                <a:stretch>
                  <a:fillRect l="-2564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26" name="Rectangle 1025">
            <a:extLst>
              <a:ext uri="{FF2B5EF4-FFF2-40B4-BE49-F238E27FC236}">
                <a16:creationId xmlns:a16="http://schemas.microsoft.com/office/drawing/2014/main" id="{7EB84432-A73B-0F7D-9274-8F1213C79CCE}"/>
              </a:ext>
            </a:extLst>
          </p:cNvPr>
          <p:cNvSpPr/>
          <p:nvPr/>
        </p:nvSpPr>
        <p:spPr>
          <a:xfrm>
            <a:off x="10893156" y="3776054"/>
            <a:ext cx="468000" cy="319177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38" name="Rectangle 1037">
            <a:extLst>
              <a:ext uri="{FF2B5EF4-FFF2-40B4-BE49-F238E27FC236}">
                <a16:creationId xmlns:a16="http://schemas.microsoft.com/office/drawing/2014/main" id="{14C4F4E2-171B-8C83-E123-E991D6133B64}"/>
              </a:ext>
            </a:extLst>
          </p:cNvPr>
          <p:cNvSpPr/>
          <p:nvPr/>
        </p:nvSpPr>
        <p:spPr>
          <a:xfrm>
            <a:off x="11383485" y="3776054"/>
            <a:ext cx="468000" cy="319177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43" name="Rectangle 1042">
            <a:extLst>
              <a:ext uri="{FF2B5EF4-FFF2-40B4-BE49-F238E27FC236}">
                <a16:creationId xmlns:a16="http://schemas.microsoft.com/office/drawing/2014/main" id="{30228EB1-33E9-4AF4-356F-81837378979B}"/>
              </a:ext>
            </a:extLst>
          </p:cNvPr>
          <p:cNvSpPr/>
          <p:nvPr/>
        </p:nvSpPr>
        <p:spPr>
          <a:xfrm>
            <a:off x="9912498" y="4118266"/>
            <a:ext cx="468000" cy="319177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62" name="Rectangle 1061">
                <a:extLst>
                  <a:ext uri="{FF2B5EF4-FFF2-40B4-BE49-F238E27FC236}">
                    <a16:creationId xmlns:a16="http://schemas.microsoft.com/office/drawing/2014/main" id="{0EDBCDB4-513E-9F95-321B-12EEDA929E7F}"/>
                  </a:ext>
                </a:extLst>
              </p:cNvPr>
              <p:cNvSpPr/>
              <p:nvPr/>
            </p:nvSpPr>
            <p:spPr>
              <a:xfrm>
                <a:off x="10402827" y="4118266"/>
                <a:ext cx="468000" cy="319177"/>
              </a:xfrm>
              <a:prstGeom prst="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−1,74</m:t>
                      </m:r>
                    </m:oMath>
                  </m:oMathPara>
                </a14:m>
                <a:endParaRPr lang="pt-BR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62" name="Rectangle 1061">
                <a:extLst>
                  <a:ext uri="{FF2B5EF4-FFF2-40B4-BE49-F238E27FC236}">
                    <a16:creationId xmlns:a16="http://schemas.microsoft.com/office/drawing/2014/main" id="{0EDBCDB4-513E-9F95-321B-12EEDA929E7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02827" y="4118266"/>
                <a:ext cx="468000" cy="319177"/>
              </a:xfrm>
              <a:prstGeom prst="rect">
                <a:avLst/>
              </a:prstGeom>
              <a:blipFill>
                <a:blip r:embed="rId30"/>
                <a:stretch>
                  <a:fillRect l="-10256" r="-641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63" name="Rectangle 1062">
            <a:extLst>
              <a:ext uri="{FF2B5EF4-FFF2-40B4-BE49-F238E27FC236}">
                <a16:creationId xmlns:a16="http://schemas.microsoft.com/office/drawing/2014/main" id="{AD5AB29B-F00F-00A1-142A-9ED063851743}"/>
              </a:ext>
            </a:extLst>
          </p:cNvPr>
          <p:cNvSpPr/>
          <p:nvPr/>
        </p:nvSpPr>
        <p:spPr>
          <a:xfrm>
            <a:off x="10893156" y="4118266"/>
            <a:ext cx="468000" cy="319177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64" name="Rectangle 1063">
            <a:extLst>
              <a:ext uri="{FF2B5EF4-FFF2-40B4-BE49-F238E27FC236}">
                <a16:creationId xmlns:a16="http://schemas.microsoft.com/office/drawing/2014/main" id="{2F8C8BC1-EC49-51B1-3D9B-A37EB7A6EDA2}"/>
              </a:ext>
            </a:extLst>
          </p:cNvPr>
          <p:cNvSpPr/>
          <p:nvPr/>
        </p:nvSpPr>
        <p:spPr>
          <a:xfrm>
            <a:off x="11383485" y="4118266"/>
            <a:ext cx="468000" cy="319177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65" name="Rectangle 1064">
            <a:extLst>
              <a:ext uri="{FF2B5EF4-FFF2-40B4-BE49-F238E27FC236}">
                <a16:creationId xmlns:a16="http://schemas.microsoft.com/office/drawing/2014/main" id="{635594EA-F3FA-DB31-4178-1ACF6170442F}"/>
              </a:ext>
            </a:extLst>
          </p:cNvPr>
          <p:cNvSpPr/>
          <p:nvPr/>
        </p:nvSpPr>
        <p:spPr>
          <a:xfrm>
            <a:off x="9912498" y="4458211"/>
            <a:ext cx="468000" cy="319177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66" name="Rectangle 1065">
                <a:extLst>
                  <a:ext uri="{FF2B5EF4-FFF2-40B4-BE49-F238E27FC236}">
                    <a16:creationId xmlns:a16="http://schemas.microsoft.com/office/drawing/2014/main" id="{893AC88F-5D92-4D11-0E95-B177E607821F}"/>
                  </a:ext>
                </a:extLst>
              </p:cNvPr>
              <p:cNvSpPr/>
              <p:nvPr/>
            </p:nvSpPr>
            <p:spPr>
              <a:xfrm>
                <a:off x="10402827" y="4458211"/>
                <a:ext cx="468000" cy="319177"/>
              </a:xfrm>
              <a:prstGeom prst="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1,78</m:t>
                      </m:r>
                    </m:oMath>
                  </m:oMathPara>
                </a14:m>
                <a:endParaRPr lang="pt-BR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66" name="Rectangle 1065">
                <a:extLst>
                  <a:ext uri="{FF2B5EF4-FFF2-40B4-BE49-F238E27FC236}">
                    <a16:creationId xmlns:a16="http://schemas.microsoft.com/office/drawing/2014/main" id="{893AC88F-5D92-4D11-0E95-B177E607821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02827" y="4458211"/>
                <a:ext cx="468000" cy="319177"/>
              </a:xfrm>
              <a:prstGeom prst="rect">
                <a:avLst/>
              </a:prstGeom>
              <a:blipFill>
                <a:blip r:embed="rId31"/>
                <a:stretch>
                  <a:fillRect l="-2564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67" name="Rectangle 1066">
            <a:extLst>
              <a:ext uri="{FF2B5EF4-FFF2-40B4-BE49-F238E27FC236}">
                <a16:creationId xmlns:a16="http://schemas.microsoft.com/office/drawing/2014/main" id="{43C1F803-7906-80F1-B615-3D0BF4750B9E}"/>
              </a:ext>
            </a:extLst>
          </p:cNvPr>
          <p:cNvSpPr/>
          <p:nvPr/>
        </p:nvSpPr>
        <p:spPr>
          <a:xfrm>
            <a:off x="10893156" y="4458211"/>
            <a:ext cx="468000" cy="319177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68" name="Rectangle 1067">
            <a:extLst>
              <a:ext uri="{FF2B5EF4-FFF2-40B4-BE49-F238E27FC236}">
                <a16:creationId xmlns:a16="http://schemas.microsoft.com/office/drawing/2014/main" id="{3E137B0E-D441-C30F-4938-076EC892CF52}"/>
              </a:ext>
            </a:extLst>
          </p:cNvPr>
          <p:cNvSpPr/>
          <p:nvPr/>
        </p:nvSpPr>
        <p:spPr>
          <a:xfrm>
            <a:off x="11383485" y="4458211"/>
            <a:ext cx="468000" cy="319177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69" name="Rectangle 1068">
            <a:extLst>
              <a:ext uri="{FF2B5EF4-FFF2-40B4-BE49-F238E27FC236}">
                <a16:creationId xmlns:a16="http://schemas.microsoft.com/office/drawing/2014/main" id="{4090E3C8-34FE-2AA6-A7DD-DDA51739802C}"/>
              </a:ext>
            </a:extLst>
          </p:cNvPr>
          <p:cNvSpPr/>
          <p:nvPr/>
        </p:nvSpPr>
        <p:spPr>
          <a:xfrm>
            <a:off x="659373" y="3574146"/>
            <a:ext cx="377181" cy="1110482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70" name="Rectangle 1069">
            <a:extLst>
              <a:ext uri="{FF2B5EF4-FFF2-40B4-BE49-F238E27FC236}">
                <a16:creationId xmlns:a16="http://schemas.microsoft.com/office/drawing/2014/main" id="{2DB302CB-CC06-425D-AC40-CA797C546AF1}"/>
              </a:ext>
            </a:extLst>
          </p:cNvPr>
          <p:cNvSpPr/>
          <p:nvPr/>
        </p:nvSpPr>
        <p:spPr>
          <a:xfrm>
            <a:off x="3143755" y="3618829"/>
            <a:ext cx="550621" cy="803567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71" name="Rectangle 1070">
            <a:extLst>
              <a:ext uri="{FF2B5EF4-FFF2-40B4-BE49-F238E27FC236}">
                <a16:creationId xmlns:a16="http://schemas.microsoft.com/office/drawing/2014/main" id="{8D5B7116-BAC6-49ED-E7D0-3708E57397F6}"/>
              </a:ext>
            </a:extLst>
          </p:cNvPr>
          <p:cNvSpPr/>
          <p:nvPr/>
        </p:nvSpPr>
        <p:spPr>
          <a:xfrm>
            <a:off x="5720204" y="3654644"/>
            <a:ext cx="550621" cy="1029984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72" name="Rectangle 1071">
            <a:extLst>
              <a:ext uri="{FF2B5EF4-FFF2-40B4-BE49-F238E27FC236}">
                <a16:creationId xmlns:a16="http://schemas.microsoft.com/office/drawing/2014/main" id="{F3CD0E10-0DBA-848F-415A-837294838A46}"/>
              </a:ext>
            </a:extLst>
          </p:cNvPr>
          <p:cNvSpPr/>
          <p:nvPr/>
        </p:nvSpPr>
        <p:spPr>
          <a:xfrm>
            <a:off x="10348937" y="3692489"/>
            <a:ext cx="550621" cy="1187853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1F1FB6DD-64DD-0107-8311-70193EDB1FFF}"/>
                  </a:ext>
                </a:extLst>
              </p:cNvPr>
              <p:cNvSpPr txBox="1"/>
              <p:nvPr/>
            </p:nvSpPr>
            <p:spPr>
              <a:xfrm>
                <a:off x="785004" y="1697830"/>
                <a:ext cx="10506973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Vamos </a:t>
                </a:r>
                <a:r>
                  <a:rPr lang="en-US" sz="2400" dirty="0" err="1"/>
                  <a:t>começar</a:t>
                </a:r>
                <a:r>
                  <a:rPr lang="en-US" sz="2400" dirty="0"/>
                  <a:t> com um </a:t>
                </a:r>
                <a:r>
                  <a:rPr lang="en-US" sz="2400" i="1" dirty="0"/>
                  <a:t>mini batch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A media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en-US" sz="2400" i="1" dirty="0"/>
                  <a:t> e o </a:t>
                </a:r>
                <a:r>
                  <a:rPr lang="en-US" sz="2400" dirty="0" err="1"/>
                  <a:t>desvio</a:t>
                </a:r>
                <a:r>
                  <a:rPr lang="en-US" sz="2400" dirty="0"/>
                  <a:t> </a:t>
                </a:r>
                <a:r>
                  <a:rPr lang="en-US" sz="2400" dirty="0" err="1"/>
                  <a:t>padrão</a:t>
                </a:r>
                <a:r>
                  <a:rPr lang="en-US" sz="2400" dirty="0"/>
                  <a:t> de </a:t>
                </a:r>
                <a:r>
                  <a:rPr lang="en-US" sz="2400" dirty="0" err="1"/>
                  <a:t>cada</a:t>
                </a:r>
                <a:r>
                  <a:rPr lang="en-US" sz="2400" dirty="0"/>
                  <a:t> </a:t>
                </a:r>
                <a:r>
                  <a:rPr lang="en-US" sz="2400" i="1" dirty="0"/>
                  <a:t>feature </a:t>
                </a:r>
                <a:r>
                  <a:rPr lang="en-US" sz="2400" dirty="0"/>
                  <a:t>do </a:t>
                </a:r>
                <a:r>
                  <a:rPr lang="en-US" sz="2400" i="1" dirty="0"/>
                  <a:t>mini batch</a:t>
                </a:r>
                <a:r>
                  <a:rPr lang="en-US" sz="2400" dirty="0"/>
                  <a:t> 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en-US" sz="2400" i="1" dirty="0"/>
                  <a:t> </a:t>
                </a:r>
                <a:endParaRPr lang="pt-BR" sz="2400" i="1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1F1FB6DD-64DD-0107-8311-70193EDB1F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5004" y="1697830"/>
                <a:ext cx="10506973" cy="830997"/>
              </a:xfrm>
              <a:prstGeom prst="rect">
                <a:avLst/>
              </a:prstGeom>
              <a:blipFill>
                <a:blip r:embed="rId32"/>
                <a:stretch>
                  <a:fillRect l="-813" t="-5882" b="-16176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angle 4">
            <a:extLst>
              <a:ext uri="{FF2B5EF4-FFF2-40B4-BE49-F238E27FC236}">
                <a16:creationId xmlns:a16="http://schemas.microsoft.com/office/drawing/2014/main" id="{7F41D953-6DE9-BE45-B303-7FD28966328A}"/>
              </a:ext>
            </a:extLst>
          </p:cNvPr>
          <p:cNvSpPr/>
          <p:nvPr/>
        </p:nvSpPr>
        <p:spPr>
          <a:xfrm>
            <a:off x="5021631" y="3161395"/>
            <a:ext cx="4224120" cy="3107574"/>
          </a:xfrm>
          <a:prstGeom prst="rect">
            <a:avLst/>
          </a:prstGeom>
          <a:solidFill>
            <a:srgbClr val="DAE3F3">
              <a:alpha val="94902"/>
            </a:srgbClr>
          </a:solidFill>
          <a:ln>
            <a:noFill/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912E078-FD71-685C-5596-70A0738E0229}"/>
              </a:ext>
            </a:extLst>
          </p:cNvPr>
          <p:cNvSpPr/>
          <p:nvPr/>
        </p:nvSpPr>
        <p:spPr>
          <a:xfrm>
            <a:off x="9734183" y="3059668"/>
            <a:ext cx="2447442" cy="3107574"/>
          </a:xfrm>
          <a:prstGeom prst="rect">
            <a:avLst/>
          </a:prstGeom>
          <a:solidFill>
            <a:srgbClr val="FFFFFF">
              <a:alpha val="94902"/>
            </a:srgbClr>
          </a:solidFill>
          <a:ln>
            <a:noFill/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5A366450-3171-AF2E-1173-5566DAB49973}"/>
              </a:ext>
            </a:extLst>
          </p:cNvPr>
          <p:cNvSpPr/>
          <p:nvPr/>
        </p:nvSpPr>
        <p:spPr>
          <a:xfrm>
            <a:off x="2696504" y="4738858"/>
            <a:ext cx="2325128" cy="1590098"/>
          </a:xfrm>
          <a:prstGeom prst="rect">
            <a:avLst/>
          </a:prstGeom>
          <a:solidFill>
            <a:srgbClr val="DAE3F3">
              <a:alpha val="94902"/>
            </a:srgbClr>
          </a:solidFill>
          <a:ln>
            <a:noFill/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4713683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9" name="Rectangle: Rounded Corners 1038">
            <a:extLst>
              <a:ext uri="{FF2B5EF4-FFF2-40B4-BE49-F238E27FC236}">
                <a16:creationId xmlns:a16="http://schemas.microsoft.com/office/drawing/2014/main" id="{206AFDD9-1F26-000E-6015-4C8FEC37AF5D}"/>
              </a:ext>
            </a:extLst>
          </p:cNvPr>
          <p:cNvSpPr/>
          <p:nvPr/>
        </p:nvSpPr>
        <p:spPr>
          <a:xfrm>
            <a:off x="2438654" y="2789051"/>
            <a:ext cx="6838658" cy="3545153"/>
          </a:xfrm>
          <a:prstGeom prst="roundRect">
            <a:avLst>
              <a:gd name="adj" fmla="val 7217"/>
            </a:avLst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839EA5-D312-93A9-B084-C39FADB337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Batch Norm - Exemplo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CAE728-17C8-60F0-FE58-26D37AFA3C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38</a:t>
            </a:fld>
            <a:endParaRPr lang="pt-BR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BC3EE46-2D0B-78F6-C106-1216F939EDF9}"/>
              </a:ext>
            </a:extLst>
          </p:cNvPr>
          <p:cNvSpPr txBox="1"/>
          <p:nvPr/>
        </p:nvSpPr>
        <p:spPr>
          <a:xfrm>
            <a:off x="0" y="6582975"/>
            <a:ext cx="956453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200" dirty="0"/>
              <a:t>Fonte imagem: https://towardsdatascience.com/batch-norm-explained-visually-how-it-works-and-why-neural-networks-need-it-b18919692739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B10146F-6A3C-E9EB-51F7-56358628A632}"/>
              </a:ext>
            </a:extLst>
          </p:cNvPr>
          <p:cNvSpPr/>
          <p:nvPr/>
        </p:nvSpPr>
        <p:spPr>
          <a:xfrm>
            <a:off x="337871" y="4322032"/>
            <a:ext cx="319177" cy="319177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7FF3EE-CA26-EC19-BD8E-FA5C86DAEEB0}"/>
              </a:ext>
            </a:extLst>
          </p:cNvPr>
          <p:cNvSpPr/>
          <p:nvPr/>
        </p:nvSpPr>
        <p:spPr>
          <a:xfrm>
            <a:off x="674600" y="4322032"/>
            <a:ext cx="375688" cy="319177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2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C8BA06A-F643-7ACB-4AFA-E9ADA6154FFB}"/>
              </a:ext>
            </a:extLst>
          </p:cNvPr>
          <p:cNvSpPr/>
          <p:nvPr/>
        </p:nvSpPr>
        <p:spPr>
          <a:xfrm>
            <a:off x="1064694" y="4320147"/>
            <a:ext cx="319177" cy="319177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75DDA18-6DF6-F035-0D03-265ED01685BD}"/>
              </a:ext>
            </a:extLst>
          </p:cNvPr>
          <p:cNvSpPr/>
          <p:nvPr/>
        </p:nvSpPr>
        <p:spPr>
          <a:xfrm>
            <a:off x="1404598" y="4320146"/>
            <a:ext cx="319177" cy="319177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C1E78E6-2EE3-F5D9-A92A-295464DE9863}"/>
              </a:ext>
            </a:extLst>
          </p:cNvPr>
          <p:cNvSpPr/>
          <p:nvPr/>
        </p:nvSpPr>
        <p:spPr>
          <a:xfrm>
            <a:off x="337871" y="3959436"/>
            <a:ext cx="319177" cy="319177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662516E-2EF8-ED53-D25C-F8285584E3D8}"/>
              </a:ext>
            </a:extLst>
          </p:cNvPr>
          <p:cNvSpPr/>
          <p:nvPr/>
        </p:nvSpPr>
        <p:spPr>
          <a:xfrm>
            <a:off x="674600" y="3959436"/>
            <a:ext cx="375688" cy="319177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-1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1645738-3C6E-1A0A-B8F0-64A182A07F99}"/>
              </a:ext>
            </a:extLst>
          </p:cNvPr>
          <p:cNvSpPr/>
          <p:nvPr/>
        </p:nvSpPr>
        <p:spPr>
          <a:xfrm>
            <a:off x="1064694" y="3957551"/>
            <a:ext cx="319177" cy="319177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8D43920-4369-388A-9E74-7B6AF0D1EE55}"/>
              </a:ext>
            </a:extLst>
          </p:cNvPr>
          <p:cNvSpPr/>
          <p:nvPr/>
        </p:nvSpPr>
        <p:spPr>
          <a:xfrm>
            <a:off x="1404598" y="3957550"/>
            <a:ext cx="319177" cy="319177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C95A93A-E7BC-C5AF-7462-13DACB311257}"/>
              </a:ext>
            </a:extLst>
          </p:cNvPr>
          <p:cNvSpPr/>
          <p:nvPr/>
        </p:nvSpPr>
        <p:spPr>
          <a:xfrm>
            <a:off x="337871" y="3596840"/>
            <a:ext cx="319177" cy="319177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69463FB-E674-6629-3672-CD3F6CD4A541}"/>
              </a:ext>
            </a:extLst>
          </p:cNvPr>
          <p:cNvSpPr/>
          <p:nvPr/>
        </p:nvSpPr>
        <p:spPr>
          <a:xfrm>
            <a:off x="674600" y="3596840"/>
            <a:ext cx="375688" cy="319177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3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2926178-20B9-CB69-D5F9-3A635322357A}"/>
              </a:ext>
            </a:extLst>
          </p:cNvPr>
          <p:cNvSpPr/>
          <p:nvPr/>
        </p:nvSpPr>
        <p:spPr>
          <a:xfrm>
            <a:off x="1064694" y="3594955"/>
            <a:ext cx="319177" cy="319177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0C263CE-A8A2-A35B-AB10-FC893977635A}"/>
              </a:ext>
            </a:extLst>
          </p:cNvPr>
          <p:cNvSpPr/>
          <p:nvPr/>
        </p:nvSpPr>
        <p:spPr>
          <a:xfrm>
            <a:off x="1404598" y="3594954"/>
            <a:ext cx="319177" cy="319177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D341D891-C4A6-BBD1-C92A-0143C1BC86D2}"/>
              </a:ext>
            </a:extLst>
          </p:cNvPr>
          <p:cNvCxnSpPr>
            <a:cxnSpLocks/>
          </p:cNvCxnSpPr>
          <p:nvPr/>
        </p:nvCxnSpPr>
        <p:spPr>
          <a:xfrm>
            <a:off x="325920" y="3472419"/>
            <a:ext cx="1347665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6E578679-F5D5-D099-1219-024994E4CEB5}"/>
              </a:ext>
            </a:extLst>
          </p:cNvPr>
          <p:cNvSpPr txBox="1"/>
          <p:nvPr/>
        </p:nvSpPr>
        <p:spPr>
          <a:xfrm>
            <a:off x="337871" y="3059668"/>
            <a:ext cx="9544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/>
              <a:t>features</a:t>
            </a:r>
            <a:endParaRPr lang="pt-BR" dirty="0"/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1ACF99AE-33B4-94A6-B2D2-B8C963B09196}"/>
              </a:ext>
            </a:extLst>
          </p:cNvPr>
          <p:cNvCxnSpPr>
            <a:cxnSpLocks/>
          </p:cNvCxnSpPr>
          <p:nvPr/>
        </p:nvCxnSpPr>
        <p:spPr>
          <a:xfrm>
            <a:off x="165928" y="3596839"/>
            <a:ext cx="0" cy="1044369"/>
          </a:xfrm>
          <a:prstGeom prst="straightConnector1">
            <a:avLst/>
          </a:prstGeom>
          <a:ln w="28575">
            <a:solidFill>
              <a:srgbClr val="0070C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614DAD50-672D-7F4F-B671-E0EF74F88BCC}"/>
                  </a:ext>
                </a:extLst>
              </p:cNvPr>
              <p:cNvSpPr/>
              <p:nvPr/>
            </p:nvSpPr>
            <p:spPr>
              <a:xfrm>
                <a:off x="2706730" y="4047895"/>
                <a:ext cx="468000" cy="319177"/>
              </a:xfrm>
              <a:prstGeom prst="rect">
                <a:avLst/>
              </a:prstGeom>
            </p:spPr>
            <p:style>
              <a:lnRef idx="2">
                <a:schemeClr val="accent5">
                  <a:shade val="15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614DAD50-672D-7F4F-B671-E0EF74F88BC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06730" y="4047895"/>
                <a:ext cx="468000" cy="319177"/>
              </a:xfrm>
              <a:prstGeom prst="rect">
                <a:avLst/>
              </a:prstGeom>
              <a:blipFill>
                <a:blip r:embed="rId2"/>
                <a:stretch>
                  <a:fillRect b="-5556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FB67D806-D665-EA8A-9981-6AB16DE7E82D}"/>
                  </a:ext>
                </a:extLst>
              </p:cNvPr>
              <p:cNvSpPr/>
              <p:nvPr/>
            </p:nvSpPr>
            <p:spPr>
              <a:xfrm>
                <a:off x="3202565" y="4047895"/>
                <a:ext cx="468000" cy="319177"/>
              </a:xfrm>
              <a:prstGeom prst="rect">
                <a:avLst/>
              </a:prstGeom>
            </p:spPr>
            <p:style>
              <a:lnRef idx="2">
                <a:schemeClr val="accent5">
                  <a:shade val="15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1,7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FB67D806-D665-EA8A-9981-6AB16DE7E82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2565" y="4047895"/>
                <a:ext cx="468000" cy="319177"/>
              </a:xfrm>
              <a:prstGeom prst="rect">
                <a:avLst/>
              </a:prstGeom>
              <a:blipFill>
                <a:blip r:embed="rId3"/>
                <a:stretch>
                  <a:fillRect l="-379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35568E5A-3F79-2331-A1AD-32935F21918D}"/>
                  </a:ext>
                </a:extLst>
              </p:cNvPr>
              <p:cNvSpPr/>
              <p:nvPr/>
            </p:nvSpPr>
            <p:spPr>
              <a:xfrm>
                <a:off x="3698400" y="4047895"/>
                <a:ext cx="468000" cy="319177"/>
              </a:xfrm>
              <a:prstGeom prst="rect">
                <a:avLst/>
              </a:prstGeom>
            </p:spPr>
            <p:style>
              <a:lnRef idx="2">
                <a:schemeClr val="accent5">
                  <a:shade val="15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35568E5A-3F79-2331-A1AD-32935F21918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98400" y="4047895"/>
                <a:ext cx="468000" cy="319177"/>
              </a:xfrm>
              <a:prstGeom prst="rect">
                <a:avLst/>
              </a:prstGeom>
              <a:blipFill>
                <a:blip r:embed="rId4"/>
                <a:stretch>
                  <a:fillRect b="-5556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DEA5C93A-485F-A60E-719C-35A41744DA0B}"/>
                  </a:ext>
                </a:extLst>
              </p:cNvPr>
              <p:cNvSpPr/>
              <p:nvPr/>
            </p:nvSpPr>
            <p:spPr>
              <a:xfrm>
                <a:off x="4194234" y="4047894"/>
                <a:ext cx="468000" cy="319177"/>
              </a:xfrm>
              <a:prstGeom prst="rect">
                <a:avLst/>
              </a:prstGeom>
            </p:spPr>
            <p:style>
              <a:lnRef idx="2">
                <a:schemeClr val="accent5">
                  <a:shade val="15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DEA5C93A-485F-A60E-719C-35A41744DA0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94234" y="4047894"/>
                <a:ext cx="468000" cy="319177"/>
              </a:xfrm>
              <a:prstGeom prst="rect">
                <a:avLst/>
              </a:prstGeom>
              <a:blipFill>
                <a:blip r:embed="rId5"/>
                <a:stretch>
                  <a:fillRect b="-5556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Rectangle 37">
                <a:extLst>
                  <a:ext uri="{FF2B5EF4-FFF2-40B4-BE49-F238E27FC236}">
                    <a16:creationId xmlns:a16="http://schemas.microsoft.com/office/drawing/2014/main" id="{1727C0A4-31A4-4F8C-0753-9667F1BC43FA}"/>
                  </a:ext>
                </a:extLst>
              </p:cNvPr>
              <p:cNvSpPr/>
              <p:nvPr/>
            </p:nvSpPr>
            <p:spPr>
              <a:xfrm>
                <a:off x="2706730" y="3646945"/>
                <a:ext cx="468000" cy="319177"/>
              </a:xfrm>
              <a:prstGeom prst="rect">
                <a:avLst/>
              </a:prstGeom>
            </p:spPr>
            <p:style>
              <a:lnRef idx="2">
                <a:schemeClr val="accent5">
                  <a:shade val="15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38" name="Rectangle 37">
                <a:extLst>
                  <a:ext uri="{FF2B5EF4-FFF2-40B4-BE49-F238E27FC236}">
                    <a16:creationId xmlns:a16="http://schemas.microsoft.com/office/drawing/2014/main" id="{1727C0A4-31A4-4F8C-0753-9667F1BC43F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06730" y="3646945"/>
                <a:ext cx="468000" cy="319177"/>
              </a:xfrm>
              <a:prstGeom prst="rect">
                <a:avLst/>
              </a:prstGeom>
              <a:blipFill>
                <a:blip r:embed="rId6"/>
                <a:stretch>
                  <a:fillRect b="-909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Rectangle 38">
                <a:extLst>
                  <a:ext uri="{FF2B5EF4-FFF2-40B4-BE49-F238E27FC236}">
                    <a16:creationId xmlns:a16="http://schemas.microsoft.com/office/drawing/2014/main" id="{6E04EA64-A3BF-29A1-D065-B493D5FB4821}"/>
                  </a:ext>
                </a:extLst>
              </p:cNvPr>
              <p:cNvSpPr/>
              <p:nvPr/>
            </p:nvSpPr>
            <p:spPr>
              <a:xfrm>
                <a:off x="3202565" y="3646945"/>
                <a:ext cx="468000" cy="319177"/>
              </a:xfrm>
              <a:prstGeom prst="rect">
                <a:avLst/>
              </a:prstGeom>
            </p:spPr>
            <p:style>
              <a:lnRef idx="2">
                <a:schemeClr val="accent5">
                  <a:shade val="15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1,33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39" name="Rectangle 38">
                <a:extLst>
                  <a:ext uri="{FF2B5EF4-FFF2-40B4-BE49-F238E27FC236}">
                    <a16:creationId xmlns:a16="http://schemas.microsoft.com/office/drawing/2014/main" id="{6E04EA64-A3BF-29A1-D065-B493D5FB482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2565" y="3646945"/>
                <a:ext cx="468000" cy="319177"/>
              </a:xfrm>
              <a:prstGeom prst="rect">
                <a:avLst/>
              </a:prstGeom>
              <a:blipFill>
                <a:blip r:embed="rId7"/>
                <a:stretch>
                  <a:fillRect l="-16456" r="-7595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8E8889CC-9894-6F0B-433C-B4EAA0B05DB4}"/>
                  </a:ext>
                </a:extLst>
              </p:cNvPr>
              <p:cNvSpPr/>
              <p:nvPr/>
            </p:nvSpPr>
            <p:spPr>
              <a:xfrm>
                <a:off x="3698400" y="3646946"/>
                <a:ext cx="468000" cy="319177"/>
              </a:xfrm>
              <a:prstGeom prst="rect">
                <a:avLst/>
              </a:prstGeom>
            </p:spPr>
            <p:style>
              <a:lnRef idx="2">
                <a:schemeClr val="accent5">
                  <a:shade val="15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8E8889CC-9894-6F0B-433C-B4EAA0B05DB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98400" y="3646946"/>
                <a:ext cx="468000" cy="319177"/>
              </a:xfrm>
              <a:prstGeom prst="rect">
                <a:avLst/>
              </a:prstGeom>
              <a:blipFill>
                <a:blip r:embed="rId8"/>
                <a:stretch>
                  <a:fillRect b="-909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Rectangle 40">
                <a:extLst>
                  <a:ext uri="{FF2B5EF4-FFF2-40B4-BE49-F238E27FC236}">
                    <a16:creationId xmlns:a16="http://schemas.microsoft.com/office/drawing/2014/main" id="{CC73C869-4D94-A403-8EE8-FA1F50EE4364}"/>
                  </a:ext>
                </a:extLst>
              </p:cNvPr>
              <p:cNvSpPr/>
              <p:nvPr/>
            </p:nvSpPr>
            <p:spPr>
              <a:xfrm>
                <a:off x="4194234" y="3646945"/>
                <a:ext cx="468000" cy="319177"/>
              </a:xfrm>
              <a:prstGeom prst="rect">
                <a:avLst/>
              </a:prstGeom>
            </p:spPr>
            <p:style>
              <a:lnRef idx="2">
                <a:schemeClr val="accent5">
                  <a:shade val="15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41" name="Rectangle 40">
                <a:extLst>
                  <a:ext uri="{FF2B5EF4-FFF2-40B4-BE49-F238E27FC236}">
                    <a16:creationId xmlns:a16="http://schemas.microsoft.com/office/drawing/2014/main" id="{CC73C869-4D94-A403-8EE8-FA1F50EE436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94234" y="3646945"/>
                <a:ext cx="468000" cy="319177"/>
              </a:xfrm>
              <a:prstGeom prst="rect">
                <a:avLst/>
              </a:prstGeom>
              <a:blipFill>
                <a:blip r:embed="rId9"/>
                <a:stretch>
                  <a:fillRect b="-909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0" name="Rectangle 49">
            <a:extLst>
              <a:ext uri="{FF2B5EF4-FFF2-40B4-BE49-F238E27FC236}">
                <a16:creationId xmlns:a16="http://schemas.microsoft.com/office/drawing/2014/main" id="{AA7FCF3C-958C-340A-BED5-F59B13B8CD7E}"/>
              </a:ext>
            </a:extLst>
          </p:cNvPr>
          <p:cNvSpPr/>
          <p:nvPr/>
        </p:nvSpPr>
        <p:spPr>
          <a:xfrm>
            <a:off x="5271186" y="3684914"/>
            <a:ext cx="468000" cy="319177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1" name="Rectangle 50">
                <a:extLst>
                  <a:ext uri="{FF2B5EF4-FFF2-40B4-BE49-F238E27FC236}">
                    <a16:creationId xmlns:a16="http://schemas.microsoft.com/office/drawing/2014/main" id="{D3338B19-1552-E0E1-D778-87795F526C73}"/>
                  </a:ext>
                </a:extLst>
              </p:cNvPr>
              <p:cNvSpPr/>
              <p:nvPr/>
            </p:nvSpPr>
            <p:spPr>
              <a:xfrm>
                <a:off x="5761515" y="3684914"/>
                <a:ext cx="468000" cy="319177"/>
              </a:xfrm>
              <a:prstGeom prst="rect">
                <a:avLst/>
              </a:prstGeom>
              <a:solidFill>
                <a:srgbClr val="FFFF00"/>
              </a:solidFill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98</m:t>
                      </m:r>
                    </m:oMath>
                  </m:oMathPara>
                </a14:m>
                <a:endParaRPr lang="pt-BR" sz="12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51" name="Rectangle 50">
                <a:extLst>
                  <a:ext uri="{FF2B5EF4-FFF2-40B4-BE49-F238E27FC236}">
                    <a16:creationId xmlns:a16="http://schemas.microsoft.com/office/drawing/2014/main" id="{D3338B19-1552-E0E1-D778-87795F526C7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61515" y="3684914"/>
                <a:ext cx="468000" cy="319177"/>
              </a:xfrm>
              <a:prstGeom prst="rect">
                <a:avLst/>
              </a:prstGeom>
              <a:blipFill>
                <a:blip r:embed="rId10"/>
                <a:stretch>
                  <a:fillRect l="-886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2" name="Rectangle 51">
            <a:extLst>
              <a:ext uri="{FF2B5EF4-FFF2-40B4-BE49-F238E27FC236}">
                <a16:creationId xmlns:a16="http://schemas.microsoft.com/office/drawing/2014/main" id="{C423CA8C-0505-ABC4-8A28-FC3672BF7BD0}"/>
              </a:ext>
            </a:extLst>
          </p:cNvPr>
          <p:cNvSpPr/>
          <p:nvPr/>
        </p:nvSpPr>
        <p:spPr>
          <a:xfrm>
            <a:off x="6251844" y="3684914"/>
            <a:ext cx="468000" cy="319177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D7F39CA0-E88E-ED6B-2F28-D74AC8B74926}"/>
              </a:ext>
            </a:extLst>
          </p:cNvPr>
          <p:cNvSpPr/>
          <p:nvPr/>
        </p:nvSpPr>
        <p:spPr>
          <a:xfrm>
            <a:off x="6742173" y="3684914"/>
            <a:ext cx="468000" cy="319177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4" name="Rectangle 53">
                <a:extLst>
                  <a:ext uri="{FF2B5EF4-FFF2-40B4-BE49-F238E27FC236}">
                    <a16:creationId xmlns:a16="http://schemas.microsoft.com/office/drawing/2014/main" id="{CC933B5B-9DC6-3265-B2AB-43C8DC59B11E}"/>
                  </a:ext>
                </a:extLst>
              </p:cNvPr>
              <p:cNvSpPr/>
              <p:nvPr/>
            </p:nvSpPr>
            <p:spPr>
              <a:xfrm>
                <a:off x="7729083" y="4047895"/>
                <a:ext cx="319177" cy="319177"/>
              </a:xfrm>
              <a:prstGeom prst="rect">
                <a:avLst/>
              </a:prstGeom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54" name="Rectangle 53">
                <a:extLst>
                  <a:ext uri="{FF2B5EF4-FFF2-40B4-BE49-F238E27FC236}">
                    <a16:creationId xmlns:a16="http://schemas.microsoft.com/office/drawing/2014/main" id="{CC933B5B-9DC6-3265-B2AB-43C8DC59B11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29083" y="4047895"/>
                <a:ext cx="319177" cy="319177"/>
              </a:xfrm>
              <a:prstGeom prst="rect">
                <a:avLst/>
              </a:prstGeom>
              <a:blipFill>
                <a:blip r:embed="rId11"/>
                <a:stretch>
                  <a:fillRect l="-25926" b="-22222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Rectangle 54">
                <a:extLst>
                  <a:ext uri="{FF2B5EF4-FFF2-40B4-BE49-F238E27FC236}">
                    <a16:creationId xmlns:a16="http://schemas.microsoft.com/office/drawing/2014/main" id="{EE0863D9-2BF9-B6DA-44EF-011C63D07292}"/>
                  </a:ext>
                </a:extLst>
              </p:cNvPr>
              <p:cNvSpPr/>
              <p:nvPr/>
            </p:nvSpPr>
            <p:spPr>
              <a:xfrm>
                <a:off x="8065812" y="4047895"/>
                <a:ext cx="319177" cy="319177"/>
              </a:xfrm>
              <a:prstGeom prst="rect">
                <a:avLst/>
              </a:prstGeom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55" name="Rectangle 54">
                <a:extLst>
                  <a:ext uri="{FF2B5EF4-FFF2-40B4-BE49-F238E27FC236}">
                    <a16:creationId xmlns:a16="http://schemas.microsoft.com/office/drawing/2014/main" id="{EE0863D9-2BF9-B6DA-44EF-011C63D0729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65812" y="4047895"/>
                <a:ext cx="319177" cy="319177"/>
              </a:xfrm>
              <a:prstGeom prst="rect">
                <a:avLst/>
              </a:prstGeom>
              <a:blipFill>
                <a:blip r:embed="rId12"/>
                <a:stretch>
                  <a:fillRect l="-1852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Rectangle 55">
                <a:extLst>
                  <a:ext uri="{FF2B5EF4-FFF2-40B4-BE49-F238E27FC236}">
                    <a16:creationId xmlns:a16="http://schemas.microsoft.com/office/drawing/2014/main" id="{8408E87B-C7A4-8D69-DAD1-B1A56C00E439}"/>
                  </a:ext>
                </a:extLst>
              </p:cNvPr>
              <p:cNvSpPr/>
              <p:nvPr/>
            </p:nvSpPr>
            <p:spPr>
              <a:xfrm>
                <a:off x="8405716" y="4047895"/>
                <a:ext cx="319177" cy="319177"/>
              </a:xfrm>
              <a:prstGeom prst="rect">
                <a:avLst/>
              </a:prstGeom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56" name="Rectangle 55">
                <a:extLst>
                  <a:ext uri="{FF2B5EF4-FFF2-40B4-BE49-F238E27FC236}">
                    <a16:creationId xmlns:a16="http://schemas.microsoft.com/office/drawing/2014/main" id="{8408E87B-C7A4-8D69-DAD1-B1A56C00E43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05716" y="4047895"/>
                <a:ext cx="319177" cy="319177"/>
              </a:xfrm>
              <a:prstGeom prst="rect">
                <a:avLst/>
              </a:prstGeom>
              <a:blipFill>
                <a:blip r:embed="rId13"/>
                <a:stretch>
                  <a:fillRect l="-25926" b="-22222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Rectangle 56">
                <a:extLst>
                  <a:ext uri="{FF2B5EF4-FFF2-40B4-BE49-F238E27FC236}">
                    <a16:creationId xmlns:a16="http://schemas.microsoft.com/office/drawing/2014/main" id="{131EBB07-1682-B804-AA07-21F7AEA07557}"/>
                  </a:ext>
                </a:extLst>
              </p:cNvPr>
              <p:cNvSpPr/>
              <p:nvPr/>
            </p:nvSpPr>
            <p:spPr>
              <a:xfrm>
                <a:off x="8745620" y="4047894"/>
                <a:ext cx="319177" cy="319177"/>
              </a:xfrm>
              <a:prstGeom prst="rect">
                <a:avLst/>
              </a:prstGeom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57" name="Rectangle 56">
                <a:extLst>
                  <a:ext uri="{FF2B5EF4-FFF2-40B4-BE49-F238E27FC236}">
                    <a16:creationId xmlns:a16="http://schemas.microsoft.com/office/drawing/2014/main" id="{131EBB07-1682-B804-AA07-21F7AEA0755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45620" y="4047894"/>
                <a:ext cx="319177" cy="319177"/>
              </a:xfrm>
              <a:prstGeom prst="rect">
                <a:avLst/>
              </a:prstGeom>
              <a:blipFill>
                <a:blip r:embed="rId14"/>
                <a:stretch>
                  <a:fillRect l="-25926" b="-22222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Rectangle 57">
                <a:extLst>
                  <a:ext uri="{FF2B5EF4-FFF2-40B4-BE49-F238E27FC236}">
                    <a16:creationId xmlns:a16="http://schemas.microsoft.com/office/drawing/2014/main" id="{3B9A7BF8-DB55-47C0-A632-CA270BA2F6AC}"/>
                  </a:ext>
                </a:extLst>
              </p:cNvPr>
              <p:cNvSpPr/>
              <p:nvPr/>
            </p:nvSpPr>
            <p:spPr>
              <a:xfrm>
                <a:off x="7725435" y="3646946"/>
                <a:ext cx="319177" cy="319177"/>
              </a:xfrm>
              <a:prstGeom prst="rect">
                <a:avLst/>
              </a:prstGeom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𝛾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58" name="Rectangle 57">
                <a:extLst>
                  <a:ext uri="{FF2B5EF4-FFF2-40B4-BE49-F238E27FC236}">
                    <a16:creationId xmlns:a16="http://schemas.microsoft.com/office/drawing/2014/main" id="{3B9A7BF8-DB55-47C0-A632-CA270BA2F6A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25435" y="3646946"/>
                <a:ext cx="319177" cy="319177"/>
              </a:xfrm>
              <a:prstGeom prst="rect">
                <a:avLst/>
              </a:prstGeom>
              <a:blipFill>
                <a:blip r:embed="rId15"/>
                <a:stretch>
                  <a:fillRect l="-14545" b="-909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Rectangle 58">
                <a:extLst>
                  <a:ext uri="{FF2B5EF4-FFF2-40B4-BE49-F238E27FC236}">
                    <a16:creationId xmlns:a16="http://schemas.microsoft.com/office/drawing/2014/main" id="{C1AB75CC-353D-EF66-AD63-1A8574C45A8B}"/>
                  </a:ext>
                </a:extLst>
              </p:cNvPr>
              <p:cNvSpPr/>
              <p:nvPr/>
            </p:nvSpPr>
            <p:spPr>
              <a:xfrm>
                <a:off x="8062164" y="3646946"/>
                <a:ext cx="319177" cy="319177"/>
              </a:xfrm>
              <a:prstGeom prst="rect">
                <a:avLst/>
              </a:prstGeom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59" name="Rectangle 58">
                <a:extLst>
                  <a:ext uri="{FF2B5EF4-FFF2-40B4-BE49-F238E27FC236}">
                    <a16:creationId xmlns:a16="http://schemas.microsoft.com/office/drawing/2014/main" id="{C1AB75CC-353D-EF66-AD63-1A8574C45A8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62164" y="3646946"/>
                <a:ext cx="319177" cy="319177"/>
              </a:xfrm>
              <a:prstGeom prst="rect">
                <a:avLst/>
              </a:prstGeom>
              <a:blipFill>
                <a:blip r:embed="rId16"/>
                <a:stretch>
                  <a:fillRect l="-1852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" name="Rectangle 59">
                <a:extLst>
                  <a:ext uri="{FF2B5EF4-FFF2-40B4-BE49-F238E27FC236}">
                    <a16:creationId xmlns:a16="http://schemas.microsoft.com/office/drawing/2014/main" id="{C8820546-C3AC-9CC2-4E4A-91919E47E20A}"/>
                  </a:ext>
                </a:extLst>
              </p:cNvPr>
              <p:cNvSpPr/>
              <p:nvPr/>
            </p:nvSpPr>
            <p:spPr>
              <a:xfrm>
                <a:off x="8402068" y="3646946"/>
                <a:ext cx="319177" cy="319177"/>
              </a:xfrm>
              <a:prstGeom prst="rect">
                <a:avLst/>
              </a:prstGeom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𝛾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60" name="Rectangle 59">
                <a:extLst>
                  <a:ext uri="{FF2B5EF4-FFF2-40B4-BE49-F238E27FC236}">
                    <a16:creationId xmlns:a16="http://schemas.microsoft.com/office/drawing/2014/main" id="{C8820546-C3AC-9CC2-4E4A-91919E47E20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02068" y="3646946"/>
                <a:ext cx="319177" cy="319177"/>
              </a:xfrm>
              <a:prstGeom prst="rect">
                <a:avLst/>
              </a:prstGeom>
              <a:blipFill>
                <a:blip r:embed="rId17"/>
                <a:stretch>
                  <a:fillRect l="-14545" b="-909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Rectangle 60">
                <a:extLst>
                  <a:ext uri="{FF2B5EF4-FFF2-40B4-BE49-F238E27FC236}">
                    <a16:creationId xmlns:a16="http://schemas.microsoft.com/office/drawing/2014/main" id="{9846CC8F-B11B-379E-FF02-22B61579C3D0}"/>
                  </a:ext>
                </a:extLst>
              </p:cNvPr>
              <p:cNvSpPr/>
              <p:nvPr/>
            </p:nvSpPr>
            <p:spPr>
              <a:xfrm>
                <a:off x="8741972" y="3646945"/>
                <a:ext cx="319177" cy="319177"/>
              </a:xfrm>
              <a:prstGeom prst="rect">
                <a:avLst/>
              </a:prstGeom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𝛾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61" name="Rectangle 60">
                <a:extLst>
                  <a:ext uri="{FF2B5EF4-FFF2-40B4-BE49-F238E27FC236}">
                    <a16:creationId xmlns:a16="http://schemas.microsoft.com/office/drawing/2014/main" id="{9846CC8F-B11B-379E-FF02-22B61579C3D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41972" y="3646945"/>
                <a:ext cx="319177" cy="319177"/>
              </a:xfrm>
              <a:prstGeom prst="rect">
                <a:avLst/>
              </a:prstGeom>
              <a:blipFill>
                <a:blip r:embed="rId18"/>
                <a:stretch>
                  <a:fillRect l="-14815" b="-909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35" name="Straight Arrow Connector 1034">
            <a:extLst>
              <a:ext uri="{FF2B5EF4-FFF2-40B4-BE49-F238E27FC236}">
                <a16:creationId xmlns:a16="http://schemas.microsoft.com/office/drawing/2014/main" id="{6143EF1A-E438-EA24-5158-FEC150A9610E}"/>
              </a:ext>
            </a:extLst>
          </p:cNvPr>
          <p:cNvCxnSpPr>
            <a:cxnSpLocks/>
          </p:cNvCxnSpPr>
          <p:nvPr/>
        </p:nvCxnSpPr>
        <p:spPr>
          <a:xfrm>
            <a:off x="10506464" y="3574146"/>
            <a:ext cx="1347665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6" name="TextBox 1035">
            <a:extLst>
              <a:ext uri="{FF2B5EF4-FFF2-40B4-BE49-F238E27FC236}">
                <a16:creationId xmlns:a16="http://schemas.microsoft.com/office/drawing/2014/main" id="{4C661ACC-67B4-258C-015A-3832A5B76434}"/>
              </a:ext>
            </a:extLst>
          </p:cNvPr>
          <p:cNvSpPr txBox="1"/>
          <p:nvPr/>
        </p:nvSpPr>
        <p:spPr>
          <a:xfrm>
            <a:off x="10518415" y="3161395"/>
            <a:ext cx="9544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/>
              <a:t>features</a:t>
            </a:r>
            <a:endParaRPr lang="pt-BR" dirty="0"/>
          </a:p>
        </p:txBody>
      </p:sp>
      <p:cxnSp>
        <p:nvCxnSpPr>
          <p:cNvPr id="1037" name="Straight Arrow Connector 1036">
            <a:extLst>
              <a:ext uri="{FF2B5EF4-FFF2-40B4-BE49-F238E27FC236}">
                <a16:creationId xmlns:a16="http://schemas.microsoft.com/office/drawing/2014/main" id="{188908CB-0EE3-4E5A-E132-61303364FB7C}"/>
              </a:ext>
            </a:extLst>
          </p:cNvPr>
          <p:cNvCxnSpPr>
            <a:cxnSpLocks/>
          </p:cNvCxnSpPr>
          <p:nvPr/>
        </p:nvCxnSpPr>
        <p:spPr>
          <a:xfrm>
            <a:off x="12002744" y="3733019"/>
            <a:ext cx="0" cy="1044369"/>
          </a:xfrm>
          <a:prstGeom prst="straightConnector1">
            <a:avLst/>
          </a:prstGeom>
          <a:ln w="28575">
            <a:solidFill>
              <a:srgbClr val="0070C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0" name="Rectangle 1039">
            <a:extLst>
              <a:ext uri="{FF2B5EF4-FFF2-40B4-BE49-F238E27FC236}">
                <a16:creationId xmlns:a16="http://schemas.microsoft.com/office/drawing/2014/main" id="{86E43187-4259-FCA9-AA89-CC3E66BC1DFE}"/>
              </a:ext>
            </a:extLst>
          </p:cNvPr>
          <p:cNvSpPr/>
          <p:nvPr/>
        </p:nvSpPr>
        <p:spPr>
          <a:xfrm>
            <a:off x="2604980" y="3221382"/>
            <a:ext cx="2142450" cy="1226690"/>
          </a:xfrm>
          <a:prstGeom prst="rect">
            <a:avLst/>
          </a:prstGeom>
          <a:noFill/>
          <a:ln w="1905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41" name="Rectangle 1040">
            <a:extLst>
              <a:ext uri="{FF2B5EF4-FFF2-40B4-BE49-F238E27FC236}">
                <a16:creationId xmlns:a16="http://schemas.microsoft.com/office/drawing/2014/main" id="{F543F008-6F11-B14F-DFA6-D9A2AAC0AB71}"/>
              </a:ext>
            </a:extLst>
          </p:cNvPr>
          <p:cNvSpPr/>
          <p:nvPr/>
        </p:nvSpPr>
        <p:spPr>
          <a:xfrm>
            <a:off x="7590666" y="3209447"/>
            <a:ext cx="1573789" cy="1352182"/>
          </a:xfrm>
          <a:prstGeom prst="rect">
            <a:avLst/>
          </a:prstGeom>
          <a:noFill/>
          <a:ln w="1905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42" name="TextBox 1041">
            <a:extLst>
              <a:ext uri="{FF2B5EF4-FFF2-40B4-BE49-F238E27FC236}">
                <a16:creationId xmlns:a16="http://schemas.microsoft.com/office/drawing/2014/main" id="{02A1225E-C4CB-3460-EAEF-B431C6B64197}"/>
              </a:ext>
            </a:extLst>
          </p:cNvPr>
          <p:cNvSpPr txBox="1"/>
          <p:nvPr/>
        </p:nvSpPr>
        <p:spPr>
          <a:xfrm>
            <a:off x="3224692" y="3249497"/>
            <a:ext cx="12592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i="1" dirty="0" err="1"/>
              <a:t>mean</a:t>
            </a:r>
            <a:r>
              <a:rPr lang="pt-BR" dirty="0"/>
              <a:t> e </a:t>
            </a:r>
            <a:r>
              <a:rPr lang="pt-BR" i="1" dirty="0" err="1"/>
              <a:t>std</a:t>
            </a:r>
            <a:endParaRPr lang="pt-BR" i="1" dirty="0"/>
          </a:p>
        </p:txBody>
      </p:sp>
      <p:sp>
        <p:nvSpPr>
          <p:cNvPr id="1044" name="TextBox 1043">
            <a:extLst>
              <a:ext uri="{FF2B5EF4-FFF2-40B4-BE49-F238E27FC236}">
                <a16:creationId xmlns:a16="http://schemas.microsoft.com/office/drawing/2014/main" id="{678F97EA-AC4C-2098-0682-311BF2D591D5}"/>
              </a:ext>
            </a:extLst>
          </p:cNvPr>
          <p:cNvSpPr txBox="1"/>
          <p:nvPr/>
        </p:nvSpPr>
        <p:spPr>
          <a:xfrm>
            <a:off x="7744761" y="3221541"/>
            <a:ext cx="14196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i="1" dirty="0" err="1"/>
              <a:t>scale</a:t>
            </a:r>
            <a:r>
              <a:rPr lang="pt-BR" i="1" dirty="0"/>
              <a:t> </a:t>
            </a:r>
            <a:r>
              <a:rPr lang="pt-BR" dirty="0"/>
              <a:t>e</a:t>
            </a:r>
            <a:r>
              <a:rPr lang="pt-BR" i="1" dirty="0"/>
              <a:t> shift</a:t>
            </a:r>
          </a:p>
        </p:txBody>
      </p:sp>
      <p:sp>
        <p:nvSpPr>
          <p:cNvPr id="1045" name="TextBox 1044">
            <a:extLst>
              <a:ext uri="{FF2B5EF4-FFF2-40B4-BE49-F238E27FC236}">
                <a16:creationId xmlns:a16="http://schemas.microsoft.com/office/drawing/2014/main" id="{CD1A54F1-C48E-AD37-28DD-9F50E2C12F40}"/>
              </a:ext>
            </a:extLst>
          </p:cNvPr>
          <p:cNvSpPr txBox="1"/>
          <p:nvPr/>
        </p:nvSpPr>
        <p:spPr>
          <a:xfrm>
            <a:off x="5118847" y="2734821"/>
            <a:ext cx="196049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i="1" dirty="0"/>
              <a:t>batch </a:t>
            </a:r>
            <a:r>
              <a:rPr lang="pt-BR" sz="2800" i="1" dirty="0" err="1"/>
              <a:t>norm</a:t>
            </a:r>
            <a:endParaRPr lang="pt-BR" sz="2800" i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46" name="Rectangle 1045">
                <a:extLst>
                  <a:ext uri="{FF2B5EF4-FFF2-40B4-BE49-F238E27FC236}">
                    <a16:creationId xmlns:a16="http://schemas.microsoft.com/office/drawing/2014/main" id="{D41B99D9-8747-0A9B-82B4-72458674E90E}"/>
                  </a:ext>
                </a:extLst>
              </p:cNvPr>
              <p:cNvSpPr/>
              <p:nvPr/>
            </p:nvSpPr>
            <p:spPr>
              <a:xfrm>
                <a:off x="3167535" y="5771408"/>
                <a:ext cx="424826" cy="319177"/>
              </a:xfrm>
              <a:prstGeom prst="rect">
                <a:avLst/>
              </a:prstGeom>
              <a:solidFill>
                <a:srgbClr val="0070C0"/>
              </a:solidFill>
            </p:spPr>
            <p:style>
              <a:lnRef idx="2">
                <a:schemeClr val="accent5">
                  <a:shade val="15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1046" name="Rectangle 1045">
                <a:extLst>
                  <a:ext uri="{FF2B5EF4-FFF2-40B4-BE49-F238E27FC236}">
                    <a16:creationId xmlns:a16="http://schemas.microsoft.com/office/drawing/2014/main" id="{D41B99D9-8747-0A9B-82B4-72458674E90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67535" y="5771408"/>
                <a:ext cx="424826" cy="319177"/>
              </a:xfrm>
              <a:prstGeom prst="rect">
                <a:avLst/>
              </a:prstGeom>
              <a:blipFill>
                <a:blip r:embed="rId19"/>
                <a:stretch>
                  <a:fillRect l="-14085" b="-5556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47" name="Rectangle 1046">
                <a:extLst>
                  <a:ext uri="{FF2B5EF4-FFF2-40B4-BE49-F238E27FC236}">
                    <a16:creationId xmlns:a16="http://schemas.microsoft.com/office/drawing/2014/main" id="{3D5D08D1-C166-C4DA-8567-A11C776C7FC2}"/>
                  </a:ext>
                </a:extLst>
              </p:cNvPr>
              <p:cNvSpPr/>
              <p:nvPr/>
            </p:nvSpPr>
            <p:spPr>
              <a:xfrm>
                <a:off x="3642691" y="5779292"/>
                <a:ext cx="424826" cy="319177"/>
              </a:xfrm>
              <a:prstGeom prst="rect">
                <a:avLst/>
              </a:prstGeom>
              <a:solidFill>
                <a:srgbClr val="0070C0"/>
              </a:solidFill>
            </p:spPr>
            <p:style>
              <a:lnRef idx="2">
                <a:schemeClr val="accent5">
                  <a:shade val="15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1,7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1047" name="Rectangle 1046">
                <a:extLst>
                  <a:ext uri="{FF2B5EF4-FFF2-40B4-BE49-F238E27FC236}">
                    <a16:creationId xmlns:a16="http://schemas.microsoft.com/office/drawing/2014/main" id="{3D5D08D1-C166-C4DA-8567-A11C776C7FC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42691" y="5779292"/>
                <a:ext cx="424826" cy="319177"/>
              </a:xfrm>
              <a:prstGeom prst="rect">
                <a:avLst/>
              </a:prstGeom>
              <a:blipFill>
                <a:blip r:embed="rId20"/>
                <a:stretch>
                  <a:fillRect l="-9859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48" name="Rectangle 1047">
                <a:extLst>
                  <a:ext uri="{FF2B5EF4-FFF2-40B4-BE49-F238E27FC236}">
                    <a16:creationId xmlns:a16="http://schemas.microsoft.com/office/drawing/2014/main" id="{C359048D-8A89-4D4A-9D45-D60AF6954E0E}"/>
                  </a:ext>
                </a:extLst>
              </p:cNvPr>
              <p:cNvSpPr/>
              <p:nvPr/>
            </p:nvSpPr>
            <p:spPr>
              <a:xfrm>
                <a:off x="4117847" y="5779292"/>
                <a:ext cx="424826" cy="319177"/>
              </a:xfrm>
              <a:prstGeom prst="rect">
                <a:avLst/>
              </a:prstGeom>
              <a:solidFill>
                <a:srgbClr val="0070C0"/>
              </a:solidFill>
            </p:spPr>
            <p:style>
              <a:lnRef idx="2">
                <a:schemeClr val="accent5">
                  <a:shade val="15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1048" name="Rectangle 1047">
                <a:extLst>
                  <a:ext uri="{FF2B5EF4-FFF2-40B4-BE49-F238E27FC236}">
                    <a16:creationId xmlns:a16="http://schemas.microsoft.com/office/drawing/2014/main" id="{C359048D-8A89-4D4A-9D45-D60AF6954E0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7847" y="5779292"/>
                <a:ext cx="424826" cy="319177"/>
              </a:xfrm>
              <a:prstGeom prst="rect">
                <a:avLst/>
              </a:prstGeom>
              <a:blipFill>
                <a:blip r:embed="rId21"/>
                <a:stretch>
                  <a:fillRect l="-12500" b="-5556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49" name="Rectangle 1048">
                <a:extLst>
                  <a:ext uri="{FF2B5EF4-FFF2-40B4-BE49-F238E27FC236}">
                    <a16:creationId xmlns:a16="http://schemas.microsoft.com/office/drawing/2014/main" id="{7C7278F0-9DAD-AD89-C5A4-15313BE22F95}"/>
                  </a:ext>
                </a:extLst>
              </p:cNvPr>
              <p:cNvSpPr/>
              <p:nvPr/>
            </p:nvSpPr>
            <p:spPr>
              <a:xfrm>
                <a:off x="4574476" y="5779292"/>
                <a:ext cx="424826" cy="319177"/>
              </a:xfrm>
              <a:prstGeom prst="rect">
                <a:avLst/>
              </a:prstGeom>
              <a:solidFill>
                <a:srgbClr val="0070C0"/>
              </a:solidFill>
            </p:spPr>
            <p:style>
              <a:lnRef idx="2">
                <a:schemeClr val="accent5">
                  <a:shade val="15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1049" name="Rectangle 1048">
                <a:extLst>
                  <a:ext uri="{FF2B5EF4-FFF2-40B4-BE49-F238E27FC236}">
                    <a16:creationId xmlns:a16="http://schemas.microsoft.com/office/drawing/2014/main" id="{7C7278F0-9DAD-AD89-C5A4-15313BE22F9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4476" y="5779292"/>
                <a:ext cx="424826" cy="319177"/>
              </a:xfrm>
              <a:prstGeom prst="rect">
                <a:avLst/>
              </a:prstGeom>
              <a:blipFill>
                <a:blip r:embed="rId22"/>
                <a:stretch>
                  <a:fillRect l="-12500" b="-5556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50" name="Rectangle 1049">
                <a:extLst>
                  <a:ext uri="{FF2B5EF4-FFF2-40B4-BE49-F238E27FC236}">
                    <a16:creationId xmlns:a16="http://schemas.microsoft.com/office/drawing/2014/main" id="{FCD8FE0B-B06D-EDC0-5E76-2548E5E010AD}"/>
                  </a:ext>
                </a:extLst>
              </p:cNvPr>
              <p:cNvSpPr/>
              <p:nvPr/>
            </p:nvSpPr>
            <p:spPr>
              <a:xfrm>
                <a:off x="3167535" y="5385195"/>
                <a:ext cx="424826" cy="319177"/>
              </a:xfrm>
              <a:prstGeom prst="rect">
                <a:avLst/>
              </a:prstGeom>
              <a:solidFill>
                <a:srgbClr val="0070C0"/>
              </a:solidFill>
            </p:spPr>
            <p:style>
              <a:lnRef idx="2">
                <a:schemeClr val="accent5">
                  <a:shade val="15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1050" name="Rectangle 1049">
                <a:extLst>
                  <a:ext uri="{FF2B5EF4-FFF2-40B4-BE49-F238E27FC236}">
                    <a16:creationId xmlns:a16="http://schemas.microsoft.com/office/drawing/2014/main" id="{FCD8FE0B-B06D-EDC0-5E76-2548E5E010A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67535" y="5385195"/>
                <a:ext cx="424826" cy="319177"/>
              </a:xfrm>
              <a:prstGeom prst="rect">
                <a:avLst/>
              </a:prstGeom>
              <a:blipFill>
                <a:blip r:embed="rId23"/>
                <a:stretch>
                  <a:fillRect l="-19718" r="-1408" b="-10909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51" name="Rectangle 1050">
                <a:extLst>
                  <a:ext uri="{FF2B5EF4-FFF2-40B4-BE49-F238E27FC236}">
                    <a16:creationId xmlns:a16="http://schemas.microsoft.com/office/drawing/2014/main" id="{D8DCCF45-9944-0F39-BF4F-41C912D50B0F}"/>
                  </a:ext>
                </a:extLst>
              </p:cNvPr>
              <p:cNvSpPr/>
              <p:nvPr/>
            </p:nvSpPr>
            <p:spPr>
              <a:xfrm>
                <a:off x="3642691" y="5385195"/>
                <a:ext cx="424826" cy="319177"/>
              </a:xfrm>
              <a:prstGeom prst="rect">
                <a:avLst/>
              </a:prstGeom>
              <a:solidFill>
                <a:srgbClr val="0070C0"/>
              </a:solidFill>
            </p:spPr>
            <p:style>
              <a:lnRef idx="2">
                <a:schemeClr val="accent5">
                  <a:shade val="15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1,33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1051" name="Rectangle 1050">
                <a:extLst>
                  <a:ext uri="{FF2B5EF4-FFF2-40B4-BE49-F238E27FC236}">
                    <a16:creationId xmlns:a16="http://schemas.microsoft.com/office/drawing/2014/main" id="{D8DCCF45-9944-0F39-BF4F-41C912D50B0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42691" y="5385195"/>
                <a:ext cx="424826" cy="319177"/>
              </a:xfrm>
              <a:prstGeom prst="rect">
                <a:avLst/>
              </a:prstGeom>
              <a:blipFill>
                <a:blip r:embed="rId24"/>
                <a:stretch>
                  <a:fillRect l="-25352" r="-12676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52" name="Rectangle 1051">
                <a:extLst>
                  <a:ext uri="{FF2B5EF4-FFF2-40B4-BE49-F238E27FC236}">
                    <a16:creationId xmlns:a16="http://schemas.microsoft.com/office/drawing/2014/main" id="{73747D17-DFB5-FDC1-E344-752D4EF174F7}"/>
                  </a:ext>
                </a:extLst>
              </p:cNvPr>
              <p:cNvSpPr/>
              <p:nvPr/>
            </p:nvSpPr>
            <p:spPr>
              <a:xfrm>
                <a:off x="4117847" y="5385195"/>
                <a:ext cx="424826" cy="319177"/>
              </a:xfrm>
              <a:prstGeom prst="rect">
                <a:avLst/>
              </a:prstGeom>
              <a:solidFill>
                <a:srgbClr val="0070C0"/>
              </a:solidFill>
            </p:spPr>
            <p:style>
              <a:lnRef idx="2">
                <a:schemeClr val="accent5">
                  <a:shade val="15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1052" name="Rectangle 1051">
                <a:extLst>
                  <a:ext uri="{FF2B5EF4-FFF2-40B4-BE49-F238E27FC236}">
                    <a16:creationId xmlns:a16="http://schemas.microsoft.com/office/drawing/2014/main" id="{73747D17-DFB5-FDC1-E344-752D4EF174F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7847" y="5385195"/>
                <a:ext cx="424826" cy="319177"/>
              </a:xfrm>
              <a:prstGeom prst="rect">
                <a:avLst/>
              </a:prstGeom>
              <a:blipFill>
                <a:blip r:embed="rId25"/>
                <a:stretch>
                  <a:fillRect l="-18056" r="-1389" b="-10909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53" name="Rectangle 1052">
                <a:extLst>
                  <a:ext uri="{FF2B5EF4-FFF2-40B4-BE49-F238E27FC236}">
                    <a16:creationId xmlns:a16="http://schemas.microsoft.com/office/drawing/2014/main" id="{E525BFFD-C7C4-9348-1446-568ED36A8A8C}"/>
                  </a:ext>
                </a:extLst>
              </p:cNvPr>
              <p:cNvSpPr/>
              <p:nvPr/>
            </p:nvSpPr>
            <p:spPr>
              <a:xfrm>
                <a:off x="4574476" y="5383573"/>
                <a:ext cx="424826" cy="319177"/>
              </a:xfrm>
              <a:prstGeom prst="rect">
                <a:avLst/>
              </a:prstGeom>
              <a:solidFill>
                <a:srgbClr val="0070C0"/>
              </a:solidFill>
            </p:spPr>
            <p:style>
              <a:lnRef idx="2">
                <a:schemeClr val="accent5">
                  <a:shade val="15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1053" name="Rectangle 1052">
                <a:extLst>
                  <a:ext uri="{FF2B5EF4-FFF2-40B4-BE49-F238E27FC236}">
                    <a16:creationId xmlns:a16="http://schemas.microsoft.com/office/drawing/2014/main" id="{E525BFFD-C7C4-9348-1446-568ED36A8A8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4476" y="5383573"/>
                <a:ext cx="424826" cy="319177"/>
              </a:xfrm>
              <a:prstGeom prst="rect">
                <a:avLst/>
              </a:prstGeom>
              <a:blipFill>
                <a:blip r:embed="rId26"/>
                <a:stretch>
                  <a:fillRect l="-18056" r="-1389" b="-1111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54" name="Rectangle 1053">
            <a:extLst>
              <a:ext uri="{FF2B5EF4-FFF2-40B4-BE49-F238E27FC236}">
                <a16:creationId xmlns:a16="http://schemas.microsoft.com/office/drawing/2014/main" id="{DD92244D-7A23-91B7-1294-C5EFEFCFA14E}"/>
              </a:ext>
            </a:extLst>
          </p:cNvPr>
          <p:cNvSpPr/>
          <p:nvPr/>
        </p:nvSpPr>
        <p:spPr>
          <a:xfrm>
            <a:off x="3071389" y="4977559"/>
            <a:ext cx="2033051" cy="1226690"/>
          </a:xfrm>
          <a:prstGeom prst="rect">
            <a:avLst/>
          </a:prstGeom>
          <a:noFill/>
          <a:ln w="1905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55" name="TextBox 1054">
            <a:extLst>
              <a:ext uri="{FF2B5EF4-FFF2-40B4-BE49-F238E27FC236}">
                <a16:creationId xmlns:a16="http://schemas.microsoft.com/office/drawing/2014/main" id="{1BCC8390-7469-D90B-8130-44CEB6839792}"/>
              </a:ext>
            </a:extLst>
          </p:cNvPr>
          <p:cNvSpPr txBox="1"/>
          <p:nvPr/>
        </p:nvSpPr>
        <p:spPr>
          <a:xfrm>
            <a:off x="3071390" y="5005674"/>
            <a:ext cx="16760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i="1" dirty="0" err="1"/>
              <a:t>moving</a:t>
            </a:r>
            <a:r>
              <a:rPr lang="pt-BR" sz="1600" i="1" dirty="0"/>
              <a:t> </a:t>
            </a:r>
            <a:r>
              <a:rPr lang="pt-BR" sz="1600" i="1" dirty="0" err="1"/>
              <a:t>averages</a:t>
            </a:r>
            <a:endParaRPr lang="pt-BR" sz="1600" i="1" dirty="0"/>
          </a:p>
        </p:txBody>
      </p:sp>
      <p:sp>
        <p:nvSpPr>
          <p:cNvPr id="1059" name="Rectangle 1058">
            <a:extLst>
              <a:ext uri="{FF2B5EF4-FFF2-40B4-BE49-F238E27FC236}">
                <a16:creationId xmlns:a16="http://schemas.microsoft.com/office/drawing/2014/main" id="{5944823A-F47B-DD1F-EE7E-2B36E2F43501}"/>
              </a:ext>
            </a:extLst>
          </p:cNvPr>
          <p:cNvSpPr/>
          <p:nvPr/>
        </p:nvSpPr>
        <p:spPr>
          <a:xfrm>
            <a:off x="8038596" y="3590874"/>
            <a:ext cx="327518" cy="831522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61" name="Rectangle 1060">
            <a:extLst>
              <a:ext uri="{FF2B5EF4-FFF2-40B4-BE49-F238E27FC236}">
                <a16:creationId xmlns:a16="http://schemas.microsoft.com/office/drawing/2014/main" id="{A8AB8CE9-6B4D-6269-0334-5030EF517CB8}"/>
              </a:ext>
            </a:extLst>
          </p:cNvPr>
          <p:cNvSpPr/>
          <p:nvPr/>
        </p:nvSpPr>
        <p:spPr>
          <a:xfrm>
            <a:off x="3624164" y="5347621"/>
            <a:ext cx="461880" cy="777720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9F11EEC-6354-8CE7-C8D6-FDB94FC292DE}"/>
              </a:ext>
            </a:extLst>
          </p:cNvPr>
          <p:cNvSpPr/>
          <p:nvPr/>
        </p:nvSpPr>
        <p:spPr>
          <a:xfrm>
            <a:off x="5271186" y="4027126"/>
            <a:ext cx="468000" cy="319177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0286FB88-D95D-5C00-BDE1-CDA3675A1FF8}"/>
                  </a:ext>
                </a:extLst>
              </p:cNvPr>
              <p:cNvSpPr/>
              <p:nvPr/>
            </p:nvSpPr>
            <p:spPr>
              <a:xfrm>
                <a:off x="5761515" y="4027126"/>
                <a:ext cx="468000" cy="319177"/>
              </a:xfrm>
              <a:prstGeom prst="rect">
                <a:avLst/>
              </a:prstGeom>
              <a:solidFill>
                <a:srgbClr val="FFFF00"/>
              </a:solidFill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−1,37</m:t>
                      </m:r>
                    </m:oMath>
                  </m:oMathPara>
                </a14:m>
                <a:endParaRPr lang="pt-BR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0286FB88-D95D-5C00-BDE1-CDA3675A1FF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61515" y="4027126"/>
                <a:ext cx="468000" cy="319177"/>
              </a:xfrm>
              <a:prstGeom prst="rect">
                <a:avLst/>
              </a:prstGeom>
              <a:blipFill>
                <a:blip r:embed="rId27"/>
                <a:stretch>
                  <a:fillRect l="-8861" r="-6329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ectangle 9">
            <a:extLst>
              <a:ext uri="{FF2B5EF4-FFF2-40B4-BE49-F238E27FC236}">
                <a16:creationId xmlns:a16="http://schemas.microsoft.com/office/drawing/2014/main" id="{5647B996-D0DC-54BF-68A3-6E01BD9FAAA3}"/>
              </a:ext>
            </a:extLst>
          </p:cNvPr>
          <p:cNvSpPr/>
          <p:nvPr/>
        </p:nvSpPr>
        <p:spPr>
          <a:xfrm>
            <a:off x="6251844" y="4027126"/>
            <a:ext cx="468000" cy="319177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4484A77-4271-07C2-12DB-D591874370FB}"/>
              </a:ext>
            </a:extLst>
          </p:cNvPr>
          <p:cNvSpPr/>
          <p:nvPr/>
        </p:nvSpPr>
        <p:spPr>
          <a:xfrm>
            <a:off x="6742173" y="4027126"/>
            <a:ext cx="468000" cy="319177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FDFC7C0-8059-3ACA-F747-DED452BF2EDB}"/>
              </a:ext>
            </a:extLst>
          </p:cNvPr>
          <p:cNvSpPr/>
          <p:nvPr/>
        </p:nvSpPr>
        <p:spPr>
          <a:xfrm>
            <a:off x="5271186" y="4367071"/>
            <a:ext cx="468000" cy="319177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DAFB020C-C53B-7351-D272-EEE1B1E41625}"/>
                  </a:ext>
                </a:extLst>
              </p:cNvPr>
              <p:cNvSpPr/>
              <p:nvPr/>
            </p:nvSpPr>
            <p:spPr>
              <a:xfrm>
                <a:off x="5761515" y="4367071"/>
                <a:ext cx="468000" cy="319177"/>
              </a:xfrm>
              <a:prstGeom prst="rect">
                <a:avLst/>
              </a:prstGeom>
              <a:solidFill>
                <a:srgbClr val="FFFF00"/>
              </a:solidFill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0,39</m:t>
                      </m:r>
                    </m:oMath>
                  </m:oMathPara>
                </a14:m>
                <a:endParaRPr lang="pt-BR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DAFB020C-C53B-7351-D272-EEE1B1E4162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61515" y="4367071"/>
                <a:ext cx="468000" cy="319177"/>
              </a:xfrm>
              <a:prstGeom prst="rect">
                <a:avLst/>
              </a:prstGeom>
              <a:blipFill>
                <a:blip r:embed="rId28"/>
                <a:stretch>
                  <a:fillRect l="-886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Rectangle 25">
            <a:extLst>
              <a:ext uri="{FF2B5EF4-FFF2-40B4-BE49-F238E27FC236}">
                <a16:creationId xmlns:a16="http://schemas.microsoft.com/office/drawing/2014/main" id="{306175DC-D122-3A23-6F03-6ED3FF128978}"/>
              </a:ext>
            </a:extLst>
          </p:cNvPr>
          <p:cNvSpPr/>
          <p:nvPr/>
        </p:nvSpPr>
        <p:spPr>
          <a:xfrm>
            <a:off x="6251844" y="4367071"/>
            <a:ext cx="468000" cy="319177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AC6C62D-8D61-7095-9F6A-20A917B54E5B}"/>
              </a:ext>
            </a:extLst>
          </p:cNvPr>
          <p:cNvSpPr/>
          <p:nvPr/>
        </p:nvSpPr>
        <p:spPr>
          <a:xfrm>
            <a:off x="6742173" y="4367071"/>
            <a:ext cx="468000" cy="319177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3C5FBA3-4845-20C7-5AB5-C26226AE6C67}"/>
              </a:ext>
            </a:extLst>
          </p:cNvPr>
          <p:cNvSpPr/>
          <p:nvPr/>
        </p:nvSpPr>
        <p:spPr>
          <a:xfrm>
            <a:off x="9912498" y="3776054"/>
            <a:ext cx="468000" cy="319177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53E7BCEF-7560-BBDE-62DD-5794D7A4853A}"/>
                  </a:ext>
                </a:extLst>
              </p:cNvPr>
              <p:cNvSpPr/>
              <p:nvPr/>
            </p:nvSpPr>
            <p:spPr>
              <a:xfrm>
                <a:off x="10402827" y="3776054"/>
                <a:ext cx="468000" cy="319177"/>
              </a:xfrm>
              <a:prstGeom prst="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3,66</m:t>
                      </m:r>
                    </m:oMath>
                  </m:oMathPara>
                </a14:m>
                <a:endParaRPr lang="pt-BR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53E7BCEF-7560-BBDE-62DD-5794D7A4853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02827" y="3776054"/>
                <a:ext cx="468000" cy="319177"/>
              </a:xfrm>
              <a:prstGeom prst="rect">
                <a:avLst/>
              </a:prstGeom>
              <a:blipFill>
                <a:blip r:embed="rId29"/>
                <a:stretch>
                  <a:fillRect l="-2564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26" name="Rectangle 1025">
            <a:extLst>
              <a:ext uri="{FF2B5EF4-FFF2-40B4-BE49-F238E27FC236}">
                <a16:creationId xmlns:a16="http://schemas.microsoft.com/office/drawing/2014/main" id="{7EB84432-A73B-0F7D-9274-8F1213C79CCE}"/>
              </a:ext>
            </a:extLst>
          </p:cNvPr>
          <p:cNvSpPr/>
          <p:nvPr/>
        </p:nvSpPr>
        <p:spPr>
          <a:xfrm>
            <a:off x="10893156" y="3776054"/>
            <a:ext cx="468000" cy="319177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38" name="Rectangle 1037">
            <a:extLst>
              <a:ext uri="{FF2B5EF4-FFF2-40B4-BE49-F238E27FC236}">
                <a16:creationId xmlns:a16="http://schemas.microsoft.com/office/drawing/2014/main" id="{14C4F4E2-171B-8C83-E123-E991D6133B64}"/>
              </a:ext>
            </a:extLst>
          </p:cNvPr>
          <p:cNvSpPr/>
          <p:nvPr/>
        </p:nvSpPr>
        <p:spPr>
          <a:xfrm>
            <a:off x="11383485" y="3776054"/>
            <a:ext cx="468000" cy="319177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43" name="Rectangle 1042">
            <a:extLst>
              <a:ext uri="{FF2B5EF4-FFF2-40B4-BE49-F238E27FC236}">
                <a16:creationId xmlns:a16="http://schemas.microsoft.com/office/drawing/2014/main" id="{30228EB1-33E9-4AF4-356F-81837378979B}"/>
              </a:ext>
            </a:extLst>
          </p:cNvPr>
          <p:cNvSpPr/>
          <p:nvPr/>
        </p:nvSpPr>
        <p:spPr>
          <a:xfrm>
            <a:off x="9912498" y="4118266"/>
            <a:ext cx="468000" cy="319177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62" name="Rectangle 1061">
                <a:extLst>
                  <a:ext uri="{FF2B5EF4-FFF2-40B4-BE49-F238E27FC236}">
                    <a16:creationId xmlns:a16="http://schemas.microsoft.com/office/drawing/2014/main" id="{0EDBCDB4-513E-9F95-321B-12EEDA929E7F}"/>
                  </a:ext>
                </a:extLst>
              </p:cNvPr>
              <p:cNvSpPr/>
              <p:nvPr/>
            </p:nvSpPr>
            <p:spPr>
              <a:xfrm>
                <a:off x="10402827" y="4118266"/>
                <a:ext cx="468000" cy="319177"/>
              </a:xfrm>
              <a:prstGeom prst="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−1,74</m:t>
                      </m:r>
                    </m:oMath>
                  </m:oMathPara>
                </a14:m>
                <a:endParaRPr lang="pt-BR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62" name="Rectangle 1061">
                <a:extLst>
                  <a:ext uri="{FF2B5EF4-FFF2-40B4-BE49-F238E27FC236}">
                    <a16:creationId xmlns:a16="http://schemas.microsoft.com/office/drawing/2014/main" id="{0EDBCDB4-513E-9F95-321B-12EEDA929E7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02827" y="4118266"/>
                <a:ext cx="468000" cy="319177"/>
              </a:xfrm>
              <a:prstGeom prst="rect">
                <a:avLst/>
              </a:prstGeom>
              <a:blipFill>
                <a:blip r:embed="rId30"/>
                <a:stretch>
                  <a:fillRect l="-10256" r="-641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63" name="Rectangle 1062">
            <a:extLst>
              <a:ext uri="{FF2B5EF4-FFF2-40B4-BE49-F238E27FC236}">
                <a16:creationId xmlns:a16="http://schemas.microsoft.com/office/drawing/2014/main" id="{AD5AB29B-F00F-00A1-142A-9ED063851743}"/>
              </a:ext>
            </a:extLst>
          </p:cNvPr>
          <p:cNvSpPr/>
          <p:nvPr/>
        </p:nvSpPr>
        <p:spPr>
          <a:xfrm>
            <a:off x="10893156" y="4118266"/>
            <a:ext cx="468000" cy="319177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64" name="Rectangle 1063">
            <a:extLst>
              <a:ext uri="{FF2B5EF4-FFF2-40B4-BE49-F238E27FC236}">
                <a16:creationId xmlns:a16="http://schemas.microsoft.com/office/drawing/2014/main" id="{2F8C8BC1-EC49-51B1-3D9B-A37EB7A6EDA2}"/>
              </a:ext>
            </a:extLst>
          </p:cNvPr>
          <p:cNvSpPr/>
          <p:nvPr/>
        </p:nvSpPr>
        <p:spPr>
          <a:xfrm>
            <a:off x="11383485" y="4118266"/>
            <a:ext cx="468000" cy="319177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65" name="Rectangle 1064">
            <a:extLst>
              <a:ext uri="{FF2B5EF4-FFF2-40B4-BE49-F238E27FC236}">
                <a16:creationId xmlns:a16="http://schemas.microsoft.com/office/drawing/2014/main" id="{635594EA-F3FA-DB31-4178-1ACF6170442F}"/>
              </a:ext>
            </a:extLst>
          </p:cNvPr>
          <p:cNvSpPr/>
          <p:nvPr/>
        </p:nvSpPr>
        <p:spPr>
          <a:xfrm>
            <a:off x="9912498" y="4458211"/>
            <a:ext cx="468000" cy="319177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66" name="Rectangle 1065">
                <a:extLst>
                  <a:ext uri="{FF2B5EF4-FFF2-40B4-BE49-F238E27FC236}">
                    <a16:creationId xmlns:a16="http://schemas.microsoft.com/office/drawing/2014/main" id="{893AC88F-5D92-4D11-0E95-B177E607821F}"/>
                  </a:ext>
                </a:extLst>
              </p:cNvPr>
              <p:cNvSpPr/>
              <p:nvPr/>
            </p:nvSpPr>
            <p:spPr>
              <a:xfrm>
                <a:off x="10402827" y="4458211"/>
                <a:ext cx="468000" cy="319177"/>
              </a:xfrm>
              <a:prstGeom prst="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1,78</m:t>
                      </m:r>
                    </m:oMath>
                  </m:oMathPara>
                </a14:m>
                <a:endParaRPr lang="pt-BR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66" name="Rectangle 1065">
                <a:extLst>
                  <a:ext uri="{FF2B5EF4-FFF2-40B4-BE49-F238E27FC236}">
                    <a16:creationId xmlns:a16="http://schemas.microsoft.com/office/drawing/2014/main" id="{893AC88F-5D92-4D11-0E95-B177E607821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02827" y="4458211"/>
                <a:ext cx="468000" cy="319177"/>
              </a:xfrm>
              <a:prstGeom prst="rect">
                <a:avLst/>
              </a:prstGeom>
              <a:blipFill>
                <a:blip r:embed="rId31"/>
                <a:stretch>
                  <a:fillRect l="-2564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67" name="Rectangle 1066">
            <a:extLst>
              <a:ext uri="{FF2B5EF4-FFF2-40B4-BE49-F238E27FC236}">
                <a16:creationId xmlns:a16="http://schemas.microsoft.com/office/drawing/2014/main" id="{43C1F803-7906-80F1-B615-3D0BF4750B9E}"/>
              </a:ext>
            </a:extLst>
          </p:cNvPr>
          <p:cNvSpPr/>
          <p:nvPr/>
        </p:nvSpPr>
        <p:spPr>
          <a:xfrm>
            <a:off x="10893156" y="4458211"/>
            <a:ext cx="468000" cy="319177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68" name="Rectangle 1067">
            <a:extLst>
              <a:ext uri="{FF2B5EF4-FFF2-40B4-BE49-F238E27FC236}">
                <a16:creationId xmlns:a16="http://schemas.microsoft.com/office/drawing/2014/main" id="{3E137B0E-D441-C30F-4938-076EC892CF52}"/>
              </a:ext>
            </a:extLst>
          </p:cNvPr>
          <p:cNvSpPr/>
          <p:nvPr/>
        </p:nvSpPr>
        <p:spPr>
          <a:xfrm>
            <a:off x="11383485" y="4458211"/>
            <a:ext cx="468000" cy="319177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69" name="Rectangle 1068">
            <a:extLst>
              <a:ext uri="{FF2B5EF4-FFF2-40B4-BE49-F238E27FC236}">
                <a16:creationId xmlns:a16="http://schemas.microsoft.com/office/drawing/2014/main" id="{4090E3C8-34FE-2AA6-A7DD-DDA51739802C}"/>
              </a:ext>
            </a:extLst>
          </p:cNvPr>
          <p:cNvSpPr/>
          <p:nvPr/>
        </p:nvSpPr>
        <p:spPr>
          <a:xfrm>
            <a:off x="659373" y="3574146"/>
            <a:ext cx="377181" cy="1110482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70" name="Rectangle 1069">
            <a:extLst>
              <a:ext uri="{FF2B5EF4-FFF2-40B4-BE49-F238E27FC236}">
                <a16:creationId xmlns:a16="http://schemas.microsoft.com/office/drawing/2014/main" id="{2DB302CB-CC06-425D-AC40-CA797C546AF1}"/>
              </a:ext>
            </a:extLst>
          </p:cNvPr>
          <p:cNvSpPr/>
          <p:nvPr/>
        </p:nvSpPr>
        <p:spPr>
          <a:xfrm>
            <a:off x="3143755" y="3618829"/>
            <a:ext cx="550621" cy="803567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71" name="Rectangle 1070">
            <a:extLst>
              <a:ext uri="{FF2B5EF4-FFF2-40B4-BE49-F238E27FC236}">
                <a16:creationId xmlns:a16="http://schemas.microsoft.com/office/drawing/2014/main" id="{8D5B7116-BAC6-49ED-E7D0-3708E57397F6}"/>
              </a:ext>
            </a:extLst>
          </p:cNvPr>
          <p:cNvSpPr/>
          <p:nvPr/>
        </p:nvSpPr>
        <p:spPr>
          <a:xfrm>
            <a:off x="5720204" y="3654644"/>
            <a:ext cx="550621" cy="1029984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72" name="Rectangle 1071">
            <a:extLst>
              <a:ext uri="{FF2B5EF4-FFF2-40B4-BE49-F238E27FC236}">
                <a16:creationId xmlns:a16="http://schemas.microsoft.com/office/drawing/2014/main" id="{F3CD0E10-0DBA-848F-415A-837294838A46}"/>
              </a:ext>
            </a:extLst>
          </p:cNvPr>
          <p:cNvSpPr/>
          <p:nvPr/>
        </p:nvSpPr>
        <p:spPr>
          <a:xfrm>
            <a:off x="10348937" y="3692489"/>
            <a:ext cx="550621" cy="1187853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1F1FB6DD-64DD-0107-8311-70193EDB1FFF}"/>
                  </a:ext>
                </a:extLst>
              </p:cNvPr>
              <p:cNvSpPr txBox="1"/>
              <p:nvPr/>
            </p:nvSpPr>
            <p:spPr>
              <a:xfrm>
                <a:off x="785004" y="1697830"/>
                <a:ext cx="10506973" cy="9936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Vamos </a:t>
                </a:r>
                <a:r>
                  <a:rPr lang="en-US" sz="2400" dirty="0" err="1"/>
                  <a:t>começar</a:t>
                </a:r>
                <a:r>
                  <a:rPr lang="en-US" sz="2400" dirty="0"/>
                  <a:t> com um </a:t>
                </a:r>
                <a:r>
                  <a:rPr lang="en-US" sz="2400" i="1" dirty="0"/>
                  <a:t>mini batch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en-US" sz="2400" i="1" dirty="0"/>
                  <a:t> </a:t>
                </a:r>
                <a:r>
                  <a:rPr lang="en-US" sz="2400" dirty="0"/>
                  <a:t>e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en-US" sz="2400" i="1" dirty="0"/>
                  <a:t> </a:t>
                </a:r>
                <a:r>
                  <a:rPr lang="en-US" sz="2400" dirty="0" err="1"/>
                  <a:t>são</a:t>
                </a:r>
                <a:r>
                  <a:rPr lang="en-US" sz="2400" dirty="0"/>
                  <a:t> </a:t>
                </a:r>
                <a:r>
                  <a:rPr lang="en-US" sz="2400" dirty="0" err="1"/>
                  <a:t>usados</a:t>
                </a:r>
                <a:r>
                  <a:rPr lang="en-US" sz="2400" dirty="0"/>
                  <a:t> para </a:t>
                </a:r>
                <a:r>
                  <a:rPr lang="en-US" sz="2400" dirty="0" err="1"/>
                  <a:t>padronizar</a:t>
                </a:r>
                <a:r>
                  <a:rPr lang="en-US" sz="2400" dirty="0"/>
                  <a:t> </a:t>
                </a:r>
                <a:r>
                  <a:rPr lang="en-US" sz="2400" dirty="0" err="1"/>
                  <a:t>os</a:t>
                </a:r>
                <a:r>
                  <a:rPr lang="en-US" sz="2400" dirty="0"/>
                  <a:t> dados do </a:t>
                </a:r>
                <a:r>
                  <a:rPr lang="en-US" sz="2400" i="1" dirty="0"/>
                  <a:t>minibatch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𝜖</m:t>
                        </m:r>
                      </m:den>
                    </m:f>
                  </m:oMath>
                </a14:m>
                <a:endParaRPr lang="pt-BR" sz="2400" i="1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1F1FB6DD-64DD-0107-8311-70193EDB1F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5004" y="1697830"/>
                <a:ext cx="10506973" cy="993605"/>
              </a:xfrm>
              <a:prstGeom prst="rect">
                <a:avLst/>
              </a:prstGeom>
              <a:blipFill>
                <a:blip r:embed="rId32"/>
                <a:stretch>
                  <a:fillRect l="-813" t="-4908" b="-552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angle 4">
            <a:extLst>
              <a:ext uri="{FF2B5EF4-FFF2-40B4-BE49-F238E27FC236}">
                <a16:creationId xmlns:a16="http://schemas.microsoft.com/office/drawing/2014/main" id="{7F41D953-6DE9-BE45-B303-7FD28966328A}"/>
              </a:ext>
            </a:extLst>
          </p:cNvPr>
          <p:cNvSpPr/>
          <p:nvPr/>
        </p:nvSpPr>
        <p:spPr>
          <a:xfrm>
            <a:off x="7417179" y="3161395"/>
            <a:ext cx="1828571" cy="3107574"/>
          </a:xfrm>
          <a:prstGeom prst="rect">
            <a:avLst/>
          </a:prstGeom>
          <a:solidFill>
            <a:srgbClr val="DAE3F3">
              <a:alpha val="94902"/>
            </a:srgbClr>
          </a:solidFill>
          <a:ln>
            <a:noFill/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912E078-FD71-685C-5596-70A0738E0229}"/>
              </a:ext>
            </a:extLst>
          </p:cNvPr>
          <p:cNvSpPr/>
          <p:nvPr/>
        </p:nvSpPr>
        <p:spPr>
          <a:xfrm>
            <a:off x="9734183" y="3059668"/>
            <a:ext cx="2447442" cy="3107574"/>
          </a:xfrm>
          <a:prstGeom prst="rect">
            <a:avLst/>
          </a:prstGeom>
          <a:solidFill>
            <a:srgbClr val="FFFFFF">
              <a:alpha val="94902"/>
            </a:srgbClr>
          </a:solidFill>
          <a:ln>
            <a:noFill/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5A366450-3171-AF2E-1173-5566DAB49973}"/>
              </a:ext>
            </a:extLst>
          </p:cNvPr>
          <p:cNvSpPr/>
          <p:nvPr/>
        </p:nvSpPr>
        <p:spPr>
          <a:xfrm>
            <a:off x="2696504" y="4738858"/>
            <a:ext cx="2574682" cy="1590098"/>
          </a:xfrm>
          <a:prstGeom prst="rect">
            <a:avLst/>
          </a:prstGeom>
          <a:solidFill>
            <a:srgbClr val="DAE3F3">
              <a:alpha val="94902"/>
            </a:srgbClr>
          </a:solidFill>
          <a:ln>
            <a:noFill/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9309479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9" name="Rectangle: Rounded Corners 1038">
            <a:extLst>
              <a:ext uri="{FF2B5EF4-FFF2-40B4-BE49-F238E27FC236}">
                <a16:creationId xmlns:a16="http://schemas.microsoft.com/office/drawing/2014/main" id="{206AFDD9-1F26-000E-6015-4C8FEC37AF5D}"/>
              </a:ext>
            </a:extLst>
          </p:cNvPr>
          <p:cNvSpPr/>
          <p:nvPr/>
        </p:nvSpPr>
        <p:spPr>
          <a:xfrm>
            <a:off x="2438654" y="2789051"/>
            <a:ext cx="6838658" cy="3545153"/>
          </a:xfrm>
          <a:prstGeom prst="roundRect">
            <a:avLst>
              <a:gd name="adj" fmla="val 7217"/>
            </a:avLst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839EA5-D312-93A9-B084-C39FADB337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Batch Norm - Exemplo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CAE728-17C8-60F0-FE58-26D37AFA3C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39</a:t>
            </a:fld>
            <a:endParaRPr lang="pt-BR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BC3EE46-2D0B-78F6-C106-1216F939EDF9}"/>
              </a:ext>
            </a:extLst>
          </p:cNvPr>
          <p:cNvSpPr txBox="1"/>
          <p:nvPr/>
        </p:nvSpPr>
        <p:spPr>
          <a:xfrm>
            <a:off x="0" y="6582975"/>
            <a:ext cx="956453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200" dirty="0"/>
              <a:t>Fonte imagem: https://towardsdatascience.com/batch-norm-explained-visually-how-it-works-and-why-neural-networks-need-it-b18919692739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B10146F-6A3C-E9EB-51F7-56358628A632}"/>
              </a:ext>
            </a:extLst>
          </p:cNvPr>
          <p:cNvSpPr/>
          <p:nvPr/>
        </p:nvSpPr>
        <p:spPr>
          <a:xfrm>
            <a:off x="337871" y="4322032"/>
            <a:ext cx="319177" cy="319177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7FF3EE-CA26-EC19-BD8E-FA5C86DAEEB0}"/>
              </a:ext>
            </a:extLst>
          </p:cNvPr>
          <p:cNvSpPr/>
          <p:nvPr/>
        </p:nvSpPr>
        <p:spPr>
          <a:xfrm>
            <a:off x="674600" y="4322032"/>
            <a:ext cx="375688" cy="319177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2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C8BA06A-F643-7ACB-4AFA-E9ADA6154FFB}"/>
              </a:ext>
            </a:extLst>
          </p:cNvPr>
          <p:cNvSpPr/>
          <p:nvPr/>
        </p:nvSpPr>
        <p:spPr>
          <a:xfrm>
            <a:off x="1064694" y="4320147"/>
            <a:ext cx="319177" cy="319177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75DDA18-6DF6-F035-0D03-265ED01685BD}"/>
              </a:ext>
            </a:extLst>
          </p:cNvPr>
          <p:cNvSpPr/>
          <p:nvPr/>
        </p:nvSpPr>
        <p:spPr>
          <a:xfrm>
            <a:off x="1404598" y="4320146"/>
            <a:ext cx="319177" cy="319177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C1E78E6-2EE3-F5D9-A92A-295464DE9863}"/>
              </a:ext>
            </a:extLst>
          </p:cNvPr>
          <p:cNvSpPr/>
          <p:nvPr/>
        </p:nvSpPr>
        <p:spPr>
          <a:xfrm>
            <a:off x="337871" y="3959436"/>
            <a:ext cx="319177" cy="319177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662516E-2EF8-ED53-D25C-F8285584E3D8}"/>
              </a:ext>
            </a:extLst>
          </p:cNvPr>
          <p:cNvSpPr/>
          <p:nvPr/>
        </p:nvSpPr>
        <p:spPr>
          <a:xfrm>
            <a:off x="674600" y="3959436"/>
            <a:ext cx="375688" cy="319177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-1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1645738-3C6E-1A0A-B8F0-64A182A07F99}"/>
              </a:ext>
            </a:extLst>
          </p:cNvPr>
          <p:cNvSpPr/>
          <p:nvPr/>
        </p:nvSpPr>
        <p:spPr>
          <a:xfrm>
            <a:off x="1064694" y="3957551"/>
            <a:ext cx="319177" cy="319177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8D43920-4369-388A-9E74-7B6AF0D1EE55}"/>
              </a:ext>
            </a:extLst>
          </p:cNvPr>
          <p:cNvSpPr/>
          <p:nvPr/>
        </p:nvSpPr>
        <p:spPr>
          <a:xfrm>
            <a:off x="1404598" y="3957550"/>
            <a:ext cx="319177" cy="319177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C95A93A-E7BC-C5AF-7462-13DACB311257}"/>
              </a:ext>
            </a:extLst>
          </p:cNvPr>
          <p:cNvSpPr/>
          <p:nvPr/>
        </p:nvSpPr>
        <p:spPr>
          <a:xfrm>
            <a:off x="337871" y="3596840"/>
            <a:ext cx="319177" cy="319177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69463FB-E674-6629-3672-CD3F6CD4A541}"/>
              </a:ext>
            </a:extLst>
          </p:cNvPr>
          <p:cNvSpPr/>
          <p:nvPr/>
        </p:nvSpPr>
        <p:spPr>
          <a:xfrm>
            <a:off x="674600" y="3596840"/>
            <a:ext cx="375688" cy="319177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3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2926178-20B9-CB69-D5F9-3A635322357A}"/>
              </a:ext>
            </a:extLst>
          </p:cNvPr>
          <p:cNvSpPr/>
          <p:nvPr/>
        </p:nvSpPr>
        <p:spPr>
          <a:xfrm>
            <a:off x="1064694" y="3594955"/>
            <a:ext cx="319177" cy="319177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0C263CE-A8A2-A35B-AB10-FC893977635A}"/>
              </a:ext>
            </a:extLst>
          </p:cNvPr>
          <p:cNvSpPr/>
          <p:nvPr/>
        </p:nvSpPr>
        <p:spPr>
          <a:xfrm>
            <a:off x="1404598" y="3594954"/>
            <a:ext cx="319177" cy="319177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D341D891-C4A6-BBD1-C92A-0143C1BC86D2}"/>
              </a:ext>
            </a:extLst>
          </p:cNvPr>
          <p:cNvCxnSpPr>
            <a:cxnSpLocks/>
          </p:cNvCxnSpPr>
          <p:nvPr/>
        </p:nvCxnSpPr>
        <p:spPr>
          <a:xfrm>
            <a:off x="325920" y="3472419"/>
            <a:ext cx="1347665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6E578679-F5D5-D099-1219-024994E4CEB5}"/>
              </a:ext>
            </a:extLst>
          </p:cNvPr>
          <p:cNvSpPr txBox="1"/>
          <p:nvPr/>
        </p:nvSpPr>
        <p:spPr>
          <a:xfrm>
            <a:off x="337871" y="3059668"/>
            <a:ext cx="9544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/>
              <a:t>features</a:t>
            </a:r>
            <a:endParaRPr lang="pt-BR" dirty="0"/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1ACF99AE-33B4-94A6-B2D2-B8C963B09196}"/>
              </a:ext>
            </a:extLst>
          </p:cNvPr>
          <p:cNvCxnSpPr>
            <a:cxnSpLocks/>
          </p:cNvCxnSpPr>
          <p:nvPr/>
        </p:nvCxnSpPr>
        <p:spPr>
          <a:xfrm>
            <a:off x="165928" y="3596839"/>
            <a:ext cx="0" cy="1044369"/>
          </a:xfrm>
          <a:prstGeom prst="straightConnector1">
            <a:avLst/>
          </a:prstGeom>
          <a:ln w="28575">
            <a:solidFill>
              <a:srgbClr val="0070C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614DAD50-672D-7F4F-B671-E0EF74F88BCC}"/>
                  </a:ext>
                </a:extLst>
              </p:cNvPr>
              <p:cNvSpPr/>
              <p:nvPr/>
            </p:nvSpPr>
            <p:spPr>
              <a:xfrm>
                <a:off x="2706730" y="4047895"/>
                <a:ext cx="468000" cy="319177"/>
              </a:xfrm>
              <a:prstGeom prst="rect">
                <a:avLst/>
              </a:prstGeom>
            </p:spPr>
            <p:style>
              <a:lnRef idx="2">
                <a:schemeClr val="accent5">
                  <a:shade val="15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614DAD50-672D-7F4F-B671-E0EF74F88BC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06730" y="4047895"/>
                <a:ext cx="468000" cy="319177"/>
              </a:xfrm>
              <a:prstGeom prst="rect">
                <a:avLst/>
              </a:prstGeom>
              <a:blipFill>
                <a:blip r:embed="rId2"/>
                <a:stretch>
                  <a:fillRect b="-5556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FB67D806-D665-EA8A-9981-6AB16DE7E82D}"/>
                  </a:ext>
                </a:extLst>
              </p:cNvPr>
              <p:cNvSpPr/>
              <p:nvPr/>
            </p:nvSpPr>
            <p:spPr>
              <a:xfrm>
                <a:off x="3202565" y="4047895"/>
                <a:ext cx="468000" cy="319177"/>
              </a:xfrm>
              <a:prstGeom prst="rect">
                <a:avLst/>
              </a:prstGeom>
            </p:spPr>
            <p:style>
              <a:lnRef idx="2">
                <a:schemeClr val="accent5">
                  <a:shade val="15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1,7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FB67D806-D665-EA8A-9981-6AB16DE7E82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2565" y="4047895"/>
                <a:ext cx="468000" cy="319177"/>
              </a:xfrm>
              <a:prstGeom prst="rect">
                <a:avLst/>
              </a:prstGeom>
              <a:blipFill>
                <a:blip r:embed="rId3"/>
                <a:stretch>
                  <a:fillRect l="-379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35568E5A-3F79-2331-A1AD-32935F21918D}"/>
                  </a:ext>
                </a:extLst>
              </p:cNvPr>
              <p:cNvSpPr/>
              <p:nvPr/>
            </p:nvSpPr>
            <p:spPr>
              <a:xfrm>
                <a:off x="3698400" y="4047895"/>
                <a:ext cx="468000" cy="319177"/>
              </a:xfrm>
              <a:prstGeom prst="rect">
                <a:avLst/>
              </a:prstGeom>
            </p:spPr>
            <p:style>
              <a:lnRef idx="2">
                <a:schemeClr val="accent5">
                  <a:shade val="15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35568E5A-3F79-2331-A1AD-32935F21918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98400" y="4047895"/>
                <a:ext cx="468000" cy="319177"/>
              </a:xfrm>
              <a:prstGeom prst="rect">
                <a:avLst/>
              </a:prstGeom>
              <a:blipFill>
                <a:blip r:embed="rId4"/>
                <a:stretch>
                  <a:fillRect b="-5556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DEA5C93A-485F-A60E-719C-35A41744DA0B}"/>
                  </a:ext>
                </a:extLst>
              </p:cNvPr>
              <p:cNvSpPr/>
              <p:nvPr/>
            </p:nvSpPr>
            <p:spPr>
              <a:xfrm>
                <a:off x="4194234" y="4047894"/>
                <a:ext cx="468000" cy="319177"/>
              </a:xfrm>
              <a:prstGeom prst="rect">
                <a:avLst/>
              </a:prstGeom>
            </p:spPr>
            <p:style>
              <a:lnRef idx="2">
                <a:schemeClr val="accent5">
                  <a:shade val="15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DEA5C93A-485F-A60E-719C-35A41744DA0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94234" y="4047894"/>
                <a:ext cx="468000" cy="319177"/>
              </a:xfrm>
              <a:prstGeom prst="rect">
                <a:avLst/>
              </a:prstGeom>
              <a:blipFill>
                <a:blip r:embed="rId5"/>
                <a:stretch>
                  <a:fillRect b="-5556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Rectangle 37">
                <a:extLst>
                  <a:ext uri="{FF2B5EF4-FFF2-40B4-BE49-F238E27FC236}">
                    <a16:creationId xmlns:a16="http://schemas.microsoft.com/office/drawing/2014/main" id="{1727C0A4-31A4-4F8C-0753-9667F1BC43FA}"/>
                  </a:ext>
                </a:extLst>
              </p:cNvPr>
              <p:cNvSpPr/>
              <p:nvPr/>
            </p:nvSpPr>
            <p:spPr>
              <a:xfrm>
                <a:off x="2706730" y="3646945"/>
                <a:ext cx="468000" cy="319177"/>
              </a:xfrm>
              <a:prstGeom prst="rect">
                <a:avLst/>
              </a:prstGeom>
            </p:spPr>
            <p:style>
              <a:lnRef idx="2">
                <a:schemeClr val="accent5">
                  <a:shade val="15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38" name="Rectangle 37">
                <a:extLst>
                  <a:ext uri="{FF2B5EF4-FFF2-40B4-BE49-F238E27FC236}">
                    <a16:creationId xmlns:a16="http://schemas.microsoft.com/office/drawing/2014/main" id="{1727C0A4-31A4-4F8C-0753-9667F1BC43F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06730" y="3646945"/>
                <a:ext cx="468000" cy="319177"/>
              </a:xfrm>
              <a:prstGeom prst="rect">
                <a:avLst/>
              </a:prstGeom>
              <a:blipFill>
                <a:blip r:embed="rId6"/>
                <a:stretch>
                  <a:fillRect b="-909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Rectangle 38">
                <a:extLst>
                  <a:ext uri="{FF2B5EF4-FFF2-40B4-BE49-F238E27FC236}">
                    <a16:creationId xmlns:a16="http://schemas.microsoft.com/office/drawing/2014/main" id="{6E04EA64-A3BF-29A1-D065-B493D5FB4821}"/>
                  </a:ext>
                </a:extLst>
              </p:cNvPr>
              <p:cNvSpPr/>
              <p:nvPr/>
            </p:nvSpPr>
            <p:spPr>
              <a:xfrm>
                <a:off x="3202565" y="3646945"/>
                <a:ext cx="468000" cy="319177"/>
              </a:xfrm>
              <a:prstGeom prst="rect">
                <a:avLst/>
              </a:prstGeom>
            </p:spPr>
            <p:style>
              <a:lnRef idx="2">
                <a:schemeClr val="accent5">
                  <a:shade val="15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1,33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39" name="Rectangle 38">
                <a:extLst>
                  <a:ext uri="{FF2B5EF4-FFF2-40B4-BE49-F238E27FC236}">
                    <a16:creationId xmlns:a16="http://schemas.microsoft.com/office/drawing/2014/main" id="{6E04EA64-A3BF-29A1-D065-B493D5FB482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2565" y="3646945"/>
                <a:ext cx="468000" cy="319177"/>
              </a:xfrm>
              <a:prstGeom prst="rect">
                <a:avLst/>
              </a:prstGeom>
              <a:blipFill>
                <a:blip r:embed="rId7"/>
                <a:stretch>
                  <a:fillRect l="-16456" r="-7595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8E8889CC-9894-6F0B-433C-B4EAA0B05DB4}"/>
                  </a:ext>
                </a:extLst>
              </p:cNvPr>
              <p:cNvSpPr/>
              <p:nvPr/>
            </p:nvSpPr>
            <p:spPr>
              <a:xfrm>
                <a:off x="3698400" y="3646946"/>
                <a:ext cx="468000" cy="319177"/>
              </a:xfrm>
              <a:prstGeom prst="rect">
                <a:avLst/>
              </a:prstGeom>
            </p:spPr>
            <p:style>
              <a:lnRef idx="2">
                <a:schemeClr val="accent5">
                  <a:shade val="15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8E8889CC-9894-6F0B-433C-B4EAA0B05DB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98400" y="3646946"/>
                <a:ext cx="468000" cy="319177"/>
              </a:xfrm>
              <a:prstGeom prst="rect">
                <a:avLst/>
              </a:prstGeom>
              <a:blipFill>
                <a:blip r:embed="rId8"/>
                <a:stretch>
                  <a:fillRect b="-909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Rectangle 40">
                <a:extLst>
                  <a:ext uri="{FF2B5EF4-FFF2-40B4-BE49-F238E27FC236}">
                    <a16:creationId xmlns:a16="http://schemas.microsoft.com/office/drawing/2014/main" id="{CC73C869-4D94-A403-8EE8-FA1F50EE4364}"/>
                  </a:ext>
                </a:extLst>
              </p:cNvPr>
              <p:cNvSpPr/>
              <p:nvPr/>
            </p:nvSpPr>
            <p:spPr>
              <a:xfrm>
                <a:off x="4194234" y="3646945"/>
                <a:ext cx="468000" cy="319177"/>
              </a:xfrm>
              <a:prstGeom prst="rect">
                <a:avLst/>
              </a:prstGeom>
            </p:spPr>
            <p:style>
              <a:lnRef idx="2">
                <a:schemeClr val="accent5">
                  <a:shade val="15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41" name="Rectangle 40">
                <a:extLst>
                  <a:ext uri="{FF2B5EF4-FFF2-40B4-BE49-F238E27FC236}">
                    <a16:creationId xmlns:a16="http://schemas.microsoft.com/office/drawing/2014/main" id="{CC73C869-4D94-A403-8EE8-FA1F50EE436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94234" y="3646945"/>
                <a:ext cx="468000" cy="319177"/>
              </a:xfrm>
              <a:prstGeom prst="rect">
                <a:avLst/>
              </a:prstGeom>
              <a:blipFill>
                <a:blip r:embed="rId9"/>
                <a:stretch>
                  <a:fillRect b="-909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0" name="Rectangle 49">
            <a:extLst>
              <a:ext uri="{FF2B5EF4-FFF2-40B4-BE49-F238E27FC236}">
                <a16:creationId xmlns:a16="http://schemas.microsoft.com/office/drawing/2014/main" id="{AA7FCF3C-958C-340A-BED5-F59B13B8CD7E}"/>
              </a:ext>
            </a:extLst>
          </p:cNvPr>
          <p:cNvSpPr/>
          <p:nvPr/>
        </p:nvSpPr>
        <p:spPr>
          <a:xfrm>
            <a:off x="5271186" y="3684914"/>
            <a:ext cx="468000" cy="319177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1" name="Rectangle 50">
                <a:extLst>
                  <a:ext uri="{FF2B5EF4-FFF2-40B4-BE49-F238E27FC236}">
                    <a16:creationId xmlns:a16="http://schemas.microsoft.com/office/drawing/2014/main" id="{D3338B19-1552-E0E1-D778-87795F526C73}"/>
                  </a:ext>
                </a:extLst>
              </p:cNvPr>
              <p:cNvSpPr/>
              <p:nvPr/>
            </p:nvSpPr>
            <p:spPr>
              <a:xfrm>
                <a:off x="5761515" y="3684914"/>
                <a:ext cx="468000" cy="319177"/>
              </a:xfrm>
              <a:prstGeom prst="rect">
                <a:avLst/>
              </a:prstGeom>
              <a:solidFill>
                <a:srgbClr val="FFFF00"/>
              </a:solidFill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0,98</m:t>
                      </m:r>
                    </m:oMath>
                  </m:oMathPara>
                </a14:m>
                <a:endParaRPr lang="pt-BR" sz="12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51" name="Rectangle 50">
                <a:extLst>
                  <a:ext uri="{FF2B5EF4-FFF2-40B4-BE49-F238E27FC236}">
                    <a16:creationId xmlns:a16="http://schemas.microsoft.com/office/drawing/2014/main" id="{D3338B19-1552-E0E1-D778-87795F526C7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61515" y="3684914"/>
                <a:ext cx="468000" cy="319177"/>
              </a:xfrm>
              <a:prstGeom prst="rect">
                <a:avLst/>
              </a:prstGeom>
              <a:blipFill>
                <a:blip r:embed="rId10"/>
                <a:stretch>
                  <a:fillRect l="-886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2" name="Rectangle 51">
            <a:extLst>
              <a:ext uri="{FF2B5EF4-FFF2-40B4-BE49-F238E27FC236}">
                <a16:creationId xmlns:a16="http://schemas.microsoft.com/office/drawing/2014/main" id="{C423CA8C-0505-ABC4-8A28-FC3672BF7BD0}"/>
              </a:ext>
            </a:extLst>
          </p:cNvPr>
          <p:cNvSpPr/>
          <p:nvPr/>
        </p:nvSpPr>
        <p:spPr>
          <a:xfrm>
            <a:off x="6251844" y="3684914"/>
            <a:ext cx="468000" cy="319177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D7F39CA0-E88E-ED6B-2F28-D74AC8B74926}"/>
              </a:ext>
            </a:extLst>
          </p:cNvPr>
          <p:cNvSpPr/>
          <p:nvPr/>
        </p:nvSpPr>
        <p:spPr>
          <a:xfrm>
            <a:off x="6742173" y="3684914"/>
            <a:ext cx="468000" cy="319177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4" name="Rectangle 53">
                <a:extLst>
                  <a:ext uri="{FF2B5EF4-FFF2-40B4-BE49-F238E27FC236}">
                    <a16:creationId xmlns:a16="http://schemas.microsoft.com/office/drawing/2014/main" id="{CC933B5B-9DC6-3265-B2AB-43C8DC59B11E}"/>
                  </a:ext>
                </a:extLst>
              </p:cNvPr>
              <p:cNvSpPr/>
              <p:nvPr/>
            </p:nvSpPr>
            <p:spPr>
              <a:xfrm>
                <a:off x="7729083" y="4047895"/>
                <a:ext cx="319177" cy="319177"/>
              </a:xfrm>
              <a:prstGeom prst="rect">
                <a:avLst/>
              </a:prstGeom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54" name="Rectangle 53">
                <a:extLst>
                  <a:ext uri="{FF2B5EF4-FFF2-40B4-BE49-F238E27FC236}">
                    <a16:creationId xmlns:a16="http://schemas.microsoft.com/office/drawing/2014/main" id="{CC933B5B-9DC6-3265-B2AB-43C8DC59B11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29083" y="4047895"/>
                <a:ext cx="319177" cy="319177"/>
              </a:xfrm>
              <a:prstGeom prst="rect">
                <a:avLst/>
              </a:prstGeom>
              <a:blipFill>
                <a:blip r:embed="rId11"/>
                <a:stretch>
                  <a:fillRect l="-25926" b="-22222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Rectangle 54">
                <a:extLst>
                  <a:ext uri="{FF2B5EF4-FFF2-40B4-BE49-F238E27FC236}">
                    <a16:creationId xmlns:a16="http://schemas.microsoft.com/office/drawing/2014/main" id="{EE0863D9-2BF9-B6DA-44EF-011C63D07292}"/>
                  </a:ext>
                </a:extLst>
              </p:cNvPr>
              <p:cNvSpPr/>
              <p:nvPr/>
            </p:nvSpPr>
            <p:spPr>
              <a:xfrm>
                <a:off x="8065812" y="4047895"/>
                <a:ext cx="319177" cy="319177"/>
              </a:xfrm>
              <a:prstGeom prst="rect">
                <a:avLst/>
              </a:prstGeom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55" name="Rectangle 54">
                <a:extLst>
                  <a:ext uri="{FF2B5EF4-FFF2-40B4-BE49-F238E27FC236}">
                    <a16:creationId xmlns:a16="http://schemas.microsoft.com/office/drawing/2014/main" id="{EE0863D9-2BF9-B6DA-44EF-011C63D0729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65812" y="4047895"/>
                <a:ext cx="319177" cy="319177"/>
              </a:xfrm>
              <a:prstGeom prst="rect">
                <a:avLst/>
              </a:prstGeom>
              <a:blipFill>
                <a:blip r:embed="rId12"/>
                <a:stretch>
                  <a:fillRect l="-1852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Rectangle 55">
                <a:extLst>
                  <a:ext uri="{FF2B5EF4-FFF2-40B4-BE49-F238E27FC236}">
                    <a16:creationId xmlns:a16="http://schemas.microsoft.com/office/drawing/2014/main" id="{8408E87B-C7A4-8D69-DAD1-B1A56C00E439}"/>
                  </a:ext>
                </a:extLst>
              </p:cNvPr>
              <p:cNvSpPr/>
              <p:nvPr/>
            </p:nvSpPr>
            <p:spPr>
              <a:xfrm>
                <a:off x="8405716" y="4047895"/>
                <a:ext cx="319177" cy="319177"/>
              </a:xfrm>
              <a:prstGeom prst="rect">
                <a:avLst/>
              </a:prstGeom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56" name="Rectangle 55">
                <a:extLst>
                  <a:ext uri="{FF2B5EF4-FFF2-40B4-BE49-F238E27FC236}">
                    <a16:creationId xmlns:a16="http://schemas.microsoft.com/office/drawing/2014/main" id="{8408E87B-C7A4-8D69-DAD1-B1A56C00E43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05716" y="4047895"/>
                <a:ext cx="319177" cy="319177"/>
              </a:xfrm>
              <a:prstGeom prst="rect">
                <a:avLst/>
              </a:prstGeom>
              <a:blipFill>
                <a:blip r:embed="rId13"/>
                <a:stretch>
                  <a:fillRect l="-25926" b="-22222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Rectangle 56">
                <a:extLst>
                  <a:ext uri="{FF2B5EF4-FFF2-40B4-BE49-F238E27FC236}">
                    <a16:creationId xmlns:a16="http://schemas.microsoft.com/office/drawing/2014/main" id="{131EBB07-1682-B804-AA07-21F7AEA07557}"/>
                  </a:ext>
                </a:extLst>
              </p:cNvPr>
              <p:cNvSpPr/>
              <p:nvPr/>
            </p:nvSpPr>
            <p:spPr>
              <a:xfrm>
                <a:off x="8745620" y="4047894"/>
                <a:ext cx="319177" cy="319177"/>
              </a:xfrm>
              <a:prstGeom prst="rect">
                <a:avLst/>
              </a:prstGeom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57" name="Rectangle 56">
                <a:extLst>
                  <a:ext uri="{FF2B5EF4-FFF2-40B4-BE49-F238E27FC236}">
                    <a16:creationId xmlns:a16="http://schemas.microsoft.com/office/drawing/2014/main" id="{131EBB07-1682-B804-AA07-21F7AEA0755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45620" y="4047894"/>
                <a:ext cx="319177" cy="319177"/>
              </a:xfrm>
              <a:prstGeom prst="rect">
                <a:avLst/>
              </a:prstGeom>
              <a:blipFill>
                <a:blip r:embed="rId14"/>
                <a:stretch>
                  <a:fillRect l="-25926" b="-22222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Rectangle 57">
                <a:extLst>
                  <a:ext uri="{FF2B5EF4-FFF2-40B4-BE49-F238E27FC236}">
                    <a16:creationId xmlns:a16="http://schemas.microsoft.com/office/drawing/2014/main" id="{3B9A7BF8-DB55-47C0-A632-CA270BA2F6AC}"/>
                  </a:ext>
                </a:extLst>
              </p:cNvPr>
              <p:cNvSpPr/>
              <p:nvPr/>
            </p:nvSpPr>
            <p:spPr>
              <a:xfrm>
                <a:off x="7725435" y="3646946"/>
                <a:ext cx="319177" cy="319177"/>
              </a:xfrm>
              <a:prstGeom prst="rect">
                <a:avLst/>
              </a:prstGeom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𝛾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58" name="Rectangle 57">
                <a:extLst>
                  <a:ext uri="{FF2B5EF4-FFF2-40B4-BE49-F238E27FC236}">
                    <a16:creationId xmlns:a16="http://schemas.microsoft.com/office/drawing/2014/main" id="{3B9A7BF8-DB55-47C0-A632-CA270BA2F6A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25435" y="3646946"/>
                <a:ext cx="319177" cy="319177"/>
              </a:xfrm>
              <a:prstGeom prst="rect">
                <a:avLst/>
              </a:prstGeom>
              <a:blipFill>
                <a:blip r:embed="rId15"/>
                <a:stretch>
                  <a:fillRect l="-14545" b="-909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Rectangle 58">
                <a:extLst>
                  <a:ext uri="{FF2B5EF4-FFF2-40B4-BE49-F238E27FC236}">
                    <a16:creationId xmlns:a16="http://schemas.microsoft.com/office/drawing/2014/main" id="{C1AB75CC-353D-EF66-AD63-1A8574C45A8B}"/>
                  </a:ext>
                </a:extLst>
              </p:cNvPr>
              <p:cNvSpPr/>
              <p:nvPr/>
            </p:nvSpPr>
            <p:spPr>
              <a:xfrm>
                <a:off x="8062164" y="3646946"/>
                <a:ext cx="319177" cy="319177"/>
              </a:xfrm>
              <a:prstGeom prst="rect">
                <a:avLst/>
              </a:prstGeom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59" name="Rectangle 58">
                <a:extLst>
                  <a:ext uri="{FF2B5EF4-FFF2-40B4-BE49-F238E27FC236}">
                    <a16:creationId xmlns:a16="http://schemas.microsoft.com/office/drawing/2014/main" id="{C1AB75CC-353D-EF66-AD63-1A8574C45A8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62164" y="3646946"/>
                <a:ext cx="319177" cy="319177"/>
              </a:xfrm>
              <a:prstGeom prst="rect">
                <a:avLst/>
              </a:prstGeom>
              <a:blipFill>
                <a:blip r:embed="rId16"/>
                <a:stretch>
                  <a:fillRect l="-1852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" name="Rectangle 59">
                <a:extLst>
                  <a:ext uri="{FF2B5EF4-FFF2-40B4-BE49-F238E27FC236}">
                    <a16:creationId xmlns:a16="http://schemas.microsoft.com/office/drawing/2014/main" id="{C8820546-C3AC-9CC2-4E4A-91919E47E20A}"/>
                  </a:ext>
                </a:extLst>
              </p:cNvPr>
              <p:cNvSpPr/>
              <p:nvPr/>
            </p:nvSpPr>
            <p:spPr>
              <a:xfrm>
                <a:off x="8402068" y="3646946"/>
                <a:ext cx="319177" cy="319177"/>
              </a:xfrm>
              <a:prstGeom prst="rect">
                <a:avLst/>
              </a:prstGeom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𝛾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60" name="Rectangle 59">
                <a:extLst>
                  <a:ext uri="{FF2B5EF4-FFF2-40B4-BE49-F238E27FC236}">
                    <a16:creationId xmlns:a16="http://schemas.microsoft.com/office/drawing/2014/main" id="{C8820546-C3AC-9CC2-4E4A-91919E47E20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02068" y="3646946"/>
                <a:ext cx="319177" cy="319177"/>
              </a:xfrm>
              <a:prstGeom prst="rect">
                <a:avLst/>
              </a:prstGeom>
              <a:blipFill>
                <a:blip r:embed="rId17"/>
                <a:stretch>
                  <a:fillRect l="-14545" b="-909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Rectangle 60">
                <a:extLst>
                  <a:ext uri="{FF2B5EF4-FFF2-40B4-BE49-F238E27FC236}">
                    <a16:creationId xmlns:a16="http://schemas.microsoft.com/office/drawing/2014/main" id="{9846CC8F-B11B-379E-FF02-22B61579C3D0}"/>
                  </a:ext>
                </a:extLst>
              </p:cNvPr>
              <p:cNvSpPr/>
              <p:nvPr/>
            </p:nvSpPr>
            <p:spPr>
              <a:xfrm>
                <a:off x="8741972" y="3646945"/>
                <a:ext cx="319177" cy="319177"/>
              </a:xfrm>
              <a:prstGeom prst="rect">
                <a:avLst/>
              </a:prstGeom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𝛾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61" name="Rectangle 60">
                <a:extLst>
                  <a:ext uri="{FF2B5EF4-FFF2-40B4-BE49-F238E27FC236}">
                    <a16:creationId xmlns:a16="http://schemas.microsoft.com/office/drawing/2014/main" id="{9846CC8F-B11B-379E-FF02-22B61579C3D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41972" y="3646945"/>
                <a:ext cx="319177" cy="319177"/>
              </a:xfrm>
              <a:prstGeom prst="rect">
                <a:avLst/>
              </a:prstGeom>
              <a:blipFill>
                <a:blip r:embed="rId18"/>
                <a:stretch>
                  <a:fillRect l="-14815" b="-909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35" name="Straight Arrow Connector 1034">
            <a:extLst>
              <a:ext uri="{FF2B5EF4-FFF2-40B4-BE49-F238E27FC236}">
                <a16:creationId xmlns:a16="http://schemas.microsoft.com/office/drawing/2014/main" id="{6143EF1A-E438-EA24-5158-FEC150A9610E}"/>
              </a:ext>
            </a:extLst>
          </p:cNvPr>
          <p:cNvCxnSpPr>
            <a:cxnSpLocks/>
          </p:cNvCxnSpPr>
          <p:nvPr/>
        </p:nvCxnSpPr>
        <p:spPr>
          <a:xfrm>
            <a:off x="10506464" y="3574146"/>
            <a:ext cx="1347665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6" name="TextBox 1035">
            <a:extLst>
              <a:ext uri="{FF2B5EF4-FFF2-40B4-BE49-F238E27FC236}">
                <a16:creationId xmlns:a16="http://schemas.microsoft.com/office/drawing/2014/main" id="{4C661ACC-67B4-258C-015A-3832A5B76434}"/>
              </a:ext>
            </a:extLst>
          </p:cNvPr>
          <p:cNvSpPr txBox="1"/>
          <p:nvPr/>
        </p:nvSpPr>
        <p:spPr>
          <a:xfrm>
            <a:off x="10518415" y="3161395"/>
            <a:ext cx="9544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/>
              <a:t>features</a:t>
            </a:r>
            <a:endParaRPr lang="pt-BR" dirty="0"/>
          </a:p>
        </p:txBody>
      </p:sp>
      <p:cxnSp>
        <p:nvCxnSpPr>
          <p:cNvPr id="1037" name="Straight Arrow Connector 1036">
            <a:extLst>
              <a:ext uri="{FF2B5EF4-FFF2-40B4-BE49-F238E27FC236}">
                <a16:creationId xmlns:a16="http://schemas.microsoft.com/office/drawing/2014/main" id="{188908CB-0EE3-4E5A-E132-61303364FB7C}"/>
              </a:ext>
            </a:extLst>
          </p:cNvPr>
          <p:cNvCxnSpPr>
            <a:cxnSpLocks/>
          </p:cNvCxnSpPr>
          <p:nvPr/>
        </p:nvCxnSpPr>
        <p:spPr>
          <a:xfrm>
            <a:off x="12002744" y="3733019"/>
            <a:ext cx="0" cy="1044369"/>
          </a:xfrm>
          <a:prstGeom prst="straightConnector1">
            <a:avLst/>
          </a:prstGeom>
          <a:ln w="28575">
            <a:solidFill>
              <a:srgbClr val="0070C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0" name="Rectangle 1039">
            <a:extLst>
              <a:ext uri="{FF2B5EF4-FFF2-40B4-BE49-F238E27FC236}">
                <a16:creationId xmlns:a16="http://schemas.microsoft.com/office/drawing/2014/main" id="{86E43187-4259-FCA9-AA89-CC3E66BC1DFE}"/>
              </a:ext>
            </a:extLst>
          </p:cNvPr>
          <p:cNvSpPr/>
          <p:nvPr/>
        </p:nvSpPr>
        <p:spPr>
          <a:xfrm>
            <a:off x="2604980" y="3221382"/>
            <a:ext cx="2142450" cy="1226690"/>
          </a:xfrm>
          <a:prstGeom prst="rect">
            <a:avLst/>
          </a:prstGeom>
          <a:noFill/>
          <a:ln w="1905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41" name="Rectangle 1040">
            <a:extLst>
              <a:ext uri="{FF2B5EF4-FFF2-40B4-BE49-F238E27FC236}">
                <a16:creationId xmlns:a16="http://schemas.microsoft.com/office/drawing/2014/main" id="{F543F008-6F11-B14F-DFA6-D9A2AAC0AB71}"/>
              </a:ext>
            </a:extLst>
          </p:cNvPr>
          <p:cNvSpPr/>
          <p:nvPr/>
        </p:nvSpPr>
        <p:spPr>
          <a:xfrm>
            <a:off x="7590666" y="3209447"/>
            <a:ext cx="1573789" cy="1352182"/>
          </a:xfrm>
          <a:prstGeom prst="rect">
            <a:avLst/>
          </a:prstGeom>
          <a:noFill/>
          <a:ln w="1905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42" name="TextBox 1041">
            <a:extLst>
              <a:ext uri="{FF2B5EF4-FFF2-40B4-BE49-F238E27FC236}">
                <a16:creationId xmlns:a16="http://schemas.microsoft.com/office/drawing/2014/main" id="{02A1225E-C4CB-3460-EAEF-B431C6B64197}"/>
              </a:ext>
            </a:extLst>
          </p:cNvPr>
          <p:cNvSpPr txBox="1"/>
          <p:nvPr/>
        </p:nvSpPr>
        <p:spPr>
          <a:xfrm>
            <a:off x="3224692" y="3249497"/>
            <a:ext cx="12592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i="1" dirty="0" err="1"/>
              <a:t>mean</a:t>
            </a:r>
            <a:r>
              <a:rPr lang="pt-BR" dirty="0"/>
              <a:t> e </a:t>
            </a:r>
            <a:r>
              <a:rPr lang="pt-BR" i="1" dirty="0" err="1"/>
              <a:t>std</a:t>
            </a:r>
            <a:endParaRPr lang="pt-BR" i="1" dirty="0"/>
          </a:p>
        </p:txBody>
      </p:sp>
      <p:sp>
        <p:nvSpPr>
          <p:cNvPr id="1044" name="TextBox 1043">
            <a:extLst>
              <a:ext uri="{FF2B5EF4-FFF2-40B4-BE49-F238E27FC236}">
                <a16:creationId xmlns:a16="http://schemas.microsoft.com/office/drawing/2014/main" id="{678F97EA-AC4C-2098-0682-311BF2D591D5}"/>
              </a:ext>
            </a:extLst>
          </p:cNvPr>
          <p:cNvSpPr txBox="1"/>
          <p:nvPr/>
        </p:nvSpPr>
        <p:spPr>
          <a:xfrm>
            <a:off x="7744761" y="3221541"/>
            <a:ext cx="14196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i="1" dirty="0" err="1"/>
              <a:t>scale</a:t>
            </a:r>
            <a:r>
              <a:rPr lang="pt-BR" i="1" dirty="0"/>
              <a:t> </a:t>
            </a:r>
            <a:r>
              <a:rPr lang="pt-BR" dirty="0"/>
              <a:t>e</a:t>
            </a:r>
            <a:r>
              <a:rPr lang="pt-BR" i="1" dirty="0"/>
              <a:t> shift</a:t>
            </a:r>
          </a:p>
        </p:txBody>
      </p:sp>
      <p:sp>
        <p:nvSpPr>
          <p:cNvPr id="1045" name="TextBox 1044">
            <a:extLst>
              <a:ext uri="{FF2B5EF4-FFF2-40B4-BE49-F238E27FC236}">
                <a16:creationId xmlns:a16="http://schemas.microsoft.com/office/drawing/2014/main" id="{CD1A54F1-C48E-AD37-28DD-9F50E2C12F40}"/>
              </a:ext>
            </a:extLst>
          </p:cNvPr>
          <p:cNvSpPr txBox="1"/>
          <p:nvPr/>
        </p:nvSpPr>
        <p:spPr>
          <a:xfrm>
            <a:off x="5118847" y="2734821"/>
            <a:ext cx="196049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i="1" dirty="0"/>
              <a:t>batch </a:t>
            </a:r>
            <a:r>
              <a:rPr lang="pt-BR" sz="2800" i="1" dirty="0" err="1"/>
              <a:t>norm</a:t>
            </a:r>
            <a:endParaRPr lang="pt-BR" sz="2800" i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46" name="Rectangle 1045">
                <a:extLst>
                  <a:ext uri="{FF2B5EF4-FFF2-40B4-BE49-F238E27FC236}">
                    <a16:creationId xmlns:a16="http://schemas.microsoft.com/office/drawing/2014/main" id="{D41B99D9-8747-0A9B-82B4-72458674E90E}"/>
                  </a:ext>
                </a:extLst>
              </p:cNvPr>
              <p:cNvSpPr/>
              <p:nvPr/>
            </p:nvSpPr>
            <p:spPr>
              <a:xfrm>
                <a:off x="3167535" y="5771408"/>
                <a:ext cx="424826" cy="319177"/>
              </a:xfrm>
              <a:prstGeom prst="rect">
                <a:avLst/>
              </a:prstGeom>
              <a:solidFill>
                <a:srgbClr val="0070C0"/>
              </a:solidFill>
            </p:spPr>
            <p:style>
              <a:lnRef idx="2">
                <a:schemeClr val="accent5">
                  <a:shade val="15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1046" name="Rectangle 1045">
                <a:extLst>
                  <a:ext uri="{FF2B5EF4-FFF2-40B4-BE49-F238E27FC236}">
                    <a16:creationId xmlns:a16="http://schemas.microsoft.com/office/drawing/2014/main" id="{D41B99D9-8747-0A9B-82B4-72458674E90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67535" y="5771408"/>
                <a:ext cx="424826" cy="319177"/>
              </a:xfrm>
              <a:prstGeom prst="rect">
                <a:avLst/>
              </a:prstGeom>
              <a:blipFill>
                <a:blip r:embed="rId19"/>
                <a:stretch>
                  <a:fillRect l="-14085" b="-5556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47" name="Rectangle 1046">
                <a:extLst>
                  <a:ext uri="{FF2B5EF4-FFF2-40B4-BE49-F238E27FC236}">
                    <a16:creationId xmlns:a16="http://schemas.microsoft.com/office/drawing/2014/main" id="{3D5D08D1-C166-C4DA-8567-A11C776C7FC2}"/>
                  </a:ext>
                </a:extLst>
              </p:cNvPr>
              <p:cNvSpPr/>
              <p:nvPr/>
            </p:nvSpPr>
            <p:spPr>
              <a:xfrm>
                <a:off x="3642691" y="5779292"/>
                <a:ext cx="424826" cy="319177"/>
              </a:xfrm>
              <a:prstGeom prst="rect">
                <a:avLst/>
              </a:prstGeom>
              <a:solidFill>
                <a:srgbClr val="0070C0"/>
              </a:solidFill>
            </p:spPr>
            <p:style>
              <a:lnRef idx="2">
                <a:schemeClr val="accent5">
                  <a:shade val="15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1,7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1047" name="Rectangle 1046">
                <a:extLst>
                  <a:ext uri="{FF2B5EF4-FFF2-40B4-BE49-F238E27FC236}">
                    <a16:creationId xmlns:a16="http://schemas.microsoft.com/office/drawing/2014/main" id="{3D5D08D1-C166-C4DA-8567-A11C776C7FC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42691" y="5779292"/>
                <a:ext cx="424826" cy="319177"/>
              </a:xfrm>
              <a:prstGeom prst="rect">
                <a:avLst/>
              </a:prstGeom>
              <a:blipFill>
                <a:blip r:embed="rId20"/>
                <a:stretch>
                  <a:fillRect l="-9859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48" name="Rectangle 1047">
                <a:extLst>
                  <a:ext uri="{FF2B5EF4-FFF2-40B4-BE49-F238E27FC236}">
                    <a16:creationId xmlns:a16="http://schemas.microsoft.com/office/drawing/2014/main" id="{C359048D-8A89-4D4A-9D45-D60AF6954E0E}"/>
                  </a:ext>
                </a:extLst>
              </p:cNvPr>
              <p:cNvSpPr/>
              <p:nvPr/>
            </p:nvSpPr>
            <p:spPr>
              <a:xfrm>
                <a:off x="4117847" y="5779292"/>
                <a:ext cx="424826" cy="319177"/>
              </a:xfrm>
              <a:prstGeom prst="rect">
                <a:avLst/>
              </a:prstGeom>
              <a:solidFill>
                <a:srgbClr val="0070C0"/>
              </a:solidFill>
            </p:spPr>
            <p:style>
              <a:lnRef idx="2">
                <a:schemeClr val="accent5">
                  <a:shade val="15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1048" name="Rectangle 1047">
                <a:extLst>
                  <a:ext uri="{FF2B5EF4-FFF2-40B4-BE49-F238E27FC236}">
                    <a16:creationId xmlns:a16="http://schemas.microsoft.com/office/drawing/2014/main" id="{C359048D-8A89-4D4A-9D45-D60AF6954E0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7847" y="5779292"/>
                <a:ext cx="424826" cy="319177"/>
              </a:xfrm>
              <a:prstGeom prst="rect">
                <a:avLst/>
              </a:prstGeom>
              <a:blipFill>
                <a:blip r:embed="rId21"/>
                <a:stretch>
                  <a:fillRect l="-12500" b="-5556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49" name="Rectangle 1048">
                <a:extLst>
                  <a:ext uri="{FF2B5EF4-FFF2-40B4-BE49-F238E27FC236}">
                    <a16:creationId xmlns:a16="http://schemas.microsoft.com/office/drawing/2014/main" id="{7C7278F0-9DAD-AD89-C5A4-15313BE22F95}"/>
                  </a:ext>
                </a:extLst>
              </p:cNvPr>
              <p:cNvSpPr/>
              <p:nvPr/>
            </p:nvSpPr>
            <p:spPr>
              <a:xfrm>
                <a:off x="4574476" y="5779292"/>
                <a:ext cx="424826" cy="319177"/>
              </a:xfrm>
              <a:prstGeom prst="rect">
                <a:avLst/>
              </a:prstGeom>
              <a:solidFill>
                <a:srgbClr val="0070C0"/>
              </a:solidFill>
            </p:spPr>
            <p:style>
              <a:lnRef idx="2">
                <a:schemeClr val="accent5">
                  <a:shade val="15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1049" name="Rectangle 1048">
                <a:extLst>
                  <a:ext uri="{FF2B5EF4-FFF2-40B4-BE49-F238E27FC236}">
                    <a16:creationId xmlns:a16="http://schemas.microsoft.com/office/drawing/2014/main" id="{7C7278F0-9DAD-AD89-C5A4-15313BE22F9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4476" y="5779292"/>
                <a:ext cx="424826" cy="319177"/>
              </a:xfrm>
              <a:prstGeom prst="rect">
                <a:avLst/>
              </a:prstGeom>
              <a:blipFill>
                <a:blip r:embed="rId22"/>
                <a:stretch>
                  <a:fillRect l="-12500" b="-5556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50" name="Rectangle 1049">
                <a:extLst>
                  <a:ext uri="{FF2B5EF4-FFF2-40B4-BE49-F238E27FC236}">
                    <a16:creationId xmlns:a16="http://schemas.microsoft.com/office/drawing/2014/main" id="{FCD8FE0B-B06D-EDC0-5E76-2548E5E010AD}"/>
                  </a:ext>
                </a:extLst>
              </p:cNvPr>
              <p:cNvSpPr/>
              <p:nvPr/>
            </p:nvSpPr>
            <p:spPr>
              <a:xfrm>
                <a:off x="3167535" y="5385195"/>
                <a:ext cx="424826" cy="319177"/>
              </a:xfrm>
              <a:prstGeom prst="rect">
                <a:avLst/>
              </a:prstGeom>
              <a:solidFill>
                <a:srgbClr val="0070C0"/>
              </a:solidFill>
            </p:spPr>
            <p:style>
              <a:lnRef idx="2">
                <a:schemeClr val="accent5">
                  <a:shade val="15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1050" name="Rectangle 1049">
                <a:extLst>
                  <a:ext uri="{FF2B5EF4-FFF2-40B4-BE49-F238E27FC236}">
                    <a16:creationId xmlns:a16="http://schemas.microsoft.com/office/drawing/2014/main" id="{FCD8FE0B-B06D-EDC0-5E76-2548E5E010A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67535" y="5385195"/>
                <a:ext cx="424826" cy="319177"/>
              </a:xfrm>
              <a:prstGeom prst="rect">
                <a:avLst/>
              </a:prstGeom>
              <a:blipFill>
                <a:blip r:embed="rId23"/>
                <a:stretch>
                  <a:fillRect l="-19718" r="-1408" b="-10909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51" name="Rectangle 1050">
                <a:extLst>
                  <a:ext uri="{FF2B5EF4-FFF2-40B4-BE49-F238E27FC236}">
                    <a16:creationId xmlns:a16="http://schemas.microsoft.com/office/drawing/2014/main" id="{D8DCCF45-9944-0F39-BF4F-41C912D50B0F}"/>
                  </a:ext>
                </a:extLst>
              </p:cNvPr>
              <p:cNvSpPr/>
              <p:nvPr/>
            </p:nvSpPr>
            <p:spPr>
              <a:xfrm>
                <a:off x="3642691" y="5385195"/>
                <a:ext cx="424826" cy="319177"/>
              </a:xfrm>
              <a:prstGeom prst="rect">
                <a:avLst/>
              </a:prstGeom>
              <a:solidFill>
                <a:srgbClr val="0070C0"/>
              </a:solidFill>
            </p:spPr>
            <p:style>
              <a:lnRef idx="2">
                <a:schemeClr val="accent5">
                  <a:shade val="15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1,33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1051" name="Rectangle 1050">
                <a:extLst>
                  <a:ext uri="{FF2B5EF4-FFF2-40B4-BE49-F238E27FC236}">
                    <a16:creationId xmlns:a16="http://schemas.microsoft.com/office/drawing/2014/main" id="{D8DCCF45-9944-0F39-BF4F-41C912D50B0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42691" y="5385195"/>
                <a:ext cx="424826" cy="319177"/>
              </a:xfrm>
              <a:prstGeom prst="rect">
                <a:avLst/>
              </a:prstGeom>
              <a:blipFill>
                <a:blip r:embed="rId24"/>
                <a:stretch>
                  <a:fillRect l="-25352" r="-12676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52" name="Rectangle 1051">
                <a:extLst>
                  <a:ext uri="{FF2B5EF4-FFF2-40B4-BE49-F238E27FC236}">
                    <a16:creationId xmlns:a16="http://schemas.microsoft.com/office/drawing/2014/main" id="{73747D17-DFB5-FDC1-E344-752D4EF174F7}"/>
                  </a:ext>
                </a:extLst>
              </p:cNvPr>
              <p:cNvSpPr/>
              <p:nvPr/>
            </p:nvSpPr>
            <p:spPr>
              <a:xfrm>
                <a:off x="4117847" y="5385195"/>
                <a:ext cx="424826" cy="319177"/>
              </a:xfrm>
              <a:prstGeom prst="rect">
                <a:avLst/>
              </a:prstGeom>
              <a:solidFill>
                <a:srgbClr val="0070C0"/>
              </a:solidFill>
            </p:spPr>
            <p:style>
              <a:lnRef idx="2">
                <a:schemeClr val="accent5">
                  <a:shade val="15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1052" name="Rectangle 1051">
                <a:extLst>
                  <a:ext uri="{FF2B5EF4-FFF2-40B4-BE49-F238E27FC236}">
                    <a16:creationId xmlns:a16="http://schemas.microsoft.com/office/drawing/2014/main" id="{73747D17-DFB5-FDC1-E344-752D4EF174F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7847" y="5385195"/>
                <a:ext cx="424826" cy="319177"/>
              </a:xfrm>
              <a:prstGeom prst="rect">
                <a:avLst/>
              </a:prstGeom>
              <a:blipFill>
                <a:blip r:embed="rId25"/>
                <a:stretch>
                  <a:fillRect l="-18056" r="-1389" b="-10909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53" name="Rectangle 1052">
                <a:extLst>
                  <a:ext uri="{FF2B5EF4-FFF2-40B4-BE49-F238E27FC236}">
                    <a16:creationId xmlns:a16="http://schemas.microsoft.com/office/drawing/2014/main" id="{E525BFFD-C7C4-9348-1446-568ED36A8A8C}"/>
                  </a:ext>
                </a:extLst>
              </p:cNvPr>
              <p:cNvSpPr/>
              <p:nvPr/>
            </p:nvSpPr>
            <p:spPr>
              <a:xfrm>
                <a:off x="4574476" y="5383573"/>
                <a:ext cx="424826" cy="319177"/>
              </a:xfrm>
              <a:prstGeom prst="rect">
                <a:avLst/>
              </a:prstGeom>
              <a:solidFill>
                <a:srgbClr val="0070C0"/>
              </a:solidFill>
            </p:spPr>
            <p:style>
              <a:lnRef idx="2">
                <a:schemeClr val="accent5">
                  <a:shade val="15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1053" name="Rectangle 1052">
                <a:extLst>
                  <a:ext uri="{FF2B5EF4-FFF2-40B4-BE49-F238E27FC236}">
                    <a16:creationId xmlns:a16="http://schemas.microsoft.com/office/drawing/2014/main" id="{E525BFFD-C7C4-9348-1446-568ED36A8A8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4476" y="5383573"/>
                <a:ext cx="424826" cy="319177"/>
              </a:xfrm>
              <a:prstGeom prst="rect">
                <a:avLst/>
              </a:prstGeom>
              <a:blipFill>
                <a:blip r:embed="rId26"/>
                <a:stretch>
                  <a:fillRect l="-18056" r="-1389" b="-1111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54" name="Rectangle 1053">
            <a:extLst>
              <a:ext uri="{FF2B5EF4-FFF2-40B4-BE49-F238E27FC236}">
                <a16:creationId xmlns:a16="http://schemas.microsoft.com/office/drawing/2014/main" id="{DD92244D-7A23-91B7-1294-C5EFEFCFA14E}"/>
              </a:ext>
            </a:extLst>
          </p:cNvPr>
          <p:cNvSpPr/>
          <p:nvPr/>
        </p:nvSpPr>
        <p:spPr>
          <a:xfrm>
            <a:off x="3071389" y="4977559"/>
            <a:ext cx="2033051" cy="1226690"/>
          </a:xfrm>
          <a:prstGeom prst="rect">
            <a:avLst/>
          </a:prstGeom>
          <a:noFill/>
          <a:ln w="1905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55" name="TextBox 1054">
            <a:extLst>
              <a:ext uri="{FF2B5EF4-FFF2-40B4-BE49-F238E27FC236}">
                <a16:creationId xmlns:a16="http://schemas.microsoft.com/office/drawing/2014/main" id="{1BCC8390-7469-D90B-8130-44CEB6839792}"/>
              </a:ext>
            </a:extLst>
          </p:cNvPr>
          <p:cNvSpPr txBox="1"/>
          <p:nvPr/>
        </p:nvSpPr>
        <p:spPr>
          <a:xfrm>
            <a:off x="3071390" y="5005674"/>
            <a:ext cx="16760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i="1" dirty="0" err="1"/>
              <a:t>moving</a:t>
            </a:r>
            <a:r>
              <a:rPr lang="pt-BR" sz="1600" i="1" dirty="0"/>
              <a:t> </a:t>
            </a:r>
            <a:r>
              <a:rPr lang="pt-BR" sz="1600" i="1" dirty="0" err="1"/>
              <a:t>averages</a:t>
            </a:r>
            <a:endParaRPr lang="pt-BR" sz="1600" i="1" dirty="0"/>
          </a:p>
        </p:txBody>
      </p:sp>
      <p:sp>
        <p:nvSpPr>
          <p:cNvPr id="1059" name="Rectangle 1058">
            <a:extLst>
              <a:ext uri="{FF2B5EF4-FFF2-40B4-BE49-F238E27FC236}">
                <a16:creationId xmlns:a16="http://schemas.microsoft.com/office/drawing/2014/main" id="{5944823A-F47B-DD1F-EE7E-2B36E2F43501}"/>
              </a:ext>
            </a:extLst>
          </p:cNvPr>
          <p:cNvSpPr/>
          <p:nvPr/>
        </p:nvSpPr>
        <p:spPr>
          <a:xfrm>
            <a:off x="8038596" y="3590874"/>
            <a:ext cx="327518" cy="831522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61" name="Rectangle 1060">
            <a:extLst>
              <a:ext uri="{FF2B5EF4-FFF2-40B4-BE49-F238E27FC236}">
                <a16:creationId xmlns:a16="http://schemas.microsoft.com/office/drawing/2014/main" id="{A8AB8CE9-6B4D-6269-0334-5030EF517CB8}"/>
              </a:ext>
            </a:extLst>
          </p:cNvPr>
          <p:cNvSpPr/>
          <p:nvPr/>
        </p:nvSpPr>
        <p:spPr>
          <a:xfrm>
            <a:off x="3624164" y="5347621"/>
            <a:ext cx="461880" cy="777720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9F11EEC-6354-8CE7-C8D6-FDB94FC292DE}"/>
              </a:ext>
            </a:extLst>
          </p:cNvPr>
          <p:cNvSpPr/>
          <p:nvPr/>
        </p:nvSpPr>
        <p:spPr>
          <a:xfrm>
            <a:off x="5271186" y="4027126"/>
            <a:ext cx="468000" cy="319177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0286FB88-D95D-5C00-BDE1-CDA3675A1FF8}"/>
                  </a:ext>
                </a:extLst>
              </p:cNvPr>
              <p:cNvSpPr/>
              <p:nvPr/>
            </p:nvSpPr>
            <p:spPr>
              <a:xfrm>
                <a:off x="5761515" y="4027126"/>
                <a:ext cx="468000" cy="319177"/>
              </a:xfrm>
              <a:prstGeom prst="rect">
                <a:avLst/>
              </a:prstGeom>
              <a:solidFill>
                <a:srgbClr val="FFFF00"/>
              </a:solidFill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−1,37</m:t>
                      </m:r>
                    </m:oMath>
                  </m:oMathPara>
                </a14:m>
                <a:endParaRPr lang="pt-BR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0286FB88-D95D-5C00-BDE1-CDA3675A1FF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61515" y="4027126"/>
                <a:ext cx="468000" cy="319177"/>
              </a:xfrm>
              <a:prstGeom prst="rect">
                <a:avLst/>
              </a:prstGeom>
              <a:blipFill>
                <a:blip r:embed="rId27"/>
                <a:stretch>
                  <a:fillRect l="-8861" r="-6329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ectangle 9">
            <a:extLst>
              <a:ext uri="{FF2B5EF4-FFF2-40B4-BE49-F238E27FC236}">
                <a16:creationId xmlns:a16="http://schemas.microsoft.com/office/drawing/2014/main" id="{5647B996-D0DC-54BF-68A3-6E01BD9FAAA3}"/>
              </a:ext>
            </a:extLst>
          </p:cNvPr>
          <p:cNvSpPr/>
          <p:nvPr/>
        </p:nvSpPr>
        <p:spPr>
          <a:xfrm>
            <a:off x="6251844" y="4027126"/>
            <a:ext cx="468000" cy="319177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4484A77-4271-07C2-12DB-D591874370FB}"/>
              </a:ext>
            </a:extLst>
          </p:cNvPr>
          <p:cNvSpPr/>
          <p:nvPr/>
        </p:nvSpPr>
        <p:spPr>
          <a:xfrm>
            <a:off x="6742173" y="4027126"/>
            <a:ext cx="468000" cy="319177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FDFC7C0-8059-3ACA-F747-DED452BF2EDB}"/>
              </a:ext>
            </a:extLst>
          </p:cNvPr>
          <p:cNvSpPr/>
          <p:nvPr/>
        </p:nvSpPr>
        <p:spPr>
          <a:xfrm>
            <a:off x="5271186" y="4367071"/>
            <a:ext cx="468000" cy="319177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DAFB020C-C53B-7351-D272-EEE1B1E41625}"/>
                  </a:ext>
                </a:extLst>
              </p:cNvPr>
              <p:cNvSpPr/>
              <p:nvPr/>
            </p:nvSpPr>
            <p:spPr>
              <a:xfrm>
                <a:off x="5761515" y="4367071"/>
                <a:ext cx="468000" cy="319177"/>
              </a:xfrm>
              <a:prstGeom prst="rect">
                <a:avLst/>
              </a:prstGeom>
              <a:solidFill>
                <a:srgbClr val="FFFF00"/>
              </a:solidFill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0,39</m:t>
                      </m:r>
                    </m:oMath>
                  </m:oMathPara>
                </a14:m>
                <a:endParaRPr lang="pt-BR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DAFB020C-C53B-7351-D272-EEE1B1E4162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61515" y="4367071"/>
                <a:ext cx="468000" cy="319177"/>
              </a:xfrm>
              <a:prstGeom prst="rect">
                <a:avLst/>
              </a:prstGeom>
              <a:blipFill>
                <a:blip r:embed="rId28"/>
                <a:stretch>
                  <a:fillRect l="-886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Rectangle 25">
            <a:extLst>
              <a:ext uri="{FF2B5EF4-FFF2-40B4-BE49-F238E27FC236}">
                <a16:creationId xmlns:a16="http://schemas.microsoft.com/office/drawing/2014/main" id="{306175DC-D122-3A23-6F03-6ED3FF128978}"/>
              </a:ext>
            </a:extLst>
          </p:cNvPr>
          <p:cNvSpPr/>
          <p:nvPr/>
        </p:nvSpPr>
        <p:spPr>
          <a:xfrm>
            <a:off x="6251844" y="4367071"/>
            <a:ext cx="468000" cy="319177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AC6C62D-8D61-7095-9F6A-20A917B54E5B}"/>
              </a:ext>
            </a:extLst>
          </p:cNvPr>
          <p:cNvSpPr/>
          <p:nvPr/>
        </p:nvSpPr>
        <p:spPr>
          <a:xfrm>
            <a:off x="6742173" y="4367071"/>
            <a:ext cx="468000" cy="319177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3C5FBA3-4845-20C7-5AB5-C26226AE6C67}"/>
              </a:ext>
            </a:extLst>
          </p:cNvPr>
          <p:cNvSpPr/>
          <p:nvPr/>
        </p:nvSpPr>
        <p:spPr>
          <a:xfrm>
            <a:off x="9912498" y="3776054"/>
            <a:ext cx="468000" cy="319177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53E7BCEF-7560-BBDE-62DD-5794D7A4853A}"/>
                  </a:ext>
                </a:extLst>
              </p:cNvPr>
              <p:cNvSpPr/>
              <p:nvPr/>
            </p:nvSpPr>
            <p:spPr>
              <a:xfrm>
                <a:off x="10402827" y="3776054"/>
                <a:ext cx="468000" cy="319177"/>
              </a:xfrm>
              <a:prstGeom prst="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3,66</m:t>
                      </m:r>
                    </m:oMath>
                  </m:oMathPara>
                </a14:m>
                <a:endParaRPr lang="pt-BR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53E7BCEF-7560-BBDE-62DD-5794D7A4853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02827" y="3776054"/>
                <a:ext cx="468000" cy="319177"/>
              </a:xfrm>
              <a:prstGeom prst="rect">
                <a:avLst/>
              </a:prstGeom>
              <a:blipFill>
                <a:blip r:embed="rId29"/>
                <a:stretch>
                  <a:fillRect l="-2564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26" name="Rectangle 1025">
            <a:extLst>
              <a:ext uri="{FF2B5EF4-FFF2-40B4-BE49-F238E27FC236}">
                <a16:creationId xmlns:a16="http://schemas.microsoft.com/office/drawing/2014/main" id="{7EB84432-A73B-0F7D-9274-8F1213C79CCE}"/>
              </a:ext>
            </a:extLst>
          </p:cNvPr>
          <p:cNvSpPr/>
          <p:nvPr/>
        </p:nvSpPr>
        <p:spPr>
          <a:xfrm>
            <a:off x="10893156" y="3776054"/>
            <a:ext cx="468000" cy="319177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38" name="Rectangle 1037">
            <a:extLst>
              <a:ext uri="{FF2B5EF4-FFF2-40B4-BE49-F238E27FC236}">
                <a16:creationId xmlns:a16="http://schemas.microsoft.com/office/drawing/2014/main" id="{14C4F4E2-171B-8C83-E123-E991D6133B64}"/>
              </a:ext>
            </a:extLst>
          </p:cNvPr>
          <p:cNvSpPr/>
          <p:nvPr/>
        </p:nvSpPr>
        <p:spPr>
          <a:xfrm>
            <a:off x="11383485" y="3776054"/>
            <a:ext cx="468000" cy="319177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43" name="Rectangle 1042">
            <a:extLst>
              <a:ext uri="{FF2B5EF4-FFF2-40B4-BE49-F238E27FC236}">
                <a16:creationId xmlns:a16="http://schemas.microsoft.com/office/drawing/2014/main" id="{30228EB1-33E9-4AF4-356F-81837378979B}"/>
              </a:ext>
            </a:extLst>
          </p:cNvPr>
          <p:cNvSpPr/>
          <p:nvPr/>
        </p:nvSpPr>
        <p:spPr>
          <a:xfrm>
            <a:off x="9912498" y="4118266"/>
            <a:ext cx="468000" cy="319177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62" name="Rectangle 1061">
                <a:extLst>
                  <a:ext uri="{FF2B5EF4-FFF2-40B4-BE49-F238E27FC236}">
                    <a16:creationId xmlns:a16="http://schemas.microsoft.com/office/drawing/2014/main" id="{0EDBCDB4-513E-9F95-321B-12EEDA929E7F}"/>
                  </a:ext>
                </a:extLst>
              </p:cNvPr>
              <p:cNvSpPr/>
              <p:nvPr/>
            </p:nvSpPr>
            <p:spPr>
              <a:xfrm>
                <a:off x="10402827" y="4118266"/>
                <a:ext cx="468000" cy="319177"/>
              </a:xfrm>
              <a:prstGeom prst="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−1,74</m:t>
                      </m:r>
                    </m:oMath>
                  </m:oMathPara>
                </a14:m>
                <a:endParaRPr lang="pt-BR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62" name="Rectangle 1061">
                <a:extLst>
                  <a:ext uri="{FF2B5EF4-FFF2-40B4-BE49-F238E27FC236}">
                    <a16:creationId xmlns:a16="http://schemas.microsoft.com/office/drawing/2014/main" id="{0EDBCDB4-513E-9F95-321B-12EEDA929E7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02827" y="4118266"/>
                <a:ext cx="468000" cy="319177"/>
              </a:xfrm>
              <a:prstGeom prst="rect">
                <a:avLst/>
              </a:prstGeom>
              <a:blipFill>
                <a:blip r:embed="rId30"/>
                <a:stretch>
                  <a:fillRect l="-10256" r="-641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63" name="Rectangle 1062">
            <a:extLst>
              <a:ext uri="{FF2B5EF4-FFF2-40B4-BE49-F238E27FC236}">
                <a16:creationId xmlns:a16="http://schemas.microsoft.com/office/drawing/2014/main" id="{AD5AB29B-F00F-00A1-142A-9ED063851743}"/>
              </a:ext>
            </a:extLst>
          </p:cNvPr>
          <p:cNvSpPr/>
          <p:nvPr/>
        </p:nvSpPr>
        <p:spPr>
          <a:xfrm>
            <a:off x="10893156" y="4118266"/>
            <a:ext cx="468000" cy="319177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64" name="Rectangle 1063">
            <a:extLst>
              <a:ext uri="{FF2B5EF4-FFF2-40B4-BE49-F238E27FC236}">
                <a16:creationId xmlns:a16="http://schemas.microsoft.com/office/drawing/2014/main" id="{2F8C8BC1-EC49-51B1-3D9B-A37EB7A6EDA2}"/>
              </a:ext>
            </a:extLst>
          </p:cNvPr>
          <p:cNvSpPr/>
          <p:nvPr/>
        </p:nvSpPr>
        <p:spPr>
          <a:xfrm>
            <a:off x="11383485" y="4118266"/>
            <a:ext cx="468000" cy="319177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65" name="Rectangle 1064">
            <a:extLst>
              <a:ext uri="{FF2B5EF4-FFF2-40B4-BE49-F238E27FC236}">
                <a16:creationId xmlns:a16="http://schemas.microsoft.com/office/drawing/2014/main" id="{635594EA-F3FA-DB31-4178-1ACF6170442F}"/>
              </a:ext>
            </a:extLst>
          </p:cNvPr>
          <p:cNvSpPr/>
          <p:nvPr/>
        </p:nvSpPr>
        <p:spPr>
          <a:xfrm>
            <a:off x="9912498" y="4458211"/>
            <a:ext cx="468000" cy="319177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66" name="Rectangle 1065">
                <a:extLst>
                  <a:ext uri="{FF2B5EF4-FFF2-40B4-BE49-F238E27FC236}">
                    <a16:creationId xmlns:a16="http://schemas.microsoft.com/office/drawing/2014/main" id="{893AC88F-5D92-4D11-0E95-B177E607821F}"/>
                  </a:ext>
                </a:extLst>
              </p:cNvPr>
              <p:cNvSpPr/>
              <p:nvPr/>
            </p:nvSpPr>
            <p:spPr>
              <a:xfrm>
                <a:off x="10402827" y="4458211"/>
                <a:ext cx="468000" cy="319177"/>
              </a:xfrm>
              <a:prstGeom prst="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1,78</m:t>
                      </m:r>
                    </m:oMath>
                  </m:oMathPara>
                </a14:m>
                <a:endParaRPr lang="pt-BR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66" name="Rectangle 1065">
                <a:extLst>
                  <a:ext uri="{FF2B5EF4-FFF2-40B4-BE49-F238E27FC236}">
                    <a16:creationId xmlns:a16="http://schemas.microsoft.com/office/drawing/2014/main" id="{893AC88F-5D92-4D11-0E95-B177E607821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02827" y="4458211"/>
                <a:ext cx="468000" cy="319177"/>
              </a:xfrm>
              <a:prstGeom prst="rect">
                <a:avLst/>
              </a:prstGeom>
              <a:blipFill>
                <a:blip r:embed="rId31"/>
                <a:stretch>
                  <a:fillRect l="-2564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67" name="Rectangle 1066">
            <a:extLst>
              <a:ext uri="{FF2B5EF4-FFF2-40B4-BE49-F238E27FC236}">
                <a16:creationId xmlns:a16="http://schemas.microsoft.com/office/drawing/2014/main" id="{43C1F803-7906-80F1-B615-3D0BF4750B9E}"/>
              </a:ext>
            </a:extLst>
          </p:cNvPr>
          <p:cNvSpPr/>
          <p:nvPr/>
        </p:nvSpPr>
        <p:spPr>
          <a:xfrm>
            <a:off x="10893156" y="4458211"/>
            <a:ext cx="468000" cy="319177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68" name="Rectangle 1067">
            <a:extLst>
              <a:ext uri="{FF2B5EF4-FFF2-40B4-BE49-F238E27FC236}">
                <a16:creationId xmlns:a16="http://schemas.microsoft.com/office/drawing/2014/main" id="{3E137B0E-D441-C30F-4938-076EC892CF52}"/>
              </a:ext>
            </a:extLst>
          </p:cNvPr>
          <p:cNvSpPr/>
          <p:nvPr/>
        </p:nvSpPr>
        <p:spPr>
          <a:xfrm>
            <a:off x="11383485" y="4458211"/>
            <a:ext cx="468000" cy="319177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69" name="Rectangle 1068">
            <a:extLst>
              <a:ext uri="{FF2B5EF4-FFF2-40B4-BE49-F238E27FC236}">
                <a16:creationId xmlns:a16="http://schemas.microsoft.com/office/drawing/2014/main" id="{4090E3C8-34FE-2AA6-A7DD-DDA51739802C}"/>
              </a:ext>
            </a:extLst>
          </p:cNvPr>
          <p:cNvSpPr/>
          <p:nvPr/>
        </p:nvSpPr>
        <p:spPr>
          <a:xfrm>
            <a:off x="659373" y="3574146"/>
            <a:ext cx="377181" cy="1110482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70" name="Rectangle 1069">
            <a:extLst>
              <a:ext uri="{FF2B5EF4-FFF2-40B4-BE49-F238E27FC236}">
                <a16:creationId xmlns:a16="http://schemas.microsoft.com/office/drawing/2014/main" id="{2DB302CB-CC06-425D-AC40-CA797C546AF1}"/>
              </a:ext>
            </a:extLst>
          </p:cNvPr>
          <p:cNvSpPr/>
          <p:nvPr/>
        </p:nvSpPr>
        <p:spPr>
          <a:xfrm>
            <a:off x="3143755" y="3618829"/>
            <a:ext cx="550621" cy="803567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71" name="Rectangle 1070">
            <a:extLst>
              <a:ext uri="{FF2B5EF4-FFF2-40B4-BE49-F238E27FC236}">
                <a16:creationId xmlns:a16="http://schemas.microsoft.com/office/drawing/2014/main" id="{8D5B7116-BAC6-49ED-E7D0-3708E57397F6}"/>
              </a:ext>
            </a:extLst>
          </p:cNvPr>
          <p:cNvSpPr/>
          <p:nvPr/>
        </p:nvSpPr>
        <p:spPr>
          <a:xfrm>
            <a:off x="5720204" y="3654644"/>
            <a:ext cx="550621" cy="1029984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72" name="Rectangle 1071">
            <a:extLst>
              <a:ext uri="{FF2B5EF4-FFF2-40B4-BE49-F238E27FC236}">
                <a16:creationId xmlns:a16="http://schemas.microsoft.com/office/drawing/2014/main" id="{F3CD0E10-0DBA-848F-415A-837294838A46}"/>
              </a:ext>
            </a:extLst>
          </p:cNvPr>
          <p:cNvSpPr/>
          <p:nvPr/>
        </p:nvSpPr>
        <p:spPr>
          <a:xfrm>
            <a:off x="10348937" y="3692489"/>
            <a:ext cx="550621" cy="1187853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1F1FB6DD-64DD-0107-8311-70193EDB1FFF}"/>
                  </a:ext>
                </a:extLst>
              </p:cNvPr>
              <p:cNvSpPr txBox="1"/>
              <p:nvPr/>
            </p:nvSpPr>
            <p:spPr>
              <a:xfrm>
                <a:off x="785004" y="1697830"/>
                <a:ext cx="10506973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pt-BR" sz="2400" dirty="0"/>
                  <a:t>Existem dois parâmetros treináveis na camada </a:t>
                </a:r>
                <a:r>
                  <a:rPr lang="en-US" sz="2400" dirty="0"/>
                  <a:t>de </a:t>
                </a:r>
                <a:r>
                  <a:rPr lang="en-US" sz="2400" i="1" dirty="0"/>
                  <a:t>batch norm </a:t>
                </a:r>
                <a:r>
                  <a:rPr lang="en-US" sz="2400" dirty="0"/>
                  <a:t>que </a:t>
                </a:r>
                <a:r>
                  <a:rPr lang="en-US" sz="2400" dirty="0" err="1"/>
                  <a:t>são</a:t>
                </a:r>
                <a:r>
                  <a:rPr lang="en-US" sz="2400" dirty="0"/>
                  <a:t>: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a nova </a:t>
                </a:r>
                <a:r>
                  <a:rPr lang="en-US" sz="2400" dirty="0" err="1"/>
                  <a:t>média</a:t>
                </a: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pt-BR" sz="2400" i="1" dirty="0"/>
                  <a:t> </a:t>
                </a:r>
                <a:r>
                  <a:rPr lang="pt-BR" sz="2400" dirty="0"/>
                  <a:t>e o novo desvio padrão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𝛾</m:t>
                    </m:r>
                  </m:oMath>
                </a14:m>
                <a:r>
                  <a:rPr lang="pt-BR" sz="2400" i="1" dirty="0"/>
                  <a:t> 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1F1FB6DD-64DD-0107-8311-70193EDB1F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5004" y="1697830"/>
                <a:ext cx="10506973" cy="830997"/>
              </a:xfrm>
              <a:prstGeom prst="rect">
                <a:avLst/>
              </a:prstGeom>
              <a:blipFill>
                <a:blip r:embed="rId32"/>
                <a:stretch>
                  <a:fillRect l="-813" t="-5882" b="-16176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angle 6">
            <a:extLst>
              <a:ext uri="{FF2B5EF4-FFF2-40B4-BE49-F238E27FC236}">
                <a16:creationId xmlns:a16="http://schemas.microsoft.com/office/drawing/2014/main" id="{D912E078-FD71-685C-5596-70A0738E0229}"/>
              </a:ext>
            </a:extLst>
          </p:cNvPr>
          <p:cNvSpPr/>
          <p:nvPr/>
        </p:nvSpPr>
        <p:spPr>
          <a:xfrm>
            <a:off x="9734183" y="3059668"/>
            <a:ext cx="2447442" cy="3107574"/>
          </a:xfrm>
          <a:prstGeom prst="rect">
            <a:avLst/>
          </a:prstGeom>
          <a:solidFill>
            <a:srgbClr val="FFFFFF">
              <a:alpha val="94902"/>
            </a:srgbClr>
          </a:solidFill>
          <a:ln>
            <a:noFill/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5A366450-3171-AF2E-1173-5566DAB49973}"/>
              </a:ext>
            </a:extLst>
          </p:cNvPr>
          <p:cNvSpPr/>
          <p:nvPr/>
        </p:nvSpPr>
        <p:spPr>
          <a:xfrm>
            <a:off x="2696504" y="4738858"/>
            <a:ext cx="2574682" cy="1590098"/>
          </a:xfrm>
          <a:prstGeom prst="rect">
            <a:avLst/>
          </a:prstGeom>
          <a:solidFill>
            <a:srgbClr val="DAE3F3">
              <a:alpha val="94902"/>
            </a:srgbClr>
          </a:solidFill>
          <a:ln>
            <a:noFill/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6069143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9" name="Rectangle: Rounded Corners 1038">
            <a:extLst>
              <a:ext uri="{FF2B5EF4-FFF2-40B4-BE49-F238E27FC236}">
                <a16:creationId xmlns:a16="http://schemas.microsoft.com/office/drawing/2014/main" id="{206AFDD9-1F26-000E-6015-4C8FEC37AF5D}"/>
              </a:ext>
            </a:extLst>
          </p:cNvPr>
          <p:cNvSpPr/>
          <p:nvPr/>
        </p:nvSpPr>
        <p:spPr>
          <a:xfrm>
            <a:off x="2438654" y="2789051"/>
            <a:ext cx="6838658" cy="3545153"/>
          </a:xfrm>
          <a:prstGeom prst="roundRect">
            <a:avLst>
              <a:gd name="adj" fmla="val 7217"/>
            </a:avLst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839EA5-D312-93A9-B084-C39FADB337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Batch Norm - Exemplo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CAE728-17C8-60F0-FE58-26D37AFA3C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40</a:t>
            </a:fld>
            <a:endParaRPr lang="pt-BR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BC3EE46-2D0B-78F6-C106-1216F939EDF9}"/>
              </a:ext>
            </a:extLst>
          </p:cNvPr>
          <p:cNvSpPr txBox="1"/>
          <p:nvPr/>
        </p:nvSpPr>
        <p:spPr>
          <a:xfrm>
            <a:off x="0" y="6582975"/>
            <a:ext cx="956453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200" dirty="0"/>
              <a:t>Fonte imagem: https://towardsdatascience.com/batch-norm-explained-visually-how-it-works-and-why-neural-networks-need-it-b18919692739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B10146F-6A3C-E9EB-51F7-56358628A632}"/>
              </a:ext>
            </a:extLst>
          </p:cNvPr>
          <p:cNvSpPr/>
          <p:nvPr/>
        </p:nvSpPr>
        <p:spPr>
          <a:xfrm>
            <a:off x="337871" y="4322032"/>
            <a:ext cx="319177" cy="319177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7FF3EE-CA26-EC19-BD8E-FA5C86DAEEB0}"/>
              </a:ext>
            </a:extLst>
          </p:cNvPr>
          <p:cNvSpPr/>
          <p:nvPr/>
        </p:nvSpPr>
        <p:spPr>
          <a:xfrm>
            <a:off x="674600" y="4322032"/>
            <a:ext cx="375688" cy="319177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2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C8BA06A-F643-7ACB-4AFA-E9ADA6154FFB}"/>
              </a:ext>
            </a:extLst>
          </p:cNvPr>
          <p:cNvSpPr/>
          <p:nvPr/>
        </p:nvSpPr>
        <p:spPr>
          <a:xfrm>
            <a:off x="1064694" y="4320147"/>
            <a:ext cx="319177" cy="319177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75DDA18-6DF6-F035-0D03-265ED01685BD}"/>
              </a:ext>
            </a:extLst>
          </p:cNvPr>
          <p:cNvSpPr/>
          <p:nvPr/>
        </p:nvSpPr>
        <p:spPr>
          <a:xfrm>
            <a:off x="1404598" y="4320146"/>
            <a:ext cx="319177" cy="319177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C1E78E6-2EE3-F5D9-A92A-295464DE9863}"/>
              </a:ext>
            </a:extLst>
          </p:cNvPr>
          <p:cNvSpPr/>
          <p:nvPr/>
        </p:nvSpPr>
        <p:spPr>
          <a:xfrm>
            <a:off x="337871" y="3959436"/>
            <a:ext cx="319177" cy="319177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662516E-2EF8-ED53-D25C-F8285584E3D8}"/>
              </a:ext>
            </a:extLst>
          </p:cNvPr>
          <p:cNvSpPr/>
          <p:nvPr/>
        </p:nvSpPr>
        <p:spPr>
          <a:xfrm>
            <a:off x="674600" y="3959436"/>
            <a:ext cx="375688" cy="319177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-1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1645738-3C6E-1A0A-B8F0-64A182A07F99}"/>
              </a:ext>
            </a:extLst>
          </p:cNvPr>
          <p:cNvSpPr/>
          <p:nvPr/>
        </p:nvSpPr>
        <p:spPr>
          <a:xfrm>
            <a:off x="1064694" y="3957551"/>
            <a:ext cx="319177" cy="319177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8D43920-4369-388A-9E74-7B6AF0D1EE55}"/>
              </a:ext>
            </a:extLst>
          </p:cNvPr>
          <p:cNvSpPr/>
          <p:nvPr/>
        </p:nvSpPr>
        <p:spPr>
          <a:xfrm>
            <a:off x="1404598" y="3957550"/>
            <a:ext cx="319177" cy="319177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C95A93A-E7BC-C5AF-7462-13DACB311257}"/>
              </a:ext>
            </a:extLst>
          </p:cNvPr>
          <p:cNvSpPr/>
          <p:nvPr/>
        </p:nvSpPr>
        <p:spPr>
          <a:xfrm>
            <a:off x="337871" y="3596840"/>
            <a:ext cx="319177" cy="319177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69463FB-E674-6629-3672-CD3F6CD4A541}"/>
              </a:ext>
            </a:extLst>
          </p:cNvPr>
          <p:cNvSpPr/>
          <p:nvPr/>
        </p:nvSpPr>
        <p:spPr>
          <a:xfrm>
            <a:off x="674600" y="3596840"/>
            <a:ext cx="375688" cy="319177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3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2926178-20B9-CB69-D5F9-3A635322357A}"/>
              </a:ext>
            </a:extLst>
          </p:cNvPr>
          <p:cNvSpPr/>
          <p:nvPr/>
        </p:nvSpPr>
        <p:spPr>
          <a:xfrm>
            <a:off x="1064694" y="3594955"/>
            <a:ext cx="319177" cy="319177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0C263CE-A8A2-A35B-AB10-FC893977635A}"/>
              </a:ext>
            </a:extLst>
          </p:cNvPr>
          <p:cNvSpPr/>
          <p:nvPr/>
        </p:nvSpPr>
        <p:spPr>
          <a:xfrm>
            <a:off x="1404598" y="3594954"/>
            <a:ext cx="319177" cy="319177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D341D891-C4A6-BBD1-C92A-0143C1BC86D2}"/>
              </a:ext>
            </a:extLst>
          </p:cNvPr>
          <p:cNvCxnSpPr>
            <a:cxnSpLocks/>
          </p:cNvCxnSpPr>
          <p:nvPr/>
        </p:nvCxnSpPr>
        <p:spPr>
          <a:xfrm>
            <a:off x="325920" y="3472419"/>
            <a:ext cx="1347665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6E578679-F5D5-D099-1219-024994E4CEB5}"/>
              </a:ext>
            </a:extLst>
          </p:cNvPr>
          <p:cNvSpPr txBox="1"/>
          <p:nvPr/>
        </p:nvSpPr>
        <p:spPr>
          <a:xfrm>
            <a:off x="337871" y="3059668"/>
            <a:ext cx="9544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/>
              <a:t>features</a:t>
            </a:r>
            <a:endParaRPr lang="pt-BR" dirty="0"/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1ACF99AE-33B4-94A6-B2D2-B8C963B09196}"/>
              </a:ext>
            </a:extLst>
          </p:cNvPr>
          <p:cNvCxnSpPr>
            <a:cxnSpLocks/>
          </p:cNvCxnSpPr>
          <p:nvPr/>
        </p:nvCxnSpPr>
        <p:spPr>
          <a:xfrm>
            <a:off x="165928" y="3596839"/>
            <a:ext cx="0" cy="1044369"/>
          </a:xfrm>
          <a:prstGeom prst="straightConnector1">
            <a:avLst/>
          </a:prstGeom>
          <a:ln w="28575">
            <a:solidFill>
              <a:srgbClr val="0070C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614DAD50-672D-7F4F-B671-E0EF74F88BCC}"/>
                  </a:ext>
                </a:extLst>
              </p:cNvPr>
              <p:cNvSpPr/>
              <p:nvPr/>
            </p:nvSpPr>
            <p:spPr>
              <a:xfrm>
                <a:off x="2706730" y="4047895"/>
                <a:ext cx="468000" cy="319177"/>
              </a:xfrm>
              <a:prstGeom prst="rect">
                <a:avLst/>
              </a:prstGeom>
            </p:spPr>
            <p:style>
              <a:lnRef idx="2">
                <a:schemeClr val="accent5">
                  <a:shade val="15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614DAD50-672D-7F4F-B671-E0EF74F88BC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06730" y="4047895"/>
                <a:ext cx="468000" cy="319177"/>
              </a:xfrm>
              <a:prstGeom prst="rect">
                <a:avLst/>
              </a:prstGeom>
              <a:blipFill>
                <a:blip r:embed="rId2"/>
                <a:stretch>
                  <a:fillRect b="-5556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FB67D806-D665-EA8A-9981-6AB16DE7E82D}"/>
                  </a:ext>
                </a:extLst>
              </p:cNvPr>
              <p:cNvSpPr/>
              <p:nvPr/>
            </p:nvSpPr>
            <p:spPr>
              <a:xfrm>
                <a:off x="3202565" y="4047895"/>
                <a:ext cx="468000" cy="319177"/>
              </a:xfrm>
              <a:prstGeom prst="rect">
                <a:avLst/>
              </a:prstGeom>
            </p:spPr>
            <p:style>
              <a:lnRef idx="2">
                <a:schemeClr val="accent5">
                  <a:shade val="15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1,7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FB67D806-D665-EA8A-9981-6AB16DE7E82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2565" y="4047895"/>
                <a:ext cx="468000" cy="319177"/>
              </a:xfrm>
              <a:prstGeom prst="rect">
                <a:avLst/>
              </a:prstGeom>
              <a:blipFill>
                <a:blip r:embed="rId3"/>
                <a:stretch>
                  <a:fillRect l="-379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35568E5A-3F79-2331-A1AD-32935F21918D}"/>
                  </a:ext>
                </a:extLst>
              </p:cNvPr>
              <p:cNvSpPr/>
              <p:nvPr/>
            </p:nvSpPr>
            <p:spPr>
              <a:xfrm>
                <a:off x="3698400" y="4047895"/>
                <a:ext cx="468000" cy="319177"/>
              </a:xfrm>
              <a:prstGeom prst="rect">
                <a:avLst/>
              </a:prstGeom>
            </p:spPr>
            <p:style>
              <a:lnRef idx="2">
                <a:schemeClr val="accent5">
                  <a:shade val="15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35568E5A-3F79-2331-A1AD-32935F21918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98400" y="4047895"/>
                <a:ext cx="468000" cy="319177"/>
              </a:xfrm>
              <a:prstGeom prst="rect">
                <a:avLst/>
              </a:prstGeom>
              <a:blipFill>
                <a:blip r:embed="rId4"/>
                <a:stretch>
                  <a:fillRect b="-5556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DEA5C93A-485F-A60E-719C-35A41744DA0B}"/>
                  </a:ext>
                </a:extLst>
              </p:cNvPr>
              <p:cNvSpPr/>
              <p:nvPr/>
            </p:nvSpPr>
            <p:spPr>
              <a:xfrm>
                <a:off x="4194234" y="4047894"/>
                <a:ext cx="468000" cy="319177"/>
              </a:xfrm>
              <a:prstGeom prst="rect">
                <a:avLst/>
              </a:prstGeom>
            </p:spPr>
            <p:style>
              <a:lnRef idx="2">
                <a:schemeClr val="accent5">
                  <a:shade val="15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DEA5C93A-485F-A60E-719C-35A41744DA0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94234" y="4047894"/>
                <a:ext cx="468000" cy="319177"/>
              </a:xfrm>
              <a:prstGeom prst="rect">
                <a:avLst/>
              </a:prstGeom>
              <a:blipFill>
                <a:blip r:embed="rId5"/>
                <a:stretch>
                  <a:fillRect b="-5556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Rectangle 37">
                <a:extLst>
                  <a:ext uri="{FF2B5EF4-FFF2-40B4-BE49-F238E27FC236}">
                    <a16:creationId xmlns:a16="http://schemas.microsoft.com/office/drawing/2014/main" id="{1727C0A4-31A4-4F8C-0753-9667F1BC43FA}"/>
                  </a:ext>
                </a:extLst>
              </p:cNvPr>
              <p:cNvSpPr/>
              <p:nvPr/>
            </p:nvSpPr>
            <p:spPr>
              <a:xfrm>
                <a:off x="2706730" y="3646945"/>
                <a:ext cx="468000" cy="319177"/>
              </a:xfrm>
              <a:prstGeom prst="rect">
                <a:avLst/>
              </a:prstGeom>
            </p:spPr>
            <p:style>
              <a:lnRef idx="2">
                <a:schemeClr val="accent5">
                  <a:shade val="15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38" name="Rectangle 37">
                <a:extLst>
                  <a:ext uri="{FF2B5EF4-FFF2-40B4-BE49-F238E27FC236}">
                    <a16:creationId xmlns:a16="http://schemas.microsoft.com/office/drawing/2014/main" id="{1727C0A4-31A4-4F8C-0753-9667F1BC43F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06730" y="3646945"/>
                <a:ext cx="468000" cy="319177"/>
              </a:xfrm>
              <a:prstGeom prst="rect">
                <a:avLst/>
              </a:prstGeom>
              <a:blipFill>
                <a:blip r:embed="rId6"/>
                <a:stretch>
                  <a:fillRect b="-909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Rectangle 38">
                <a:extLst>
                  <a:ext uri="{FF2B5EF4-FFF2-40B4-BE49-F238E27FC236}">
                    <a16:creationId xmlns:a16="http://schemas.microsoft.com/office/drawing/2014/main" id="{6E04EA64-A3BF-29A1-D065-B493D5FB4821}"/>
                  </a:ext>
                </a:extLst>
              </p:cNvPr>
              <p:cNvSpPr/>
              <p:nvPr/>
            </p:nvSpPr>
            <p:spPr>
              <a:xfrm>
                <a:off x="3202565" y="3646945"/>
                <a:ext cx="468000" cy="319177"/>
              </a:xfrm>
              <a:prstGeom prst="rect">
                <a:avLst/>
              </a:prstGeom>
            </p:spPr>
            <p:style>
              <a:lnRef idx="2">
                <a:schemeClr val="accent5">
                  <a:shade val="15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1,33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39" name="Rectangle 38">
                <a:extLst>
                  <a:ext uri="{FF2B5EF4-FFF2-40B4-BE49-F238E27FC236}">
                    <a16:creationId xmlns:a16="http://schemas.microsoft.com/office/drawing/2014/main" id="{6E04EA64-A3BF-29A1-D065-B493D5FB482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2565" y="3646945"/>
                <a:ext cx="468000" cy="319177"/>
              </a:xfrm>
              <a:prstGeom prst="rect">
                <a:avLst/>
              </a:prstGeom>
              <a:blipFill>
                <a:blip r:embed="rId7"/>
                <a:stretch>
                  <a:fillRect l="-16456" r="-7595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8E8889CC-9894-6F0B-433C-B4EAA0B05DB4}"/>
                  </a:ext>
                </a:extLst>
              </p:cNvPr>
              <p:cNvSpPr/>
              <p:nvPr/>
            </p:nvSpPr>
            <p:spPr>
              <a:xfrm>
                <a:off x="3698400" y="3646946"/>
                <a:ext cx="468000" cy="319177"/>
              </a:xfrm>
              <a:prstGeom prst="rect">
                <a:avLst/>
              </a:prstGeom>
            </p:spPr>
            <p:style>
              <a:lnRef idx="2">
                <a:schemeClr val="accent5">
                  <a:shade val="15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8E8889CC-9894-6F0B-433C-B4EAA0B05DB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98400" y="3646946"/>
                <a:ext cx="468000" cy="319177"/>
              </a:xfrm>
              <a:prstGeom prst="rect">
                <a:avLst/>
              </a:prstGeom>
              <a:blipFill>
                <a:blip r:embed="rId8"/>
                <a:stretch>
                  <a:fillRect b="-909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Rectangle 40">
                <a:extLst>
                  <a:ext uri="{FF2B5EF4-FFF2-40B4-BE49-F238E27FC236}">
                    <a16:creationId xmlns:a16="http://schemas.microsoft.com/office/drawing/2014/main" id="{CC73C869-4D94-A403-8EE8-FA1F50EE4364}"/>
                  </a:ext>
                </a:extLst>
              </p:cNvPr>
              <p:cNvSpPr/>
              <p:nvPr/>
            </p:nvSpPr>
            <p:spPr>
              <a:xfrm>
                <a:off x="4194234" y="3646945"/>
                <a:ext cx="468000" cy="319177"/>
              </a:xfrm>
              <a:prstGeom prst="rect">
                <a:avLst/>
              </a:prstGeom>
            </p:spPr>
            <p:style>
              <a:lnRef idx="2">
                <a:schemeClr val="accent5">
                  <a:shade val="15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41" name="Rectangle 40">
                <a:extLst>
                  <a:ext uri="{FF2B5EF4-FFF2-40B4-BE49-F238E27FC236}">
                    <a16:creationId xmlns:a16="http://schemas.microsoft.com/office/drawing/2014/main" id="{CC73C869-4D94-A403-8EE8-FA1F50EE436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94234" y="3646945"/>
                <a:ext cx="468000" cy="319177"/>
              </a:xfrm>
              <a:prstGeom prst="rect">
                <a:avLst/>
              </a:prstGeom>
              <a:blipFill>
                <a:blip r:embed="rId9"/>
                <a:stretch>
                  <a:fillRect b="-909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0" name="Rectangle 49">
            <a:extLst>
              <a:ext uri="{FF2B5EF4-FFF2-40B4-BE49-F238E27FC236}">
                <a16:creationId xmlns:a16="http://schemas.microsoft.com/office/drawing/2014/main" id="{AA7FCF3C-958C-340A-BED5-F59B13B8CD7E}"/>
              </a:ext>
            </a:extLst>
          </p:cNvPr>
          <p:cNvSpPr/>
          <p:nvPr/>
        </p:nvSpPr>
        <p:spPr>
          <a:xfrm>
            <a:off x="5271186" y="3684914"/>
            <a:ext cx="468000" cy="319177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1" name="Rectangle 50">
                <a:extLst>
                  <a:ext uri="{FF2B5EF4-FFF2-40B4-BE49-F238E27FC236}">
                    <a16:creationId xmlns:a16="http://schemas.microsoft.com/office/drawing/2014/main" id="{D3338B19-1552-E0E1-D778-87795F526C73}"/>
                  </a:ext>
                </a:extLst>
              </p:cNvPr>
              <p:cNvSpPr/>
              <p:nvPr/>
            </p:nvSpPr>
            <p:spPr>
              <a:xfrm>
                <a:off x="5761515" y="3684914"/>
                <a:ext cx="468000" cy="319177"/>
              </a:xfrm>
              <a:prstGeom prst="rect">
                <a:avLst/>
              </a:prstGeom>
              <a:solidFill>
                <a:srgbClr val="FFFF00"/>
              </a:solidFill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0,98</m:t>
                      </m:r>
                    </m:oMath>
                  </m:oMathPara>
                </a14:m>
                <a:endParaRPr lang="pt-BR" sz="12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51" name="Rectangle 50">
                <a:extLst>
                  <a:ext uri="{FF2B5EF4-FFF2-40B4-BE49-F238E27FC236}">
                    <a16:creationId xmlns:a16="http://schemas.microsoft.com/office/drawing/2014/main" id="{D3338B19-1552-E0E1-D778-87795F526C7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61515" y="3684914"/>
                <a:ext cx="468000" cy="319177"/>
              </a:xfrm>
              <a:prstGeom prst="rect">
                <a:avLst/>
              </a:prstGeom>
              <a:blipFill>
                <a:blip r:embed="rId10"/>
                <a:stretch>
                  <a:fillRect l="-886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2" name="Rectangle 51">
            <a:extLst>
              <a:ext uri="{FF2B5EF4-FFF2-40B4-BE49-F238E27FC236}">
                <a16:creationId xmlns:a16="http://schemas.microsoft.com/office/drawing/2014/main" id="{C423CA8C-0505-ABC4-8A28-FC3672BF7BD0}"/>
              </a:ext>
            </a:extLst>
          </p:cNvPr>
          <p:cNvSpPr/>
          <p:nvPr/>
        </p:nvSpPr>
        <p:spPr>
          <a:xfrm>
            <a:off x="6251844" y="3684914"/>
            <a:ext cx="468000" cy="319177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D7F39CA0-E88E-ED6B-2F28-D74AC8B74926}"/>
              </a:ext>
            </a:extLst>
          </p:cNvPr>
          <p:cNvSpPr/>
          <p:nvPr/>
        </p:nvSpPr>
        <p:spPr>
          <a:xfrm>
            <a:off x="6742173" y="3684914"/>
            <a:ext cx="468000" cy="319177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4" name="Rectangle 53">
                <a:extLst>
                  <a:ext uri="{FF2B5EF4-FFF2-40B4-BE49-F238E27FC236}">
                    <a16:creationId xmlns:a16="http://schemas.microsoft.com/office/drawing/2014/main" id="{CC933B5B-9DC6-3265-B2AB-43C8DC59B11E}"/>
                  </a:ext>
                </a:extLst>
              </p:cNvPr>
              <p:cNvSpPr/>
              <p:nvPr/>
            </p:nvSpPr>
            <p:spPr>
              <a:xfrm>
                <a:off x="7729083" y="4047895"/>
                <a:ext cx="319177" cy="319177"/>
              </a:xfrm>
              <a:prstGeom prst="rect">
                <a:avLst/>
              </a:prstGeom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54" name="Rectangle 53">
                <a:extLst>
                  <a:ext uri="{FF2B5EF4-FFF2-40B4-BE49-F238E27FC236}">
                    <a16:creationId xmlns:a16="http://schemas.microsoft.com/office/drawing/2014/main" id="{CC933B5B-9DC6-3265-B2AB-43C8DC59B11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29083" y="4047895"/>
                <a:ext cx="319177" cy="319177"/>
              </a:xfrm>
              <a:prstGeom prst="rect">
                <a:avLst/>
              </a:prstGeom>
              <a:blipFill>
                <a:blip r:embed="rId11"/>
                <a:stretch>
                  <a:fillRect l="-25926" b="-22222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Rectangle 54">
                <a:extLst>
                  <a:ext uri="{FF2B5EF4-FFF2-40B4-BE49-F238E27FC236}">
                    <a16:creationId xmlns:a16="http://schemas.microsoft.com/office/drawing/2014/main" id="{EE0863D9-2BF9-B6DA-44EF-011C63D07292}"/>
                  </a:ext>
                </a:extLst>
              </p:cNvPr>
              <p:cNvSpPr/>
              <p:nvPr/>
            </p:nvSpPr>
            <p:spPr>
              <a:xfrm>
                <a:off x="8065812" y="4047895"/>
                <a:ext cx="319177" cy="319177"/>
              </a:xfrm>
              <a:prstGeom prst="rect">
                <a:avLst/>
              </a:prstGeom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55" name="Rectangle 54">
                <a:extLst>
                  <a:ext uri="{FF2B5EF4-FFF2-40B4-BE49-F238E27FC236}">
                    <a16:creationId xmlns:a16="http://schemas.microsoft.com/office/drawing/2014/main" id="{EE0863D9-2BF9-B6DA-44EF-011C63D0729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65812" y="4047895"/>
                <a:ext cx="319177" cy="319177"/>
              </a:xfrm>
              <a:prstGeom prst="rect">
                <a:avLst/>
              </a:prstGeom>
              <a:blipFill>
                <a:blip r:embed="rId12"/>
                <a:stretch>
                  <a:fillRect l="-1852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Rectangle 55">
                <a:extLst>
                  <a:ext uri="{FF2B5EF4-FFF2-40B4-BE49-F238E27FC236}">
                    <a16:creationId xmlns:a16="http://schemas.microsoft.com/office/drawing/2014/main" id="{8408E87B-C7A4-8D69-DAD1-B1A56C00E439}"/>
                  </a:ext>
                </a:extLst>
              </p:cNvPr>
              <p:cNvSpPr/>
              <p:nvPr/>
            </p:nvSpPr>
            <p:spPr>
              <a:xfrm>
                <a:off x="8405716" y="4047895"/>
                <a:ext cx="319177" cy="319177"/>
              </a:xfrm>
              <a:prstGeom prst="rect">
                <a:avLst/>
              </a:prstGeom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56" name="Rectangle 55">
                <a:extLst>
                  <a:ext uri="{FF2B5EF4-FFF2-40B4-BE49-F238E27FC236}">
                    <a16:creationId xmlns:a16="http://schemas.microsoft.com/office/drawing/2014/main" id="{8408E87B-C7A4-8D69-DAD1-B1A56C00E43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05716" y="4047895"/>
                <a:ext cx="319177" cy="319177"/>
              </a:xfrm>
              <a:prstGeom prst="rect">
                <a:avLst/>
              </a:prstGeom>
              <a:blipFill>
                <a:blip r:embed="rId13"/>
                <a:stretch>
                  <a:fillRect l="-25926" b="-22222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Rectangle 56">
                <a:extLst>
                  <a:ext uri="{FF2B5EF4-FFF2-40B4-BE49-F238E27FC236}">
                    <a16:creationId xmlns:a16="http://schemas.microsoft.com/office/drawing/2014/main" id="{131EBB07-1682-B804-AA07-21F7AEA07557}"/>
                  </a:ext>
                </a:extLst>
              </p:cNvPr>
              <p:cNvSpPr/>
              <p:nvPr/>
            </p:nvSpPr>
            <p:spPr>
              <a:xfrm>
                <a:off x="8745620" y="4047894"/>
                <a:ext cx="319177" cy="319177"/>
              </a:xfrm>
              <a:prstGeom prst="rect">
                <a:avLst/>
              </a:prstGeom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57" name="Rectangle 56">
                <a:extLst>
                  <a:ext uri="{FF2B5EF4-FFF2-40B4-BE49-F238E27FC236}">
                    <a16:creationId xmlns:a16="http://schemas.microsoft.com/office/drawing/2014/main" id="{131EBB07-1682-B804-AA07-21F7AEA0755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45620" y="4047894"/>
                <a:ext cx="319177" cy="319177"/>
              </a:xfrm>
              <a:prstGeom prst="rect">
                <a:avLst/>
              </a:prstGeom>
              <a:blipFill>
                <a:blip r:embed="rId14"/>
                <a:stretch>
                  <a:fillRect l="-25926" b="-22222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Rectangle 57">
                <a:extLst>
                  <a:ext uri="{FF2B5EF4-FFF2-40B4-BE49-F238E27FC236}">
                    <a16:creationId xmlns:a16="http://schemas.microsoft.com/office/drawing/2014/main" id="{3B9A7BF8-DB55-47C0-A632-CA270BA2F6AC}"/>
                  </a:ext>
                </a:extLst>
              </p:cNvPr>
              <p:cNvSpPr/>
              <p:nvPr/>
            </p:nvSpPr>
            <p:spPr>
              <a:xfrm>
                <a:off x="7725435" y="3646946"/>
                <a:ext cx="319177" cy="319177"/>
              </a:xfrm>
              <a:prstGeom prst="rect">
                <a:avLst/>
              </a:prstGeom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𝛾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58" name="Rectangle 57">
                <a:extLst>
                  <a:ext uri="{FF2B5EF4-FFF2-40B4-BE49-F238E27FC236}">
                    <a16:creationId xmlns:a16="http://schemas.microsoft.com/office/drawing/2014/main" id="{3B9A7BF8-DB55-47C0-A632-CA270BA2F6A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25435" y="3646946"/>
                <a:ext cx="319177" cy="319177"/>
              </a:xfrm>
              <a:prstGeom prst="rect">
                <a:avLst/>
              </a:prstGeom>
              <a:blipFill>
                <a:blip r:embed="rId15"/>
                <a:stretch>
                  <a:fillRect l="-14545" b="-909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Rectangle 58">
                <a:extLst>
                  <a:ext uri="{FF2B5EF4-FFF2-40B4-BE49-F238E27FC236}">
                    <a16:creationId xmlns:a16="http://schemas.microsoft.com/office/drawing/2014/main" id="{C1AB75CC-353D-EF66-AD63-1A8574C45A8B}"/>
                  </a:ext>
                </a:extLst>
              </p:cNvPr>
              <p:cNvSpPr/>
              <p:nvPr/>
            </p:nvSpPr>
            <p:spPr>
              <a:xfrm>
                <a:off x="8062164" y="3646946"/>
                <a:ext cx="319177" cy="319177"/>
              </a:xfrm>
              <a:prstGeom prst="rect">
                <a:avLst/>
              </a:prstGeom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59" name="Rectangle 58">
                <a:extLst>
                  <a:ext uri="{FF2B5EF4-FFF2-40B4-BE49-F238E27FC236}">
                    <a16:creationId xmlns:a16="http://schemas.microsoft.com/office/drawing/2014/main" id="{C1AB75CC-353D-EF66-AD63-1A8574C45A8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62164" y="3646946"/>
                <a:ext cx="319177" cy="319177"/>
              </a:xfrm>
              <a:prstGeom prst="rect">
                <a:avLst/>
              </a:prstGeom>
              <a:blipFill>
                <a:blip r:embed="rId16"/>
                <a:stretch>
                  <a:fillRect l="-1852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" name="Rectangle 59">
                <a:extLst>
                  <a:ext uri="{FF2B5EF4-FFF2-40B4-BE49-F238E27FC236}">
                    <a16:creationId xmlns:a16="http://schemas.microsoft.com/office/drawing/2014/main" id="{C8820546-C3AC-9CC2-4E4A-91919E47E20A}"/>
                  </a:ext>
                </a:extLst>
              </p:cNvPr>
              <p:cNvSpPr/>
              <p:nvPr/>
            </p:nvSpPr>
            <p:spPr>
              <a:xfrm>
                <a:off x="8402068" y="3646946"/>
                <a:ext cx="319177" cy="319177"/>
              </a:xfrm>
              <a:prstGeom prst="rect">
                <a:avLst/>
              </a:prstGeom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𝛾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60" name="Rectangle 59">
                <a:extLst>
                  <a:ext uri="{FF2B5EF4-FFF2-40B4-BE49-F238E27FC236}">
                    <a16:creationId xmlns:a16="http://schemas.microsoft.com/office/drawing/2014/main" id="{C8820546-C3AC-9CC2-4E4A-91919E47E20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02068" y="3646946"/>
                <a:ext cx="319177" cy="319177"/>
              </a:xfrm>
              <a:prstGeom prst="rect">
                <a:avLst/>
              </a:prstGeom>
              <a:blipFill>
                <a:blip r:embed="rId17"/>
                <a:stretch>
                  <a:fillRect l="-14545" b="-909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Rectangle 60">
                <a:extLst>
                  <a:ext uri="{FF2B5EF4-FFF2-40B4-BE49-F238E27FC236}">
                    <a16:creationId xmlns:a16="http://schemas.microsoft.com/office/drawing/2014/main" id="{9846CC8F-B11B-379E-FF02-22B61579C3D0}"/>
                  </a:ext>
                </a:extLst>
              </p:cNvPr>
              <p:cNvSpPr/>
              <p:nvPr/>
            </p:nvSpPr>
            <p:spPr>
              <a:xfrm>
                <a:off x="8741972" y="3646945"/>
                <a:ext cx="319177" cy="319177"/>
              </a:xfrm>
              <a:prstGeom prst="rect">
                <a:avLst/>
              </a:prstGeom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𝛾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61" name="Rectangle 60">
                <a:extLst>
                  <a:ext uri="{FF2B5EF4-FFF2-40B4-BE49-F238E27FC236}">
                    <a16:creationId xmlns:a16="http://schemas.microsoft.com/office/drawing/2014/main" id="{9846CC8F-B11B-379E-FF02-22B61579C3D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41972" y="3646945"/>
                <a:ext cx="319177" cy="319177"/>
              </a:xfrm>
              <a:prstGeom prst="rect">
                <a:avLst/>
              </a:prstGeom>
              <a:blipFill>
                <a:blip r:embed="rId18"/>
                <a:stretch>
                  <a:fillRect l="-14815" b="-909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35" name="Straight Arrow Connector 1034">
            <a:extLst>
              <a:ext uri="{FF2B5EF4-FFF2-40B4-BE49-F238E27FC236}">
                <a16:creationId xmlns:a16="http://schemas.microsoft.com/office/drawing/2014/main" id="{6143EF1A-E438-EA24-5158-FEC150A9610E}"/>
              </a:ext>
            </a:extLst>
          </p:cNvPr>
          <p:cNvCxnSpPr>
            <a:cxnSpLocks/>
          </p:cNvCxnSpPr>
          <p:nvPr/>
        </p:nvCxnSpPr>
        <p:spPr>
          <a:xfrm>
            <a:off x="10506464" y="3574146"/>
            <a:ext cx="1347665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6" name="TextBox 1035">
            <a:extLst>
              <a:ext uri="{FF2B5EF4-FFF2-40B4-BE49-F238E27FC236}">
                <a16:creationId xmlns:a16="http://schemas.microsoft.com/office/drawing/2014/main" id="{4C661ACC-67B4-258C-015A-3832A5B76434}"/>
              </a:ext>
            </a:extLst>
          </p:cNvPr>
          <p:cNvSpPr txBox="1"/>
          <p:nvPr/>
        </p:nvSpPr>
        <p:spPr>
          <a:xfrm>
            <a:off x="10518415" y="3161395"/>
            <a:ext cx="9544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/>
              <a:t>features</a:t>
            </a:r>
            <a:endParaRPr lang="pt-BR" dirty="0"/>
          </a:p>
        </p:txBody>
      </p:sp>
      <p:cxnSp>
        <p:nvCxnSpPr>
          <p:cNvPr id="1037" name="Straight Arrow Connector 1036">
            <a:extLst>
              <a:ext uri="{FF2B5EF4-FFF2-40B4-BE49-F238E27FC236}">
                <a16:creationId xmlns:a16="http://schemas.microsoft.com/office/drawing/2014/main" id="{188908CB-0EE3-4E5A-E132-61303364FB7C}"/>
              </a:ext>
            </a:extLst>
          </p:cNvPr>
          <p:cNvCxnSpPr>
            <a:cxnSpLocks/>
          </p:cNvCxnSpPr>
          <p:nvPr/>
        </p:nvCxnSpPr>
        <p:spPr>
          <a:xfrm>
            <a:off x="12002744" y="3733019"/>
            <a:ext cx="0" cy="1044369"/>
          </a:xfrm>
          <a:prstGeom prst="straightConnector1">
            <a:avLst/>
          </a:prstGeom>
          <a:ln w="28575">
            <a:solidFill>
              <a:srgbClr val="0070C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0" name="Rectangle 1039">
            <a:extLst>
              <a:ext uri="{FF2B5EF4-FFF2-40B4-BE49-F238E27FC236}">
                <a16:creationId xmlns:a16="http://schemas.microsoft.com/office/drawing/2014/main" id="{86E43187-4259-FCA9-AA89-CC3E66BC1DFE}"/>
              </a:ext>
            </a:extLst>
          </p:cNvPr>
          <p:cNvSpPr/>
          <p:nvPr/>
        </p:nvSpPr>
        <p:spPr>
          <a:xfrm>
            <a:off x="2604980" y="3221382"/>
            <a:ext cx="2142450" cy="1226690"/>
          </a:xfrm>
          <a:prstGeom prst="rect">
            <a:avLst/>
          </a:prstGeom>
          <a:noFill/>
          <a:ln w="1905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41" name="Rectangle 1040">
            <a:extLst>
              <a:ext uri="{FF2B5EF4-FFF2-40B4-BE49-F238E27FC236}">
                <a16:creationId xmlns:a16="http://schemas.microsoft.com/office/drawing/2014/main" id="{F543F008-6F11-B14F-DFA6-D9A2AAC0AB71}"/>
              </a:ext>
            </a:extLst>
          </p:cNvPr>
          <p:cNvSpPr/>
          <p:nvPr/>
        </p:nvSpPr>
        <p:spPr>
          <a:xfrm>
            <a:off x="7590666" y="3209447"/>
            <a:ext cx="1573789" cy="1352182"/>
          </a:xfrm>
          <a:prstGeom prst="rect">
            <a:avLst/>
          </a:prstGeom>
          <a:noFill/>
          <a:ln w="1905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42" name="TextBox 1041">
            <a:extLst>
              <a:ext uri="{FF2B5EF4-FFF2-40B4-BE49-F238E27FC236}">
                <a16:creationId xmlns:a16="http://schemas.microsoft.com/office/drawing/2014/main" id="{02A1225E-C4CB-3460-EAEF-B431C6B64197}"/>
              </a:ext>
            </a:extLst>
          </p:cNvPr>
          <p:cNvSpPr txBox="1"/>
          <p:nvPr/>
        </p:nvSpPr>
        <p:spPr>
          <a:xfrm>
            <a:off x="3224692" y="3249497"/>
            <a:ext cx="12592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i="1" dirty="0" err="1"/>
              <a:t>mean</a:t>
            </a:r>
            <a:r>
              <a:rPr lang="pt-BR" dirty="0"/>
              <a:t> e </a:t>
            </a:r>
            <a:r>
              <a:rPr lang="pt-BR" i="1" dirty="0" err="1"/>
              <a:t>std</a:t>
            </a:r>
            <a:endParaRPr lang="pt-BR" i="1" dirty="0"/>
          </a:p>
        </p:txBody>
      </p:sp>
      <p:sp>
        <p:nvSpPr>
          <p:cNvPr id="1044" name="TextBox 1043">
            <a:extLst>
              <a:ext uri="{FF2B5EF4-FFF2-40B4-BE49-F238E27FC236}">
                <a16:creationId xmlns:a16="http://schemas.microsoft.com/office/drawing/2014/main" id="{678F97EA-AC4C-2098-0682-311BF2D591D5}"/>
              </a:ext>
            </a:extLst>
          </p:cNvPr>
          <p:cNvSpPr txBox="1"/>
          <p:nvPr/>
        </p:nvSpPr>
        <p:spPr>
          <a:xfrm>
            <a:off x="7744761" y="3221541"/>
            <a:ext cx="14196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i="1" dirty="0" err="1"/>
              <a:t>scale</a:t>
            </a:r>
            <a:r>
              <a:rPr lang="pt-BR" i="1" dirty="0"/>
              <a:t> </a:t>
            </a:r>
            <a:r>
              <a:rPr lang="pt-BR" dirty="0"/>
              <a:t>e</a:t>
            </a:r>
            <a:r>
              <a:rPr lang="pt-BR" i="1" dirty="0"/>
              <a:t> shift</a:t>
            </a:r>
          </a:p>
        </p:txBody>
      </p:sp>
      <p:sp>
        <p:nvSpPr>
          <p:cNvPr id="1045" name="TextBox 1044">
            <a:extLst>
              <a:ext uri="{FF2B5EF4-FFF2-40B4-BE49-F238E27FC236}">
                <a16:creationId xmlns:a16="http://schemas.microsoft.com/office/drawing/2014/main" id="{CD1A54F1-C48E-AD37-28DD-9F50E2C12F40}"/>
              </a:ext>
            </a:extLst>
          </p:cNvPr>
          <p:cNvSpPr txBox="1"/>
          <p:nvPr/>
        </p:nvSpPr>
        <p:spPr>
          <a:xfrm>
            <a:off x="5118847" y="2734821"/>
            <a:ext cx="196049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i="1" dirty="0"/>
              <a:t>batch </a:t>
            </a:r>
            <a:r>
              <a:rPr lang="pt-BR" sz="2800" i="1" dirty="0" err="1"/>
              <a:t>norm</a:t>
            </a:r>
            <a:endParaRPr lang="pt-BR" sz="2800" i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46" name="Rectangle 1045">
                <a:extLst>
                  <a:ext uri="{FF2B5EF4-FFF2-40B4-BE49-F238E27FC236}">
                    <a16:creationId xmlns:a16="http://schemas.microsoft.com/office/drawing/2014/main" id="{D41B99D9-8747-0A9B-82B4-72458674E90E}"/>
                  </a:ext>
                </a:extLst>
              </p:cNvPr>
              <p:cNvSpPr/>
              <p:nvPr/>
            </p:nvSpPr>
            <p:spPr>
              <a:xfrm>
                <a:off x="3167535" y="5771408"/>
                <a:ext cx="424826" cy="319177"/>
              </a:xfrm>
              <a:prstGeom prst="rect">
                <a:avLst/>
              </a:prstGeom>
              <a:solidFill>
                <a:srgbClr val="0070C0"/>
              </a:solidFill>
            </p:spPr>
            <p:style>
              <a:lnRef idx="2">
                <a:schemeClr val="accent5">
                  <a:shade val="15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1046" name="Rectangle 1045">
                <a:extLst>
                  <a:ext uri="{FF2B5EF4-FFF2-40B4-BE49-F238E27FC236}">
                    <a16:creationId xmlns:a16="http://schemas.microsoft.com/office/drawing/2014/main" id="{D41B99D9-8747-0A9B-82B4-72458674E90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67535" y="5771408"/>
                <a:ext cx="424826" cy="319177"/>
              </a:xfrm>
              <a:prstGeom prst="rect">
                <a:avLst/>
              </a:prstGeom>
              <a:blipFill>
                <a:blip r:embed="rId19"/>
                <a:stretch>
                  <a:fillRect l="-14085" b="-5556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47" name="Rectangle 1046">
                <a:extLst>
                  <a:ext uri="{FF2B5EF4-FFF2-40B4-BE49-F238E27FC236}">
                    <a16:creationId xmlns:a16="http://schemas.microsoft.com/office/drawing/2014/main" id="{3D5D08D1-C166-C4DA-8567-A11C776C7FC2}"/>
                  </a:ext>
                </a:extLst>
              </p:cNvPr>
              <p:cNvSpPr/>
              <p:nvPr/>
            </p:nvSpPr>
            <p:spPr>
              <a:xfrm>
                <a:off x="3642691" y="5779292"/>
                <a:ext cx="424826" cy="319177"/>
              </a:xfrm>
              <a:prstGeom prst="rect">
                <a:avLst/>
              </a:prstGeom>
              <a:solidFill>
                <a:srgbClr val="0070C0"/>
              </a:solidFill>
            </p:spPr>
            <p:style>
              <a:lnRef idx="2">
                <a:schemeClr val="accent5">
                  <a:shade val="15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1,7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1047" name="Rectangle 1046">
                <a:extLst>
                  <a:ext uri="{FF2B5EF4-FFF2-40B4-BE49-F238E27FC236}">
                    <a16:creationId xmlns:a16="http://schemas.microsoft.com/office/drawing/2014/main" id="{3D5D08D1-C166-C4DA-8567-A11C776C7FC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42691" y="5779292"/>
                <a:ext cx="424826" cy="319177"/>
              </a:xfrm>
              <a:prstGeom prst="rect">
                <a:avLst/>
              </a:prstGeom>
              <a:blipFill>
                <a:blip r:embed="rId20"/>
                <a:stretch>
                  <a:fillRect l="-9859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48" name="Rectangle 1047">
                <a:extLst>
                  <a:ext uri="{FF2B5EF4-FFF2-40B4-BE49-F238E27FC236}">
                    <a16:creationId xmlns:a16="http://schemas.microsoft.com/office/drawing/2014/main" id="{C359048D-8A89-4D4A-9D45-D60AF6954E0E}"/>
                  </a:ext>
                </a:extLst>
              </p:cNvPr>
              <p:cNvSpPr/>
              <p:nvPr/>
            </p:nvSpPr>
            <p:spPr>
              <a:xfrm>
                <a:off x="4117847" y="5779292"/>
                <a:ext cx="424826" cy="319177"/>
              </a:xfrm>
              <a:prstGeom prst="rect">
                <a:avLst/>
              </a:prstGeom>
              <a:solidFill>
                <a:srgbClr val="0070C0"/>
              </a:solidFill>
            </p:spPr>
            <p:style>
              <a:lnRef idx="2">
                <a:schemeClr val="accent5">
                  <a:shade val="15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1048" name="Rectangle 1047">
                <a:extLst>
                  <a:ext uri="{FF2B5EF4-FFF2-40B4-BE49-F238E27FC236}">
                    <a16:creationId xmlns:a16="http://schemas.microsoft.com/office/drawing/2014/main" id="{C359048D-8A89-4D4A-9D45-D60AF6954E0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7847" y="5779292"/>
                <a:ext cx="424826" cy="319177"/>
              </a:xfrm>
              <a:prstGeom prst="rect">
                <a:avLst/>
              </a:prstGeom>
              <a:blipFill>
                <a:blip r:embed="rId21"/>
                <a:stretch>
                  <a:fillRect l="-12500" b="-5556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49" name="Rectangle 1048">
                <a:extLst>
                  <a:ext uri="{FF2B5EF4-FFF2-40B4-BE49-F238E27FC236}">
                    <a16:creationId xmlns:a16="http://schemas.microsoft.com/office/drawing/2014/main" id="{7C7278F0-9DAD-AD89-C5A4-15313BE22F95}"/>
                  </a:ext>
                </a:extLst>
              </p:cNvPr>
              <p:cNvSpPr/>
              <p:nvPr/>
            </p:nvSpPr>
            <p:spPr>
              <a:xfrm>
                <a:off x="4574476" y="5779292"/>
                <a:ext cx="424826" cy="319177"/>
              </a:xfrm>
              <a:prstGeom prst="rect">
                <a:avLst/>
              </a:prstGeom>
              <a:solidFill>
                <a:srgbClr val="0070C0"/>
              </a:solidFill>
            </p:spPr>
            <p:style>
              <a:lnRef idx="2">
                <a:schemeClr val="accent5">
                  <a:shade val="15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1049" name="Rectangle 1048">
                <a:extLst>
                  <a:ext uri="{FF2B5EF4-FFF2-40B4-BE49-F238E27FC236}">
                    <a16:creationId xmlns:a16="http://schemas.microsoft.com/office/drawing/2014/main" id="{7C7278F0-9DAD-AD89-C5A4-15313BE22F9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4476" y="5779292"/>
                <a:ext cx="424826" cy="319177"/>
              </a:xfrm>
              <a:prstGeom prst="rect">
                <a:avLst/>
              </a:prstGeom>
              <a:blipFill>
                <a:blip r:embed="rId22"/>
                <a:stretch>
                  <a:fillRect l="-12500" b="-5556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50" name="Rectangle 1049">
                <a:extLst>
                  <a:ext uri="{FF2B5EF4-FFF2-40B4-BE49-F238E27FC236}">
                    <a16:creationId xmlns:a16="http://schemas.microsoft.com/office/drawing/2014/main" id="{FCD8FE0B-B06D-EDC0-5E76-2548E5E010AD}"/>
                  </a:ext>
                </a:extLst>
              </p:cNvPr>
              <p:cNvSpPr/>
              <p:nvPr/>
            </p:nvSpPr>
            <p:spPr>
              <a:xfrm>
                <a:off x="3167535" y="5385195"/>
                <a:ext cx="424826" cy="319177"/>
              </a:xfrm>
              <a:prstGeom prst="rect">
                <a:avLst/>
              </a:prstGeom>
              <a:solidFill>
                <a:srgbClr val="0070C0"/>
              </a:solidFill>
            </p:spPr>
            <p:style>
              <a:lnRef idx="2">
                <a:schemeClr val="accent5">
                  <a:shade val="15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1050" name="Rectangle 1049">
                <a:extLst>
                  <a:ext uri="{FF2B5EF4-FFF2-40B4-BE49-F238E27FC236}">
                    <a16:creationId xmlns:a16="http://schemas.microsoft.com/office/drawing/2014/main" id="{FCD8FE0B-B06D-EDC0-5E76-2548E5E010A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67535" y="5385195"/>
                <a:ext cx="424826" cy="319177"/>
              </a:xfrm>
              <a:prstGeom prst="rect">
                <a:avLst/>
              </a:prstGeom>
              <a:blipFill>
                <a:blip r:embed="rId23"/>
                <a:stretch>
                  <a:fillRect l="-19718" r="-1408" b="-10909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51" name="Rectangle 1050">
                <a:extLst>
                  <a:ext uri="{FF2B5EF4-FFF2-40B4-BE49-F238E27FC236}">
                    <a16:creationId xmlns:a16="http://schemas.microsoft.com/office/drawing/2014/main" id="{D8DCCF45-9944-0F39-BF4F-41C912D50B0F}"/>
                  </a:ext>
                </a:extLst>
              </p:cNvPr>
              <p:cNvSpPr/>
              <p:nvPr/>
            </p:nvSpPr>
            <p:spPr>
              <a:xfrm>
                <a:off x="3642691" y="5385195"/>
                <a:ext cx="424826" cy="319177"/>
              </a:xfrm>
              <a:prstGeom prst="rect">
                <a:avLst/>
              </a:prstGeom>
              <a:solidFill>
                <a:srgbClr val="0070C0"/>
              </a:solidFill>
            </p:spPr>
            <p:style>
              <a:lnRef idx="2">
                <a:schemeClr val="accent5">
                  <a:shade val="15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1,33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1051" name="Rectangle 1050">
                <a:extLst>
                  <a:ext uri="{FF2B5EF4-FFF2-40B4-BE49-F238E27FC236}">
                    <a16:creationId xmlns:a16="http://schemas.microsoft.com/office/drawing/2014/main" id="{D8DCCF45-9944-0F39-BF4F-41C912D50B0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42691" y="5385195"/>
                <a:ext cx="424826" cy="319177"/>
              </a:xfrm>
              <a:prstGeom prst="rect">
                <a:avLst/>
              </a:prstGeom>
              <a:blipFill>
                <a:blip r:embed="rId24"/>
                <a:stretch>
                  <a:fillRect l="-25352" r="-12676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52" name="Rectangle 1051">
                <a:extLst>
                  <a:ext uri="{FF2B5EF4-FFF2-40B4-BE49-F238E27FC236}">
                    <a16:creationId xmlns:a16="http://schemas.microsoft.com/office/drawing/2014/main" id="{73747D17-DFB5-FDC1-E344-752D4EF174F7}"/>
                  </a:ext>
                </a:extLst>
              </p:cNvPr>
              <p:cNvSpPr/>
              <p:nvPr/>
            </p:nvSpPr>
            <p:spPr>
              <a:xfrm>
                <a:off x="4117847" y="5385195"/>
                <a:ext cx="424826" cy="319177"/>
              </a:xfrm>
              <a:prstGeom prst="rect">
                <a:avLst/>
              </a:prstGeom>
              <a:solidFill>
                <a:srgbClr val="0070C0"/>
              </a:solidFill>
            </p:spPr>
            <p:style>
              <a:lnRef idx="2">
                <a:schemeClr val="accent5">
                  <a:shade val="15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1052" name="Rectangle 1051">
                <a:extLst>
                  <a:ext uri="{FF2B5EF4-FFF2-40B4-BE49-F238E27FC236}">
                    <a16:creationId xmlns:a16="http://schemas.microsoft.com/office/drawing/2014/main" id="{73747D17-DFB5-FDC1-E344-752D4EF174F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7847" y="5385195"/>
                <a:ext cx="424826" cy="319177"/>
              </a:xfrm>
              <a:prstGeom prst="rect">
                <a:avLst/>
              </a:prstGeom>
              <a:blipFill>
                <a:blip r:embed="rId25"/>
                <a:stretch>
                  <a:fillRect l="-18056" r="-1389" b="-10909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53" name="Rectangle 1052">
                <a:extLst>
                  <a:ext uri="{FF2B5EF4-FFF2-40B4-BE49-F238E27FC236}">
                    <a16:creationId xmlns:a16="http://schemas.microsoft.com/office/drawing/2014/main" id="{E525BFFD-C7C4-9348-1446-568ED36A8A8C}"/>
                  </a:ext>
                </a:extLst>
              </p:cNvPr>
              <p:cNvSpPr/>
              <p:nvPr/>
            </p:nvSpPr>
            <p:spPr>
              <a:xfrm>
                <a:off x="4574476" y="5383573"/>
                <a:ext cx="424826" cy="319177"/>
              </a:xfrm>
              <a:prstGeom prst="rect">
                <a:avLst/>
              </a:prstGeom>
              <a:solidFill>
                <a:srgbClr val="0070C0"/>
              </a:solidFill>
            </p:spPr>
            <p:style>
              <a:lnRef idx="2">
                <a:schemeClr val="accent5">
                  <a:shade val="15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1053" name="Rectangle 1052">
                <a:extLst>
                  <a:ext uri="{FF2B5EF4-FFF2-40B4-BE49-F238E27FC236}">
                    <a16:creationId xmlns:a16="http://schemas.microsoft.com/office/drawing/2014/main" id="{E525BFFD-C7C4-9348-1446-568ED36A8A8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4476" y="5383573"/>
                <a:ext cx="424826" cy="319177"/>
              </a:xfrm>
              <a:prstGeom prst="rect">
                <a:avLst/>
              </a:prstGeom>
              <a:blipFill>
                <a:blip r:embed="rId26"/>
                <a:stretch>
                  <a:fillRect l="-18056" r="-1389" b="-1111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54" name="Rectangle 1053">
            <a:extLst>
              <a:ext uri="{FF2B5EF4-FFF2-40B4-BE49-F238E27FC236}">
                <a16:creationId xmlns:a16="http://schemas.microsoft.com/office/drawing/2014/main" id="{DD92244D-7A23-91B7-1294-C5EFEFCFA14E}"/>
              </a:ext>
            </a:extLst>
          </p:cNvPr>
          <p:cNvSpPr/>
          <p:nvPr/>
        </p:nvSpPr>
        <p:spPr>
          <a:xfrm>
            <a:off x="3071389" y="4977559"/>
            <a:ext cx="2033051" cy="1226690"/>
          </a:xfrm>
          <a:prstGeom prst="rect">
            <a:avLst/>
          </a:prstGeom>
          <a:noFill/>
          <a:ln w="1905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55" name="TextBox 1054">
            <a:extLst>
              <a:ext uri="{FF2B5EF4-FFF2-40B4-BE49-F238E27FC236}">
                <a16:creationId xmlns:a16="http://schemas.microsoft.com/office/drawing/2014/main" id="{1BCC8390-7469-D90B-8130-44CEB6839792}"/>
              </a:ext>
            </a:extLst>
          </p:cNvPr>
          <p:cNvSpPr txBox="1"/>
          <p:nvPr/>
        </p:nvSpPr>
        <p:spPr>
          <a:xfrm>
            <a:off x="3071390" y="5005674"/>
            <a:ext cx="16760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i="1" dirty="0" err="1"/>
              <a:t>moving</a:t>
            </a:r>
            <a:r>
              <a:rPr lang="pt-BR" sz="1600" i="1" dirty="0"/>
              <a:t> </a:t>
            </a:r>
            <a:r>
              <a:rPr lang="pt-BR" sz="1600" i="1" dirty="0" err="1"/>
              <a:t>averages</a:t>
            </a:r>
            <a:endParaRPr lang="pt-BR" sz="1600" i="1" dirty="0"/>
          </a:p>
        </p:txBody>
      </p:sp>
      <p:sp>
        <p:nvSpPr>
          <p:cNvPr id="1059" name="Rectangle 1058">
            <a:extLst>
              <a:ext uri="{FF2B5EF4-FFF2-40B4-BE49-F238E27FC236}">
                <a16:creationId xmlns:a16="http://schemas.microsoft.com/office/drawing/2014/main" id="{5944823A-F47B-DD1F-EE7E-2B36E2F43501}"/>
              </a:ext>
            </a:extLst>
          </p:cNvPr>
          <p:cNvSpPr/>
          <p:nvPr/>
        </p:nvSpPr>
        <p:spPr>
          <a:xfrm>
            <a:off x="8038596" y="3590874"/>
            <a:ext cx="327518" cy="831522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61" name="Rectangle 1060">
            <a:extLst>
              <a:ext uri="{FF2B5EF4-FFF2-40B4-BE49-F238E27FC236}">
                <a16:creationId xmlns:a16="http://schemas.microsoft.com/office/drawing/2014/main" id="{A8AB8CE9-6B4D-6269-0334-5030EF517CB8}"/>
              </a:ext>
            </a:extLst>
          </p:cNvPr>
          <p:cNvSpPr/>
          <p:nvPr/>
        </p:nvSpPr>
        <p:spPr>
          <a:xfrm>
            <a:off x="3624164" y="5347621"/>
            <a:ext cx="461880" cy="777720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9F11EEC-6354-8CE7-C8D6-FDB94FC292DE}"/>
              </a:ext>
            </a:extLst>
          </p:cNvPr>
          <p:cNvSpPr/>
          <p:nvPr/>
        </p:nvSpPr>
        <p:spPr>
          <a:xfrm>
            <a:off x="5271186" y="4027126"/>
            <a:ext cx="468000" cy="319177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0286FB88-D95D-5C00-BDE1-CDA3675A1FF8}"/>
                  </a:ext>
                </a:extLst>
              </p:cNvPr>
              <p:cNvSpPr/>
              <p:nvPr/>
            </p:nvSpPr>
            <p:spPr>
              <a:xfrm>
                <a:off x="5761515" y="4027126"/>
                <a:ext cx="468000" cy="319177"/>
              </a:xfrm>
              <a:prstGeom prst="rect">
                <a:avLst/>
              </a:prstGeom>
              <a:solidFill>
                <a:srgbClr val="FFFF00"/>
              </a:solidFill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−1,37</m:t>
                      </m:r>
                    </m:oMath>
                  </m:oMathPara>
                </a14:m>
                <a:endParaRPr lang="pt-BR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0286FB88-D95D-5C00-BDE1-CDA3675A1FF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61515" y="4027126"/>
                <a:ext cx="468000" cy="319177"/>
              </a:xfrm>
              <a:prstGeom prst="rect">
                <a:avLst/>
              </a:prstGeom>
              <a:blipFill>
                <a:blip r:embed="rId27"/>
                <a:stretch>
                  <a:fillRect l="-8861" r="-6329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ectangle 9">
            <a:extLst>
              <a:ext uri="{FF2B5EF4-FFF2-40B4-BE49-F238E27FC236}">
                <a16:creationId xmlns:a16="http://schemas.microsoft.com/office/drawing/2014/main" id="{5647B996-D0DC-54BF-68A3-6E01BD9FAAA3}"/>
              </a:ext>
            </a:extLst>
          </p:cNvPr>
          <p:cNvSpPr/>
          <p:nvPr/>
        </p:nvSpPr>
        <p:spPr>
          <a:xfrm>
            <a:off x="6251844" y="4027126"/>
            <a:ext cx="468000" cy="319177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4484A77-4271-07C2-12DB-D591874370FB}"/>
              </a:ext>
            </a:extLst>
          </p:cNvPr>
          <p:cNvSpPr/>
          <p:nvPr/>
        </p:nvSpPr>
        <p:spPr>
          <a:xfrm>
            <a:off x="6742173" y="4027126"/>
            <a:ext cx="468000" cy="319177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FDFC7C0-8059-3ACA-F747-DED452BF2EDB}"/>
              </a:ext>
            </a:extLst>
          </p:cNvPr>
          <p:cNvSpPr/>
          <p:nvPr/>
        </p:nvSpPr>
        <p:spPr>
          <a:xfrm>
            <a:off x="5271186" y="4367071"/>
            <a:ext cx="468000" cy="319177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DAFB020C-C53B-7351-D272-EEE1B1E41625}"/>
                  </a:ext>
                </a:extLst>
              </p:cNvPr>
              <p:cNvSpPr/>
              <p:nvPr/>
            </p:nvSpPr>
            <p:spPr>
              <a:xfrm>
                <a:off x="5761515" y="4367071"/>
                <a:ext cx="468000" cy="319177"/>
              </a:xfrm>
              <a:prstGeom prst="rect">
                <a:avLst/>
              </a:prstGeom>
              <a:solidFill>
                <a:srgbClr val="FFFF00"/>
              </a:solidFill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0,39</m:t>
                      </m:r>
                    </m:oMath>
                  </m:oMathPara>
                </a14:m>
                <a:endParaRPr lang="pt-BR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DAFB020C-C53B-7351-D272-EEE1B1E4162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61515" y="4367071"/>
                <a:ext cx="468000" cy="319177"/>
              </a:xfrm>
              <a:prstGeom prst="rect">
                <a:avLst/>
              </a:prstGeom>
              <a:blipFill>
                <a:blip r:embed="rId28"/>
                <a:stretch>
                  <a:fillRect l="-886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Rectangle 25">
            <a:extLst>
              <a:ext uri="{FF2B5EF4-FFF2-40B4-BE49-F238E27FC236}">
                <a16:creationId xmlns:a16="http://schemas.microsoft.com/office/drawing/2014/main" id="{306175DC-D122-3A23-6F03-6ED3FF128978}"/>
              </a:ext>
            </a:extLst>
          </p:cNvPr>
          <p:cNvSpPr/>
          <p:nvPr/>
        </p:nvSpPr>
        <p:spPr>
          <a:xfrm>
            <a:off x="6251844" y="4367071"/>
            <a:ext cx="468000" cy="319177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AC6C62D-8D61-7095-9F6A-20A917B54E5B}"/>
              </a:ext>
            </a:extLst>
          </p:cNvPr>
          <p:cNvSpPr/>
          <p:nvPr/>
        </p:nvSpPr>
        <p:spPr>
          <a:xfrm>
            <a:off x="6742173" y="4367071"/>
            <a:ext cx="468000" cy="319177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3C5FBA3-4845-20C7-5AB5-C26226AE6C67}"/>
              </a:ext>
            </a:extLst>
          </p:cNvPr>
          <p:cNvSpPr/>
          <p:nvPr/>
        </p:nvSpPr>
        <p:spPr>
          <a:xfrm>
            <a:off x="9912498" y="3776054"/>
            <a:ext cx="468000" cy="319177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53E7BCEF-7560-BBDE-62DD-5794D7A4853A}"/>
                  </a:ext>
                </a:extLst>
              </p:cNvPr>
              <p:cNvSpPr/>
              <p:nvPr/>
            </p:nvSpPr>
            <p:spPr>
              <a:xfrm>
                <a:off x="10402827" y="3776054"/>
                <a:ext cx="468000" cy="319177"/>
              </a:xfrm>
              <a:prstGeom prst="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9</m:t>
                      </m:r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6</m:t>
                      </m:r>
                    </m:oMath>
                  </m:oMathPara>
                </a14:m>
                <a:endParaRPr lang="pt-BR" sz="14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53E7BCEF-7560-BBDE-62DD-5794D7A4853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02827" y="3776054"/>
                <a:ext cx="468000" cy="319177"/>
              </a:xfrm>
              <a:prstGeom prst="rect">
                <a:avLst/>
              </a:prstGeom>
              <a:blipFill>
                <a:blip r:embed="rId29"/>
                <a:stretch>
                  <a:fillRect l="-2564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26" name="Rectangle 1025">
            <a:extLst>
              <a:ext uri="{FF2B5EF4-FFF2-40B4-BE49-F238E27FC236}">
                <a16:creationId xmlns:a16="http://schemas.microsoft.com/office/drawing/2014/main" id="{7EB84432-A73B-0F7D-9274-8F1213C79CCE}"/>
              </a:ext>
            </a:extLst>
          </p:cNvPr>
          <p:cNvSpPr/>
          <p:nvPr/>
        </p:nvSpPr>
        <p:spPr>
          <a:xfrm>
            <a:off x="10893156" y="3776054"/>
            <a:ext cx="468000" cy="319177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38" name="Rectangle 1037">
            <a:extLst>
              <a:ext uri="{FF2B5EF4-FFF2-40B4-BE49-F238E27FC236}">
                <a16:creationId xmlns:a16="http://schemas.microsoft.com/office/drawing/2014/main" id="{14C4F4E2-171B-8C83-E123-E991D6133B64}"/>
              </a:ext>
            </a:extLst>
          </p:cNvPr>
          <p:cNvSpPr/>
          <p:nvPr/>
        </p:nvSpPr>
        <p:spPr>
          <a:xfrm>
            <a:off x="11383485" y="3776054"/>
            <a:ext cx="468000" cy="319177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43" name="Rectangle 1042">
            <a:extLst>
              <a:ext uri="{FF2B5EF4-FFF2-40B4-BE49-F238E27FC236}">
                <a16:creationId xmlns:a16="http://schemas.microsoft.com/office/drawing/2014/main" id="{30228EB1-33E9-4AF4-356F-81837378979B}"/>
              </a:ext>
            </a:extLst>
          </p:cNvPr>
          <p:cNvSpPr/>
          <p:nvPr/>
        </p:nvSpPr>
        <p:spPr>
          <a:xfrm>
            <a:off x="9912498" y="4118266"/>
            <a:ext cx="468000" cy="319177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62" name="Rectangle 1061">
                <a:extLst>
                  <a:ext uri="{FF2B5EF4-FFF2-40B4-BE49-F238E27FC236}">
                    <a16:creationId xmlns:a16="http://schemas.microsoft.com/office/drawing/2014/main" id="{0EDBCDB4-513E-9F95-321B-12EEDA929E7F}"/>
                  </a:ext>
                </a:extLst>
              </p:cNvPr>
              <p:cNvSpPr/>
              <p:nvPr/>
            </p:nvSpPr>
            <p:spPr>
              <a:xfrm>
                <a:off x="10402827" y="4118266"/>
                <a:ext cx="468000" cy="319177"/>
              </a:xfrm>
              <a:prstGeom prst="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−1,74</m:t>
                      </m:r>
                    </m:oMath>
                  </m:oMathPara>
                </a14:m>
                <a:endParaRPr lang="pt-BR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62" name="Rectangle 1061">
                <a:extLst>
                  <a:ext uri="{FF2B5EF4-FFF2-40B4-BE49-F238E27FC236}">
                    <a16:creationId xmlns:a16="http://schemas.microsoft.com/office/drawing/2014/main" id="{0EDBCDB4-513E-9F95-321B-12EEDA929E7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02827" y="4118266"/>
                <a:ext cx="468000" cy="319177"/>
              </a:xfrm>
              <a:prstGeom prst="rect">
                <a:avLst/>
              </a:prstGeom>
              <a:blipFill>
                <a:blip r:embed="rId30"/>
                <a:stretch>
                  <a:fillRect l="-10256" r="-641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63" name="Rectangle 1062">
            <a:extLst>
              <a:ext uri="{FF2B5EF4-FFF2-40B4-BE49-F238E27FC236}">
                <a16:creationId xmlns:a16="http://schemas.microsoft.com/office/drawing/2014/main" id="{AD5AB29B-F00F-00A1-142A-9ED063851743}"/>
              </a:ext>
            </a:extLst>
          </p:cNvPr>
          <p:cNvSpPr/>
          <p:nvPr/>
        </p:nvSpPr>
        <p:spPr>
          <a:xfrm>
            <a:off x="10893156" y="4118266"/>
            <a:ext cx="468000" cy="319177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64" name="Rectangle 1063">
            <a:extLst>
              <a:ext uri="{FF2B5EF4-FFF2-40B4-BE49-F238E27FC236}">
                <a16:creationId xmlns:a16="http://schemas.microsoft.com/office/drawing/2014/main" id="{2F8C8BC1-EC49-51B1-3D9B-A37EB7A6EDA2}"/>
              </a:ext>
            </a:extLst>
          </p:cNvPr>
          <p:cNvSpPr/>
          <p:nvPr/>
        </p:nvSpPr>
        <p:spPr>
          <a:xfrm>
            <a:off x="11383485" y="4118266"/>
            <a:ext cx="468000" cy="319177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65" name="Rectangle 1064">
            <a:extLst>
              <a:ext uri="{FF2B5EF4-FFF2-40B4-BE49-F238E27FC236}">
                <a16:creationId xmlns:a16="http://schemas.microsoft.com/office/drawing/2014/main" id="{635594EA-F3FA-DB31-4178-1ACF6170442F}"/>
              </a:ext>
            </a:extLst>
          </p:cNvPr>
          <p:cNvSpPr/>
          <p:nvPr/>
        </p:nvSpPr>
        <p:spPr>
          <a:xfrm>
            <a:off x="9912498" y="4458211"/>
            <a:ext cx="468000" cy="319177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66" name="Rectangle 1065">
                <a:extLst>
                  <a:ext uri="{FF2B5EF4-FFF2-40B4-BE49-F238E27FC236}">
                    <a16:creationId xmlns:a16="http://schemas.microsoft.com/office/drawing/2014/main" id="{893AC88F-5D92-4D11-0E95-B177E607821F}"/>
                  </a:ext>
                </a:extLst>
              </p:cNvPr>
              <p:cNvSpPr/>
              <p:nvPr/>
            </p:nvSpPr>
            <p:spPr>
              <a:xfrm>
                <a:off x="10402827" y="4458211"/>
                <a:ext cx="468000" cy="319177"/>
              </a:xfrm>
              <a:prstGeom prst="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1,78</m:t>
                      </m:r>
                    </m:oMath>
                  </m:oMathPara>
                </a14:m>
                <a:endParaRPr lang="pt-BR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66" name="Rectangle 1065">
                <a:extLst>
                  <a:ext uri="{FF2B5EF4-FFF2-40B4-BE49-F238E27FC236}">
                    <a16:creationId xmlns:a16="http://schemas.microsoft.com/office/drawing/2014/main" id="{893AC88F-5D92-4D11-0E95-B177E607821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02827" y="4458211"/>
                <a:ext cx="468000" cy="319177"/>
              </a:xfrm>
              <a:prstGeom prst="rect">
                <a:avLst/>
              </a:prstGeom>
              <a:blipFill>
                <a:blip r:embed="rId31"/>
                <a:stretch>
                  <a:fillRect l="-2564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67" name="Rectangle 1066">
            <a:extLst>
              <a:ext uri="{FF2B5EF4-FFF2-40B4-BE49-F238E27FC236}">
                <a16:creationId xmlns:a16="http://schemas.microsoft.com/office/drawing/2014/main" id="{43C1F803-7906-80F1-B615-3D0BF4750B9E}"/>
              </a:ext>
            </a:extLst>
          </p:cNvPr>
          <p:cNvSpPr/>
          <p:nvPr/>
        </p:nvSpPr>
        <p:spPr>
          <a:xfrm>
            <a:off x="10893156" y="4458211"/>
            <a:ext cx="468000" cy="319177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68" name="Rectangle 1067">
            <a:extLst>
              <a:ext uri="{FF2B5EF4-FFF2-40B4-BE49-F238E27FC236}">
                <a16:creationId xmlns:a16="http://schemas.microsoft.com/office/drawing/2014/main" id="{3E137B0E-D441-C30F-4938-076EC892CF52}"/>
              </a:ext>
            </a:extLst>
          </p:cNvPr>
          <p:cNvSpPr/>
          <p:nvPr/>
        </p:nvSpPr>
        <p:spPr>
          <a:xfrm>
            <a:off x="11383485" y="4458211"/>
            <a:ext cx="468000" cy="319177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69" name="Rectangle 1068">
            <a:extLst>
              <a:ext uri="{FF2B5EF4-FFF2-40B4-BE49-F238E27FC236}">
                <a16:creationId xmlns:a16="http://schemas.microsoft.com/office/drawing/2014/main" id="{4090E3C8-34FE-2AA6-A7DD-DDA51739802C}"/>
              </a:ext>
            </a:extLst>
          </p:cNvPr>
          <p:cNvSpPr/>
          <p:nvPr/>
        </p:nvSpPr>
        <p:spPr>
          <a:xfrm>
            <a:off x="659373" y="3574146"/>
            <a:ext cx="377181" cy="1110482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70" name="Rectangle 1069">
            <a:extLst>
              <a:ext uri="{FF2B5EF4-FFF2-40B4-BE49-F238E27FC236}">
                <a16:creationId xmlns:a16="http://schemas.microsoft.com/office/drawing/2014/main" id="{2DB302CB-CC06-425D-AC40-CA797C546AF1}"/>
              </a:ext>
            </a:extLst>
          </p:cNvPr>
          <p:cNvSpPr/>
          <p:nvPr/>
        </p:nvSpPr>
        <p:spPr>
          <a:xfrm>
            <a:off x="3143755" y="3618829"/>
            <a:ext cx="550621" cy="803567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71" name="Rectangle 1070">
            <a:extLst>
              <a:ext uri="{FF2B5EF4-FFF2-40B4-BE49-F238E27FC236}">
                <a16:creationId xmlns:a16="http://schemas.microsoft.com/office/drawing/2014/main" id="{8D5B7116-BAC6-49ED-E7D0-3708E57397F6}"/>
              </a:ext>
            </a:extLst>
          </p:cNvPr>
          <p:cNvSpPr/>
          <p:nvPr/>
        </p:nvSpPr>
        <p:spPr>
          <a:xfrm>
            <a:off x="5720204" y="3654644"/>
            <a:ext cx="550621" cy="1029984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72" name="Rectangle 1071">
            <a:extLst>
              <a:ext uri="{FF2B5EF4-FFF2-40B4-BE49-F238E27FC236}">
                <a16:creationId xmlns:a16="http://schemas.microsoft.com/office/drawing/2014/main" id="{F3CD0E10-0DBA-848F-415A-837294838A46}"/>
              </a:ext>
            </a:extLst>
          </p:cNvPr>
          <p:cNvSpPr/>
          <p:nvPr/>
        </p:nvSpPr>
        <p:spPr>
          <a:xfrm>
            <a:off x="10348937" y="3692489"/>
            <a:ext cx="550621" cy="1187853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1F1FB6DD-64DD-0107-8311-70193EDB1FFF}"/>
                  </a:ext>
                </a:extLst>
              </p:cNvPr>
              <p:cNvSpPr txBox="1"/>
              <p:nvPr/>
            </p:nvSpPr>
            <p:spPr>
              <a:xfrm>
                <a:off x="785004" y="1697830"/>
                <a:ext cx="10506973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pt-BR" sz="2400" dirty="0"/>
                  <a:t>Os dados padronizados são atualizados conforme a media e desvio padrão aprendidos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𝛾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endParaRPr lang="pt-BR" sz="2400" i="1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1F1FB6DD-64DD-0107-8311-70193EDB1F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5004" y="1697830"/>
                <a:ext cx="10506973" cy="830997"/>
              </a:xfrm>
              <a:prstGeom prst="rect">
                <a:avLst/>
              </a:prstGeom>
              <a:blipFill>
                <a:blip r:embed="rId32"/>
                <a:stretch>
                  <a:fillRect l="-813" t="-5882" b="-16176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Rectangle 30">
            <a:extLst>
              <a:ext uri="{FF2B5EF4-FFF2-40B4-BE49-F238E27FC236}">
                <a16:creationId xmlns:a16="http://schemas.microsoft.com/office/drawing/2014/main" id="{5A366450-3171-AF2E-1173-5566DAB49973}"/>
              </a:ext>
            </a:extLst>
          </p:cNvPr>
          <p:cNvSpPr/>
          <p:nvPr/>
        </p:nvSpPr>
        <p:spPr>
          <a:xfrm>
            <a:off x="2696504" y="4738858"/>
            <a:ext cx="2574682" cy="1590098"/>
          </a:xfrm>
          <a:prstGeom prst="rect">
            <a:avLst/>
          </a:prstGeom>
          <a:solidFill>
            <a:srgbClr val="DAE3F3">
              <a:alpha val="94902"/>
            </a:srgbClr>
          </a:solidFill>
          <a:ln>
            <a:noFill/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5491762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9" name="Rectangle: Rounded Corners 1038">
            <a:extLst>
              <a:ext uri="{FF2B5EF4-FFF2-40B4-BE49-F238E27FC236}">
                <a16:creationId xmlns:a16="http://schemas.microsoft.com/office/drawing/2014/main" id="{206AFDD9-1F26-000E-6015-4C8FEC37AF5D}"/>
              </a:ext>
            </a:extLst>
          </p:cNvPr>
          <p:cNvSpPr/>
          <p:nvPr/>
        </p:nvSpPr>
        <p:spPr>
          <a:xfrm>
            <a:off x="2438654" y="2789051"/>
            <a:ext cx="6838658" cy="3545153"/>
          </a:xfrm>
          <a:prstGeom prst="roundRect">
            <a:avLst>
              <a:gd name="adj" fmla="val 7217"/>
            </a:avLst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839EA5-D312-93A9-B084-C39FADB337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Batch Norm - Exemplo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CAE728-17C8-60F0-FE58-26D37AFA3C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41</a:t>
            </a:fld>
            <a:endParaRPr lang="pt-BR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BC3EE46-2D0B-78F6-C106-1216F939EDF9}"/>
              </a:ext>
            </a:extLst>
          </p:cNvPr>
          <p:cNvSpPr txBox="1"/>
          <p:nvPr/>
        </p:nvSpPr>
        <p:spPr>
          <a:xfrm>
            <a:off x="0" y="6582975"/>
            <a:ext cx="956453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200" dirty="0"/>
              <a:t>Fonte imagem: https://towardsdatascience.com/batch-norm-explained-visually-how-it-works-and-why-neural-networks-need-it-b18919692739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B10146F-6A3C-E9EB-51F7-56358628A632}"/>
              </a:ext>
            </a:extLst>
          </p:cNvPr>
          <p:cNvSpPr/>
          <p:nvPr/>
        </p:nvSpPr>
        <p:spPr>
          <a:xfrm>
            <a:off x="337871" y="4322032"/>
            <a:ext cx="319177" cy="319177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7FF3EE-CA26-EC19-BD8E-FA5C86DAEEB0}"/>
              </a:ext>
            </a:extLst>
          </p:cNvPr>
          <p:cNvSpPr/>
          <p:nvPr/>
        </p:nvSpPr>
        <p:spPr>
          <a:xfrm>
            <a:off x="674600" y="4322032"/>
            <a:ext cx="375688" cy="319177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2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C8BA06A-F643-7ACB-4AFA-E9ADA6154FFB}"/>
              </a:ext>
            </a:extLst>
          </p:cNvPr>
          <p:cNvSpPr/>
          <p:nvPr/>
        </p:nvSpPr>
        <p:spPr>
          <a:xfrm>
            <a:off x="1064694" y="4320147"/>
            <a:ext cx="319177" cy="319177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75DDA18-6DF6-F035-0D03-265ED01685BD}"/>
              </a:ext>
            </a:extLst>
          </p:cNvPr>
          <p:cNvSpPr/>
          <p:nvPr/>
        </p:nvSpPr>
        <p:spPr>
          <a:xfrm>
            <a:off x="1404598" y="4320146"/>
            <a:ext cx="319177" cy="319177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C1E78E6-2EE3-F5D9-A92A-295464DE9863}"/>
              </a:ext>
            </a:extLst>
          </p:cNvPr>
          <p:cNvSpPr/>
          <p:nvPr/>
        </p:nvSpPr>
        <p:spPr>
          <a:xfrm>
            <a:off x="337871" y="3959436"/>
            <a:ext cx="319177" cy="319177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662516E-2EF8-ED53-D25C-F8285584E3D8}"/>
              </a:ext>
            </a:extLst>
          </p:cNvPr>
          <p:cNvSpPr/>
          <p:nvPr/>
        </p:nvSpPr>
        <p:spPr>
          <a:xfrm>
            <a:off x="674600" y="3959436"/>
            <a:ext cx="375688" cy="319177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-1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1645738-3C6E-1A0A-B8F0-64A182A07F99}"/>
              </a:ext>
            </a:extLst>
          </p:cNvPr>
          <p:cNvSpPr/>
          <p:nvPr/>
        </p:nvSpPr>
        <p:spPr>
          <a:xfrm>
            <a:off x="1064694" y="3957551"/>
            <a:ext cx="319177" cy="319177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8D43920-4369-388A-9E74-7B6AF0D1EE55}"/>
              </a:ext>
            </a:extLst>
          </p:cNvPr>
          <p:cNvSpPr/>
          <p:nvPr/>
        </p:nvSpPr>
        <p:spPr>
          <a:xfrm>
            <a:off x="1404598" y="3957550"/>
            <a:ext cx="319177" cy="319177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C95A93A-E7BC-C5AF-7462-13DACB311257}"/>
              </a:ext>
            </a:extLst>
          </p:cNvPr>
          <p:cNvSpPr/>
          <p:nvPr/>
        </p:nvSpPr>
        <p:spPr>
          <a:xfrm>
            <a:off x="337871" y="3596840"/>
            <a:ext cx="319177" cy="319177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69463FB-E674-6629-3672-CD3F6CD4A541}"/>
              </a:ext>
            </a:extLst>
          </p:cNvPr>
          <p:cNvSpPr/>
          <p:nvPr/>
        </p:nvSpPr>
        <p:spPr>
          <a:xfrm>
            <a:off x="674600" y="3596840"/>
            <a:ext cx="375688" cy="319177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3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2926178-20B9-CB69-D5F9-3A635322357A}"/>
              </a:ext>
            </a:extLst>
          </p:cNvPr>
          <p:cNvSpPr/>
          <p:nvPr/>
        </p:nvSpPr>
        <p:spPr>
          <a:xfrm>
            <a:off x="1064694" y="3594955"/>
            <a:ext cx="319177" cy="319177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0C263CE-A8A2-A35B-AB10-FC893977635A}"/>
              </a:ext>
            </a:extLst>
          </p:cNvPr>
          <p:cNvSpPr/>
          <p:nvPr/>
        </p:nvSpPr>
        <p:spPr>
          <a:xfrm>
            <a:off x="1404598" y="3594954"/>
            <a:ext cx="319177" cy="319177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D341D891-C4A6-BBD1-C92A-0143C1BC86D2}"/>
              </a:ext>
            </a:extLst>
          </p:cNvPr>
          <p:cNvCxnSpPr>
            <a:cxnSpLocks/>
          </p:cNvCxnSpPr>
          <p:nvPr/>
        </p:nvCxnSpPr>
        <p:spPr>
          <a:xfrm>
            <a:off x="325920" y="3472419"/>
            <a:ext cx="1347665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6E578679-F5D5-D099-1219-024994E4CEB5}"/>
              </a:ext>
            </a:extLst>
          </p:cNvPr>
          <p:cNvSpPr txBox="1"/>
          <p:nvPr/>
        </p:nvSpPr>
        <p:spPr>
          <a:xfrm>
            <a:off x="337871" y="3059668"/>
            <a:ext cx="9544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/>
              <a:t>features</a:t>
            </a:r>
            <a:endParaRPr lang="pt-BR" dirty="0"/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1ACF99AE-33B4-94A6-B2D2-B8C963B09196}"/>
              </a:ext>
            </a:extLst>
          </p:cNvPr>
          <p:cNvCxnSpPr>
            <a:cxnSpLocks/>
          </p:cNvCxnSpPr>
          <p:nvPr/>
        </p:nvCxnSpPr>
        <p:spPr>
          <a:xfrm>
            <a:off x="165928" y="3596839"/>
            <a:ext cx="0" cy="1044369"/>
          </a:xfrm>
          <a:prstGeom prst="straightConnector1">
            <a:avLst/>
          </a:prstGeom>
          <a:ln w="28575">
            <a:solidFill>
              <a:srgbClr val="0070C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614DAD50-672D-7F4F-B671-E0EF74F88BCC}"/>
                  </a:ext>
                </a:extLst>
              </p:cNvPr>
              <p:cNvSpPr/>
              <p:nvPr/>
            </p:nvSpPr>
            <p:spPr>
              <a:xfrm>
                <a:off x="2706730" y="4047895"/>
                <a:ext cx="468000" cy="319177"/>
              </a:xfrm>
              <a:prstGeom prst="rect">
                <a:avLst/>
              </a:prstGeom>
            </p:spPr>
            <p:style>
              <a:lnRef idx="2">
                <a:schemeClr val="accent5">
                  <a:shade val="15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614DAD50-672D-7F4F-B671-E0EF74F88BC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06730" y="4047895"/>
                <a:ext cx="468000" cy="319177"/>
              </a:xfrm>
              <a:prstGeom prst="rect">
                <a:avLst/>
              </a:prstGeom>
              <a:blipFill>
                <a:blip r:embed="rId2"/>
                <a:stretch>
                  <a:fillRect b="-5556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FB67D806-D665-EA8A-9981-6AB16DE7E82D}"/>
                  </a:ext>
                </a:extLst>
              </p:cNvPr>
              <p:cNvSpPr/>
              <p:nvPr/>
            </p:nvSpPr>
            <p:spPr>
              <a:xfrm>
                <a:off x="3202565" y="4047895"/>
                <a:ext cx="468000" cy="319177"/>
              </a:xfrm>
              <a:prstGeom prst="rect">
                <a:avLst/>
              </a:prstGeom>
            </p:spPr>
            <p:style>
              <a:lnRef idx="2">
                <a:schemeClr val="accent5">
                  <a:shade val="15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1,7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FB67D806-D665-EA8A-9981-6AB16DE7E82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2565" y="4047895"/>
                <a:ext cx="468000" cy="319177"/>
              </a:xfrm>
              <a:prstGeom prst="rect">
                <a:avLst/>
              </a:prstGeom>
              <a:blipFill>
                <a:blip r:embed="rId3"/>
                <a:stretch>
                  <a:fillRect l="-379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35568E5A-3F79-2331-A1AD-32935F21918D}"/>
                  </a:ext>
                </a:extLst>
              </p:cNvPr>
              <p:cNvSpPr/>
              <p:nvPr/>
            </p:nvSpPr>
            <p:spPr>
              <a:xfrm>
                <a:off x="3698400" y="4047895"/>
                <a:ext cx="468000" cy="319177"/>
              </a:xfrm>
              <a:prstGeom prst="rect">
                <a:avLst/>
              </a:prstGeom>
            </p:spPr>
            <p:style>
              <a:lnRef idx="2">
                <a:schemeClr val="accent5">
                  <a:shade val="15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35568E5A-3F79-2331-A1AD-32935F21918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98400" y="4047895"/>
                <a:ext cx="468000" cy="319177"/>
              </a:xfrm>
              <a:prstGeom prst="rect">
                <a:avLst/>
              </a:prstGeom>
              <a:blipFill>
                <a:blip r:embed="rId4"/>
                <a:stretch>
                  <a:fillRect b="-5556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DEA5C93A-485F-A60E-719C-35A41744DA0B}"/>
                  </a:ext>
                </a:extLst>
              </p:cNvPr>
              <p:cNvSpPr/>
              <p:nvPr/>
            </p:nvSpPr>
            <p:spPr>
              <a:xfrm>
                <a:off x="4194234" y="4047894"/>
                <a:ext cx="468000" cy="319177"/>
              </a:xfrm>
              <a:prstGeom prst="rect">
                <a:avLst/>
              </a:prstGeom>
            </p:spPr>
            <p:style>
              <a:lnRef idx="2">
                <a:schemeClr val="accent5">
                  <a:shade val="15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DEA5C93A-485F-A60E-719C-35A41744DA0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94234" y="4047894"/>
                <a:ext cx="468000" cy="319177"/>
              </a:xfrm>
              <a:prstGeom prst="rect">
                <a:avLst/>
              </a:prstGeom>
              <a:blipFill>
                <a:blip r:embed="rId5"/>
                <a:stretch>
                  <a:fillRect b="-5556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Rectangle 37">
                <a:extLst>
                  <a:ext uri="{FF2B5EF4-FFF2-40B4-BE49-F238E27FC236}">
                    <a16:creationId xmlns:a16="http://schemas.microsoft.com/office/drawing/2014/main" id="{1727C0A4-31A4-4F8C-0753-9667F1BC43FA}"/>
                  </a:ext>
                </a:extLst>
              </p:cNvPr>
              <p:cNvSpPr/>
              <p:nvPr/>
            </p:nvSpPr>
            <p:spPr>
              <a:xfrm>
                <a:off x="2706730" y="3646945"/>
                <a:ext cx="468000" cy="319177"/>
              </a:xfrm>
              <a:prstGeom prst="rect">
                <a:avLst/>
              </a:prstGeom>
            </p:spPr>
            <p:style>
              <a:lnRef idx="2">
                <a:schemeClr val="accent5">
                  <a:shade val="15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38" name="Rectangle 37">
                <a:extLst>
                  <a:ext uri="{FF2B5EF4-FFF2-40B4-BE49-F238E27FC236}">
                    <a16:creationId xmlns:a16="http://schemas.microsoft.com/office/drawing/2014/main" id="{1727C0A4-31A4-4F8C-0753-9667F1BC43F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06730" y="3646945"/>
                <a:ext cx="468000" cy="319177"/>
              </a:xfrm>
              <a:prstGeom prst="rect">
                <a:avLst/>
              </a:prstGeom>
              <a:blipFill>
                <a:blip r:embed="rId6"/>
                <a:stretch>
                  <a:fillRect b="-909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Rectangle 38">
                <a:extLst>
                  <a:ext uri="{FF2B5EF4-FFF2-40B4-BE49-F238E27FC236}">
                    <a16:creationId xmlns:a16="http://schemas.microsoft.com/office/drawing/2014/main" id="{6E04EA64-A3BF-29A1-D065-B493D5FB4821}"/>
                  </a:ext>
                </a:extLst>
              </p:cNvPr>
              <p:cNvSpPr/>
              <p:nvPr/>
            </p:nvSpPr>
            <p:spPr>
              <a:xfrm>
                <a:off x="3202565" y="3646945"/>
                <a:ext cx="468000" cy="319177"/>
              </a:xfrm>
              <a:prstGeom prst="rect">
                <a:avLst/>
              </a:prstGeom>
            </p:spPr>
            <p:style>
              <a:lnRef idx="2">
                <a:schemeClr val="accent5">
                  <a:shade val="15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1,33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39" name="Rectangle 38">
                <a:extLst>
                  <a:ext uri="{FF2B5EF4-FFF2-40B4-BE49-F238E27FC236}">
                    <a16:creationId xmlns:a16="http://schemas.microsoft.com/office/drawing/2014/main" id="{6E04EA64-A3BF-29A1-D065-B493D5FB482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2565" y="3646945"/>
                <a:ext cx="468000" cy="319177"/>
              </a:xfrm>
              <a:prstGeom prst="rect">
                <a:avLst/>
              </a:prstGeom>
              <a:blipFill>
                <a:blip r:embed="rId7"/>
                <a:stretch>
                  <a:fillRect l="-16456" r="-7595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8E8889CC-9894-6F0B-433C-B4EAA0B05DB4}"/>
                  </a:ext>
                </a:extLst>
              </p:cNvPr>
              <p:cNvSpPr/>
              <p:nvPr/>
            </p:nvSpPr>
            <p:spPr>
              <a:xfrm>
                <a:off x="3698400" y="3646946"/>
                <a:ext cx="468000" cy="319177"/>
              </a:xfrm>
              <a:prstGeom prst="rect">
                <a:avLst/>
              </a:prstGeom>
            </p:spPr>
            <p:style>
              <a:lnRef idx="2">
                <a:schemeClr val="accent5">
                  <a:shade val="15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8E8889CC-9894-6F0B-433C-B4EAA0B05DB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98400" y="3646946"/>
                <a:ext cx="468000" cy="319177"/>
              </a:xfrm>
              <a:prstGeom prst="rect">
                <a:avLst/>
              </a:prstGeom>
              <a:blipFill>
                <a:blip r:embed="rId8"/>
                <a:stretch>
                  <a:fillRect b="-909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Rectangle 40">
                <a:extLst>
                  <a:ext uri="{FF2B5EF4-FFF2-40B4-BE49-F238E27FC236}">
                    <a16:creationId xmlns:a16="http://schemas.microsoft.com/office/drawing/2014/main" id="{CC73C869-4D94-A403-8EE8-FA1F50EE4364}"/>
                  </a:ext>
                </a:extLst>
              </p:cNvPr>
              <p:cNvSpPr/>
              <p:nvPr/>
            </p:nvSpPr>
            <p:spPr>
              <a:xfrm>
                <a:off x="4194234" y="3646945"/>
                <a:ext cx="468000" cy="319177"/>
              </a:xfrm>
              <a:prstGeom prst="rect">
                <a:avLst/>
              </a:prstGeom>
            </p:spPr>
            <p:style>
              <a:lnRef idx="2">
                <a:schemeClr val="accent5">
                  <a:shade val="15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41" name="Rectangle 40">
                <a:extLst>
                  <a:ext uri="{FF2B5EF4-FFF2-40B4-BE49-F238E27FC236}">
                    <a16:creationId xmlns:a16="http://schemas.microsoft.com/office/drawing/2014/main" id="{CC73C869-4D94-A403-8EE8-FA1F50EE436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94234" y="3646945"/>
                <a:ext cx="468000" cy="319177"/>
              </a:xfrm>
              <a:prstGeom prst="rect">
                <a:avLst/>
              </a:prstGeom>
              <a:blipFill>
                <a:blip r:embed="rId9"/>
                <a:stretch>
                  <a:fillRect b="-909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0" name="Rectangle 49">
            <a:extLst>
              <a:ext uri="{FF2B5EF4-FFF2-40B4-BE49-F238E27FC236}">
                <a16:creationId xmlns:a16="http://schemas.microsoft.com/office/drawing/2014/main" id="{AA7FCF3C-958C-340A-BED5-F59B13B8CD7E}"/>
              </a:ext>
            </a:extLst>
          </p:cNvPr>
          <p:cNvSpPr/>
          <p:nvPr/>
        </p:nvSpPr>
        <p:spPr>
          <a:xfrm>
            <a:off x="5271186" y="3684914"/>
            <a:ext cx="468000" cy="319177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1" name="Rectangle 50">
                <a:extLst>
                  <a:ext uri="{FF2B5EF4-FFF2-40B4-BE49-F238E27FC236}">
                    <a16:creationId xmlns:a16="http://schemas.microsoft.com/office/drawing/2014/main" id="{D3338B19-1552-E0E1-D778-87795F526C73}"/>
                  </a:ext>
                </a:extLst>
              </p:cNvPr>
              <p:cNvSpPr/>
              <p:nvPr/>
            </p:nvSpPr>
            <p:spPr>
              <a:xfrm>
                <a:off x="5761515" y="3684914"/>
                <a:ext cx="468000" cy="319177"/>
              </a:xfrm>
              <a:prstGeom prst="rect">
                <a:avLst/>
              </a:prstGeom>
              <a:solidFill>
                <a:srgbClr val="FFFF00"/>
              </a:solidFill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0,98</m:t>
                      </m:r>
                    </m:oMath>
                  </m:oMathPara>
                </a14:m>
                <a:endParaRPr lang="pt-BR" sz="12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51" name="Rectangle 50">
                <a:extLst>
                  <a:ext uri="{FF2B5EF4-FFF2-40B4-BE49-F238E27FC236}">
                    <a16:creationId xmlns:a16="http://schemas.microsoft.com/office/drawing/2014/main" id="{D3338B19-1552-E0E1-D778-87795F526C7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61515" y="3684914"/>
                <a:ext cx="468000" cy="319177"/>
              </a:xfrm>
              <a:prstGeom prst="rect">
                <a:avLst/>
              </a:prstGeom>
              <a:blipFill>
                <a:blip r:embed="rId10"/>
                <a:stretch>
                  <a:fillRect l="-886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2" name="Rectangle 51">
            <a:extLst>
              <a:ext uri="{FF2B5EF4-FFF2-40B4-BE49-F238E27FC236}">
                <a16:creationId xmlns:a16="http://schemas.microsoft.com/office/drawing/2014/main" id="{C423CA8C-0505-ABC4-8A28-FC3672BF7BD0}"/>
              </a:ext>
            </a:extLst>
          </p:cNvPr>
          <p:cNvSpPr/>
          <p:nvPr/>
        </p:nvSpPr>
        <p:spPr>
          <a:xfrm>
            <a:off x="6251844" y="3684914"/>
            <a:ext cx="468000" cy="319177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D7F39CA0-E88E-ED6B-2F28-D74AC8B74926}"/>
              </a:ext>
            </a:extLst>
          </p:cNvPr>
          <p:cNvSpPr/>
          <p:nvPr/>
        </p:nvSpPr>
        <p:spPr>
          <a:xfrm>
            <a:off x="6742173" y="3684914"/>
            <a:ext cx="468000" cy="319177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4" name="Rectangle 53">
                <a:extLst>
                  <a:ext uri="{FF2B5EF4-FFF2-40B4-BE49-F238E27FC236}">
                    <a16:creationId xmlns:a16="http://schemas.microsoft.com/office/drawing/2014/main" id="{CC933B5B-9DC6-3265-B2AB-43C8DC59B11E}"/>
                  </a:ext>
                </a:extLst>
              </p:cNvPr>
              <p:cNvSpPr/>
              <p:nvPr/>
            </p:nvSpPr>
            <p:spPr>
              <a:xfrm>
                <a:off x="7729083" y="4047895"/>
                <a:ext cx="319177" cy="319177"/>
              </a:xfrm>
              <a:prstGeom prst="rect">
                <a:avLst/>
              </a:prstGeom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54" name="Rectangle 53">
                <a:extLst>
                  <a:ext uri="{FF2B5EF4-FFF2-40B4-BE49-F238E27FC236}">
                    <a16:creationId xmlns:a16="http://schemas.microsoft.com/office/drawing/2014/main" id="{CC933B5B-9DC6-3265-B2AB-43C8DC59B11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29083" y="4047895"/>
                <a:ext cx="319177" cy="319177"/>
              </a:xfrm>
              <a:prstGeom prst="rect">
                <a:avLst/>
              </a:prstGeom>
              <a:blipFill>
                <a:blip r:embed="rId11"/>
                <a:stretch>
                  <a:fillRect l="-25926" b="-22222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Rectangle 54">
                <a:extLst>
                  <a:ext uri="{FF2B5EF4-FFF2-40B4-BE49-F238E27FC236}">
                    <a16:creationId xmlns:a16="http://schemas.microsoft.com/office/drawing/2014/main" id="{EE0863D9-2BF9-B6DA-44EF-011C63D07292}"/>
                  </a:ext>
                </a:extLst>
              </p:cNvPr>
              <p:cNvSpPr/>
              <p:nvPr/>
            </p:nvSpPr>
            <p:spPr>
              <a:xfrm>
                <a:off x="8065812" y="4047895"/>
                <a:ext cx="319177" cy="319177"/>
              </a:xfrm>
              <a:prstGeom prst="rect">
                <a:avLst/>
              </a:prstGeom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55" name="Rectangle 54">
                <a:extLst>
                  <a:ext uri="{FF2B5EF4-FFF2-40B4-BE49-F238E27FC236}">
                    <a16:creationId xmlns:a16="http://schemas.microsoft.com/office/drawing/2014/main" id="{EE0863D9-2BF9-B6DA-44EF-011C63D0729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65812" y="4047895"/>
                <a:ext cx="319177" cy="319177"/>
              </a:xfrm>
              <a:prstGeom prst="rect">
                <a:avLst/>
              </a:prstGeom>
              <a:blipFill>
                <a:blip r:embed="rId12"/>
                <a:stretch>
                  <a:fillRect l="-1852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Rectangle 55">
                <a:extLst>
                  <a:ext uri="{FF2B5EF4-FFF2-40B4-BE49-F238E27FC236}">
                    <a16:creationId xmlns:a16="http://schemas.microsoft.com/office/drawing/2014/main" id="{8408E87B-C7A4-8D69-DAD1-B1A56C00E439}"/>
                  </a:ext>
                </a:extLst>
              </p:cNvPr>
              <p:cNvSpPr/>
              <p:nvPr/>
            </p:nvSpPr>
            <p:spPr>
              <a:xfrm>
                <a:off x="8405716" y="4047895"/>
                <a:ext cx="319177" cy="319177"/>
              </a:xfrm>
              <a:prstGeom prst="rect">
                <a:avLst/>
              </a:prstGeom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56" name="Rectangle 55">
                <a:extLst>
                  <a:ext uri="{FF2B5EF4-FFF2-40B4-BE49-F238E27FC236}">
                    <a16:creationId xmlns:a16="http://schemas.microsoft.com/office/drawing/2014/main" id="{8408E87B-C7A4-8D69-DAD1-B1A56C00E43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05716" y="4047895"/>
                <a:ext cx="319177" cy="319177"/>
              </a:xfrm>
              <a:prstGeom prst="rect">
                <a:avLst/>
              </a:prstGeom>
              <a:blipFill>
                <a:blip r:embed="rId13"/>
                <a:stretch>
                  <a:fillRect l="-25926" b="-22222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Rectangle 56">
                <a:extLst>
                  <a:ext uri="{FF2B5EF4-FFF2-40B4-BE49-F238E27FC236}">
                    <a16:creationId xmlns:a16="http://schemas.microsoft.com/office/drawing/2014/main" id="{131EBB07-1682-B804-AA07-21F7AEA07557}"/>
                  </a:ext>
                </a:extLst>
              </p:cNvPr>
              <p:cNvSpPr/>
              <p:nvPr/>
            </p:nvSpPr>
            <p:spPr>
              <a:xfrm>
                <a:off x="8745620" y="4047894"/>
                <a:ext cx="319177" cy="319177"/>
              </a:xfrm>
              <a:prstGeom prst="rect">
                <a:avLst/>
              </a:prstGeom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57" name="Rectangle 56">
                <a:extLst>
                  <a:ext uri="{FF2B5EF4-FFF2-40B4-BE49-F238E27FC236}">
                    <a16:creationId xmlns:a16="http://schemas.microsoft.com/office/drawing/2014/main" id="{131EBB07-1682-B804-AA07-21F7AEA0755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45620" y="4047894"/>
                <a:ext cx="319177" cy="319177"/>
              </a:xfrm>
              <a:prstGeom prst="rect">
                <a:avLst/>
              </a:prstGeom>
              <a:blipFill>
                <a:blip r:embed="rId14"/>
                <a:stretch>
                  <a:fillRect l="-25926" b="-22222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Rectangle 57">
                <a:extLst>
                  <a:ext uri="{FF2B5EF4-FFF2-40B4-BE49-F238E27FC236}">
                    <a16:creationId xmlns:a16="http://schemas.microsoft.com/office/drawing/2014/main" id="{3B9A7BF8-DB55-47C0-A632-CA270BA2F6AC}"/>
                  </a:ext>
                </a:extLst>
              </p:cNvPr>
              <p:cNvSpPr/>
              <p:nvPr/>
            </p:nvSpPr>
            <p:spPr>
              <a:xfrm>
                <a:off x="7725435" y="3646946"/>
                <a:ext cx="319177" cy="319177"/>
              </a:xfrm>
              <a:prstGeom prst="rect">
                <a:avLst/>
              </a:prstGeom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𝛾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58" name="Rectangle 57">
                <a:extLst>
                  <a:ext uri="{FF2B5EF4-FFF2-40B4-BE49-F238E27FC236}">
                    <a16:creationId xmlns:a16="http://schemas.microsoft.com/office/drawing/2014/main" id="{3B9A7BF8-DB55-47C0-A632-CA270BA2F6A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25435" y="3646946"/>
                <a:ext cx="319177" cy="319177"/>
              </a:xfrm>
              <a:prstGeom prst="rect">
                <a:avLst/>
              </a:prstGeom>
              <a:blipFill>
                <a:blip r:embed="rId15"/>
                <a:stretch>
                  <a:fillRect l="-14545" b="-909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Rectangle 58">
                <a:extLst>
                  <a:ext uri="{FF2B5EF4-FFF2-40B4-BE49-F238E27FC236}">
                    <a16:creationId xmlns:a16="http://schemas.microsoft.com/office/drawing/2014/main" id="{C1AB75CC-353D-EF66-AD63-1A8574C45A8B}"/>
                  </a:ext>
                </a:extLst>
              </p:cNvPr>
              <p:cNvSpPr/>
              <p:nvPr/>
            </p:nvSpPr>
            <p:spPr>
              <a:xfrm>
                <a:off x="8062164" y="3646946"/>
                <a:ext cx="319177" cy="319177"/>
              </a:xfrm>
              <a:prstGeom prst="rect">
                <a:avLst/>
              </a:prstGeom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59" name="Rectangle 58">
                <a:extLst>
                  <a:ext uri="{FF2B5EF4-FFF2-40B4-BE49-F238E27FC236}">
                    <a16:creationId xmlns:a16="http://schemas.microsoft.com/office/drawing/2014/main" id="{C1AB75CC-353D-EF66-AD63-1A8574C45A8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62164" y="3646946"/>
                <a:ext cx="319177" cy="319177"/>
              </a:xfrm>
              <a:prstGeom prst="rect">
                <a:avLst/>
              </a:prstGeom>
              <a:blipFill>
                <a:blip r:embed="rId16"/>
                <a:stretch>
                  <a:fillRect l="-1852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" name="Rectangle 59">
                <a:extLst>
                  <a:ext uri="{FF2B5EF4-FFF2-40B4-BE49-F238E27FC236}">
                    <a16:creationId xmlns:a16="http://schemas.microsoft.com/office/drawing/2014/main" id="{C8820546-C3AC-9CC2-4E4A-91919E47E20A}"/>
                  </a:ext>
                </a:extLst>
              </p:cNvPr>
              <p:cNvSpPr/>
              <p:nvPr/>
            </p:nvSpPr>
            <p:spPr>
              <a:xfrm>
                <a:off x="8402068" y="3646946"/>
                <a:ext cx="319177" cy="319177"/>
              </a:xfrm>
              <a:prstGeom prst="rect">
                <a:avLst/>
              </a:prstGeom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𝛾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60" name="Rectangle 59">
                <a:extLst>
                  <a:ext uri="{FF2B5EF4-FFF2-40B4-BE49-F238E27FC236}">
                    <a16:creationId xmlns:a16="http://schemas.microsoft.com/office/drawing/2014/main" id="{C8820546-C3AC-9CC2-4E4A-91919E47E20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02068" y="3646946"/>
                <a:ext cx="319177" cy="319177"/>
              </a:xfrm>
              <a:prstGeom prst="rect">
                <a:avLst/>
              </a:prstGeom>
              <a:blipFill>
                <a:blip r:embed="rId17"/>
                <a:stretch>
                  <a:fillRect l="-14545" b="-909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Rectangle 60">
                <a:extLst>
                  <a:ext uri="{FF2B5EF4-FFF2-40B4-BE49-F238E27FC236}">
                    <a16:creationId xmlns:a16="http://schemas.microsoft.com/office/drawing/2014/main" id="{9846CC8F-B11B-379E-FF02-22B61579C3D0}"/>
                  </a:ext>
                </a:extLst>
              </p:cNvPr>
              <p:cNvSpPr/>
              <p:nvPr/>
            </p:nvSpPr>
            <p:spPr>
              <a:xfrm>
                <a:off x="8741972" y="3646945"/>
                <a:ext cx="319177" cy="319177"/>
              </a:xfrm>
              <a:prstGeom prst="rect">
                <a:avLst/>
              </a:prstGeom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𝛾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61" name="Rectangle 60">
                <a:extLst>
                  <a:ext uri="{FF2B5EF4-FFF2-40B4-BE49-F238E27FC236}">
                    <a16:creationId xmlns:a16="http://schemas.microsoft.com/office/drawing/2014/main" id="{9846CC8F-B11B-379E-FF02-22B61579C3D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41972" y="3646945"/>
                <a:ext cx="319177" cy="319177"/>
              </a:xfrm>
              <a:prstGeom prst="rect">
                <a:avLst/>
              </a:prstGeom>
              <a:blipFill>
                <a:blip r:embed="rId18"/>
                <a:stretch>
                  <a:fillRect l="-14815" b="-909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35" name="Straight Arrow Connector 1034">
            <a:extLst>
              <a:ext uri="{FF2B5EF4-FFF2-40B4-BE49-F238E27FC236}">
                <a16:creationId xmlns:a16="http://schemas.microsoft.com/office/drawing/2014/main" id="{6143EF1A-E438-EA24-5158-FEC150A9610E}"/>
              </a:ext>
            </a:extLst>
          </p:cNvPr>
          <p:cNvCxnSpPr>
            <a:cxnSpLocks/>
          </p:cNvCxnSpPr>
          <p:nvPr/>
        </p:nvCxnSpPr>
        <p:spPr>
          <a:xfrm>
            <a:off x="10506464" y="3574146"/>
            <a:ext cx="1347665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6" name="TextBox 1035">
            <a:extLst>
              <a:ext uri="{FF2B5EF4-FFF2-40B4-BE49-F238E27FC236}">
                <a16:creationId xmlns:a16="http://schemas.microsoft.com/office/drawing/2014/main" id="{4C661ACC-67B4-258C-015A-3832A5B76434}"/>
              </a:ext>
            </a:extLst>
          </p:cNvPr>
          <p:cNvSpPr txBox="1"/>
          <p:nvPr/>
        </p:nvSpPr>
        <p:spPr>
          <a:xfrm>
            <a:off x="10518415" y="3161395"/>
            <a:ext cx="9544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/>
              <a:t>features</a:t>
            </a:r>
            <a:endParaRPr lang="pt-BR" dirty="0"/>
          </a:p>
        </p:txBody>
      </p:sp>
      <p:cxnSp>
        <p:nvCxnSpPr>
          <p:cNvPr id="1037" name="Straight Arrow Connector 1036">
            <a:extLst>
              <a:ext uri="{FF2B5EF4-FFF2-40B4-BE49-F238E27FC236}">
                <a16:creationId xmlns:a16="http://schemas.microsoft.com/office/drawing/2014/main" id="{188908CB-0EE3-4E5A-E132-61303364FB7C}"/>
              </a:ext>
            </a:extLst>
          </p:cNvPr>
          <p:cNvCxnSpPr>
            <a:cxnSpLocks/>
          </p:cNvCxnSpPr>
          <p:nvPr/>
        </p:nvCxnSpPr>
        <p:spPr>
          <a:xfrm>
            <a:off x="12002744" y="3733019"/>
            <a:ext cx="0" cy="1044369"/>
          </a:xfrm>
          <a:prstGeom prst="straightConnector1">
            <a:avLst/>
          </a:prstGeom>
          <a:ln w="28575">
            <a:solidFill>
              <a:srgbClr val="0070C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0" name="Rectangle 1039">
            <a:extLst>
              <a:ext uri="{FF2B5EF4-FFF2-40B4-BE49-F238E27FC236}">
                <a16:creationId xmlns:a16="http://schemas.microsoft.com/office/drawing/2014/main" id="{86E43187-4259-FCA9-AA89-CC3E66BC1DFE}"/>
              </a:ext>
            </a:extLst>
          </p:cNvPr>
          <p:cNvSpPr/>
          <p:nvPr/>
        </p:nvSpPr>
        <p:spPr>
          <a:xfrm>
            <a:off x="2604980" y="3221382"/>
            <a:ext cx="2142450" cy="1226690"/>
          </a:xfrm>
          <a:prstGeom prst="rect">
            <a:avLst/>
          </a:prstGeom>
          <a:noFill/>
          <a:ln w="1905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41" name="Rectangle 1040">
            <a:extLst>
              <a:ext uri="{FF2B5EF4-FFF2-40B4-BE49-F238E27FC236}">
                <a16:creationId xmlns:a16="http://schemas.microsoft.com/office/drawing/2014/main" id="{F543F008-6F11-B14F-DFA6-D9A2AAC0AB71}"/>
              </a:ext>
            </a:extLst>
          </p:cNvPr>
          <p:cNvSpPr/>
          <p:nvPr/>
        </p:nvSpPr>
        <p:spPr>
          <a:xfrm>
            <a:off x="7590666" y="3209447"/>
            <a:ext cx="1573789" cy="1352182"/>
          </a:xfrm>
          <a:prstGeom prst="rect">
            <a:avLst/>
          </a:prstGeom>
          <a:noFill/>
          <a:ln w="1905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42" name="TextBox 1041">
            <a:extLst>
              <a:ext uri="{FF2B5EF4-FFF2-40B4-BE49-F238E27FC236}">
                <a16:creationId xmlns:a16="http://schemas.microsoft.com/office/drawing/2014/main" id="{02A1225E-C4CB-3460-EAEF-B431C6B64197}"/>
              </a:ext>
            </a:extLst>
          </p:cNvPr>
          <p:cNvSpPr txBox="1"/>
          <p:nvPr/>
        </p:nvSpPr>
        <p:spPr>
          <a:xfrm>
            <a:off x="3224692" y="3249497"/>
            <a:ext cx="12592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i="1" dirty="0" err="1"/>
              <a:t>mean</a:t>
            </a:r>
            <a:r>
              <a:rPr lang="pt-BR" dirty="0"/>
              <a:t> e </a:t>
            </a:r>
            <a:r>
              <a:rPr lang="pt-BR" i="1" dirty="0" err="1"/>
              <a:t>std</a:t>
            </a:r>
            <a:endParaRPr lang="pt-BR" i="1" dirty="0"/>
          </a:p>
        </p:txBody>
      </p:sp>
      <p:sp>
        <p:nvSpPr>
          <p:cNvPr id="1044" name="TextBox 1043">
            <a:extLst>
              <a:ext uri="{FF2B5EF4-FFF2-40B4-BE49-F238E27FC236}">
                <a16:creationId xmlns:a16="http://schemas.microsoft.com/office/drawing/2014/main" id="{678F97EA-AC4C-2098-0682-311BF2D591D5}"/>
              </a:ext>
            </a:extLst>
          </p:cNvPr>
          <p:cNvSpPr txBox="1"/>
          <p:nvPr/>
        </p:nvSpPr>
        <p:spPr>
          <a:xfrm>
            <a:off x="7744761" y="3221541"/>
            <a:ext cx="14196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i="1" dirty="0" err="1"/>
              <a:t>scale</a:t>
            </a:r>
            <a:r>
              <a:rPr lang="pt-BR" i="1" dirty="0"/>
              <a:t> </a:t>
            </a:r>
            <a:r>
              <a:rPr lang="pt-BR" dirty="0"/>
              <a:t>e</a:t>
            </a:r>
            <a:r>
              <a:rPr lang="pt-BR" i="1" dirty="0"/>
              <a:t> shift</a:t>
            </a:r>
          </a:p>
        </p:txBody>
      </p:sp>
      <p:sp>
        <p:nvSpPr>
          <p:cNvPr id="1045" name="TextBox 1044">
            <a:extLst>
              <a:ext uri="{FF2B5EF4-FFF2-40B4-BE49-F238E27FC236}">
                <a16:creationId xmlns:a16="http://schemas.microsoft.com/office/drawing/2014/main" id="{CD1A54F1-C48E-AD37-28DD-9F50E2C12F40}"/>
              </a:ext>
            </a:extLst>
          </p:cNvPr>
          <p:cNvSpPr txBox="1"/>
          <p:nvPr/>
        </p:nvSpPr>
        <p:spPr>
          <a:xfrm>
            <a:off x="5118847" y="2734821"/>
            <a:ext cx="196049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i="1" dirty="0"/>
              <a:t>batch </a:t>
            </a:r>
            <a:r>
              <a:rPr lang="pt-BR" sz="2800" i="1" dirty="0" err="1"/>
              <a:t>norm</a:t>
            </a:r>
            <a:endParaRPr lang="pt-BR" sz="2800" i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46" name="Rectangle 1045">
                <a:extLst>
                  <a:ext uri="{FF2B5EF4-FFF2-40B4-BE49-F238E27FC236}">
                    <a16:creationId xmlns:a16="http://schemas.microsoft.com/office/drawing/2014/main" id="{D41B99D9-8747-0A9B-82B4-72458674E90E}"/>
                  </a:ext>
                </a:extLst>
              </p:cNvPr>
              <p:cNvSpPr/>
              <p:nvPr/>
            </p:nvSpPr>
            <p:spPr>
              <a:xfrm>
                <a:off x="3167535" y="5771408"/>
                <a:ext cx="424826" cy="319177"/>
              </a:xfrm>
              <a:prstGeom prst="rect">
                <a:avLst/>
              </a:prstGeom>
              <a:solidFill>
                <a:srgbClr val="0070C0"/>
              </a:solidFill>
            </p:spPr>
            <p:style>
              <a:lnRef idx="2">
                <a:schemeClr val="accent5">
                  <a:shade val="15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1046" name="Rectangle 1045">
                <a:extLst>
                  <a:ext uri="{FF2B5EF4-FFF2-40B4-BE49-F238E27FC236}">
                    <a16:creationId xmlns:a16="http://schemas.microsoft.com/office/drawing/2014/main" id="{D41B99D9-8747-0A9B-82B4-72458674E90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67535" y="5771408"/>
                <a:ext cx="424826" cy="319177"/>
              </a:xfrm>
              <a:prstGeom prst="rect">
                <a:avLst/>
              </a:prstGeom>
              <a:blipFill>
                <a:blip r:embed="rId19"/>
                <a:stretch>
                  <a:fillRect l="-14085" b="-5556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47" name="Rectangle 1046">
                <a:extLst>
                  <a:ext uri="{FF2B5EF4-FFF2-40B4-BE49-F238E27FC236}">
                    <a16:creationId xmlns:a16="http://schemas.microsoft.com/office/drawing/2014/main" id="{3D5D08D1-C166-C4DA-8567-A11C776C7FC2}"/>
                  </a:ext>
                </a:extLst>
              </p:cNvPr>
              <p:cNvSpPr/>
              <p:nvPr/>
            </p:nvSpPr>
            <p:spPr>
              <a:xfrm>
                <a:off x="3642691" y="5779292"/>
                <a:ext cx="424826" cy="319177"/>
              </a:xfrm>
              <a:prstGeom prst="rect">
                <a:avLst/>
              </a:prstGeom>
              <a:solidFill>
                <a:srgbClr val="0070C0"/>
              </a:solidFill>
            </p:spPr>
            <p:style>
              <a:lnRef idx="2">
                <a:schemeClr val="accent5">
                  <a:shade val="15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1,7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1047" name="Rectangle 1046">
                <a:extLst>
                  <a:ext uri="{FF2B5EF4-FFF2-40B4-BE49-F238E27FC236}">
                    <a16:creationId xmlns:a16="http://schemas.microsoft.com/office/drawing/2014/main" id="{3D5D08D1-C166-C4DA-8567-A11C776C7FC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42691" y="5779292"/>
                <a:ext cx="424826" cy="319177"/>
              </a:xfrm>
              <a:prstGeom prst="rect">
                <a:avLst/>
              </a:prstGeom>
              <a:blipFill>
                <a:blip r:embed="rId20"/>
                <a:stretch>
                  <a:fillRect l="-9859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48" name="Rectangle 1047">
                <a:extLst>
                  <a:ext uri="{FF2B5EF4-FFF2-40B4-BE49-F238E27FC236}">
                    <a16:creationId xmlns:a16="http://schemas.microsoft.com/office/drawing/2014/main" id="{C359048D-8A89-4D4A-9D45-D60AF6954E0E}"/>
                  </a:ext>
                </a:extLst>
              </p:cNvPr>
              <p:cNvSpPr/>
              <p:nvPr/>
            </p:nvSpPr>
            <p:spPr>
              <a:xfrm>
                <a:off x="4117847" y="5779292"/>
                <a:ext cx="424826" cy="319177"/>
              </a:xfrm>
              <a:prstGeom prst="rect">
                <a:avLst/>
              </a:prstGeom>
              <a:solidFill>
                <a:srgbClr val="0070C0"/>
              </a:solidFill>
            </p:spPr>
            <p:style>
              <a:lnRef idx="2">
                <a:schemeClr val="accent5">
                  <a:shade val="15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1048" name="Rectangle 1047">
                <a:extLst>
                  <a:ext uri="{FF2B5EF4-FFF2-40B4-BE49-F238E27FC236}">
                    <a16:creationId xmlns:a16="http://schemas.microsoft.com/office/drawing/2014/main" id="{C359048D-8A89-4D4A-9D45-D60AF6954E0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7847" y="5779292"/>
                <a:ext cx="424826" cy="319177"/>
              </a:xfrm>
              <a:prstGeom prst="rect">
                <a:avLst/>
              </a:prstGeom>
              <a:blipFill>
                <a:blip r:embed="rId21"/>
                <a:stretch>
                  <a:fillRect l="-12500" b="-5556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49" name="Rectangle 1048">
                <a:extLst>
                  <a:ext uri="{FF2B5EF4-FFF2-40B4-BE49-F238E27FC236}">
                    <a16:creationId xmlns:a16="http://schemas.microsoft.com/office/drawing/2014/main" id="{7C7278F0-9DAD-AD89-C5A4-15313BE22F95}"/>
                  </a:ext>
                </a:extLst>
              </p:cNvPr>
              <p:cNvSpPr/>
              <p:nvPr/>
            </p:nvSpPr>
            <p:spPr>
              <a:xfrm>
                <a:off x="4574476" y="5779292"/>
                <a:ext cx="424826" cy="319177"/>
              </a:xfrm>
              <a:prstGeom prst="rect">
                <a:avLst/>
              </a:prstGeom>
              <a:solidFill>
                <a:srgbClr val="0070C0"/>
              </a:solidFill>
            </p:spPr>
            <p:style>
              <a:lnRef idx="2">
                <a:schemeClr val="accent5">
                  <a:shade val="15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1049" name="Rectangle 1048">
                <a:extLst>
                  <a:ext uri="{FF2B5EF4-FFF2-40B4-BE49-F238E27FC236}">
                    <a16:creationId xmlns:a16="http://schemas.microsoft.com/office/drawing/2014/main" id="{7C7278F0-9DAD-AD89-C5A4-15313BE22F9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4476" y="5779292"/>
                <a:ext cx="424826" cy="319177"/>
              </a:xfrm>
              <a:prstGeom prst="rect">
                <a:avLst/>
              </a:prstGeom>
              <a:blipFill>
                <a:blip r:embed="rId22"/>
                <a:stretch>
                  <a:fillRect l="-12500" b="-5556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50" name="Rectangle 1049">
                <a:extLst>
                  <a:ext uri="{FF2B5EF4-FFF2-40B4-BE49-F238E27FC236}">
                    <a16:creationId xmlns:a16="http://schemas.microsoft.com/office/drawing/2014/main" id="{FCD8FE0B-B06D-EDC0-5E76-2548E5E010AD}"/>
                  </a:ext>
                </a:extLst>
              </p:cNvPr>
              <p:cNvSpPr/>
              <p:nvPr/>
            </p:nvSpPr>
            <p:spPr>
              <a:xfrm>
                <a:off x="3167535" y="5385195"/>
                <a:ext cx="424826" cy="319177"/>
              </a:xfrm>
              <a:prstGeom prst="rect">
                <a:avLst/>
              </a:prstGeom>
              <a:solidFill>
                <a:srgbClr val="0070C0"/>
              </a:solidFill>
            </p:spPr>
            <p:style>
              <a:lnRef idx="2">
                <a:schemeClr val="accent5">
                  <a:shade val="15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1050" name="Rectangle 1049">
                <a:extLst>
                  <a:ext uri="{FF2B5EF4-FFF2-40B4-BE49-F238E27FC236}">
                    <a16:creationId xmlns:a16="http://schemas.microsoft.com/office/drawing/2014/main" id="{FCD8FE0B-B06D-EDC0-5E76-2548E5E010A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67535" y="5385195"/>
                <a:ext cx="424826" cy="319177"/>
              </a:xfrm>
              <a:prstGeom prst="rect">
                <a:avLst/>
              </a:prstGeom>
              <a:blipFill>
                <a:blip r:embed="rId23"/>
                <a:stretch>
                  <a:fillRect l="-19718" r="-1408" b="-10909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51" name="Rectangle 1050">
                <a:extLst>
                  <a:ext uri="{FF2B5EF4-FFF2-40B4-BE49-F238E27FC236}">
                    <a16:creationId xmlns:a16="http://schemas.microsoft.com/office/drawing/2014/main" id="{D8DCCF45-9944-0F39-BF4F-41C912D50B0F}"/>
                  </a:ext>
                </a:extLst>
              </p:cNvPr>
              <p:cNvSpPr/>
              <p:nvPr/>
            </p:nvSpPr>
            <p:spPr>
              <a:xfrm>
                <a:off x="3642691" y="5385195"/>
                <a:ext cx="424826" cy="319177"/>
              </a:xfrm>
              <a:prstGeom prst="rect">
                <a:avLst/>
              </a:prstGeom>
              <a:solidFill>
                <a:srgbClr val="0070C0"/>
              </a:solidFill>
            </p:spPr>
            <p:style>
              <a:lnRef idx="2">
                <a:schemeClr val="accent5">
                  <a:shade val="15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1,33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1051" name="Rectangle 1050">
                <a:extLst>
                  <a:ext uri="{FF2B5EF4-FFF2-40B4-BE49-F238E27FC236}">
                    <a16:creationId xmlns:a16="http://schemas.microsoft.com/office/drawing/2014/main" id="{D8DCCF45-9944-0F39-BF4F-41C912D50B0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42691" y="5385195"/>
                <a:ext cx="424826" cy="319177"/>
              </a:xfrm>
              <a:prstGeom prst="rect">
                <a:avLst/>
              </a:prstGeom>
              <a:blipFill>
                <a:blip r:embed="rId24"/>
                <a:stretch>
                  <a:fillRect l="-25352" r="-12676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52" name="Rectangle 1051">
                <a:extLst>
                  <a:ext uri="{FF2B5EF4-FFF2-40B4-BE49-F238E27FC236}">
                    <a16:creationId xmlns:a16="http://schemas.microsoft.com/office/drawing/2014/main" id="{73747D17-DFB5-FDC1-E344-752D4EF174F7}"/>
                  </a:ext>
                </a:extLst>
              </p:cNvPr>
              <p:cNvSpPr/>
              <p:nvPr/>
            </p:nvSpPr>
            <p:spPr>
              <a:xfrm>
                <a:off x="4117847" y="5385195"/>
                <a:ext cx="424826" cy="319177"/>
              </a:xfrm>
              <a:prstGeom prst="rect">
                <a:avLst/>
              </a:prstGeom>
              <a:solidFill>
                <a:srgbClr val="0070C0"/>
              </a:solidFill>
            </p:spPr>
            <p:style>
              <a:lnRef idx="2">
                <a:schemeClr val="accent5">
                  <a:shade val="15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1052" name="Rectangle 1051">
                <a:extLst>
                  <a:ext uri="{FF2B5EF4-FFF2-40B4-BE49-F238E27FC236}">
                    <a16:creationId xmlns:a16="http://schemas.microsoft.com/office/drawing/2014/main" id="{73747D17-DFB5-FDC1-E344-752D4EF174F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7847" y="5385195"/>
                <a:ext cx="424826" cy="319177"/>
              </a:xfrm>
              <a:prstGeom prst="rect">
                <a:avLst/>
              </a:prstGeom>
              <a:blipFill>
                <a:blip r:embed="rId25"/>
                <a:stretch>
                  <a:fillRect l="-18056" r="-1389" b="-10909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53" name="Rectangle 1052">
                <a:extLst>
                  <a:ext uri="{FF2B5EF4-FFF2-40B4-BE49-F238E27FC236}">
                    <a16:creationId xmlns:a16="http://schemas.microsoft.com/office/drawing/2014/main" id="{E525BFFD-C7C4-9348-1446-568ED36A8A8C}"/>
                  </a:ext>
                </a:extLst>
              </p:cNvPr>
              <p:cNvSpPr/>
              <p:nvPr/>
            </p:nvSpPr>
            <p:spPr>
              <a:xfrm>
                <a:off x="4574476" y="5383573"/>
                <a:ext cx="424826" cy="319177"/>
              </a:xfrm>
              <a:prstGeom prst="rect">
                <a:avLst/>
              </a:prstGeom>
              <a:solidFill>
                <a:srgbClr val="0070C0"/>
              </a:solidFill>
            </p:spPr>
            <p:style>
              <a:lnRef idx="2">
                <a:schemeClr val="accent5">
                  <a:shade val="15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1053" name="Rectangle 1052">
                <a:extLst>
                  <a:ext uri="{FF2B5EF4-FFF2-40B4-BE49-F238E27FC236}">
                    <a16:creationId xmlns:a16="http://schemas.microsoft.com/office/drawing/2014/main" id="{E525BFFD-C7C4-9348-1446-568ED36A8A8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4476" y="5383573"/>
                <a:ext cx="424826" cy="319177"/>
              </a:xfrm>
              <a:prstGeom prst="rect">
                <a:avLst/>
              </a:prstGeom>
              <a:blipFill>
                <a:blip r:embed="rId26"/>
                <a:stretch>
                  <a:fillRect l="-18056" r="-1389" b="-1111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54" name="Rectangle 1053">
            <a:extLst>
              <a:ext uri="{FF2B5EF4-FFF2-40B4-BE49-F238E27FC236}">
                <a16:creationId xmlns:a16="http://schemas.microsoft.com/office/drawing/2014/main" id="{DD92244D-7A23-91B7-1294-C5EFEFCFA14E}"/>
              </a:ext>
            </a:extLst>
          </p:cNvPr>
          <p:cNvSpPr/>
          <p:nvPr/>
        </p:nvSpPr>
        <p:spPr>
          <a:xfrm>
            <a:off x="3071389" y="4977559"/>
            <a:ext cx="2033051" cy="1226690"/>
          </a:xfrm>
          <a:prstGeom prst="rect">
            <a:avLst/>
          </a:prstGeom>
          <a:noFill/>
          <a:ln w="1905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55" name="TextBox 1054">
            <a:extLst>
              <a:ext uri="{FF2B5EF4-FFF2-40B4-BE49-F238E27FC236}">
                <a16:creationId xmlns:a16="http://schemas.microsoft.com/office/drawing/2014/main" id="{1BCC8390-7469-D90B-8130-44CEB6839792}"/>
              </a:ext>
            </a:extLst>
          </p:cNvPr>
          <p:cNvSpPr txBox="1"/>
          <p:nvPr/>
        </p:nvSpPr>
        <p:spPr>
          <a:xfrm>
            <a:off x="3071390" y="5005674"/>
            <a:ext cx="16760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i="1" dirty="0" err="1"/>
              <a:t>moving</a:t>
            </a:r>
            <a:r>
              <a:rPr lang="pt-BR" sz="1600" i="1" dirty="0"/>
              <a:t> </a:t>
            </a:r>
            <a:r>
              <a:rPr lang="pt-BR" sz="1600" i="1" dirty="0" err="1"/>
              <a:t>averages</a:t>
            </a:r>
            <a:endParaRPr lang="pt-BR" sz="1600" i="1" dirty="0"/>
          </a:p>
        </p:txBody>
      </p:sp>
      <p:sp>
        <p:nvSpPr>
          <p:cNvPr id="1059" name="Rectangle 1058">
            <a:extLst>
              <a:ext uri="{FF2B5EF4-FFF2-40B4-BE49-F238E27FC236}">
                <a16:creationId xmlns:a16="http://schemas.microsoft.com/office/drawing/2014/main" id="{5944823A-F47B-DD1F-EE7E-2B36E2F43501}"/>
              </a:ext>
            </a:extLst>
          </p:cNvPr>
          <p:cNvSpPr/>
          <p:nvPr/>
        </p:nvSpPr>
        <p:spPr>
          <a:xfrm>
            <a:off x="8038596" y="3590874"/>
            <a:ext cx="327518" cy="831522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61" name="Rectangle 1060">
            <a:extLst>
              <a:ext uri="{FF2B5EF4-FFF2-40B4-BE49-F238E27FC236}">
                <a16:creationId xmlns:a16="http://schemas.microsoft.com/office/drawing/2014/main" id="{A8AB8CE9-6B4D-6269-0334-5030EF517CB8}"/>
              </a:ext>
            </a:extLst>
          </p:cNvPr>
          <p:cNvSpPr/>
          <p:nvPr/>
        </p:nvSpPr>
        <p:spPr>
          <a:xfrm>
            <a:off x="3624164" y="5347621"/>
            <a:ext cx="461880" cy="777720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9F11EEC-6354-8CE7-C8D6-FDB94FC292DE}"/>
              </a:ext>
            </a:extLst>
          </p:cNvPr>
          <p:cNvSpPr/>
          <p:nvPr/>
        </p:nvSpPr>
        <p:spPr>
          <a:xfrm>
            <a:off x="5271186" y="4027126"/>
            <a:ext cx="468000" cy="319177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0286FB88-D95D-5C00-BDE1-CDA3675A1FF8}"/>
                  </a:ext>
                </a:extLst>
              </p:cNvPr>
              <p:cNvSpPr/>
              <p:nvPr/>
            </p:nvSpPr>
            <p:spPr>
              <a:xfrm>
                <a:off x="5761515" y="4027126"/>
                <a:ext cx="468000" cy="319177"/>
              </a:xfrm>
              <a:prstGeom prst="rect">
                <a:avLst/>
              </a:prstGeom>
              <a:solidFill>
                <a:srgbClr val="FFFF00"/>
              </a:solidFill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−1,37</m:t>
                      </m:r>
                    </m:oMath>
                  </m:oMathPara>
                </a14:m>
                <a:endParaRPr lang="pt-BR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0286FB88-D95D-5C00-BDE1-CDA3675A1FF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61515" y="4027126"/>
                <a:ext cx="468000" cy="319177"/>
              </a:xfrm>
              <a:prstGeom prst="rect">
                <a:avLst/>
              </a:prstGeom>
              <a:blipFill>
                <a:blip r:embed="rId27"/>
                <a:stretch>
                  <a:fillRect l="-8861" r="-6329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ectangle 9">
            <a:extLst>
              <a:ext uri="{FF2B5EF4-FFF2-40B4-BE49-F238E27FC236}">
                <a16:creationId xmlns:a16="http://schemas.microsoft.com/office/drawing/2014/main" id="{5647B996-D0DC-54BF-68A3-6E01BD9FAAA3}"/>
              </a:ext>
            </a:extLst>
          </p:cNvPr>
          <p:cNvSpPr/>
          <p:nvPr/>
        </p:nvSpPr>
        <p:spPr>
          <a:xfrm>
            <a:off x="6251844" y="4027126"/>
            <a:ext cx="468000" cy="319177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4484A77-4271-07C2-12DB-D591874370FB}"/>
              </a:ext>
            </a:extLst>
          </p:cNvPr>
          <p:cNvSpPr/>
          <p:nvPr/>
        </p:nvSpPr>
        <p:spPr>
          <a:xfrm>
            <a:off x="6742173" y="4027126"/>
            <a:ext cx="468000" cy="319177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FDFC7C0-8059-3ACA-F747-DED452BF2EDB}"/>
              </a:ext>
            </a:extLst>
          </p:cNvPr>
          <p:cNvSpPr/>
          <p:nvPr/>
        </p:nvSpPr>
        <p:spPr>
          <a:xfrm>
            <a:off x="5271186" y="4367071"/>
            <a:ext cx="468000" cy="319177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DAFB020C-C53B-7351-D272-EEE1B1E41625}"/>
                  </a:ext>
                </a:extLst>
              </p:cNvPr>
              <p:cNvSpPr/>
              <p:nvPr/>
            </p:nvSpPr>
            <p:spPr>
              <a:xfrm>
                <a:off x="5761515" y="4367071"/>
                <a:ext cx="468000" cy="319177"/>
              </a:xfrm>
              <a:prstGeom prst="rect">
                <a:avLst/>
              </a:prstGeom>
              <a:solidFill>
                <a:srgbClr val="FFFF00"/>
              </a:solidFill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0,39</m:t>
                      </m:r>
                    </m:oMath>
                  </m:oMathPara>
                </a14:m>
                <a:endParaRPr lang="pt-BR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DAFB020C-C53B-7351-D272-EEE1B1E4162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61515" y="4367071"/>
                <a:ext cx="468000" cy="319177"/>
              </a:xfrm>
              <a:prstGeom prst="rect">
                <a:avLst/>
              </a:prstGeom>
              <a:blipFill>
                <a:blip r:embed="rId28"/>
                <a:stretch>
                  <a:fillRect l="-886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Rectangle 25">
            <a:extLst>
              <a:ext uri="{FF2B5EF4-FFF2-40B4-BE49-F238E27FC236}">
                <a16:creationId xmlns:a16="http://schemas.microsoft.com/office/drawing/2014/main" id="{306175DC-D122-3A23-6F03-6ED3FF128978}"/>
              </a:ext>
            </a:extLst>
          </p:cNvPr>
          <p:cNvSpPr/>
          <p:nvPr/>
        </p:nvSpPr>
        <p:spPr>
          <a:xfrm>
            <a:off x="6251844" y="4367071"/>
            <a:ext cx="468000" cy="319177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AC6C62D-8D61-7095-9F6A-20A917B54E5B}"/>
              </a:ext>
            </a:extLst>
          </p:cNvPr>
          <p:cNvSpPr/>
          <p:nvPr/>
        </p:nvSpPr>
        <p:spPr>
          <a:xfrm>
            <a:off x="6742173" y="4367071"/>
            <a:ext cx="468000" cy="319177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3C5FBA3-4845-20C7-5AB5-C26226AE6C67}"/>
              </a:ext>
            </a:extLst>
          </p:cNvPr>
          <p:cNvSpPr/>
          <p:nvPr/>
        </p:nvSpPr>
        <p:spPr>
          <a:xfrm>
            <a:off x="9912498" y="3776054"/>
            <a:ext cx="468000" cy="319177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53E7BCEF-7560-BBDE-62DD-5794D7A4853A}"/>
                  </a:ext>
                </a:extLst>
              </p:cNvPr>
              <p:cNvSpPr/>
              <p:nvPr/>
            </p:nvSpPr>
            <p:spPr>
              <a:xfrm>
                <a:off x="10402827" y="3776054"/>
                <a:ext cx="468000" cy="319177"/>
              </a:xfrm>
              <a:prstGeom prst="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2,96</m:t>
                      </m:r>
                    </m:oMath>
                  </m:oMathPara>
                </a14:m>
                <a:endParaRPr lang="pt-BR" sz="14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53E7BCEF-7560-BBDE-62DD-5794D7A4853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02827" y="3776054"/>
                <a:ext cx="468000" cy="319177"/>
              </a:xfrm>
              <a:prstGeom prst="rect">
                <a:avLst/>
              </a:prstGeom>
              <a:blipFill>
                <a:blip r:embed="rId29"/>
                <a:stretch>
                  <a:fillRect l="-2564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26" name="Rectangle 1025">
            <a:extLst>
              <a:ext uri="{FF2B5EF4-FFF2-40B4-BE49-F238E27FC236}">
                <a16:creationId xmlns:a16="http://schemas.microsoft.com/office/drawing/2014/main" id="{7EB84432-A73B-0F7D-9274-8F1213C79CCE}"/>
              </a:ext>
            </a:extLst>
          </p:cNvPr>
          <p:cNvSpPr/>
          <p:nvPr/>
        </p:nvSpPr>
        <p:spPr>
          <a:xfrm>
            <a:off x="10893156" y="3776054"/>
            <a:ext cx="468000" cy="319177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38" name="Rectangle 1037">
            <a:extLst>
              <a:ext uri="{FF2B5EF4-FFF2-40B4-BE49-F238E27FC236}">
                <a16:creationId xmlns:a16="http://schemas.microsoft.com/office/drawing/2014/main" id="{14C4F4E2-171B-8C83-E123-E991D6133B64}"/>
              </a:ext>
            </a:extLst>
          </p:cNvPr>
          <p:cNvSpPr/>
          <p:nvPr/>
        </p:nvSpPr>
        <p:spPr>
          <a:xfrm>
            <a:off x="11383485" y="3776054"/>
            <a:ext cx="468000" cy="319177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43" name="Rectangle 1042">
            <a:extLst>
              <a:ext uri="{FF2B5EF4-FFF2-40B4-BE49-F238E27FC236}">
                <a16:creationId xmlns:a16="http://schemas.microsoft.com/office/drawing/2014/main" id="{30228EB1-33E9-4AF4-356F-81837378979B}"/>
              </a:ext>
            </a:extLst>
          </p:cNvPr>
          <p:cNvSpPr/>
          <p:nvPr/>
        </p:nvSpPr>
        <p:spPr>
          <a:xfrm>
            <a:off x="9912498" y="4118266"/>
            <a:ext cx="468000" cy="319177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62" name="Rectangle 1061">
                <a:extLst>
                  <a:ext uri="{FF2B5EF4-FFF2-40B4-BE49-F238E27FC236}">
                    <a16:creationId xmlns:a16="http://schemas.microsoft.com/office/drawing/2014/main" id="{0EDBCDB4-513E-9F95-321B-12EEDA929E7F}"/>
                  </a:ext>
                </a:extLst>
              </p:cNvPr>
              <p:cNvSpPr/>
              <p:nvPr/>
            </p:nvSpPr>
            <p:spPr>
              <a:xfrm>
                <a:off x="10402827" y="4118266"/>
                <a:ext cx="468000" cy="319177"/>
              </a:xfrm>
              <a:prstGeom prst="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−1,74</m:t>
                      </m:r>
                    </m:oMath>
                  </m:oMathPara>
                </a14:m>
                <a:endParaRPr lang="pt-BR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62" name="Rectangle 1061">
                <a:extLst>
                  <a:ext uri="{FF2B5EF4-FFF2-40B4-BE49-F238E27FC236}">
                    <a16:creationId xmlns:a16="http://schemas.microsoft.com/office/drawing/2014/main" id="{0EDBCDB4-513E-9F95-321B-12EEDA929E7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02827" y="4118266"/>
                <a:ext cx="468000" cy="319177"/>
              </a:xfrm>
              <a:prstGeom prst="rect">
                <a:avLst/>
              </a:prstGeom>
              <a:blipFill>
                <a:blip r:embed="rId30"/>
                <a:stretch>
                  <a:fillRect l="-10256" r="-641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63" name="Rectangle 1062">
            <a:extLst>
              <a:ext uri="{FF2B5EF4-FFF2-40B4-BE49-F238E27FC236}">
                <a16:creationId xmlns:a16="http://schemas.microsoft.com/office/drawing/2014/main" id="{AD5AB29B-F00F-00A1-142A-9ED063851743}"/>
              </a:ext>
            </a:extLst>
          </p:cNvPr>
          <p:cNvSpPr/>
          <p:nvPr/>
        </p:nvSpPr>
        <p:spPr>
          <a:xfrm>
            <a:off x="10893156" y="4118266"/>
            <a:ext cx="468000" cy="319177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64" name="Rectangle 1063">
            <a:extLst>
              <a:ext uri="{FF2B5EF4-FFF2-40B4-BE49-F238E27FC236}">
                <a16:creationId xmlns:a16="http://schemas.microsoft.com/office/drawing/2014/main" id="{2F8C8BC1-EC49-51B1-3D9B-A37EB7A6EDA2}"/>
              </a:ext>
            </a:extLst>
          </p:cNvPr>
          <p:cNvSpPr/>
          <p:nvPr/>
        </p:nvSpPr>
        <p:spPr>
          <a:xfrm>
            <a:off x="11383485" y="4118266"/>
            <a:ext cx="468000" cy="319177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65" name="Rectangle 1064">
            <a:extLst>
              <a:ext uri="{FF2B5EF4-FFF2-40B4-BE49-F238E27FC236}">
                <a16:creationId xmlns:a16="http://schemas.microsoft.com/office/drawing/2014/main" id="{635594EA-F3FA-DB31-4178-1ACF6170442F}"/>
              </a:ext>
            </a:extLst>
          </p:cNvPr>
          <p:cNvSpPr/>
          <p:nvPr/>
        </p:nvSpPr>
        <p:spPr>
          <a:xfrm>
            <a:off x="9912498" y="4458211"/>
            <a:ext cx="468000" cy="319177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66" name="Rectangle 1065">
                <a:extLst>
                  <a:ext uri="{FF2B5EF4-FFF2-40B4-BE49-F238E27FC236}">
                    <a16:creationId xmlns:a16="http://schemas.microsoft.com/office/drawing/2014/main" id="{893AC88F-5D92-4D11-0E95-B177E607821F}"/>
                  </a:ext>
                </a:extLst>
              </p:cNvPr>
              <p:cNvSpPr/>
              <p:nvPr/>
            </p:nvSpPr>
            <p:spPr>
              <a:xfrm>
                <a:off x="10402827" y="4458211"/>
                <a:ext cx="468000" cy="319177"/>
              </a:xfrm>
              <a:prstGeom prst="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1,78</m:t>
                      </m:r>
                    </m:oMath>
                  </m:oMathPara>
                </a14:m>
                <a:endParaRPr lang="pt-BR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66" name="Rectangle 1065">
                <a:extLst>
                  <a:ext uri="{FF2B5EF4-FFF2-40B4-BE49-F238E27FC236}">
                    <a16:creationId xmlns:a16="http://schemas.microsoft.com/office/drawing/2014/main" id="{893AC88F-5D92-4D11-0E95-B177E607821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02827" y="4458211"/>
                <a:ext cx="468000" cy="319177"/>
              </a:xfrm>
              <a:prstGeom prst="rect">
                <a:avLst/>
              </a:prstGeom>
              <a:blipFill>
                <a:blip r:embed="rId31"/>
                <a:stretch>
                  <a:fillRect l="-2564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67" name="Rectangle 1066">
            <a:extLst>
              <a:ext uri="{FF2B5EF4-FFF2-40B4-BE49-F238E27FC236}">
                <a16:creationId xmlns:a16="http://schemas.microsoft.com/office/drawing/2014/main" id="{43C1F803-7906-80F1-B615-3D0BF4750B9E}"/>
              </a:ext>
            </a:extLst>
          </p:cNvPr>
          <p:cNvSpPr/>
          <p:nvPr/>
        </p:nvSpPr>
        <p:spPr>
          <a:xfrm>
            <a:off x="10893156" y="4458211"/>
            <a:ext cx="468000" cy="319177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68" name="Rectangle 1067">
            <a:extLst>
              <a:ext uri="{FF2B5EF4-FFF2-40B4-BE49-F238E27FC236}">
                <a16:creationId xmlns:a16="http://schemas.microsoft.com/office/drawing/2014/main" id="{3E137B0E-D441-C30F-4938-076EC892CF52}"/>
              </a:ext>
            </a:extLst>
          </p:cNvPr>
          <p:cNvSpPr/>
          <p:nvPr/>
        </p:nvSpPr>
        <p:spPr>
          <a:xfrm>
            <a:off x="11383485" y="4458211"/>
            <a:ext cx="468000" cy="319177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69" name="Rectangle 1068">
            <a:extLst>
              <a:ext uri="{FF2B5EF4-FFF2-40B4-BE49-F238E27FC236}">
                <a16:creationId xmlns:a16="http://schemas.microsoft.com/office/drawing/2014/main" id="{4090E3C8-34FE-2AA6-A7DD-DDA51739802C}"/>
              </a:ext>
            </a:extLst>
          </p:cNvPr>
          <p:cNvSpPr/>
          <p:nvPr/>
        </p:nvSpPr>
        <p:spPr>
          <a:xfrm>
            <a:off x="659373" y="3574146"/>
            <a:ext cx="377181" cy="1110482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70" name="Rectangle 1069">
            <a:extLst>
              <a:ext uri="{FF2B5EF4-FFF2-40B4-BE49-F238E27FC236}">
                <a16:creationId xmlns:a16="http://schemas.microsoft.com/office/drawing/2014/main" id="{2DB302CB-CC06-425D-AC40-CA797C546AF1}"/>
              </a:ext>
            </a:extLst>
          </p:cNvPr>
          <p:cNvSpPr/>
          <p:nvPr/>
        </p:nvSpPr>
        <p:spPr>
          <a:xfrm>
            <a:off x="3143755" y="3618829"/>
            <a:ext cx="550621" cy="803567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71" name="Rectangle 1070">
            <a:extLst>
              <a:ext uri="{FF2B5EF4-FFF2-40B4-BE49-F238E27FC236}">
                <a16:creationId xmlns:a16="http://schemas.microsoft.com/office/drawing/2014/main" id="{8D5B7116-BAC6-49ED-E7D0-3708E57397F6}"/>
              </a:ext>
            </a:extLst>
          </p:cNvPr>
          <p:cNvSpPr/>
          <p:nvPr/>
        </p:nvSpPr>
        <p:spPr>
          <a:xfrm>
            <a:off x="5720204" y="3654644"/>
            <a:ext cx="550621" cy="1029984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72" name="Rectangle 1071">
            <a:extLst>
              <a:ext uri="{FF2B5EF4-FFF2-40B4-BE49-F238E27FC236}">
                <a16:creationId xmlns:a16="http://schemas.microsoft.com/office/drawing/2014/main" id="{F3CD0E10-0DBA-848F-415A-837294838A46}"/>
              </a:ext>
            </a:extLst>
          </p:cNvPr>
          <p:cNvSpPr/>
          <p:nvPr/>
        </p:nvSpPr>
        <p:spPr>
          <a:xfrm>
            <a:off x="10348937" y="3692489"/>
            <a:ext cx="550621" cy="1187853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F1FB6DD-64DD-0107-8311-70193EDB1FFF}"/>
              </a:ext>
            </a:extLst>
          </p:cNvPr>
          <p:cNvSpPr txBox="1"/>
          <p:nvPr/>
        </p:nvSpPr>
        <p:spPr>
          <a:xfrm>
            <a:off x="785004" y="1697830"/>
            <a:ext cx="10506973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400" dirty="0"/>
              <a:t>Isso funciona bem em treinamento, quando temos </a:t>
            </a:r>
            <a:r>
              <a:rPr lang="pt-BR" sz="2400" i="1" dirty="0"/>
              <a:t>mini </a:t>
            </a:r>
            <a:r>
              <a:rPr lang="pt-BR" sz="2400" i="1" dirty="0" err="1"/>
              <a:t>batchs</a:t>
            </a:r>
            <a:endParaRPr lang="pt-BR" sz="2400" i="1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sz="2000" dirty="0"/>
              <a:t>Em inferência (sem </a:t>
            </a:r>
            <a:r>
              <a:rPr lang="pt-BR" sz="2000" i="1" dirty="0"/>
              <a:t>mini </a:t>
            </a:r>
            <a:r>
              <a:rPr lang="pt-BR" sz="2000" i="1" dirty="0" err="1"/>
              <a:t>batchs</a:t>
            </a:r>
            <a:r>
              <a:rPr lang="pt-BR" sz="2000" dirty="0"/>
              <a:t>), precisamos ter uma média e um desvio padrão para atualizar os dados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5A366450-3171-AF2E-1173-5566DAB49973}"/>
              </a:ext>
            </a:extLst>
          </p:cNvPr>
          <p:cNvSpPr/>
          <p:nvPr/>
        </p:nvSpPr>
        <p:spPr>
          <a:xfrm>
            <a:off x="2696504" y="4738858"/>
            <a:ext cx="2574682" cy="1590098"/>
          </a:xfrm>
          <a:prstGeom prst="rect">
            <a:avLst/>
          </a:prstGeom>
          <a:solidFill>
            <a:srgbClr val="DAE3F3">
              <a:alpha val="94902"/>
            </a:srgbClr>
          </a:solidFill>
          <a:ln>
            <a:noFill/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8140685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9" name="Rectangle: Rounded Corners 1038">
            <a:extLst>
              <a:ext uri="{FF2B5EF4-FFF2-40B4-BE49-F238E27FC236}">
                <a16:creationId xmlns:a16="http://schemas.microsoft.com/office/drawing/2014/main" id="{206AFDD9-1F26-000E-6015-4C8FEC37AF5D}"/>
              </a:ext>
            </a:extLst>
          </p:cNvPr>
          <p:cNvSpPr/>
          <p:nvPr/>
        </p:nvSpPr>
        <p:spPr>
          <a:xfrm>
            <a:off x="2438654" y="2789051"/>
            <a:ext cx="6838658" cy="3545153"/>
          </a:xfrm>
          <a:prstGeom prst="roundRect">
            <a:avLst>
              <a:gd name="adj" fmla="val 7217"/>
            </a:avLst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839EA5-D312-93A9-B084-C39FADB337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Batch Norm - Exemplo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CAE728-17C8-60F0-FE58-26D37AFA3C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42</a:t>
            </a:fld>
            <a:endParaRPr lang="pt-BR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BC3EE46-2D0B-78F6-C106-1216F939EDF9}"/>
              </a:ext>
            </a:extLst>
          </p:cNvPr>
          <p:cNvSpPr txBox="1"/>
          <p:nvPr/>
        </p:nvSpPr>
        <p:spPr>
          <a:xfrm>
            <a:off x="0" y="6582975"/>
            <a:ext cx="956453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200" dirty="0"/>
              <a:t>Fonte imagem: https://towardsdatascience.com/batch-norm-explained-visually-how-it-works-and-why-neural-networks-need-it-b18919692739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B10146F-6A3C-E9EB-51F7-56358628A632}"/>
              </a:ext>
            </a:extLst>
          </p:cNvPr>
          <p:cNvSpPr/>
          <p:nvPr/>
        </p:nvSpPr>
        <p:spPr>
          <a:xfrm>
            <a:off x="337871" y="4322032"/>
            <a:ext cx="319177" cy="319177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7FF3EE-CA26-EC19-BD8E-FA5C86DAEEB0}"/>
              </a:ext>
            </a:extLst>
          </p:cNvPr>
          <p:cNvSpPr/>
          <p:nvPr/>
        </p:nvSpPr>
        <p:spPr>
          <a:xfrm>
            <a:off x="674600" y="4322032"/>
            <a:ext cx="375688" cy="319177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2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C8BA06A-F643-7ACB-4AFA-E9ADA6154FFB}"/>
              </a:ext>
            </a:extLst>
          </p:cNvPr>
          <p:cNvSpPr/>
          <p:nvPr/>
        </p:nvSpPr>
        <p:spPr>
          <a:xfrm>
            <a:off x="1064694" y="4320147"/>
            <a:ext cx="319177" cy="319177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75DDA18-6DF6-F035-0D03-265ED01685BD}"/>
              </a:ext>
            </a:extLst>
          </p:cNvPr>
          <p:cNvSpPr/>
          <p:nvPr/>
        </p:nvSpPr>
        <p:spPr>
          <a:xfrm>
            <a:off x="1404598" y="4320146"/>
            <a:ext cx="319177" cy="319177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C1E78E6-2EE3-F5D9-A92A-295464DE9863}"/>
              </a:ext>
            </a:extLst>
          </p:cNvPr>
          <p:cNvSpPr/>
          <p:nvPr/>
        </p:nvSpPr>
        <p:spPr>
          <a:xfrm>
            <a:off x="337871" y="3959436"/>
            <a:ext cx="319177" cy="319177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662516E-2EF8-ED53-D25C-F8285584E3D8}"/>
              </a:ext>
            </a:extLst>
          </p:cNvPr>
          <p:cNvSpPr/>
          <p:nvPr/>
        </p:nvSpPr>
        <p:spPr>
          <a:xfrm>
            <a:off x="674600" y="3959436"/>
            <a:ext cx="375688" cy="319177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-1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1645738-3C6E-1A0A-B8F0-64A182A07F99}"/>
              </a:ext>
            </a:extLst>
          </p:cNvPr>
          <p:cNvSpPr/>
          <p:nvPr/>
        </p:nvSpPr>
        <p:spPr>
          <a:xfrm>
            <a:off x="1064694" y="3957551"/>
            <a:ext cx="319177" cy="319177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8D43920-4369-388A-9E74-7B6AF0D1EE55}"/>
              </a:ext>
            </a:extLst>
          </p:cNvPr>
          <p:cNvSpPr/>
          <p:nvPr/>
        </p:nvSpPr>
        <p:spPr>
          <a:xfrm>
            <a:off x="1404598" y="3957550"/>
            <a:ext cx="319177" cy="319177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C95A93A-E7BC-C5AF-7462-13DACB311257}"/>
              </a:ext>
            </a:extLst>
          </p:cNvPr>
          <p:cNvSpPr/>
          <p:nvPr/>
        </p:nvSpPr>
        <p:spPr>
          <a:xfrm>
            <a:off x="337871" y="3596840"/>
            <a:ext cx="319177" cy="319177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69463FB-E674-6629-3672-CD3F6CD4A541}"/>
              </a:ext>
            </a:extLst>
          </p:cNvPr>
          <p:cNvSpPr/>
          <p:nvPr/>
        </p:nvSpPr>
        <p:spPr>
          <a:xfrm>
            <a:off x="674600" y="3596840"/>
            <a:ext cx="375688" cy="319177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3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2926178-20B9-CB69-D5F9-3A635322357A}"/>
              </a:ext>
            </a:extLst>
          </p:cNvPr>
          <p:cNvSpPr/>
          <p:nvPr/>
        </p:nvSpPr>
        <p:spPr>
          <a:xfrm>
            <a:off x="1064694" y="3594955"/>
            <a:ext cx="319177" cy="319177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0C263CE-A8A2-A35B-AB10-FC893977635A}"/>
              </a:ext>
            </a:extLst>
          </p:cNvPr>
          <p:cNvSpPr/>
          <p:nvPr/>
        </p:nvSpPr>
        <p:spPr>
          <a:xfrm>
            <a:off x="1404598" y="3594954"/>
            <a:ext cx="319177" cy="319177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D341D891-C4A6-BBD1-C92A-0143C1BC86D2}"/>
              </a:ext>
            </a:extLst>
          </p:cNvPr>
          <p:cNvCxnSpPr>
            <a:cxnSpLocks/>
          </p:cNvCxnSpPr>
          <p:nvPr/>
        </p:nvCxnSpPr>
        <p:spPr>
          <a:xfrm>
            <a:off x="325920" y="3472419"/>
            <a:ext cx="1347665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6E578679-F5D5-D099-1219-024994E4CEB5}"/>
              </a:ext>
            </a:extLst>
          </p:cNvPr>
          <p:cNvSpPr txBox="1"/>
          <p:nvPr/>
        </p:nvSpPr>
        <p:spPr>
          <a:xfrm>
            <a:off x="337871" y="3059668"/>
            <a:ext cx="9544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/>
              <a:t>features</a:t>
            </a:r>
            <a:endParaRPr lang="pt-BR" dirty="0"/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1ACF99AE-33B4-94A6-B2D2-B8C963B09196}"/>
              </a:ext>
            </a:extLst>
          </p:cNvPr>
          <p:cNvCxnSpPr>
            <a:cxnSpLocks/>
          </p:cNvCxnSpPr>
          <p:nvPr/>
        </p:nvCxnSpPr>
        <p:spPr>
          <a:xfrm>
            <a:off x="165928" y="3596839"/>
            <a:ext cx="0" cy="1044369"/>
          </a:xfrm>
          <a:prstGeom prst="straightConnector1">
            <a:avLst/>
          </a:prstGeom>
          <a:ln w="28575">
            <a:solidFill>
              <a:srgbClr val="0070C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614DAD50-672D-7F4F-B671-E0EF74F88BCC}"/>
                  </a:ext>
                </a:extLst>
              </p:cNvPr>
              <p:cNvSpPr/>
              <p:nvPr/>
            </p:nvSpPr>
            <p:spPr>
              <a:xfrm>
                <a:off x="2706730" y="4047895"/>
                <a:ext cx="468000" cy="319177"/>
              </a:xfrm>
              <a:prstGeom prst="rect">
                <a:avLst/>
              </a:prstGeom>
            </p:spPr>
            <p:style>
              <a:lnRef idx="2">
                <a:schemeClr val="accent5">
                  <a:shade val="15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614DAD50-672D-7F4F-B671-E0EF74F88BC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06730" y="4047895"/>
                <a:ext cx="468000" cy="319177"/>
              </a:xfrm>
              <a:prstGeom prst="rect">
                <a:avLst/>
              </a:prstGeom>
              <a:blipFill>
                <a:blip r:embed="rId2"/>
                <a:stretch>
                  <a:fillRect b="-5556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FB67D806-D665-EA8A-9981-6AB16DE7E82D}"/>
                  </a:ext>
                </a:extLst>
              </p:cNvPr>
              <p:cNvSpPr/>
              <p:nvPr/>
            </p:nvSpPr>
            <p:spPr>
              <a:xfrm>
                <a:off x="3202565" y="4047895"/>
                <a:ext cx="468000" cy="319177"/>
              </a:xfrm>
              <a:prstGeom prst="rect">
                <a:avLst/>
              </a:prstGeom>
            </p:spPr>
            <p:style>
              <a:lnRef idx="2">
                <a:schemeClr val="accent5">
                  <a:shade val="15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1,7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FB67D806-D665-EA8A-9981-6AB16DE7E82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2565" y="4047895"/>
                <a:ext cx="468000" cy="319177"/>
              </a:xfrm>
              <a:prstGeom prst="rect">
                <a:avLst/>
              </a:prstGeom>
              <a:blipFill>
                <a:blip r:embed="rId3"/>
                <a:stretch>
                  <a:fillRect l="-379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35568E5A-3F79-2331-A1AD-32935F21918D}"/>
                  </a:ext>
                </a:extLst>
              </p:cNvPr>
              <p:cNvSpPr/>
              <p:nvPr/>
            </p:nvSpPr>
            <p:spPr>
              <a:xfrm>
                <a:off x="3698400" y="4047895"/>
                <a:ext cx="468000" cy="319177"/>
              </a:xfrm>
              <a:prstGeom prst="rect">
                <a:avLst/>
              </a:prstGeom>
            </p:spPr>
            <p:style>
              <a:lnRef idx="2">
                <a:schemeClr val="accent5">
                  <a:shade val="15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35568E5A-3F79-2331-A1AD-32935F21918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98400" y="4047895"/>
                <a:ext cx="468000" cy="319177"/>
              </a:xfrm>
              <a:prstGeom prst="rect">
                <a:avLst/>
              </a:prstGeom>
              <a:blipFill>
                <a:blip r:embed="rId4"/>
                <a:stretch>
                  <a:fillRect b="-5556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DEA5C93A-485F-A60E-719C-35A41744DA0B}"/>
                  </a:ext>
                </a:extLst>
              </p:cNvPr>
              <p:cNvSpPr/>
              <p:nvPr/>
            </p:nvSpPr>
            <p:spPr>
              <a:xfrm>
                <a:off x="4194234" y="4047894"/>
                <a:ext cx="468000" cy="319177"/>
              </a:xfrm>
              <a:prstGeom prst="rect">
                <a:avLst/>
              </a:prstGeom>
            </p:spPr>
            <p:style>
              <a:lnRef idx="2">
                <a:schemeClr val="accent5">
                  <a:shade val="15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DEA5C93A-485F-A60E-719C-35A41744DA0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94234" y="4047894"/>
                <a:ext cx="468000" cy="319177"/>
              </a:xfrm>
              <a:prstGeom prst="rect">
                <a:avLst/>
              </a:prstGeom>
              <a:blipFill>
                <a:blip r:embed="rId5"/>
                <a:stretch>
                  <a:fillRect b="-5556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Rectangle 37">
                <a:extLst>
                  <a:ext uri="{FF2B5EF4-FFF2-40B4-BE49-F238E27FC236}">
                    <a16:creationId xmlns:a16="http://schemas.microsoft.com/office/drawing/2014/main" id="{1727C0A4-31A4-4F8C-0753-9667F1BC43FA}"/>
                  </a:ext>
                </a:extLst>
              </p:cNvPr>
              <p:cNvSpPr/>
              <p:nvPr/>
            </p:nvSpPr>
            <p:spPr>
              <a:xfrm>
                <a:off x="2706730" y="3646945"/>
                <a:ext cx="468000" cy="319177"/>
              </a:xfrm>
              <a:prstGeom prst="rect">
                <a:avLst/>
              </a:prstGeom>
            </p:spPr>
            <p:style>
              <a:lnRef idx="2">
                <a:schemeClr val="accent5">
                  <a:shade val="15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38" name="Rectangle 37">
                <a:extLst>
                  <a:ext uri="{FF2B5EF4-FFF2-40B4-BE49-F238E27FC236}">
                    <a16:creationId xmlns:a16="http://schemas.microsoft.com/office/drawing/2014/main" id="{1727C0A4-31A4-4F8C-0753-9667F1BC43F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06730" y="3646945"/>
                <a:ext cx="468000" cy="319177"/>
              </a:xfrm>
              <a:prstGeom prst="rect">
                <a:avLst/>
              </a:prstGeom>
              <a:blipFill>
                <a:blip r:embed="rId6"/>
                <a:stretch>
                  <a:fillRect b="-909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Rectangle 38">
                <a:extLst>
                  <a:ext uri="{FF2B5EF4-FFF2-40B4-BE49-F238E27FC236}">
                    <a16:creationId xmlns:a16="http://schemas.microsoft.com/office/drawing/2014/main" id="{6E04EA64-A3BF-29A1-D065-B493D5FB4821}"/>
                  </a:ext>
                </a:extLst>
              </p:cNvPr>
              <p:cNvSpPr/>
              <p:nvPr/>
            </p:nvSpPr>
            <p:spPr>
              <a:xfrm>
                <a:off x="3202565" y="3646945"/>
                <a:ext cx="468000" cy="319177"/>
              </a:xfrm>
              <a:prstGeom prst="rect">
                <a:avLst/>
              </a:prstGeom>
            </p:spPr>
            <p:style>
              <a:lnRef idx="2">
                <a:schemeClr val="accent5">
                  <a:shade val="15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1,33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39" name="Rectangle 38">
                <a:extLst>
                  <a:ext uri="{FF2B5EF4-FFF2-40B4-BE49-F238E27FC236}">
                    <a16:creationId xmlns:a16="http://schemas.microsoft.com/office/drawing/2014/main" id="{6E04EA64-A3BF-29A1-D065-B493D5FB482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2565" y="3646945"/>
                <a:ext cx="468000" cy="319177"/>
              </a:xfrm>
              <a:prstGeom prst="rect">
                <a:avLst/>
              </a:prstGeom>
              <a:blipFill>
                <a:blip r:embed="rId7"/>
                <a:stretch>
                  <a:fillRect l="-16456" r="-7595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8E8889CC-9894-6F0B-433C-B4EAA0B05DB4}"/>
                  </a:ext>
                </a:extLst>
              </p:cNvPr>
              <p:cNvSpPr/>
              <p:nvPr/>
            </p:nvSpPr>
            <p:spPr>
              <a:xfrm>
                <a:off x="3698400" y="3646946"/>
                <a:ext cx="468000" cy="319177"/>
              </a:xfrm>
              <a:prstGeom prst="rect">
                <a:avLst/>
              </a:prstGeom>
            </p:spPr>
            <p:style>
              <a:lnRef idx="2">
                <a:schemeClr val="accent5">
                  <a:shade val="15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8E8889CC-9894-6F0B-433C-B4EAA0B05DB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98400" y="3646946"/>
                <a:ext cx="468000" cy="319177"/>
              </a:xfrm>
              <a:prstGeom prst="rect">
                <a:avLst/>
              </a:prstGeom>
              <a:blipFill>
                <a:blip r:embed="rId8"/>
                <a:stretch>
                  <a:fillRect b="-909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Rectangle 40">
                <a:extLst>
                  <a:ext uri="{FF2B5EF4-FFF2-40B4-BE49-F238E27FC236}">
                    <a16:creationId xmlns:a16="http://schemas.microsoft.com/office/drawing/2014/main" id="{CC73C869-4D94-A403-8EE8-FA1F50EE4364}"/>
                  </a:ext>
                </a:extLst>
              </p:cNvPr>
              <p:cNvSpPr/>
              <p:nvPr/>
            </p:nvSpPr>
            <p:spPr>
              <a:xfrm>
                <a:off x="4194234" y="3646945"/>
                <a:ext cx="468000" cy="319177"/>
              </a:xfrm>
              <a:prstGeom prst="rect">
                <a:avLst/>
              </a:prstGeom>
            </p:spPr>
            <p:style>
              <a:lnRef idx="2">
                <a:schemeClr val="accent5">
                  <a:shade val="15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41" name="Rectangle 40">
                <a:extLst>
                  <a:ext uri="{FF2B5EF4-FFF2-40B4-BE49-F238E27FC236}">
                    <a16:creationId xmlns:a16="http://schemas.microsoft.com/office/drawing/2014/main" id="{CC73C869-4D94-A403-8EE8-FA1F50EE436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94234" y="3646945"/>
                <a:ext cx="468000" cy="319177"/>
              </a:xfrm>
              <a:prstGeom prst="rect">
                <a:avLst/>
              </a:prstGeom>
              <a:blipFill>
                <a:blip r:embed="rId9"/>
                <a:stretch>
                  <a:fillRect b="-909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0" name="Rectangle 49">
            <a:extLst>
              <a:ext uri="{FF2B5EF4-FFF2-40B4-BE49-F238E27FC236}">
                <a16:creationId xmlns:a16="http://schemas.microsoft.com/office/drawing/2014/main" id="{AA7FCF3C-958C-340A-BED5-F59B13B8CD7E}"/>
              </a:ext>
            </a:extLst>
          </p:cNvPr>
          <p:cNvSpPr/>
          <p:nvPr/>
        </p:nvSpPr>
        <p:spPr>
          <a:xfrm>
            <a:off x="5271186" y="3684914"/>
            <a:ext cx="468000" cy="319177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1" name="Rectangle 50">
                <a:extLst>
                  <a:ext uri="{FF2B5EF4-FFF2-40B4-BE49-F238E27FC236}">
                    <a16:creationId xmlns:a16="http://schemas.microsoft.com/office/drawing/2014/main" id="{D3338B19-1552-E0E1-D778-87795F526C73}"/>
                  </a:ext>
                </a:extLst>
              </p:cNvPr>
              <p:cNvSpPr/>
              <p:nvPr/>
            </p:nvSpPr>
            <p:spPr>
              <a:xfrm>
                <a:off x="5761515" y="3684914"/>
                <a:ext cx="468000" cy="319177"/>
              </a:xfrm>
              <a:prstGeom prst="rect">
                <a:avLst/>
              </a:prstGeom>
              <a:solidFill>
                <a:srgbClr val="FFFF00"/>
              </a:solidFill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0,98</m:t>
                      </m:r>
                    </m:oMath>
                  </m:oMathPara>
                </a14:m>
                <a:endParaRPr lang="pt-BR" sz="12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51" name="Rectangle 50">
                <a:extLst>
                  <a:ext uri="{FF2B5EF4-FFF2-40B4-BE49-F238E27FC236}">
                    <a16:creationId xmlns:a16="http://schemas.microsoft.com/office/drawing/2014/main" id="{D3338B19-1552-E0E1-D778-87795F526C7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61515" y="3684914"/>
                <a:ext cx="468000" cy="319177"/>
              </a:xfrm>
              <a:prstGeom prst="rect">
                <a:avLst/>
              </a:prstGeom>
              <a:blipFill>
                <a:blip r:embed="rId10"/>
                <a:stretch>
                  <a:fillRect l="-886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2" name="Rectangle 51">
            <a:extLst>
              <a:ext uri="{FF2B5EF4-FFF2-40B4-BE49-F238E27FC236}">
                <a16:creationId xmlns:a16="http://schemas.microsoft.com/office/drawing/2014/main" id="{C423CA8C-0505-ABC4-8A28-FC3672BF7BD0}"/>
              </a:ext>
            </a:extLst>
          </p:cNvPr>
          <p:cNvSpPr/>
          <p:nvPr/>
        </p:nvSpPr>
        <p:spPr>
          <a:xfrm>
            <a:off x="6251844" y="3684914"/>
            <a:ext cx="468000" cy="319177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D7F39CA0-E88E-ED6B-2F28-D74AC8B74926}"/>
              </a:ext>
            </a:extLst>
          </p:cNvPr>
          <p:cNvSpPr/>
          <p:nvPr/>
        </p:nvSpPr>
        <p:spPr>
          <a:xfrm>
            <a:off x="6742173" y="3684914"/>
            <a:ext cx="468000" cy="319177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4" name="Rectangle 53">
                <a:extLst>
                  <a:ext uri="{FF2B5EF4-FFF2-40B4-BE49-F238E27FC236}">
                    <a16:creationId xmlns:a16="http://schemas.microsoft.com/office/drawing/2014/main" id="{CC933B5B-9DC6-3265-B2AB-43C8DC59B11E}"/>
                  </a:ext>
                </a:extLst>
              </p:cNvPr>
              <p:cNvSpPr/>
              <p:nvPr/>
            </p:nvSpPr>
            <p:spPr>
              <a:xfrm>
                <a:off x="7729083" y="4047895"/>
                <a:ext cx="319177" cy="319177"/>
              </a:xfrm>
              <a:prstGeom prst="rect">
                <a:avLst/>
              </a:prstGeom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54" name="Rectangle 53">
                <a:extLst>
                  <a:ext uri="{FF2B5EF4-FFF2-40B4-BE49-F238E27FC236}">
                    <a16:creationId xmlns:a16="http://schemas.microsoft.com/office/drawing/2014/main" id="{CC933B5B-9DC6-3265-B2AB-43C8DC59B11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29083" y="4047895"/>
                <a:ext cx="319177" cy="319177"/>
              </a:xfrm>
              <a:prstGeom prst="rect">
                <a:avLst/>
              </a:prstGeom>
              <a:blipFill>
                <a:blip r:embed="rId11"/>
                <a:stretch>
                  <a:fillRect l="-25926" b="-22222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Rectangle 54">
                <a:extLst>
                  <a:ext uri="{FF2B5EF4-FFF2-40B4-BE49-F238E27FC236}">
                    <a16:creationId xmlns:a16="http://schemas.microsoft.com/office/drawing/2014/main" id="{EE0863D9-2BF9-B6DA-44EF-011C63D07292}"/>
                  </a:ext>
                </a:extLst>
              </p:cNvPr>
              <p:cNvSpPr/>
              <p:nvPr/>
            </p:nvSpPr>
            <p:spPr>
              <a:xfrm>
                <a:off x="8065812" y="4047895"/>
                <a:ext cx="319177" cy="319177"/>
              </a:xfrm>
              <a:prstGeom prst="rect">
                <a:avLst/>
              </a:prstGeom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55" name="Rectangle 54">
                <a:extLst>
                  <a:ext uri="{FF2B5EF4-FFF2-40B4-BE49-F238E27FC236}">
                    <a16:creationId xmlns:a16="http://schemas.microsoft.com/office/drawing/2014/main" id="{EE0863D9-2BF9-B6DA-44EF-011C63D0729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65812" y="4047895"/>
                <a:ext cx="319177" cy="319177"/>
              </a:xfrm>
              <a:prstGeom prst="rect">
                <a:avLst/>
              </a:prstGeom>
              <a:blipFill>
                <a:blip r:embed="rId12"/>
                <a:stretch>
                  <a:fillRect l="-1852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Rectangle 55">
                <a:extLst>
                  <a:ext uri="{FF2B5EF4-FFF2-40B4-BE49-F238E27FC236}">
                    <a16:creationId xmlns:a16="http://schemas.microsoft.com/office/drawing/2014/main" id="{8408E87B-C7A4-8D69-DAD1-B1A56C00E439}"/>
                  </a:ext>
                </a:extLst>
              </p:cNvPr>
              <p:cNvSpPr/>
              <p:nvPr/>
            </p:nvSpPr>
            <p:spPr>
              <a:xfrm>
                <a:off x="8405716" y="4047895"/>
                <a:ext cx="319177" cy="319177"/>
              </a:xfrm>
              <a:prstGeom prst="rect">
                <a:avLst/>
              </a:prstGeom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56" name="Rectangle 55">
                <a:extLst>
                  <a:ext uri="{FF2B5EF4-FFF2-40B4-BE49-F238E27FC236}">
                    <a16:creationId xmlns:a16="http://schemas.microsoft.com/office/drawing/2014/main" id="{8408E87B-C7A4-8D69-DAD1-B1A56C00E43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05716" y="4047895"/>
                <a:ext cx="319177" cy="319177"/>
              </a:xfrm>
              <a:prstGeom prst="rect">
                <a:avLst/>
              </a:prstGeom>
              <a:blipFill>
                <a:blip r:embed="rId13"/>
                <a:stretch>
                  <a:fillRect l="-25926" b="-22222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Rectangle 56">
                <a:extLst>
                  <a:ext uri="{FF2B5EF4-FFF2-40B4-BE49-F238E27FC236}">
                    <a16:creationId xmlns:a16="http://schemas.microsoft.com/office/drawing/2014/main" id="{131EBB07-1682-B804-AA07-21F7AEA07557}"/>
                  </a:ext>
                </a:extLst>
              </p:cNvPr>
              <p:cNvSpPr/>
              <p:nvPr/>
            </p:nvSpPr>
            <p:spPr>
              <a:xfrm>
                <a:off x="8745620" y="4047894"/>
                <a:ext cx="319177" cy="319177"/>
              </a:xfrm>
              <a:prstGeom prst="rect">
                <a:avLst/>
              </a:prstGeom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57" name="Rectangle 56">
                <a:extLst>
                  <a:ext uri="{FF2B5EF4-FFF2-40B4-BE49-F238E27FC236}">
                    <a16:creationId xmlns:a16="http://schemas.microsoft.com/office/drawing/2014/main" id="{131EBB07-1682-B804-AA07-21F7AEA0755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45620" y="4047894"/>
                <a:ext cx="319177" cy="319177"/>
              </a:xfrm>
              <a:prstGeom prst="rect">
                <a:avLst/>
              </a:prstGeom>
              <a:blipFill>
                <a:blip r:embed="rId14"/>
                <a:stretch>
                  <a:fillRect l="-25926" b="-22222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Rectangle 57">
                <a:extLst>
                  <a:ext uri="{FF2B5EF4-FFF2-40B4-BE49-F238E27FC236}">
                    <a16:creationId xmlns:a16="http://schemas.microsoft.com/office/drawing/2014/main" id="{3B9A7BF8-DB55-47C0-A632-CA270BA2F6AC}"/>
                  </a:ext>
                </a:extLst>
              </p:cNvPr>
              <p:cNvSpPr/>
              <p:nvPr/>
            </p:nvSpPr>
            <p:spPr>
              <a:xfrm>
                <a:off x="7725435" y="3646946"/>
                <a:ext cx="319177" cy="319177"/>
              </a:xfrm>
              <a:prstGeom prst="rect">
                <a:avLst/>
              </a:prstGeom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𝛾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58" name="Rectangle 57">
                <a:extLst>
                  <a:ext uri="{FF2B5EF4-FFF2-40B4-BE49-F238E27FC236}">
                    <a16:creationId xmlns:a16="http://schemas.microsoft.com/office/drawing/2014/main" id="{3B9A7BF8-DB55-47C0-A632-CA270BA2F6A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25435" y="3646946"/>
                <a:ext cx="319177" cy="319177"/>
              </a:xfrm>
              <a:prstGeom prst="rect">
                <a:avLst/>
              </a:prstGeom>
              <a:blipFill>
                <a:blip r:embed="rId15"/>
                <a:stretch>
                  <a:fillRect l="-14545" b="-909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Rectangle 58">
                <a:extLst>
                  <a:ext uri="{FF2B5EF4-FFF2-40B4-BE49-F238E27FC236}">
                    <a16:creationId xmlns:a16="http://schemas.microsoft.com/office/drawing/2014/main" id="{C1AB75CC-353D-EF66-AD63-1A8574C45A8B}"/>
                  </a:ext>
                </a:extLst>
              </p:cNvPr>
              <p:cNvSpPr/>
              <p:nvPr/>
            </p:nvSpPr>
            <p:spPr>
              <a:xfrm>
                <a:off x="8062164" y="3646946"/>
                <a:ext cx="319177" cy="319177"/>
              </a:xfrm>
              <a:prstGeom prst="rect">
                <a:avLst/>
              </a:prstGeom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59" name="Rectangle 58">
                <a:extLst>
                  <a:ext uri="{FF2B5EF4-FFF2-40B4-BE49-F238E27FC236}">
                    <a16:creationId xmlns:a16="http://schemas.microsoft.com/office/drawing/2014/main" id="{C1AB75CC-353D-EF66-AD63-1A8574C45A8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62164" y="3646946"/>
                <a:ext cx="319177" cy="319177"/>
              </a:xfrm>
              <a:prstGeom prst="rect">
                <a:avLst/>
              </a:prstGeom>
              <a:blipFill>
                <a:blip r:embed="rId16"/>
                <a:stretch>
                  <a:fillRect l="-1852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" name="Rectangle 59">
                <a:extLst>
                  <a:ext uri="{FF2B5EF4-FFF2-40B4-BE49-F238E27FC236}">
                    <a16:creationId xmlns:a16="http://schemas.microsoft.com/office/drawing/2014/main" id="{C8820546-C3AC-9CC2-4E4A-91919E47E20A}"/>
                  </a:ext>
                </a:extLst>
              </p:cNvPr>
              <p:cNvSpPr/>
              <p:nvPr/>
            </p:nvSpPr>
            <p:spPr>
              <a:xfrm>
                <a:off x="8402068" y="3646946"/>
                <a:ext cx="319177" cy="319177"/>
              </a:xfrm>
              <a:prstGeom prst="rect">
                <a:avLst/>
              </a:prstGeom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𝛾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60" name="Rectangle 59">
                <a:extLst>
                  <a:ext uri="{FF2B5EF4-FFF2-40B4-BE49-F238E27FC236}">
                    <a16:creationId xmlns:a16="http://schemas.microsoft.com/office/drawing/2014/main" id="{C8820546-C3AC-9CC2-4E4A-91919E47E20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02068" y="3646946"/>
                <a:ext cx="319177" cy="319177"/>
              </a:xfrm>
              <a:prstGeom prst="rect">
                <a:avLst/>
              </a:prstGeom>
              <a:blipFill>
                <a:blip r:embed="rId17"/>
                <a:stretch>
                  <a:fillRect l="-14545" b="-909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Rectangle 60">
                <a:extLst>
                  <a:ext uri="{FF2B5EF4-FFF2-40B4-BE49-F238E27FC236}">
                    <a16:creationId xmlns:a16="http://schemas.microsoft.com/office/drawing/2014/main" id="{9846CC8F-B11B-379E-FF02-22B61579C3D0}"/>
                  </a:ext>
                </a:extLst>
              </p:cNvPr>
              <p:cNvSpPr/>
              <p:nvPr/>
            </p:nvSpPr>
            <p:spPr>
              <a:xfrm>
                <a:off x="8741972" y="3646945"/>
                <a:ext cx="319177" cy="319177"/>
              </a:xfrm>
              <a:prstGeom prst="rect">
                <a:avLst/>
              </a:prstGeom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𝛾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61" name="Rectangle 60">
                <a:extLst>
                  <a:ext uri="{FF2B5EF4-FFF2-40B4-BE49-F238E27FC236}">
                    <a16:creationId xmlns:a16="http://schemas.microsoft.com/office/drawing/2014/main" id="{9846CC8F-B11B-379E-FF02-22B61579C3D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41972" y="3646945"/>
                <a:ext cx="319177" cy="319177"/>
              </a:xfrm>
              <a:prstGeom prst="rect">
                <a:avLst/>
              </a:prstGeom>
              <a:blipFill>
                <a:blip r:embed="rId18"/>
                <a:stretch>
                  <a:fillRect l="-14815" b="-909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35" name="Straight Arrow Connector 1034">
            <a:extLst>
              <a:ext uri="{FF2B5EF4-FFF2-40B4-BE49-F238E27FC236}">
                <a16:creationId xmlns:a16="http://schemas.microsoft.com/office/drawing/2014/main" id="{6143EF1A-E438-EA24-5158-FEC150A9610E}"/>
              </a:ext>
            </a:extLst>
          </p:cNvPr>
          <p:cNvCxnSpPr>
            <a:cxnSpLocks/>
          </p:cNvCxnSpPr>
          <p:nvPr/>
        </p:nvCxnSpPr>
        <p:spPr>
          <a:xfrm>
            <a:off x="10506464" y="3574146"/>
            <a:ext cx="1347665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6" name="TextBox 1035">
            <a:extLst>
              <a:ext uri="{FF2B5EF4-FFF2-40B4-BE49-F238E27FC236}">
                <a16:creationId xmlns:a16="http://schemas.microsoft.com/office/drawing/2014/main" id="{4C661ACC-67B4-258C-015A-3832A5B76434}"/>
              </a:ext>
            </a:extLst>
          </p:cNvPr>
          <p:cNvSpPr txBox="1"/>
          <p:nvPr/>
        </p:nvSpPr>
        <p:spPr>
          <a:xfrm>
            <a:off x="10518415" y="3161395"/>
            <a:ext cx="9544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/>
              <a:t>features</a:t>
            </a:r>
            <a:endParaRPr lang="pt-BR" dirty="0"/>
          </a:p>
        </p:txBody>
      </p:sp>
      <p:cxnSp>
        <p:nvCxnSpPr>
          <p:cNvPr id="1037" name="Straight Arrow Connector 1036">
            <a:extLst>
              <a:ext uri="{FF2B5EF4-FFF2-40B4-BE49-F238E27FC236}">
                <a16:creationId xmlns:a16="http://schemas.microsoft.com/office/drawing/2014/main" id="{188908CB-0EE3-4E5A-E132-61303364FB7C}"/>
              </a:ext>
            </a:extLst>
          </p:cNvPr>
          <p:cNvCxnSpPr>
            <a:cxnSpLocks/>
          </p:cNvCxnSpPr>
          <p:nvPr/>
        </p:nvCxnSpPr>
        <p:spPr>
          <a:xfrm>
            <a:off x="12002744" y="3733019"/>
            <a:ext cx="0" cy="1044369"/>
          </a:xfrm>
          <a:prstGeom prst="straightConnector1">
            <a:avLst/>
          </a:prstGeom>
          <a:ln w="28575">
            <a:solidFill>
              <a:srgbClr val="0070C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0" name="Rectangle 1039">
            <a:extLst>
              <a:ext uri="{FF2B5EF4-FFF2-40B4-BE49-F238E27FC236}">
                <a16:creationId xmlns:a16="http://schemas.microsoft.com/office/drawing/2014/main" id="{86E43187-4259-FCA9-AA89-CC3E66BC1DFE}"/>
              </a:ext>
            </a:extLst>
          </p:cNvPr>
          <p:cNvSpPr/>
          <p:nvPr/>
        </p:nvSpPr>
        <p:spPr>
          <a:xfrm>
            <a:off x="2604980" y="3221382"/>
            <a:ext cx="2142450" cy="1226690"/>
          </a:xfrm>
          <a:prstGeom prst="rect">
            <a:avLst/>
          </a:prstGeom>
          <a:noFill/>
          <a:ln w="1905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41" name="Rectangle 1040">
            <a:extLst>
              <a:ext uri="{FF2B5EF4-FFF2-40B4-BE49-F238E27FC236}">
                <a16:creationId xmlns:a16="http://schemas.microsoft.com/office/drawing/2014/main" id="{F543F008-6F11-B14F-DFA6-D9A2AAC0AB71}"/>
              </a:ext>
            </a:extLst>
          </p:cNvPr>
          <p:cNvSpPr/>
          <p:nvPr/>
        </p:nvSpPr>
        <p:spPr>
          <a:xfrm>
            <a:off x="7590666" y="3209447"/>
            <a:ext cx="1573789" cy="1352182"/>
          </a:xfrm>
          <a:prstGeom prst="rect">
            <a:avLst/>
          </a:prstGeom>
          <a:noFill/>
          <a:ln w="1905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42" name="TextBox 1041">
            <a:extLst>
              <a:ext uri="{FF2B5EF4-FFF2-40B4-BE49-F238E27FC236}">
                <a16:creationId xmlns:a16="http://schemas.microsoft.com/office/drawing/2014/main" id="{02A1225E-C4CB-3460-EAEF-B431C6B64197}"/>
              </a:ext>
            </a:extLst>
          </p:cNvPr>
          <p:cNvSpPr txBox="1"/>
          <p:nvPr/>
        </p:nvSpPr>
        <p:spPr>
          <a:xfrm>
            <a:off x="3224692" y="3249497"/>
            <a:ext cx="12592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i="1" dirty="0" err="1"/>
              <a:t>mean</a:t>
            </a:r>
            <a:r>
              <a:rPr lang="pt-BR" dirty="0"/>
              <a:t> e </a:t>
            </a:r>
            <a:r>
              <a:rPr lang="pt-BR" i="1" dirty="0" err="1"/>
              <a:t>std</a:t>
            </a:r>
            <a:endParaRPr lang="pt-BR" i="1" dirty="0"/>
          </a:p>
        </p:txBody>
      </p:sp>
      <p:sp>
        <p:nvSpPr>
          <p:cNvPr id="1044" name="TextBox 1043">
            <a:extLst>
              <a:ext uri="{FF2B5EF4-FFF2-40B4-BE49-F238E27FC236}">
                <a16:creationId xmlns:a16="http://schemas.microsoft.com/office/drawing/2014/main" id="{678F97EA-AC4C-2098-0682-311BF2D591D5}"/>
              </a:ext>
            </a:extLst>
          </p:cNvPr>
          <p:cNvSpPr txBox="1"/>
          <p:nvPr/>
        </p:nvSpPr>
        <p:spPr>
          <a:xfrm>
            <a:off x="7744761" y="3221541"/>
            <a:ext cx="14196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i="1" dirty="0" err="1"/>
              <a:t>scale</a:t>
            </a:r>
            <a:r>
              <a:rPr lang="pt-BR" i="1" dirty="0"/>
              <a:t> </a:t>
            </a:r>
            <a:r>
              <a:rPr lang="pt-BR" dirty="0"/>
              <a:t>e</a:t>
            </a:r>
            <a:r>
              <a:rPr lang="pt-BR" i="1" dirty="0"/>
              <a:t> shift</a:t>
            </a:r>
          </a:p>
        </p:txBody>
      </p:sp>
      <p:sp>
        <p:nvSpPr>
          <p:cNvPr id="1045" name="TextBox 1044">
            <a:extLst>
              <a:ext uri="{FF2B5EF4-FFF2-40B4-BE49-F238E27FC236}">
                <a16:creationId xmlns:a16="http://schemas.microsoft.com/office/drawing/2014/main" id="{CD1A54F1-C48E-AD37-28DD-9F50E2C12F40}"/>
              </a:ext>
            </a:extLst>
          </p:cNvPr>
          <p:cNvSpPr txBox="1"/>
          <p:nvPr/>
        </p:nvSpPr>
        <p:spPr>
          <a:xfrm>
            <a:off x="5118847" y="2734821"/>
            <a:ext cx="196049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i="1" dirty="0"/>
              <a:t>batch </a:t>
            </a:r>
            <a:r>
              <a:rPr lang="pt-BR" sz="2800" i="1" dirty="0" err="1"/>
              <a:t>norm</a:t>
            </a:r>
            <a:endParaRPr lang="pt-BR" sz="2800" i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46" name="Rectangle 1045">
                <a:extLst>
                  <a:ext uri="{FF2B5EF4-FFF2-40B4-BE49-F238E27FC236}">
                    <a16:creationId xmlns:a16="http://schemas.microsoft.com/office/drawing/2014/main" id="{D41B99D9-8747-0A9B-82B4-72458674E90E}"/>
                  </a:ext>
                </a:extLst>
              </p:cNvPr>
              <p:cNvSpPr/>
              <p:nvPr/>
            </p:nvSpPr>
            <p:spPr>
              <a:xfrm>
                <a:off x="3167535" y="5771408"/>
                <a:ext cx="424826" cy="319177"/>
              </a:xfrm>
              <a:prstGeom prst="rect">
                <a:avLst/>
              </a:prstGeom>
              <a:solidFill>
                <a:srgbClr val="0070C0"/>
              </a:solidFill>
            </p:spPr>
            <p:style>
              <a:lnRef idx="2">
                <a:schemeClr val="accent5">
                  <a:shade val="15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1046" name="Rectangle 1045">
                <a:extLst>
                  <a:ext uri="{FF2B5EF4-FFF2-40B4-BE49-F238E27FC236}">
                    <a16:creationId xmlns:a16="http://schemas.microsoft.com/office/drawing/2014/main" id="{D41B99D9-8747-0A9B-82B4-72458674E90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67535" y="5771408"/>
                <a:ext cx="424826" cy="319177"/>
              </a:xfrm>
              <a:prstGeom prst="rect">
                <a:avLst/>
              </a:prstGeom>
              <a:blipFill>
                <a:blip r:embed="rId19"/>
                <a:stretch>
                  <a:fillRect l="-14085" b="-5556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47" name="Rectangle 1046">
                <a:extLst>
                  <a:ext uri="{FF2B5EF4-FFF2-40B4-BE49-F238E27FC236}">
                    <a16:creationId xmlns:a16="http://schemas.microsoft.com/office/drawing/2014/main" id="{3D5D08D1-C166-C4DA-8567-A11C776C7FC2}"/>
                  </a:ext>
                </a:extLst>
              </p:cNvPr>
              <p:cNvSpPr/>
              <p:nvPr/>
            </p:nvSpPr>
            <p:spPr>
              <a:xfrm>
                <a:off x="3642691" y="5779292"/>
                <a:ext cx="424826" cy="319177"/>
              </a:xfrm>
              <a:prstGeom prst="rect">
                <a:avLst/>
              </a:prstGeom>
              <a:solidFill>
                <a:srgbClr val="0070C0"/>
              </a:solidFill>
            </p:spPr>
            <p:style>
              <a:lnRef idx="2">
                <a:schemeClr val="accent5">
                  <a:shade val="15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1,7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1047" name="Rectangle 1046">
                <a:extLst>
                  <a:ext uri="{FF2B5EF4-FFF2-40B4-BE49-F238E27FC236}">
                    <a16:creationId xmlns:a16="http://schemas.microsoft.com/office/drawing/2014/main" id="{3D5D08D1-C166-C4DA-8567-A11C776C7FC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42691" y="5779292"/>
                <a:ext cx="424826" cy="319177"/>
              </a:xfrm>
              <a:prstGeom prst="rect">
                <a:avLst/>
              </a:prstGeom>
              <a:blipFill>
                <a:blip r:embed="rId20"/>
                <a:stretch>
                  <a:fillRect l="-9859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48" name="Rectangle 1047">
                <a:extLst>
                  <a:ext uri="{FF2B5EF4-FFF2-40B4-BE49-F238E27FC236}">
                    <a16:creationId xmlns:a16="http://schemas.microsoft.com/office/drawing/2014/main" id="{C359048D-8A89-4D4A-9D45-D60AF6954E0E}"/>
                  </a:ext>
                </a:extLst>
              </p:cNvPr>
              <p:cNvSpPr/>
              <p:nvPr/>
            </p:nvSpPr>
            <p:spPr>
              <a:xfrm>
                <a:off x="4117847" y="5779292"/>
                <a:ext cx="424826" cy="319177"/>
              </a:xfrm>
              <a:prstGeom prst="rect">
                <a:avLst/>
              </a:prstGeom>
              <a:solidFill>
                <a:srgbClr val="0070C0"/>
              </a:solidFill>
            </p:spPr>
            <p:style>
              <a:lnRef idx="2">
                <a:schemeClr val="accent5">
                  <a:shade val="15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1048" name="Rectangle 1047">
                <a:extLst>
                  <a:ext uri="{FF2B5EF4-FFF2-40B4-BE49-F238E27FC236}">
                    <a16:creationId xmlns:a16="http://schemas.microsoft.com/office/drawing/2014/main" id="{C359048D-8A89-4D4A-9D45-D60AF6954E0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7847" y="5779292"/>
                <a:ext cx="424826" cy="319177"/>
              </a:xfrm>
              <a:prstGeom prst="rect">
                <a:avLst/>
              </a:prstGeom>
              <a:blipFill>
                <a:blip r:embed="rId21"/>
                <a:stretch>
                  <a:fillRect l="-12500" b="-5556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49" name="Rectangle 1048">
                <a:extLst>
                  <a:ext uri="{FF2B5EF4-FFF2-40B4-BE49-F238E27FC236}">
                    <a16:creationId xmlns:a16="http://schemas.microsoft.com/office/drawing/2014/main" id="{7C7278F0-9DAD-AD89-C5A4-15313BE22F95}"/>
                  </a:ext>
                </a:extLst>
              </p:cNvPr>
              <p:cNvSpPr/>
              <p:nvPr/>
            </p:nvSpPr>
            <p:spPr>
              <a:xfrm>
                <a:off x="4574476" y="5779292"/>
                <a:ext cx="424826" cy="319177"/>
              </a:xfrm>
              <a:prstGeom prst="rect">
                <a:avLst/>
              </a:prstGeom>
              <a:solidFill>
                <a:srgbClr val="0070C0"/>
              </a:solidFill>
            </p:spPr>
            <p:style>
              <a:lnRef idx="2">
                <a:schemeClr val="accent5">
                  <a:shade val="15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1049" name="Rectangle 1048">
                <a:extLst>
                  <a:ext uri="{FF2B5EF4-FFF2-40B4-BE49-F238E27FC236}">
                    <a16:creationId xmlns:a16="http://schemas.microsoft.com/office/drawing/2014/main" id="{7C7278F0-9DAD-AD89-C5A4-15313BE22F9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4476" y="5779292"/>
                <a:ext cx="424826" cy="319177"/>
              </a:xfrm>
              <a:prstGeom prst="rect">
                <a:avLst/>
              </a:prstGeom>
              <a:blipFill>
                <a:blip r:embed="rId22"/>
                <a:stretch>
                  <a:fillRect l="-12500" b="-5556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50" name="Rectangle 1049">
                <a:extLst>
                  <a:ext uri="{FF2B5EF4-FFF2-40B4-BE49-F238E27FC236}">
                    <a16:creationId xmlns:a16="http://schemas.microsoft.com/office/drawing/2014/main" id="{FCD8FE0B-B06D-EDC0-5E76-2548E5E010AD}"/>
                  </a:ext>
                </a:extLst>
              </p:cNvPr>
              <p:cNvSpPr/>
              <p:nvPr/>
            </p:nvSpPr>
            <p:spPr>
              <a:xfrm>
                <a:off x="3167535" y="5385195"/>
                <a:ext cx="424826" cy="319177"/>
              </a:xfrm>
              <a:prstGeom prst="rect">
                <a:avLst/>
              </a:prstGeom>
              <a:solidFill>
                <a:srgbClr val="0070C0"/>
              </a:solidFill>
            </p:spPr>
            <p:style>
              <a:lnRef idx="2">
                <a:schemeClr val="accent5">
                  <a:shade val="15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1050" name="Rectangle 1049">
                <a:extLst>
                  <a:ext uri="{FF2B5EF4-FFF2-40B4-BE49-F238E27FC236}">
                    <a16:creationId xmlns:a16="http://schemas.microsoft.com/office/drawing/2014/main" id="{FCD8FE0B-B06D-EDC0-5E76-2548E5E010A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67535" y="5385195"/>
                <a:ext cx="424826" cy="319177"/>
              </a:xfrm>
              <a:prstGeom prst="rect">
                <a:avLst/>
              </a:prstGeom>
              <a:blipFill>
                <a:blip r:embed="rId23"/>
                <a:stretch>
                  <a:fillRect l="-19718" r="-1408" b="-10909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51" name="Rectangle 1050">
                <a:extLst>
                  <a:ext uri="{FF2B5EF4-FFF2-40B4-BE49-F238E27FC236}">
                    <a16:creationId xmlns:a16="http://schemas.microsoft.com/office/drawing/2014/main" id="{D8DCCF45-9944-0F39-BF4F-41C912D50B0F}"/>
                  </a:ext>
                </a:extLst>
              </p:cNvPr>
              <p:cNvSpPr/>
              <p:nvPr/>
            </p:nvSpPr>
            <p:spPr>
              <a:xfrm>
                <a:off x="3642691" y="5385195"/>
                <a:ext cx="424826" cy="319177"/>
              </a:xfrm>
              <a:prstGeom prst="rect">
                <a:avLst/>
              </a:prstGeom>
              <a:solidFill>
                <a:srgbClr val="0070C0"/>
              </a:solidFill>
            </p:spPr>
            <p:style>
              <a:lnRef idx="2">
                <a:schemeClr val="accent5">
                  <a:shade val="15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1,33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1051" name="Rectangle 1050">
                <a:extLst>
                  <a:ext uri="{FF2B5EF4-FFF2-40B4-BE49-F238E27FC236}">
                    <a16:creationId xmlns:a16="http://schemas.microsoft.com/office/drawing/2014/main" id="{D8DCCF45-9944-0F39-BF4F-41C912D50B0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42691" y="5385195"/>
                <a:ext cx="424826" cy="319177"/>
              </a:xfrm>
              <a:prstGeom prst="rect">
                <a:avLst/>
              </a:prstGeom>
              <a:blipFill>
                <a:blip r:embed="rId24"/>
                <a:stretch>
                  <a:fillRect l="-25352" r="-12676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52" name="Rectangle 1051">
                <a:extLst>
                  <a:ext uri="{FF2B5EF4-FFF2-40B4-BE49-F238E27FC236}">
                    <a16:creationId xmlns:a16="http://schemas.microsoft.com/office/drawing/2014/main" id="{73747D17-DFB5-FDC1-E344-752D4EF174F7}"/>
                  </a:ext>
                </a:extLst>
              </p:cNvPr>
              <p:cNvSpPr/>
              <p:nvPr/>
            </p:nvSpPr>
            <p:spPr>
              <a:xfrm>
                <a:off x="4117847" y="5385195"/>
                <a:ext cx="424826" cy="319177"/>
              </a:xfrm>
              <a:prstGeom prst="rect">
                <a:avLst/>
              </a:prstGeom>
              <a:solidFill>
                <a:srgbClr val="0070C0"/>
              </a:solidFill>
            </p:spPr>
            <p:style>
              <a:lnRef idx="2">
                <a:schemeClr val="accent5">
                  <a:shade val="15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1052" name="Rectangle 1051">
                <a:extLst>
                  <a:ext uri="{FF2B5EF4-FFF2-40B4-BE49-F238E27FC236}">
                    <a16:creationId xmlns:a16="http://schemas.microsoft.com/office/drawing/2014/main" id="{73747D17-DFB5-FDC1-E344-752D4EF174F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7847" y="5385195"/>
                <a:ext cx="424826" cy="319177"/>
              </a:xfrm>
              <a:prstGeom prst="rect">
                <a:avLst/>
              </a:prstGeom>
              <a:blipFill>
                <a:blip r:embed="rId25"/>
                <a:stretch>
                  <a:fillRect l="-18056" r="-1389" b="-10909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53" name="Rectangle 1052">
                <a:extLst>
                  <a:ext uri="{FF2B5EF4-FFF2-40B4-BE49-F238E27FC236}">
                    <a16:creationId xmlns:a16="http://schemas.microsoft.com/office/drawing/2014/main" id="{E525BFFD-C7C4-9348-1446-568ED36A8A8C}"/>
                  </a:ext>
                </a:extLst>
              </p:cNvPr>
              <p:cNvSpPr/>
              <p:nvPr/>
            </p:nvSpPr>
            <p:spPr>
              <a:xfrm>
                <a:off x="4574476" y="5383573"/>
                <a:ext cx="424826" cy="319177"/>
              </a:xfrm>
              <a:prstGeom prst="rect">
                <a:avLst/>
              </a:prstGeom>
              <a:solidFill>
                <a:srgbClr val="0070C0"/>
              </a:solidFill>
            </p:spPr>
            <p:style>
              <a:lnRef idx="2">
                <a:schemeClr val="accent5">
                  <a:shade val="15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1053" name="Rectangle 1052">
                <a:extLst>
                  <a:ext uri="{FF2B5EF4-FFF2-40B4-BE49-F238E27FC236}">
                    <a16:creationId xmlns:a16="http://schemas.microsoft.com/office/drawing/2014/main" id="{E525BFFD-C7C4-9348-1446-568ED36A8A8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4476" y="5383573"/>
                <a:ext cx="424826" cy="319177"/>
              </a:xfrm>
              <a:prstGeom prst="rect">
                <a:avLst/>
              </a:prstGeom>
              <a:blipFill>
                <a:blip r:embed="rId26"/>
                <a:stretch>
                  <a:fillRect l="-18056" r="-1389" b="-1111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54" name="Rectangle 1053">
            <a:extLst>
              <a:ext uri="{FF2B5EF4-FFF2-40B4-BE49-F238E27FC236}">
                <a16:creationId xmlns:a16="http://schemas.microsoft.com/office/drawing/2014/main" id="{DD92244D-7A23-91B7-1294-C5EFEFCFA14E}"/>
              </a:ext>
            </a:extLst>
          </p:cNvPr>
          <p:cNvSpPr/>
          <p:nvPr/>
        </p:nvSpPr>
        <p:spPr>
          <a:xfrm>
            <a:off x="3071389" y="4977559"/>
            <a:ext cx="2033051" cy="1226690"/>
          </a:xfrm>
          <a:prstGeom prst="rect">
            <a:avLst/>
          </a:prstGeom>
          <a:noFill/>
          <a:ln w="1905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55" name="TextBox 1054">
            <a:extLst>
              <a:ext uri="{FF2B5EF4-FFF2-40B4-BE49-F238E27FC236}">
                <a16:creationId xmlns:a16="http://schemas.microsoft.com/office/drawing/2014/main" id="{1BCC8390-7469-D90B-8130-44CEB6839792}"/>
              </a:ext>
            </a:extLst>
          </p:cNvPr>
          <p:cNvSpPr txBox="1"/>
          <p:nvPr/>
        </p:nvSpPr>
        <p:spPr>
          <a:xfrm>
            <a:off x="3071390" y="5005674"/>
            <a:ext cx="16760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i="1" dirty="0" err="1"/>
              <a:t>moving</a:t>
            </a:r>
            <a:r>
              <a:rPr lang="pt-BR" sz="1600" i="1" dirty="0"/>
              <a:t> </a:t>
            </a:r>
            <a:r>
              <a:rPr lang="pt-BR" sz="1600" i="1" dirty="0" err="1"/>
              <a:t>averages</a:t>
            </a:r>
            <a:endParaRPr lang="pt-BR" sz="1600" i="1" dirty="0"/>
          </a:p>
        </p:txBody>
      </p:sp>
      <p:sp>
        <p:nvSpPr>
          <p:cNvPr id="1059" name="Rectangle 1058">
            <a:extLst>
              <a:ext uri="{FF2B5EF4-FFF2-40B4-BE49-F238E27FC236}">
                <a16:creationId xmlns:a16="http://schemas.microsoft.com/office/drawing/2014/main" id="{5944823A-F47B-DD1F-EE7E-2B36E2F43501}"/>
              </a:ext>
            </a:extLst>
          </p:cNvPr>
          <p:cNvSpPr/>
          <p:nvPr/>
        </p:nvSpPr>
        <p:spPr>
          <a:xfrm>
            <a:off x="8038596" y="3590874"/>
            <a:ext cx="327518" cy="831522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61" name="Rectangle 1060">
            <a:extLst>
              <a:ext uri="{FF2B5EF4-FFF2-40B4-BE49-F238E27FC236}">
                <a16:creationId xmlns:a16="http://schemas.microsoft.com/office/drawing/2014/main" id="{A8AB8CE9-6B4D-6269-0334-5030EF517CB8}"/>
              </a:ext>
            </a:extLst>
          </p:cNvPr>
          <p:cNvSpPr/>
          <p:nvPr/>
        </p:nvSpPr>
        <p:spPr>
          <a:xfrm>
            <a:off x="3624164" y="5347621"/>
            <a:ext cx="461880" cy="777720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9F11EEC-6354-8CE7-C8D6-FDB94FC292DE}"/>
              </a:ext>
            </a:extLst>
          </p:cNvPr>
          <p:cNvSpPr/>
          <p:nvPr/>
        </p:nvSpPr>
        <p:spPr>
          <a:xfrm>
            <a:off x="5271186" y="4027126"/>
            <a:ext cx="468000" cy="319177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0286FB88-D95D-5C00-BDE1-CDA3675A1FF8}"/>
                  </a:ext>
                </a:extLst>
              </p:cNvPr>
              <p:cNvSpPr/>
              <p:nvPr/>
            </p:nvSpPr>
            <p:spPr>
              <a:xfrm>
                <a:off x="5761515" y="4027126"/>
                <a:ext cx="468000" cy="319177"/>
              </a:xfrm>
              <a:prstGeom prst="rect">
                <a:avLst/>
              </a:prstGeom>
              <a:solidFill>
                <a:srgbClr val="FFFF00"/>
              </a:solidFill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−1,37</m:t>
                      </m:r>
                    </m:oMath>
                  </m:oMathPara>
                </a14:m>
                <a:endParaRPr lang="pt-BR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0286FB88-D95D-5C00-BDE1-CDA3675A1FF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61515" y="4027126"/>
                <a:ext cx="468000" cy="319177"/>
              </a:xfrm>
              <a:prstGeom prst="rect">
                <a:avLst/>
              </a:prstGeom>
              <a:blipFill>
                <a:blip r:embed="rId27"/>
                <a:stretch>
                  <a:fillRect l="-8861" r="-6329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ectangle 9">
            <a:extLst>
              <a:ext uri="{FF2B5EF4-FFF2-40B4-BE49-F238E27FC236}">
                <a16:creationId xmlns:a16="http://schemas.microsoft.com/office/drawing/2014/main" id="{5647B996-D0DC-54BF-68A3-6E01BD9FAAA3}"/>
              </a:ext>
            </a:extLst>
          </p:cNvPr>
          <p:cNvSpPr/>
          <p:nvPr/>
        </p:nvSpPr>
        <p:spPr>
          <a:xfrm>
            <a:off x="6251844" y="4027126"/>
            <a:ext cx="468000" cy="319177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4484A77-4271-07C2-12DB-D591874370FB}"/>
              </a:ext>
            </a:extLst>
          </p:cNvPr>
          <p:cNvSpPr/>
          <p:nvPr/>
        </p:nvSpPr>
        <p:spPr>
          <a:xfrm>
            <a:off x="6742173" y="4027126"/>
            <a:ext cx="468000" cy="319177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FDFC7C0-8059-3ACA-F747-DED452BF2EDB}"/>
              </a:ext>
            </a:extLst>
          </p:cNvPr>
          <p:cNvSpPr/>
          <p:nvPr/>
        </p:nvSpPr>
        <p:spPr>
          <a:xfrm>
            <a:off x="5271186" y="4367071"/>
            <a:ext cx="468000" cy="319177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DAFB020C-C53B-7351-D272-EEE1B1E41625}"/>
                  </a:ext>
                </a:extLst>
              </p:cNvPr>
              <p:cNvSpPr/>
              <p:nvPr/>
            </p:nvSpPr>
            <p:spPr>
              <a:xfrm>
                <a:off x="5761515" y="4367071"/>
                <a:ext cx="468000" cy="319177"/>
              </a:xfrm>
              <a:prstGeom prst="rect">
                <a:avLst/>
              </a:prstGeom>
              <a:solidFill>
                <a:srgbClr val="FFFF00"/>
              </a:solidFill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0,39</m:t>
                      </m:r>
                    </m:oMath>
                  </m:oMathPara>
                </a14:m>
                <a:endParaRPr lang="pt-BR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DAFB020C-C53B-7351-D272-EEE1B1E4162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61515" y="4367071"/>
                <a:ext cx="468000" cy="319177"/>
              </a:xfrm>
              <a:prstGeom prst="rect">
                <a:avLst/>
              </a:prstGeom>
              <a:blipFill>
                <a:blip r:embed="rId28"/>
                <a:stretch>
                  <a:fillRect l="-886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Rectangle 25">
            <a:extLst>
              <a:ext uri="{FF2B5EF4-FFF2-40B4-BE49-F238E27FC236}">
                <a16:creationId xmlns:a16="http://schemas.microsoft.com/office/drawing/2014/main" id="{306175DC-D122-3A23-6F03-6ED3FF128978}"/>
              </a:ext>
            </a:extLst>
          </p:cNvPr>
          <p:cNvSpPr/>
          <p:nvPr/>
        </p:nvSpPr>
        <p:spPr>
          <a:xfrm>
            <a:off x="6251844" y="4367071"/>
            <a:ext cx="468000" cy="319177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AC6C62D-8D61-7095-9F6A-20A917B54E5B}"/>
              </a:ext>
            </a:extLst>
          </p:cNvPr>
          <p:cNvSpPr/>
          <p:nvPr/>
        </p:nvSpPr>
        <p:spPr>
          <a:xfrm>
            <a:off x="6742173" y="4367071"/>
            <a:ext cx="468000" cy="319177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3C5FBA3-4845-20C7-5AB5-C26226AE6C67}"/>
              </a:ext>
            </a:extLst>
          </p:cNvPr>
          <p:cNvSpPr/>
          <p:nvPr/>
        </p:nvSpPr>
        <p:spPr>
          <a:xfrm>
            <a:off x="9912498" y="3776054"/>
            <a:ext cx="468000" cy="319177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53E7BCEF-7560-BBDE-62DD-5794D7A4853A}"/>
                  </a:ext>
                </a:extLst>
              </p:cNvPr>
              <p:cNvSpPr/>
              <p:nvPr/>
            </p:nvSpPr>
            <p:spPr>
              <a:xfrm>
                <a:off x="10402827" y="3776054"/>
                <a:ext cx="468000" cy="319177"/>
              </a:xfrm>
              <a:prstGeom prst="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2,96</m:t>
                      </m:r>
                    </m:oMath>
                  </m:oMathPara>
                </a14:m>
                <a:endParaRPr lang="pt-BR" sz="14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53E7BCEF-7560-BBDE-62DD-5794D7A4853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02827" y="3776054"/>
                <a:ext cx="468000" cy="319177"/>
              </a:xfrm>
              <a:prstGeom prst="rect">
                <a:avLst/>
              </a:prstGeom>
              <a:blipFill>
                <a:blip r:embed="rId29"/>
                <a:stretch>
                  <a:fillRect l="-2564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26" name="Rectangle 1025">
            <a:extLst>
              <a:ext uri="{FF2B5EF4-FFF2-40B4-BE49-F238E27FC236}">
                <a16:creationId xmlns:a16="http://schemas.microsoft.com/office/drawing/2014/main" id="{7EB84432-A73B-0F7D-9274-8F1213C79CCE}"/>
              </a:ext>
            </a:extLst>
          </p:cNvPr>
          <p:cNvSpPr/>
          <p:nvPr/>
        </p:nvSpPr>
        <p:spPr>
          <a:xfrm>
            <a:off x="10893156" y="3776054"/>
            <a:ext cx="468000" cy="319177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38" name="Rectangle 1037">
            <a:extLst>
              <a:ext uri="{FF2B5EF4-FFF2-40B4-BE49-F238E27FC236}">
                <a16:creationId xmlns:a16="http://schemas.microsoft.com/office/drawing/2014/main" id="{14C4F4E2-171B-8C83-E123-E991D6133B64}"/>
              </a:ext>
            </a:extLst>
          </p:cNvPr>
          <p:cNvSpPr/>
          <p:nvPr/>
        </p:nvSpPr>
        <p:spPr>
          <a:xfrm>
            <a:off x="11383485" y="3776054"/>
            <a:ext cx="468000" cy="319177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43" name="Rectangle 1042">
            <a:extLst>
              <a:ext uri="{FF2B5EF4-FFF2-40B4-BE49-F238E27FC236}">
                <a16:creationId xmlns:a16="http://schemas.microsoft.com/office/drawing/2014/main" id="{30228EB1-33E9-4AF4-356F-81837378979B}"/>
              </a:ext>
            </a:extLst>
          </p:cNvPr>
          <p:cNvSpPr/>
          <p:nvPr/>
        </p:nvSpPr>
        <p:spPr>
          <a:xfrm>
            <a:off x="9912498" y="4118266"/>
            <a:ext cx="468000" cy="319177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62" name="Rectangle 1061">
                <a:extLst>
                  <a:ext uri="{FF2B5EF4-FFF2-40B4-BE49-F238E27FC236}">
                    <a16:creationId xmlns:a16="http://schemas.microsoft.com/office/drawing/2014/main" id="{0EDBCDB4-513E-9F95-321B-12EEDA929E7F}"/>
                  </a:ext>
                </a:extLst>
              </p:cNvPr>
              <p:cNvSpPr/>
              <p:nvPr/>
            </p:nvSpPr>
            <p:spPr>
              <a:xfrm>
                <a:off x="10402827" y="4118266"/>
                <a:ext cx="468000" cy="319177"/>
              </a:xfrm>
              <a:prstGeom prst="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−1,74</m:t>
                      </m:r>
                    </m:oMath>
                  </m:oMathPara>
                </a14:m>
                <a:endParaRPr lang="pt-BR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62" name="Rectangle 1061">
                <a:extLst>
                  <a:ext uri="{FF2B5EF4-FFF2-40B4-BE49-F238E27FC236}">
                    <a16:creationId xmlns:a16="http://schemas.microsoft.com/office/drawing/2014/main" id="{0EDBCDB4-513E-9F95-321B-12EEDA929E7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02827" y="4118266"/>
                <a:ext cx="468000" cy="319177"/>
              </a:xfrm>
              <a:prstGeom prst="rect">
                <a:avLst/>
              </a:prstGeom>
              <a:blipFill>
                <a:blip r:embed="rId30"/>
                <a:stretch>
                  <a:fillRect l="-10256" r="-641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63" name="Rectangle 1062">
            <a:extLst>
              <a:ext uri="{FF2B5EF4-FFF2-40B4-BE49-F238E27FC236}">
                <a16:creationId xmlns:a16="http://schemas.microsoft.com/office/drawing/2014/main" id="{AD5AB29B-F00F-00A1-142A-9ED063851743}"/>
              </a:ext>
            </a:extLst>
          </p:cNvPr>
          <p:cNvSpPr/>
          <p:nvPr/>
        </p:nvSpPr>
        <p:spPr>
          <a:xfrm>
            <a:off x="10893156" y="4118266"/>
            <a:ext cx="468000" cy="319177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64" name="Rectangle 1063">
            <a:extLst>
              <a:ext uri="{FF2B5EF4-FFF2-40B4-BE49-F238E27FC236}">
                <a16:creationId xmlns:a16="http://schemas.microsoft.com/office/drawing/2014/main" id="{2F8C8BC1-EC49-51B1-3D9B-A37EB7A6EDA2}"/>
              </a:ext>
            </a:extLst>
          </p:cNvPr>
          <p:cNvSpPr/>
          <p:nvPr/>
        </p:nvSpPr>
        <p:spPr>
          <a:xfrm>
            <a:off x="11383485" y="4118266"/>
            <a:ext cx="468000" cy="319177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65" name="Rectangle 1064">
            <a:extLst>
              <a:ext uri="{FF2B5EF4-FFF2-40B4-BE49-F238E27FC236}">
                <a16:creationId xmlns:a16="http://schemas.microsoft.com/office/drawing/2014/main" id="{635594EA-F3FA-DB31-4178-1ACF6170442F}"/>
              </a:ext>
            </a:extLst>
          </p:cNvPr>
          <p:cNvSpPr/>
          <p:nvPr/>
        </p:nvSpPr>
        <p:spPr>
          <a:xfrm>
            <a:off x="9912498" y="4458211"/>
            <a:ext cx="468000" cy="319177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66" name="Rectangle 1065">
                <a:extLst>
                  <a:ext uri="{FF2B5EF4-FFF2-40B4-BE49-F238E27FC236}">
                    <a16:creationId xmlns:a16="http://schemas.microsoft.com/office/drawing/2014/main" id="{893AC88F-5D92-4D11-0E95-B177E607821F}"/>
                  </a:ext>
                </a:extLst>
              </p:cNvPr>
              <p:cNvSpPr/>
              <p:nvPr/>
            </p:nvSpPr>
            <p:spPr>
              <a:xfrm>
                <a:off x="10402827" y="4458211"/>
                <a:ext cx="468000" cy="319177"/>
              </a:xfrm>
              <a:prstGeom prst="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1,78</m:t>
                      </m:r>
                    </m:oMath>
                  </m:oMathPara>
                </a14:m>
                <a:endParaRPr lang="pt-BR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66" name="Rectangle 1065">
                <a:extLst>
                  <a:ext uri="{FF2B5EF4-FFF2-40B4-BE49-F238E27FC236}">
                    <a16:creationId xmlns:a16="http://schemas.microsoft.com/office/drawing/2014/main" id="{893AC88F-5D92-4D11-0E95-B177E607821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02827" y="4458211"/>
                <a:ext cx="468000" cy="319177"/>
              </a:xfrm>
              <a:prstGeom prst="rect">
                <a:avLst/>
              </a:prstGeom>
              <a:blipFill>
                <a:blip r:embed="rId31"/>
                <a:stretch>
                  <a:fillRect l="-2564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67" name="Rectangle 1066">
            <a:extLst>
              <a:ext uri="{FF2B5EF4-FFF2-40B4-BE49-F238E27FC236}">
                <a16:creationId xmlns:a16="http://schemas.microsoft.com/office/drawing/2014/main" id="{43C1F803-7906-80F1-B615-3D0BF4750B9E}"/>
              </a:ext>
            </a:extLst>
          </p:cNvPr>
          <p:cNvSpPr/>
          <p:nvPr/>
        </p:nvSpPr>
        <p:spPr>
          <a:xfrm>
            <a:off x="10893156" y="4458211"/>
            <a:ext cx="468000" cy="319177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68" name="Rectangle 1067">
            <a:extLst>
              <a:ext uri="{FF2B5EF4-FFF2-40B4-BE49-F238E27FC236}">
                <a16:creationId xmlns:a16="http://schemas.microsoft.com/office/drawing/2014/main" id="{3E137B0E-D441-C30F-4938-076EC892CF52}"/>
              </a:ext>
            </a:extLst>
          </p:cNvPr>
          <p:cNvSpPr/>
          <p:nvPr/>
        </p:nvSpPr>
        <p:spPr>
          <a:xfrm>
            <a:off x="11383485" y="4458211"/>
            <a:ext cx="468000" cy="319177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69" name="Rectangle 1068">
            <a:extLst>
              <a:ext uri="{FF2B5EF4-FFF2-40B4-BE49-F238E27FC236}">
                <a16:creationId xmlns:a16="http://schemas.microsoft.com/office/drawing/2014/main" id="{4090E3C8-34FE-2AA6-A7DD-DDA51739802C}"/>
              </a:ext>
            </a:extLst>
          </p:cNvPr>
          <p:cNvSpPr/>
          <p:nvPr/>
        </p:nvSpPr>
        <p:spPr>
          <a:xfrm>
            <a:off x="659373" y="3574146"/>
            <a:ext cx="377181" cy="1110482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70" name="Rectangle 1069">
            <a:extLst>
              <a:ext uri="{FF2B5EF4-FFF2-40B4-BE49-F238E27FC236}">
                <a16:creationId xmlns:a16="http://schemas.microsoft.com/office/drawing/2014/main" id="{2DB302CB-CC06-425D-AC40-CA797C546AF1}"/>
              </a:ext>
            </a:extLst>
          </p:cNvPr>
          <p:cNvSpPr/>
          <p:nvPr/>
        </p:nvSpPr>
        <p:spPr>
          <a:xfrm>
            <a:off x="3143755" y="3618829"/>
            <a:ext cx="550621" cy="803567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71" name="Rectangle 1070">
            <a:extLst>
              <a:ext uri="{FF2B5EF4-FFF2-40B4-BE49-F238E27FC236}">
                <a16:creationId xmlns:a16="http://schemas.microsoft.com/office/drawing/2014/main" id="{8D5B7116-BAC6-49ED-E7D0-3708E57397F6}"/>
              </a:ext>
            </a:extLst>
          </p:cNvPr>
          <p:cNvSpPr/>
          <p:nvPr/>
        </p:nvSpPr>
        <p:spPr>
          <a:xfrm>
            <a:off x="5720204" y="3654644"/>
            <a:ext cx="550621" cy="1029984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72" name="Rectangle 1071">
            <a:extLst>
              <a:ext uri="{FF2B5EF4-FFF2-40B4-BE49-F238E27FC236}">
                <a16:creationId xmlns:a16="http://schemas.microsoft.com/office/drawing/2014/main" id="{F3CD0E10-0DBA-848F-415A-837294838A46}"/>
              </a:ext>
            </a:extLst>
          </p:cNvPr>
          <p:cNvSpPr/>
          <p:nvPr/>
        </p:nvSpPr>
        <p:spPr>
          <a:xfrm>
            <a:off x="10348937" y="3692489"/>
            <a:ext cx="550621" cy="1187853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1F1FB6DD-64DD-0107-8311-70193EDB1FFF}"/>
                  </a:ext>
                </a:extLst>
              </p:cNvPr>
              <p:cNvSpPr txBox="1"/>
              <p:nvPr/>
            </p:nvSpPr>
            <p:spPr>
              <a:xfrm>
                <a:off x="785004" y="1697830"/>
                <a:ext cx="10506973" cy="10156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pt-BR" sz="2000" dirty="0"/>
                  <a:t>Mantemos uma média móvel das médias e dos desvios padrão calculados durante o treino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pt-BR" dirty="0"/>
                  <a:t>Mais precisamente seria uma média exponencial móvel (EMA)</a:t>
                </a:r>
              </a:p>
              <a:p>
                <a:pPr lvl="1"/>
                <a:r>
                  <a:rPr lang="en-US" sz="2000" b="0" dirty="0"/>
                  <a:t>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𝑚𝑜𝑣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𝛼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𝑚𝑜𝑣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pt-BR" sz="2000" dirty="0"/>
                  <a:t>        e             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𝑚𝑜𝑣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𝛼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𝑚𝑜𝑣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pt-BR" sz="2000" dirty="0"/>
                  <a:t> 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1F1FB6DD-64DD-0107-8311-70193EDB1F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5004" y="1697830"/>
                <a:ext cx="10506973" cy="1015663"/>
              </a:xfrm>
              <a:prstGeom prst="rect">
                <a:avLst/>
              </a:prstGeom>
              <a:blipFill>
                <a:blip r:embed="rId32"/>
                <a:stretch>
                  <a:fillRect l="-522" t="-3614" b="-7229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8466522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09C8D0-96C6-BA29-5D96-B8A1A79C0A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Batch Norm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59DF61-9C68-7212-7454-26F8B233BB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Com </a:t>
            </a:r>
            <a:r>
              <a:rPr lang="pt-BR" i="1" dirty="0"/>
              <a:t>Batch Norm</a:t>
            </a:r>
            <a:r>
              <a:rPr lang="pt-BR" dirty="0"/>
              <a:t> ativo, conseguimos treinar redes muito mais profundas sem explosão nem dissipação de gradiente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7895F5-1EEA-EC23-F982-FE225E8546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43</a:t>
            </a:fld>
            <a:endParaRPr lang="pt-BR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D5EAF92-B414-26D2-99C8-A4EE15C7D8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100" y="3345542"/>
            <a:ext cx="11353800" cy="10743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931311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09C8D0-96C6-BA29-5D96-B8A1A79C0A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Batch Norm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259DF61-9C68-7212-7454-26F8B233BB8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pt-BR" dirty="0"/>
                  <a:t>Torna a rede invariante a mudanças de escala nos parâmetros</a:t>
                </a:r>
              </a:p>
              <a:p>
                <a:pPr lvl="1"/>
                <a:r>
                  <a:rPr lang="pt-BR" dirty="0"/>
                  <a:t>Se os parâmetros dobrarem de magnitude as ativações também dobram e a variância também dobra (a primeira etapa do batch </a:t>
                </a:r>
                <a:r>
                  <a:rPr lang="pt-BR" dirty="0" err="1"/>
                  <a:t>norm</a:t>
                </a:r>
                <a:r>
                  <a:rPr lang="pt-BR" dirty="0"/>
                  <a:t> compensa esse aumento)</a:t>
                </a:r>
              </a:p>
              <a:p>
                <a:r>
                  <a:rPr lang="pt-BR" dirty="0" err="1"/>
                  <a:t>Forward</a:t>
                </a:r>
                <a:r>
                  <a:rPr lang="pt-BR" dirty="0"/>
                  <a:t> mais estável</a:t>
                </a:r>
              </a:p>
              <a:p>
                <a:r>
                  <a:rPr lang="pt-BR" dirty="0"/>
                  <a:t>Taxas de Aprendizado (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𝜂</m:t>
                    </m:r>
                  </m:oMath>
                </a14:m>
                <a:r>
                  <a:rPr lang="pt-BR" dirty="0"/>
                  <a:t>) mais elevadas</a:t>
                </a:r>
              </a:p>
              <a:p>
                <a:r>
                  <a:rPr lang="pt-BR" dirty="0"/>
                  <a:t>Regulariza o processo de treinamento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259DF61-9C68-7212-7454-26F8B233BB8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7895F5-1EEA-EC23-F982-FE225E8546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44</a:t>
            </a:fld>
            <a:endParaRPr lang="pt-BR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D5EAF92-B414-26D2-99C8-A4EE15C7D8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100" y="5102597"/>
            <a:ext cx="11353800" cy="10743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41459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EA04B3-B259-C71F-880B-9B0B6ED04D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i="1" dirty="0" err="1"/>
              <a:t>Skip</a:t>
            </a:r>
            <a:r>
              <a:rPr lang="pt-BR" i="1" dirty="0"/>
              <a:t> Connections + Batch Norm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E2FF90-162D-17CB-8362-9520FB92E1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2400" dirty="0"/>
              <a:t>Usando </a:t>
            </a:r>
            <a:r>
              <a:rPr lang="pt-BR" sz="2400" i="1" dirty="0" err="1"/>
              <a:t>skip</a:t>
            </a:r>
            <a:r>
              <a:rPr lang="pt-BR" sz="2400" i="1" dirty="0"/>
              <a:t> connections</a:t>
            </a:r>
            <a:r>
              <a:rPr lang="pt-BR" sz="2400" dirty="0"/>
              <a:t> e </a:t>
            </a:r>
            <a:r>
              <a:rPr lang="pt-BR" sz="2400" i="1" dirty="0"/>
              <a:t>batch </a:t>
            </a:r>
            <a:r>
              <a:rPr lang="pt-BR" sz="2400" i="1" dirty="0" err="1"/>
              <a:t>norm</a:t>
            </a:r>
            <a:r>
              <a:rPr lang="pt-BR" sz="2400" i="1" dirty="0"/>
              <a:t> </a:t>
            </a:r>
            <a:r>
              <a:rPr lang="pt-BR" sz="2400" dirty="0"/>
              <a:t>temos redes </a:t>
            </a:r>
            <a:r>
              <a:rPr lang="pt-BR" sz="2400" dirty="0" err="1"/>
              <a:t>convolucionais</a:t>
            </a:r>
            <a:r>
              <a:rPr lang="pt-BR" sz="2400" dirty="0"/>
              <a:t> com aplicações em praticamente todas as áreas de visão computacional</a:t>
            </a:r>
          </a:p>
          <a:p>
            <a:pPr lvl="1"/>
            <a:r>
              <a:rPr lang="pt-BR" sz="2000" dirty="0"/>
              <a:t>Permitem treinamento de redes com ~1000 camadas ocultas</a:t>
            </a:r>
          </a:p>
          <a:p>
            <a:r>
              <a:rPr lang="pt-BR" sz="2400" dirty="0"/>
              <a:t>Ainda hoje são o padrão para a maioria das  atividades de visão computacional, apesar do recente sucesso de </a:t>
            </a:r>
            <a:r>
              <a:rPr lang="pt-BR" sz="2400" i="1" dirty="0" err="1"/>
              <a:t>transformers</a:t>
            </a:r>
            <a:endParaRPr lang="pt-BR" sz="2400" i="1" dirty="0"/>
          </a:p>
          <a:p>
            <a:r>
              <a:rPr lang="pt-BR" sz="2400" dirty="0"/>
              <a:t>Vamos as arquiteturas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C8CEBB-7BF2-4E8E-B0B2-F7B9E982EA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45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0493558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2A35DF-CECF-6B22-0231-F796008F6D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ResNet</a:t>
            </a:r>
            <a:endParaRPr lang="pt-B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8A52D9-9154-E25B-C7F8-B929CC5DF3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Redes </a:t>
            </a:r>
            <a:r>
              <a:rPr lang="pt-BR" dirty="0" err="1"/>
              <a:t>convolucionais</a:t>
            </a:r>
            <a:r>
              <a:rPr lang="pt-BR" dirty="0"/>
              <a:t> constituídas de blocos residuais</a:t>
            </a:r>
          </a:p>
          <a:p>
            <a:pPr lvl="1"/>
            <a:r>
              <a:rPr lang="pt-BR" dirty="0"/>
              <a:t>Cada bloco foi projetado por “tentativa e erro”</a:t>
            </a:r>
          </a:p>
          <a:p>
            <a:pPr lvl="1"/>
            <a:r>
              <a:rPr lang="pt-BR" dirty="0"/>
              <a:t>Apresenta resultados bons, mas tem um elevado número de parâmetros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4303EA-307A-7A6C-2B87-B97C9B51E9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46</a:t>
            </a:fld>
            <a:endParaRPr lang="pt-BR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1F58074-FAAB-6BF5-7D6B-82326BB1FA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2532" y="4278324"/>
            <a:ext cx="10312400" cy="9582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633427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2A35DF-CECF-6B22-0231-F796008F6D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ResNet</a:t>
            </a:r>
            <a:endParaRPr lang="pt-B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8A52D9-9154-E25B-C7F8-B929CC5DF3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Bloco residual com gargalo </a:t>
            </a:r>
          </a:p>
          <a:p>
            <a:pPr lvl="1"/>
            <a:r>
              <a:rPr lang="pt-BR" i="1" dirty="0" err="1"/>
              <a:t>Bottleneck</a:t>
            </a:r>
            <a:r>
              <a:rPr lang="pt-BR" i="1" dirty="0"/>
              <a:t> Residual Block</a:t>
            </a:r>
          </a:p>
          <a:p>
            <a:r>
              <a:rPr lang="pt-BR" dirty="0"/>
              <a:t>Foi introduzido para diminuir o número de parâmetros treináveis</a:t>
            </a:r>
          </a:p>
          <a:p>
            <a:pPr lvl="1"/>
            <a:r>
              <a:rPr lang="pt-BR" dirty="0"/>
              <a:t>A primeira </a:t>
            </a:r>
            <a:r>
              <a:rPr lang="pt-BR" dirty="0" err="1"/>
              <a:t>conv</a:t>
            </a:r>
            <a:r>
              <a:rPr lang="pt-BR" dirty="0"/>
              <a:t> 1x1 reduz o número de canais </a:t>
            </a:r>
          </a:p>
          <a:p>
            <a:pPr lvl="1"/>
            <a:r>
              <a:rPr lang="pt-BR" dirty="0"/>
              <a:t>A segunda </a:t>
            </a:r>
            <a:r>
              <a:rPr lang="pt-BR" dirty="0" err="1"/>
              <a:t>conv</a:t>
            </a:r>
            <a:r>
              <a:rPr lang="pt-BR" dirty="0"/>
              <a:t> 1x1 aumenta o número de canais para possibilitar a adição no final do bloco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4303EA-307A-7A6C-2B87-B97C9B51E9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47</a:t>
            </a:fld>
            <a:endParaRPr lang="pt-BR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78A84D1-02D5-0CFB-6ABE-2849E99B4A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4328119"/>
            <a:ext cx="10312400" cy="17351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756997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D270EF36-650F-E348-7F7B-E0F1DB83E17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1014"/>
          <a:stretch/>
        </p:blipFill>
        <p:spPr>
          <a:xfrm>
            <a:off x="1140843" y="3290112"/>
            <a:ext cx="9417889" cy="354871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82A35DF-CECF-6B22-0231-F796008F6D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ResNet-200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8A52D9-9154-E25B-C7F8-B929CC5DF3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4.8% de erro no </a:t>
            </a:r>
            <a:r>
              <a:rPr lang="pt-BR" dirty="0" err="1"/>
              <a:t>ImageNet</a:t>
            </a:r>
            <a:endParaRPr lang="pt-BR" dirty="0"/>
          </a:p>
          <a:p>
            <a:r>
              <a:rPr lang="pt-BR" sz="2000" dirty="0"/>
              <a:t>Números entre parênteses representam a quantidade de canais depois da </a:t>
            </a:r>
            <a:r>
              <a:rPr lang="pt-BR" sz="2000" dirty="0" err="1"/>
              <a:t>conv</a:t>
            </a:r>
            <a:r>
              <a:rPr lang="pt-BR" sz="2000" dirty="0"/>
              <a:t> 1x1</a:t>
            </a:r>
          </a:p>
          <a:p>
            <a:r>
              <a:rPr lang="pt-BR" sz="2000" dirty="0"/>
              <a:t>Utiliza o bloco residual com gargalo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4303EA-307A-7A6C-2B87-B97C9B51E9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48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727251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8B80D2-919D-00A4-EA28-B0304612B1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DenseNet</a:t>
            </a:r>
            <a:endParaRPr lang="pt-B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A6FCC4-7DC7-3764-D1AB-C23631FFAF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2400" dirty="0"/>
              <a:t>Ao invés de adicionar a representação da entrada com a saída podemos fazer a concatenação dos canais de entrada aos canais de saída</a:t>
            </a:r>
          </a:p>
          <a:p>
            <a:pPr lvl="1"/>
            <a:r>
              <a:rPr lang="pt-BR" sz="2000" dirty="0"/>
              <a:t>Menos comum que </a:t>
            </a:r>
            <a:r>
              <a:rPr lang="pt-BR" sz="2000" dirty="0" err="1"/>
              <a:t>ResNet</a:t>
            </a:r>
            <a:r>
              <a:rPr lang="pt-BR" sz="2000" dirty="0"/>
              <a:t> mas atinge resultados similares</a:t>
            </a:r>
          </a:p>
          <a:p>
            <a:pPr lvl="1"/>
            <a:r>
              <a:rPr lang="pt-BR" sz="2000" dirty="0"/>
              <a:t>Quando ocorre </a:t>
            </a:r>
            <a:r>
              <a:rPr lang="pt-BR" sz="2000" i="1" dirty="0" err="1"/>
              <a:t>downsampling</a:t>
            </a:r>
            <a:r>
              <a:rPr lang="pt-BR" sz="2000" dirty="0"/>
              <a:t> a representação não é concatenada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A42EFA-68FB-E1FA-92D2-622D62C61B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49</a:t>
            </a:fld>
            <a:endParaRPr lang="pt-BR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E0AB6DE-7C93-CACE-C2F5-19CF38DD6C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4204" y="3521710"/>
            <a:ext cx="11063591" cy="2790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792615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ABA03ECD-10AB-3CB4-BB97-DC2BECBC8F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9422" y="2808736"/>
            <a:ext cx="9435830" cy="404926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2FA8B54-446B-9C49-99C1-3747B2ABF8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U-Net</a:t>
            </a:r>
            <a:endParaRPr lang="pt-B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A56DDD-B093-015C-2E83-9BE67181FF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Arquitetura </a:t>
            </a:r>
            <a:r>
              <a:rPr lang="pt-BR" i="1" dirty="0" err="1"/>
              <a:t>encoder-decoder</a:t>
            </a:r>
            <a:r>
              <a:rPr lang="pt-BR" dirty="0"/>
              <a:t> com </a:t>
            </a:r>
            <a:r>
              <a:rPr lang="pt-BR" i="1" dirty="0" err="1"/>
              <a:t>skip</a:t>
            </a:r>
            <a:r>
              <a:rPr lang="pt-BR" i="1" dirty="0"/>
              <a:t> connections</a:t>
            </a:r>
          </a:p>
          <a:p>
            <a:pPr lvl="1"/>
            <a:r>
              <a:rPr lang="pt-BR" sz="2000" dirty="0"/>
              <a:t>Como a convolução foi feita sem </a:t>
            </a:r>
            <a:r>
              <a:rPr lang="pt-BR" sz="2000" i="1" dirty="0" err="1"/>
              <a:t>padding</a:t>
            </a:r>
            <a:r>
              <a:rPr lang="pt-BR" sz="2000" dirty="0"/>
              <a:t> foi necessário cortar a imagem original antes de concatenar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A59AB2-2C0A-16B9-D1EB-FBF72DDFE5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50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7438797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FBC7106-D367-45F4-8EA3-8F49E7136C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Referências: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9901DB4-318B-45F1-8005-C67D26C7A7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2400" dirty="0"/>
              <a:t>Sugere-se </a:t>
            </a:r>
            <a:r>
              <a:rPr lang="pt-BR" sz="2400" b="1" i="1" dirty="0"/>
              <a:t>fortemente</a:t>
            </a:r>
            <a:r>
              <a:rPr lang="pt-BR" sz="2400" dirty="0"/>
              <a:t> a leitura de:</a:t>
            </a:r>
          </a:p>
          <a:p>
            <a:pPr lvl="1"/>
            <a:r>
              <a:rPr lang="pt-BR" sz="2000" dirty="0"/>
              <a:t>Capítulo 11 de </a:t>
            </a:r>
            <a:r>
              <a:rPr lang="pt-BR" sz="2000" dirty="0" err="1"/>
              <a:t>Understanding</a:t>
            </a:r>
            <a:r>
              <a:rPr lang="pt-BR" sz="2000" dirty="0"/>
              <a:t> </a:t>
            </a:r>
            <a:r>
              <a:rPr lang="pt-BR" sz="2000" dirty="0" err="1"/>
              <a:t>Deep</a:t>
            </a:r>
            <a:r>
              <a:rPr lang="pt-BR" sz="2000" dirty="0"/>
              <a:t> Learning</a:t>
            </a:r>
          </a:p>
          <a:p>
            <a:pPr lvl="2"/>
            <a:r>
              <a:rPr lang="pt-BR" sz="1600" dirty="0">
                <a:hlinkClick r:id="rId2"/>
              </a:rPr>
              <a:t>https://udlbook.github.io/udlbook/</a:t>
            </a:r>
            <a:r>
              <a:rPr lang="pt-BR" sz="1600" dirty="0"/>
              <a:t> </a:t>
            </a:r>
          </a:p>
          <a:p>
            <a:r>
              <a:rPr lang="pt-BR" sz="2400" dirty="0"/>
              <a:t>Sugere-se também ler o artigo abaixo sobre conexões residuais:</a:t>
            </a:r>
          </a:p>
          <a:p>
            <a:pPr lvl="1"/>
            <a:r>
              <a:rPr lang="en-US" sz="2000" dirty="0"/>
              <a:t>HE, </a:t>
            </a:r>
            <a:r>
              <a:rPr lang="en-US" sz="2000" dirty="0" err="1"/>
              <a:t>Kaiming</a:t>
            </a:r>
            <a:r>
              <a:rPr lang="en-US" sz="2000" dirty="0"/>
              <a:t> et al. Deep residual learning for image recognition. In: Proceedings of the IEEE conference on computer vision and pattern recognition. 2016. p. 770-778.</a:t>
            </a:r>
            <a:endParaRPr lang="pt-BR" sz="2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B5F3A4-8CC9-6799-A160-6C78BD5FF6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51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6530786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10839</TotalTime>
  <Words>2252</Words>
  <Application>Microsoft Office PowerPoint</Application>
  <PresentationFormat>Widescreen</PresentationFormat>
  <Paragraphs>600</Paragraphs>
  <Slides>51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51</vt:i4>
      </vt:variant>
    </vt:vector>
  </HeadingPairs>
  <TitlesOfParts>
    <vt:vector size="57" baseType="lpstr">
      <vt:lpstr>-apple-system</vt:lpstr>
      <vt:lpstr>Arial</vt:lpstr>
      <vt:lpstr>Calibri</vt:lpstr>
      <vt:lpstr>Calibri Light</vt:lpstr>
      <vt:lpstr>Cambria Math</vt:lpstr>
      <vt:lpstr>Tema do Office</vt:lpstr>
      <vt:lpstr>Aprendizado Profundo 1</vt:lpstr>
      <vt:lpstr>Contexto</vt:lpstr>
      <vt:lpstr>Contexto</vt:lpstr>
      <vt:lpstr>Processamento Sequencial</vt:lpstr>
      <vt:lpstr>Processamento Sequencial</vt:lpstr>
      <vt:lpstr>Processamento Sequencial</vt:lpstr>
      <vt:lpstr>Processamento Sequencial</vt:lpstr>
      <vt:lpstr>Processamento Sequencial</vt:lpstr>
      <vt:lpstr>Conexões Residuais (Residual ou Skip Connections)</vt:lpstr>
      <vt:lpstr>Conexões Residuais (Residual ou Skip Connections)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Bloco Residual</vt:lpstr>
      <vt:lpstr>Bloco Residual</vt:lpstr>
      <vt:lpstr>Bloco Residual</vt:lpstr>
      <vt:lpstr>Bloco Residual</vt:lpstr>
      <vt:lpstr>Aumentando a profundidade da rede</vt:lpstr>
      <vt:lpstr>Variância das Ativações</vt:lpstr>
      <vt:lpstr>Variância das Ativações</vt:lpstr>
      <vt:lpstr>Variância das Ativações</vt:lpstr>
      <vt:lpstr>Variância das Ativações</vt:lpstr>
      <vt:lpstr>Variância das Ativações</vt:lpstr>
      <vt:lpstr>Variância das Ativações</vt:lpstr>
      <vt:lpstr>Batch Norm</vt:lpstr>
      <vt:lpstr>Batch Norm</vt:lpstr>
      <vt:lpstr>Batch Norm</vt:lpstr>
      <vt:lpstr>Batch Norm</vt:lpstr>
      <vt:lpstr>Batch Norm</vt:lpstr>
      <vt:lpstr>Batch Norm - Exemplo</vt:lpstr>
      <vt:lpstr>Batch Norm - Exemplo</vt:lpstr>
      <vt:lpstr>Batch Norm - Exemplo</vt:lpstr>
      <vt:lpstr>Batch Norm - Exemplo</vt:lpstr>
      <vt:lpstr>Batch Norm - Exemplo</vt:lpstr>
      <vt:lpstr>Batch Norm - Exemplo</vt:lpstr>
      <vt:lpstr>Batch Norm - Exemplo</vt:lpstr>
      <vt:lpstr>Batch Norm</vt:lpstr>
      <vt:lpstr>Batch Norm</vt:lpstr>
      <vt:lpstr>Skip Connections + Batch Norm</vt:lpstr>
      <vt:lpstr>ResNet</vt:lpstr>
      <vt:lpstr>ResNet</vt:lpstr>
      <vt:lpstr>ResNet-200</vt:lpstr>
      <vt:lpstr>DenseNet</vt:lpstr>
      <vt:lpstr>U-Net</vt:lpstr>
      <vt:lpstr>Referências: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Aprendizado de Máquina Turma 010 - 2021/2</dc:title>
  <dc:creator>Lucas Silveira Kupssinsku</dc:creator>
  <cp:lastModifiedBy>Lucas Kupssinskü</cp:lastModifiedBy>
  <cp:revision>183</cp:revision>
  <dcterms:created xsi:type="dcterms:W3CDTF">2021-08-01T11:35:46Z</dcterms:created>
  <dcterms:modified xsi:type="dcterms:W3CDTF">2023-11-01T13:12:27Z</dcterms:modified>
</cp:coreProperties>
</file>