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56" r:id="rId2"/>
    <p:sldId id="358" r:id="rId3"/>
    <p:sldId id="402" r:id="rId4"/>
    <p:sldId id="403" r:id="rId5"/>
    <p:sldId id="360" r:id="rId6"/>
    <p:sldId id="361" r:id="rId7"/>
    <p:sldId id="362" r:id="rId8"/>
    <p:sldId id="363" r:id="rId9"/>
    <p:sldId id="364" r:id="rId10"/>
    <p:sldId id="359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375" r:id="rId22"/>
    <p:sldId id="376" r:id="rId23"/>
    <p:sldId id="377" r:id="rId24"/>
    <p:sldId id="378" r:id="rId25"/>
    <p:sldId id="379" r:id="rId26"/>
    <p:sldId id="380" r:id="rId27"/>
    <p:sldId id="381" r:id="rId28"/>
    <p:sldId id="382" r:id="rId29"/>
    <p:sldId id="383" r:id="rId30"/>
    <p:sldId id="384" r:id="rId31"/>
    <p:sldId id="392" r:id="rId32"/>
    <p:sldId id="423" r:id="rId33"/>
    <p:sldId id="424" r:id="rId34"/>
    <p:sldId id="425" r:id="rId35"/>
    <p:sldId id="404" r:id="rId36"/>
    <p:sldId id="427" r:id="rId37"/>
    <p:sldId id="385" r:id="rId38"/>
    <p:sldId id="386" r:id="rId39"/>
    <p:sldId id="387" r:id="rId40"/>
    <p:sldId id="428" r:id="rId41"/>
    <p:sldId id="429" r:id="rId42"/>
    <p:sldId id="430" r:id="rId43"/>
    <p:sldId id="431" r:id="rId44"/>
    <p:sldId id="432" r:id="rId45"/>
    <p:sldId id="433" r:id="rId46"/>
    <p:sldId id="434" r:id="rId47"/>
    <p:sldId id="388" r:id="rId48"/>
    <p:sldId id="389" r:id="rId49"/>
    <p:sldId id="390" r:id="rId50"/>
    <p:sldId id="393" r:id="rId51"/>
    <p:sldId id="422" r:id="rId52"/>
    <p:sldId id="394" r:id="rId53"/>
    <p:sldId id="395" r:id="rId54"/>
    <p:sldId id="396" r:id="rId55"/>
    <p:sldId id="397" r:id="rId56"/>
    <p:sldId id="398" r:id="rId57"/>
    <p:sldId id="399" r:id="rId58"/>
    <p:sldId id="401" r:id="rId59"/>
    <p:sldId id="400" r:id="rId60"/>
    <p:sldId id="405" r:id="rId61"/>
    <p:sldId id="406" r:id="rId62"/>
    <p:sldId id="407" r:id="rId63"/>
    <p:sldId id="408" r:id="rId64"/>
    <p:sldId id="409" r:id="rId65"/>
    <p:sldId id="410" r:id="rId66"/>
    <p:sldId id="411" r:id="rId67"/>
    <p:sldId id="412" r:id="rId68"/>
    <p:sldId id="413" r:id="rId69"/>
    <p:sldId id="414" r:id="rId70"/>
    <p:sldId id="415" r:id="rId71"/>
    <p:sldId id="416" r:id="rId72"/>
    <p:sldId id="417" r:id="rId73"/>
    <p:sldId id="418" r:id="rId74"/>
    <p:sldId id="419" r:id="rId75"/>
    <p:sldId id="420" r:id="rId76"/>
    <p:sldId id="421" r:id="rId77"/>
    <p:sldId id="293" r:id="rId7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FEBF7"/>
    <a:srgbClr val="F6B2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42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6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DBEC8-B7CD-4879-87AE-64AF7BD7DF30}" type="datetimeFigureOut">
              <a:rPr lang="pt-BR" smtClean="0"/>
              <a:t>02/05/2024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50156-6885-4B39-8E78-85D0C1AED0F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15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36A27-9130-4759-A47A-23D3EAB30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1A88DD-808F-4F8D-84A5-3916FE3D8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AD0587-6BA5-4755-A254-BA8BAB6A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3EE8-82C7-4BB9-8AE0-A839B9F0439B}" type="datetime1">
              <a:rPr lang="pt-BR" smtClean="0"/>
              <a:t>02/05/2024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54C2AD-8133-48B1-A30D-493AEB54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85C79A-F85A-4516-A45F-AA8BEF57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696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6CC7B-9026-47F0-A53D-971D687F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79AE47-E774-440E-BB95-261546E48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D0AA4-83FF-4C0C-8613-B3D0E937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079A-94C2-45A1-88AB-6250F7D03304}" type="datetime1">
              <a:rPr lang="pt-BR" smtClean="0"/>
              <a:t>02/05/2024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984507-0CE8-4D65-8720-EE422B955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BCF4AD-DDBF-4D80-A019-F4FEC8F4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777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7D888-DBC5-4160-A401-DF4296CF8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41015C-6433-4AA1-82DC-E038C8C7C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375D2A-D6E9-4EA5-9A79-B0200907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87A7-29BF-49EF-AFD5-EA48A803025A}" type="datetime1">
              <a:rPr lang="pt-BR" smtClean="0"/>
              <a:t>02/05/2024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B65A21-5BD0-48CC-9633-CD3EBDDB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18FF30-0E8C-4739-A740-930FD7CE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580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98A0D-47CA-4BF5-8A53-03DEDDB1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6693E7-97F4-43B7-A4A2-B26156714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A5FED8-E805-40F8-AED2-2B37F607D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2B54B3-3070-46A9-BB16-347D6E91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B6DB7-59BC-4CD2-BD08-E2943D1EF069}" type="datetime1">
              <a:rPr lang="pt-BR" smtClean="0"/>
              <a:t>02/05/2024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695434-EDA8-4C3C-8BF0-E097E53C0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483E8E-C241-4C26-AD63-8E114572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410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86158-79AD-47BA-94A0-7B5C1B2F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F05BE3-8146-47FD-B959-DE98B68C2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A55466-A0D9-4326-8C0B-11D9ECB99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D8DD07B-B6ED-4D98-9C41-AB40AAD2E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E0E32ED-0580-4733-8A15-EF1A54EE76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0B57CC4-6BEE-4C56-B5A7-8348FFBA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93418-6918-484A-8421-0D025D0D8A67}" type="datetime1">
              <a:rPr lang="pt-BR" smtClean="0"/>
              <a:t>02/05/2024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8A9786-CC6C-453F-88B8-EDE8FEEEE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ACE4B8-7B8A-4602-8AC9-3F4E66D7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033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1E33F-43CC-4BCB-A00F-C169AF13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9A7E1A-8845-4FE6-ADDC-740512EC6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CAA2-036D-405F-9538-4B646274D645}" type="datetime1">
              <a:rPr lang="pt-BR" smtClean="0"/>
              <a:t>02/05/2024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95CA399-4971-4420-B53F-37EB8ACF2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B00EC4-0A80-464E-9415-C3F96738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578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EE76B2-7187-484D-B134-A77D8B30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13415-C3D3-416A-BA17-3FEFA32702EE}" type="datetime1">
              <a:rPr lang="pt-BR" smtClean="0"/>
              <a:t>02/05/2024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238519-4661-42E6-A172-40EEF015F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D207DA-461C-448E-83A6-5E42627C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143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9BC73-075F-4C57-B083-A2A53A76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53C72F-F7F4-4065-B66E-03AF5711E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830101-D942-46FF-BA69-E5E55509A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5132C4-FE9A-407F-A499-CB1C142D9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4281-F446-41F4-852D-AF0C5F0FB8E5}" type="datetime1">
              <a:rPr lang="pt-BR" smtClean="0"/>
              <a:t>02/05/2024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C6E7AD-95AD-4059-AE42-AA92FD2F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15626A-7012-4235-A6D7-A1A75234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653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42BC7-D688-430F-A256-18657B5F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33CB283-3B59-4BAD-87DF-1422F776B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3F9CF2-5A0D-4F0C-9FD8-7DB051EB0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76D9E3-8099-4187-BE37-EBC90D53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ACD1-8F4F-450B-9F25-92B5A7643D6C}" type="datetime1">
              <a:rPr lang="pt-BR" smtClean="0"/>
              <a:t>02/05/2024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FBBD30-A1E3-4861-9D26-E9EED18B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C0BD16-792A-45CC-8B4D-E0A7A883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215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3F8C5-185D-49E1-A53C-2E55BD5A1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D78D96-867E-469F-983A-80ACE3023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86A972-7A5F-4745-BB5E-7D0DDADC0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5C635-A7DF-42C1-A820-15BA95751108}" type="datetime1">
              <a:rPr lang="pt-BR" smtClean="0"/>
              <a:t>02/05/2024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2C18A6-57BF-49F1-97EA-7F9ACD0B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FE4627-EAD2-4008-B1FA-614849F55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796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E7A39B-F7E2-4A69-942C-6AEFE2C7B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298851-909A-4BB7-9514-2A3766F2D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06C408-EEE6-4851-8B3F-CBF1451B7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CA80-3A23-4BED-BFDD-EC237E1C9920}" type="datetime1">
              <a:rPr lang="pt-BR" smtClean="0"/>
              <a:t>02/05/2024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E5DE8C-E893-46D9-9054-DB6F88FD0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22E16A-56BB-4B7D-8AA6-C3A5B376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7387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1A29FE-D65E-4440-A657-262577AA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67D270-2A8A-433A-93D9-8D998D06B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C1113-45B0-4701-87FE-8C670E000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95C9C-EC44-4A90-8C72-29D4E173E628}" type="datetime1">
              <a:rPr lang="pt-BR" smtClean="0"/>
              <a:t>02/05/2024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72D9F7-AA55-448C-B21A-88D367431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BF8157-6D2F-4A31-942D-5AE190A46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540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w6nBWo21Zk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7" Type="http://schemas.openxmlformats.org/officeDocument/2006/relationships/image" Target="../media/image37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50.png"/><Relationship Id="rId4" Type="http://schemas.openxmlformats.org/officeDocument/2006/relationships/image" Target="../media/image34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7" Type="http://schemas.openxmlformats.org/officeDocument/2006/relationships/image" Target="../media/image38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7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image" Target="../media/image70.png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97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98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99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0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0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03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0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04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05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0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05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07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08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09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1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isaaalehi/convolution_as_multiplication/tree/main" TargetMode="External"/><Relationship Id="rId2" Type="http://schemas.openxmlformats.org/officeDocument/2006/relationships/hyperlink" Target="https://udlbook.github.io/udlbook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vdumoulin/conv_arithmetic/tree/mas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4B37C-3C8E-4FDE-9CD8-8FDBB9948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212529"/>
                </a:solidFill>
                <a:effectLst/>
                <a:latin typeface="-apple-system"/>
              </a:rPr>
              <a:t>Aprendizado Profundo 1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46BC0D-1C18-420A-8181-4599D8380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Introdução a Redes Neurais </a:t>
            </a:r>
            <a:r>
              <a:rPr lang="pt-BR" dirty="0" err="1"/>
              <a:t>Convolucionais</a:t>
            </a:r>
            <a:endParaRPr lang="pt-BR" dirty="0"/>
          </a:p>
          <a:p>
            <a:r>
              <a:rPr lang="pt-BR" dirty="0"/>
              <a:t>Professor: Lucas Silveira Kupssinskü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5EE3B-E0A9-0563-6E9A-DC0A22FB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025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DD5D8-21EA-D8C4-D1A9-58A7ED235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8CBDB-71AB-71C1-D108-4321E1B8E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Motivação para CNN</a:t>
            </a:r>
          </a:p>
          <a:p>
            <a:r>
              <a:rPr lang="pt-BR" dirty="0"/>
              <a:t>Invariância e </a:t>
            </a:r>
            <a:r>
              <a:rPr lang="pt-BR" dirty="0" err="1"/>
              <a:t>Equivariância</a:t>
            </a:r>
            <a:r>
              <a:rPr lang="pt-BR" dirty="0"/>
              <a:t> </a:t>
            </a:r>
          </a:p>
          <a:p>
            <a:r>
              <a:rPr lang="pt-BR" dirty="0"/>
              <a:t>Convolução</a:t>
            </a:r>
          </a:p>
          <a:p>
            <a:pPr lvl="1"/>
            <a:r>
              <a:rPr lang="pt-BR" i="1" dirty="0" err="1"/>
              <a:t>Size</a:t>
            </a:r>
            <a:endParaRPr lang="pt-BR" i="1" dirty="0"/>
          </a:p>
          <a:p>
            <a:pPr lvl="1"/>
            <a:r>
              <a:rPr lang="pt-BR" i="1" dirty="0" err="1"/>
              <a:t>Stride</a:t>
            </a:r>
            <a:endParaRPr lang="pt-BR" i="1" dirty="0"/>
          </a:p>
          <a:p>
            <a:pPr lvl="1"/>
            <a:r>
              <a:rPr lang="pt-BR" i="1" dirty="0" err="1"/>
              <a:t>Dilation</a:t>
            </a:r>
            <a:endParaRPr lang="pt-BR" i="1" dirty="0"/>
          </a:p>
          <a:p>
            <a:pPr lvl="1"/>
            <a:r>
              <a:rPr lang="pt-BR" i="1" dirty="0" err="1"/>
              <a:t>Padding</a:t>
            </a:r>
            <a:endParaRPr lang="pt-BR" i="1" dirty="0"/>
          </a:p>
          <a:p>
            <a:r>
              <a:rPr lang="pt-BR" dirty="0"/>
              <a:t>Campos Receptivos</a:t>
            </a:r>
            <a:r>
              <a:rPr lang="pt-BR" i="1" dirty="0"/>
              <a:t> (</a:t>
            </a:r>
            <a:r>
              <a:rPr lang="pt-BR" i="1" dirty="0" err="1"/>
              <a:t>Receptive</a:t>
            </a:r>
            <a:r>
              <a:rPr lang="pt-BR" i="1" dirty="0"/>
              <a:t> Fields)</a:t>
            </a:r>
          </a:p>
          <a:p>
            <a:r>
              <a:rPr lang="pt-BR" i="1" dirty="0" err="1"/>
              <a:t>Downsampling</a:t>
            </a:r>
            <a:r>
              <a:rPr lang="pt-BR" i="1" dirty="0"/>
              <a:t> </a:t>
            </a:r>
            <a:r>
              <a:rPr lang="pt-BR" dirty="0"/>
              <a:t>e</a:t>
            </a:r>
            <a:r>
              <a:rPr lang="pt-BR" i="1" dirty="0"/>
              <a:t> </a:t>
            </a:r>
            <a:r>
              <a:rPr lang="pt-BR" i="1" dirty="0" err="1"/>
              <a:t>Upsampling</a:t>
            </a:r>
            <a:endParaRPr lang="pt-BR" i="1" dirty="0"/>
          </a:p>
          <a:p>
            <a:r>
              <a:rPr lang="pt-BR" dirty="0"/>
              <a:t>Implementação de Convolução</a:t>
            </a:r>
          </a:p>
          <a:p>
            <a:pPr marL="0" indent="0">
              <a:buNone/>
            </a:pPr>
            <a:endParaRPr lang="pt-BR" i="1" dirty="0"/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F0B91-1014-3AD9-1DA9-99A34BF45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4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F5B7179-6C10-F52F-5DBA-FF8014942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340" y="3267355"/>
            <a:ext cx="4606326" cy="3050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95A11A-C4DC-104B-5315-B001937D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 Histórica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A7E-64D7-9486-D56D-A0AE5D46F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David Hubel e Torsten Wiesel realizaram experimentações implantando eletrodos no córtex visual de gatos</a:t>
            </a:r>
          </a:p>
          <a:p>
            <a:r>
              <a:rPr lang="pt-BR" dirty="0"/>
              <a:t>Aparentemente o processamento começa identificando padrões simples como arestas</a:t>
            </a:r>
          </a:p>
          <a:p>
            <a:pPr lvl="1"/>
            <a:r>
              <a:rPr lang="pt-BR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Vídeo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42F4A-DEA2-D108-D412-D37D6F9CE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004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3B37-58A2-651E-6538-4F3DE9EF4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</a:t>
            </a:r>
            <a:r>
              <a:rPr lang="pt-BR" dirty="0" err="1"/>
              <a:t>Convolucionais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DAED-B055-28FA-5917-5DBF616A2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São redes que incluem operações de convolução</a:t>
            </a:r>
          </a:p>
          <a:p>
            <a:pPr lvl="1"/>
            <a:r>
              <a:rPr lang="pt-BR" dirty="0"/>
              <a:t>Usadas principalmente em imagens</a:t>
            </a:r>
          </a:p>
          <a:p>
            <a:r>
              <a:rPr lang="pt-BR" dirty="0"/>
              <a:t>Criadas em 1989(!) por Yann </a:t>
            </a:r>
            <a:r>
              <a:rPr lang="pt-BR" dirty="0" err="1"/>
              <a:t>LeCun</a:t>
            </a:r>
            <a:r>
              <a:rPr lang="pt-BR" dirty="0"/>
              <a:t> (</a:t>
            </a:r>
            <a:r>
              <a:rPr lang="pt-BR" dirty="0" err="1"/>
              <a:t>LeNet</a:t>
            </a:r>
            <a:r>
              <a:rPr lang="pt-BR" dirty="0"/>
              <a:t>	- 5)</a:t>
            </a:r>
          </a:p>
          <a:p>
            <a:pPr lvl="1"/>
            <a:r>
              <a:rPr lang="pt-BR" sz="1600" dirty="0"/>
              <a:t>LECUN, Yann et al. </a:t>
            </a:r>
            <a:r>
              <a:rPr lang="pt-BR" sz="1600" dirty="0" err="1"/>
              <a:t>Handwritten</a:t>
            </a:r>
            <a:r>
              <a:rPr lang="pt-BR" sz="1600" dirty="0"/>
              <a:t> </a:t>
            </a:r>
            <a:r>
              <a:rPr lang="pt-BR" sz="1600" dirty="0" err="1"/>
              <a:t>digit</a:t>
            </a:r>
            <a:r>
              <a:rPr lang="pt-BR" sz="1600" dirty="0"/>
              <a:t> </a:t>
            </a:r>
            <a:r>
              <a:rPr lang="pt-BR" sz="1600" dirty="0" err="1"/>
              <a:t>recognition</a:t>
            </a:r>
            <a:r>
              <a:rPr lang="pt-BR" sz="1600" dirty="0"/>
              <a:t> </a:t>
            </a:r>
            <a:r>
              <a:rPr lang="pt-BR" sz="1600" dirty="0" err="1"/>
              <a:t>with</a:t>
            </a:r>
            <a:r>
              <a:rPr lang="pt-BR" sz="1600" dirty="0"/>
              <a:t> a </a:t>
            </a:r>
            <a:r>
              <a:rPr lang="pt-BR" sz="1600" dirty="0" err="1"/>
              <a:t>back-propagation</a:t>
            </a:r>
            <a:r>
              <a:rPr lang="pt-BR" sz="1600" dirty="0"/>
              <a:t> network. </a:t>
            </a:r>
            <a:r>
              <a:rPr lang="pt-BR" sz="1600" dirty="0" err="1"/>
              <a:t>Advances</a:t>
            </a:r>
            <a:r>
              <a:rPr lang="pt-BR" sz="1600" dirty="0"/>
              <a:t> in neural </a:t>
            </a:r>
            <a:r>
              <a:rPr lang="pt-BR" sz="1600" dirty="0" err="1"/>
              <a:t>information</a:t>
            </a:r>
            <a:r>
              <a:rPr lang="pt-BR" sz="1600" dirty="0"/>
              <a:t> </a:t>
            </a:r>
            <a:r>
              <a:rPr lang="pt-BR" sz="1600" dirty="0" err="1"/>
              <a:t>processing</a:t>
            </a:r>
            <a:r>
              <a:rPr lang="pt-BR" sz="1600" dirty="0"/>
              <a:t> systems, v. 2, 1989.</a:t>
            </a:r>
          </a:p>
          <a:p>
            <a:r>
              <a:rPr lang="pt-BR" dirty="0"/>
              <a:t>Explodiram em popularidade pós 2012</a:t>
            </a:r>
          </a:p>
          <a:p>
            <a:pPr lvl="1"/>
            <a:r>
              <a:rPr lang="pt-BR" dirty="0" err="1"/>
              <a:t>AlexNet</a:t>
            </a:r>
            <a:endParaRPr lang="pt-BR" dirty="0"/>
          </a:p>
          <a:p>
            <a:pPr lvl="2"/>
            <a:r>
              <a:rPr lang="pt-BR" sz="1600" dirty="0"/>
              <a:t>KRIZHEVSKY, Alex; SUTSKEVER, Ilya; HINTON, Geoffrey E. </a:t>
            </a:r>
            <a:r>
              <a:rPr lang="pt-BR" sz="1600" dirty="0" err="1"/>
              <a:t>Imagenet</a:t>
            </a:r>
            <a:r>
              <a:rPr lang="pt-BR" sz="1600" dirty="0"/>
              <a:t> </a:t>
            </a:r>
            <a:r>
              <a:rPr lang="pt-BR" sz="1600" dirty="0" err="1"/>
              <a:t>classification</a:t>
            </a:r>
            <a:r>
              <a:rPr lang="pt-BR" sz="1600" dirty="0"/>
              <a:t> </a:t>
            </a:r>
            <a:r>
              <a:rPr lang="pt-BR" sz="1600" dirty="0" err="1"/>
              <a:t>with</a:t>
            </a:r>
            <a:r>
              <a:rPr lang="pt-BR" sz="1600" dirty="0"/>
              <a:t> </a:t>
            </a:r>
            <a:r>
              <a:rPr lang="pt-BR" sz="1600" dirty="0" err="1"/>
              <a:t>deep</a:t>
            </a:r>
            <a:r>
              <a:rPr lang="pt-BR" sz="1600" dirty="0"/>
              <a:t> </a:t>
            </a:r>
            <a:r>
              <a:rPr lang="pt-BR" sz="1600" dirty="0" err="1"/>
              <a:t>convolutional</a:t>
            </a:r>
            <a:r>
              <a:rPr lang="pt-BR" sz="1600" dirty="0"/>
              <a:t> neural networks. </a:t>
            </a:r>
            <a:r>
              <a:rPr lang="pt-BR" sz="1600" dirty="0" err="1"/>
              <a:t>Advances</a:t>
            </a:r>
            <a:r>
              <a:rPr lang="pt-BR" sz="1600" dirty="0"/>
              <a:t> in neural </a:t>
            </a:r>
            <a:r>
              <a:rPr lang="pt-BR" sz="1600" dirty="0" err="1"/>
              <a:t>information</a:t>
            </a:r>
            <a:r>
              <a:rPr lang="pt-BR" sz="1600" dirty="0"/>
              <a:t> </a:t>
            </a:r>
            <a:r>
              <a:rPr lang="pt-BR" sz="1600" dirty="0" err="1"/>
              <a:t>processing</a:t>
            </a:r>
            <a:r>
              <a:rPr lang="pt-BR" sz="1600" dirty="0"/>
              <a:t> systems, v. 25, 2012.</a:t>
            </a:r>
          </a:p>
          <a:p>
            <a:pPr lvl="2"/>
            <a:r>
              <a:rPr lang="pt-BR" dirty="0"/>
              <a:t>Treinamento em </a:t>
            </a:r>
            <a:r>
              <a:rPr lang="pt-BR" dirty="0" err="1"/>
              <a:t>GPUs</a:t>
            </a:r>
            <a:endParaRPr lang="pt-BR" dirty="0"/>
          </a:p>
          <a:p>
            <a:pPr lvl="2"/>
            <a:r>
              <a:rPr lang="pt-BR" dirty="0"/>
              <a:t>+Dados</a:t>
            </a:r>
          </a:p>
          <a:p>
            <a:pPr lvl="2"/>
            <a:r>
              <a:rPr lang="pt-BR" dirty="0"/>
              <a:t>+Poder Computacional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45C15-F245-5EA0-F480-4232AA6B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1642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B4DFF-A101-BAD4-D30A-B6C83729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com MLP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7CE63-6DC0-A25D-D027-047FAB456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43536" cy="4351338"/>
          </a:xfrm>
        </p:spPr>
        <p:txBody>
          <a:bodyPr/>
          <a:lstStyle/>
          <a:p>
            <a:r>
              <a:rPr lang="pt-BR" dirty="0"/>
              <a:t>Imagens tem três propriedades que sugerem uso de arquiteturas específicas: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7BFBF-6295-3EB2-B13E-B74131E4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</a:t>
            </a:fld>
            <a:endParaRPr lang="pt-BR"/>
          </a:p>
        </p:txBody>
      </p:sp>
      <p:pic>
        <p:nvPicPr>
          <p:cNvPr id="1026" name="Picture 2" descr="Cat Images – Browse 3,634,787 Stock Photos, Vectors, and ...">
            <a:extLst>
              <a:ext uri="{FF2B5EF4-FFF2-40B4-BE49-F238E27FC236}">
                <a16:creationId xmlns:a16="http://schemas.microsoft.com/office/drawing/2014/main" id="{D8284126-B5F1-6179-719F-BCAEFA58C7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1" r="16913"/>
          <a:stretch/>
        </p:blipFill>
        <p:spPr bwMode="auto">
          <a:xfrm>
            <a:off x="7179557" y="4485700"/>
            <a:ext cx="1928141" cy="187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Yorkshire Terrier Dog Breed Information | Purina">
            <a:extLst>
              <a:ext uri="{FF2B5EF4-FFF2-40B4-BE49-F238E27FC236}">
                <a16:creationId xmlns:a16="http://schemas.microsoft.com/office/drawing/2014/main" id="{88A841DC-47EE-50F2-B869-07EA4C888D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5" t="14411" r="6834"/>
          <a:stretch/>
        </p:blipFill>
        <p:spPr bwMode="auto">
          <a:xfrm>
            <a:off x="6968011" y="1870075"/>
            <a:ext cx="1928141" cy="1806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1.17. Neural network models (supervised) — scikit-learn 1.3.0 documentation">
            <a:extLst>
              <a:ext uri="{FF2B5EF4-FFF2-40B4-BE49-F238E27FC236}">
                <a16:creationId xmlns:a16="http://schemas.microsoft.com/office/drawing/2014/main" id="{084382D3-11BB-4510-716D-CD3EB7B952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2"/>
          <a:stretch/>
        </p:blipFill>
        <p:spPr bwMode="auto">
          <a:xfrm>
            <a:off x="8896152" y="1967875"/>
            <a:ext cx="2743199" cy="3755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9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B4DFF-A101-BAD4-D30A-B6C83729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com MLP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7CE63-6DC0-A25D-D027-047FAB456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43536" cy="4351338"/>
          </a:xfrm>
        </p:spPr>
        <p:txBody>
          <a:bodyPr/>
          <a:lstStyle/>
          <a:p>
            <a:r>
              <a:rPr lang="pt-BR" dirty="0"/>
              <a:t>Imagens tem três propriedades que sugerem uso de arquiteturas específicas:</a:t>
            </a:r>
          </a:p>
          <a:p>
            <a:pPr lvl="1"/>
            <a:r>
              <a:rPr lang="pt-BR" dirty="0"/>
              <a:t>Alta dimensionalidade;</a:t>
            </a:r>
          </a:p>
          <a:p>
            <a:pPr lvl="2"/>
            <a:r>
              <a:rPr lang="pt-BR" dirty="0"/>
              <a:t>512x512 = 262144</a:t>
            </a:r>
          </a:p>
          <a:p>
            <a:pPr lvl="2"/>
            <a:r>
              <a:rPr lang="pt-BR" dirty="0"/>
              <a:t>Se tivermos 100 unidades na primeira camada oculta teremos: 26214500 pesos </a:t>
            </a:r>
          </a:p>
          <a:p>
            <a:pPr lvl="3"/>
            <a:r>
              <a:rPr lang="pt-BR" dirty="0"/>
              <a:t>Se considerarmos </a:t>
            </a:r>
            <a:r>
              <a:rPr lang="pt-BR" dirty="0" err="1"/>
              <a:t>float</a:t>
            </a:r>
            <a:r>
              <a:rPr lang="pt-BR" dirty="0"/>
              <a:t> 32, ~800mb de pesos só para a primeira camada </a:t>
            </a:r>
            <a:r>
              <a:rPr lang="pt-BR" dirty="0">
                <a:sym typeface="Wingdings" panose="05000000000000000000" pitchFamily="2" charset="2"/>
              </a:rPr>
              <a:t>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7BFBF-6295-3EB2-B13E-B74131E4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</a:t>
            </a:fld>
            <a:endParaRPr lang="pt-BR"/>
          </a:p>
        </p:txBody>
      </p:sp>
      <p:pic>
        <p:nvPicPr>
          <p:cNvPr id="1026" name="Picture 2" descr="Cat Images – Browse 3,634,787 Stock Photos, Vectors, and ...">
            <a:extLst>
              <a:ext uri="{FF2B5EF4-FFF2-40B4-BE49-F238E27FC236}">
                <a16:creationId xmlns:a16="http://schemas.microsoft.com/office/drawing/2014/main" id="{D8284126-B5F1-6179-719F-BCAEFA58C7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1" r="16913"/>
          <a:stretch/>
        </p:blipFill>
        <p:spPr bwMode="auto">
          <a:xfrm>
            <a:off x="7081736" y="4441250"/>
            <a:ext cx="1928141" cy="187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Yorkshire Terrier Dog Breed Information | Purina">
            <a:extLst>
              <a:ext uri="{FF2B5EF4-FFF2-40B4-BE49-F238E27FC236}">
                <a16:creationId xmlns:a16="http://schemas.microsoft.com/office/drawing/2014/main" id="{88A841DC-47EE-50F2-B869-07EA4C888D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5" t="14411" r="6834"/>
          <a:stretch/>
        </p:blipFill>
        <p:spPr bwMode="auto">
          <a:xfrm>
            <a:off x="6968011" y="1870075"/>
            <a:ext cx="1928141" cy="1806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1.17. Neural network models (supervised) — scikit-learn 1.3.0 documentation">
            <a:extLst>
              <a:ext uri="{FF2B5EF4-FFF2-40B4-BE49-F238E27FC236}">
                <a16:creationId xmlns:a16="http://schemas.microsoft.com/office/drawing/2014/main" id="{084382D3-11BB-4510-716D-CD3EB7B952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2"/>
          <a:stretch/>
        </p:blipFill>
        <p:spPr bwMode="auto">
          <a:xfrm>
            <a:off x="8896152" y="1967875"/>
            <a:ext cx="2743199" cy="3755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0A60E4-1D5D-CC63-DAFA-AC0A05B7E08C}"/>
              </a:ext>
            </a:extLst>
          </p:cNvPr>
          <p:cNvSpPr txBox="1"/>
          <p:nvPr/>
        </p:nvSpPr>
        <p:spPr>
          <a:xfrm>
            <a:off x="7387332" y="3536748"/>
            <a:ext cx="108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512x512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192DD-0B01-53E0-C630-CBE2B6F1D887}"/>
              </a:ext>
            </a:extLst>
          </p:cNvPr>
          <p:cNvSpPr txBox="1"/>
          <p:nvPr/>
        </p:nvSpPr>
        <p:spPr>
          <a:xfrm>
            <a:off x="7387332" y="6423905"/>
            <a:ext cx="108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512x512</a:t>
            </a:r>
          </a:p>
        </p:txBody>
      </p:sp>
    </p:spTree>
    <p:extLst>
      <p:ext uri="{BB962C8B-B14F-4D97-AF65-F5344CB8AC3E}">
        <p14:creationId xmlns:p14="http://schemas.microsoft.com/office/powerpoint/2010/main" val="3131776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B4DFF-A101-BAD4-D30A-B6C83729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com MLP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7CE63-6DC0-A25D-D027-047FAB456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017" y="1348970"/>
            <a:ext cx="6243536" cy="4351338"/>
          </a:xfrm>
        </p:spPr>
        <p:txBody>
          <a:bodyPr/>
          <a:lstStyle/>
          <a:p>
            <a:r>
              <a:rPr lang="pt-BR" dirty="0"/>
              <a:t>Imagens tem três propriedades que sugerem uso de arquiteturas específicas:</a:t>
            </a:r>
          </a:p>
          <a:p>
            <a:pPr lvl="1"/>
            <a:r>
              <a:rPr lang="pt-BR" dirty="0"/>
              <a:t>Alta dimensionalidade;</a:t>
            </a:r>
          </a:p>
          <a:p>
            <a:pPr lvl="1"/>
            <a:r>
              <a:rPr lang="pt-BR" dirty="0"/>
              <a:t>Alta coesão espacial;</a:t>
            </a:r>
          </a:p>
          <a:p>
            <a:pPr lvl="2"/>
            <a:r>
              <a:rPr lang="pt-BR" dirty="0"/>
              <a:t>Pixels próximos tem valores altamente correlacionados</a:t>
            </a:r>
          </a:p>
          <a:p>
            <a:pPr lvl="2"/>
            <a:r>
              <a:rPr lang="pt-BR" dirty="0"/>
              <a:t>Uma “característica” pode ter o mesmo significado em vários locais diferentes na imagem (orelha do cachorro ou gato)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7BFBF-6295-3EB2-B13E-B74131E4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7</a:t>
            </a:fld>
            <a:endParaRPr lang="pt-BR"/>
          </a:p>
        </p:txBody>
      </p:sp>
      <p:pic>
        <p:nvPicPr>
          <p:cNvPr id="1026" name="Picture 2" descr="Cat Images – Browse 3,634,787 Stock Photos, Vectors, and ...">
            <a:extLst>
              <a:ext uri="{FF2B5EF4-FFF2-40B4-BE49-F238E27FC236}">
                <a16:creationId xmlns:a16="http://schemas.microsoft.com/office/drawing/2014/main" id="{D8284126-B5F1-6179-719F-BCAEFA58C7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1" r="16913"/>
          <a:stretch/>
        </p:blipFill>
        <p:spPr bwMode="auto">
          <a:xfrm>
            <a:off x="7179557" y="4485700"/>
            <a:ext cx="1928141" cy="187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Yorkshire Terrier Dog Breed Information | Purina">
            <a:extLst>
              <a:ext uri="{FF2B5EF4-FFF2-40B4-BE49-F238E27FC236}">
                <a16:creationId xmlns:a16="http://schemas.microsoft.com/office/drawing/2014/main" id="{88A841DC-47EE-50F2-B869-07EA4C888D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5" t="14411" r="6834"/>
          <a:stretch/>
        </p:blipFill>
        <p:spPr bwMode="auto">
          <a:xfrm>
            <a:off x="6968011" y="1870075"/>
            <a:ext cx="1928141" cy="1806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1.17. Neural network models (supervised) — scikit-learn 1.3.0 documentation">
            <a:extLst>
              <a:ext uri="{FF2B5EF4-FFF2-40B4-BE49-F238E27FC236}">
                <a16:creationId xmlns:a16="http://schemas.microsoft.com/office/drawing/2014/main" id="{084382D3-11BB-4510-716D-CD3EB7B952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2"/>
          <a:stretch/>
        </p:blipFill>
        <p:spPr bwMode="auto">
          <a:xfrm>
            <a:off x="8896152" y="1967875"/>
            <a:ext cx="2743199" cy="3755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Yorkshire Terrier Dog Breed Information | Purina">
            <a:extLst>
              <a:ext uri="{FF2B5EF4-FFF2-40B4-BE49-F238E27FC236}">
                <a16:creationId xmlns:a16="http://schemas.microsoft.com/office/drawing/2014/main" id="{0A10F230-AB3A-3CA8-0333-2056368376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85" t="35968" r="65682" b="59927"/>
          <a:stretch/>
        </p:blipFill>
        <p:spPr bwMode="auto">
          <a:xfrm>
            <a:off x="6681539" y="452674"/>
            <a:ext cx="1699960" cy="1238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6FD86B-0352-0787-4388-3303DA6C140F}"/>
              </a:ext>
            </a:extLst>
          </p:cNvPr>
          <p:cNvCxnSpPr>
            <a:cxnSpLocks/>
          </p:cNvCxnSpPr>
          <p:nvPr/>
        </p:nvCxnSpPr>
        <p:spPr>
          <a:xfrm>
            <a:off x="6681539" y="1690688"/>
            <a:ext cx="818487" cy="6147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742F39-90EC-C4F4-3155-F9932DCA19D2}"/>
              </a:ext>
            </a:extLst>
          </p:cNvPr>
          <p:cNvCxnSpPr>
            <a:cxnSpLocks/>
          </p:cNvCxnSpPr>
          <p:nvPr/>
        </p:nvCxnSpPr>
        <p:spPr>
          <a:xfrm flipH="1">
            <a:off x="7500026" y="1690688"/>
            <a:ext cx="881473" cy="6147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Picture 2" descr="Cat Images – Browse 3,634,787 Stock Photos, Vectors, and ...">
            <a:extLst>
              <a:ext uri="{FF2B5EF4-FFF2-40B4-BE49-F238E27FC236}">
                <a16:creationId xmlns:a16="http://schemas.microsoft.com/office/drawing/2014/main" id="{0A6DDD0B-0A7C-013E-8B6C-2A20868F91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96" t="35513" r="57106" b="57900"/>
          <a:stretch/>
        </p:blipFill>
        <p:spPr bwMode="auto">
          <a:xfrm>
            <a:off x="9412380" y="4073121"/>
            <a:ext cx="1941420" cy="1927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96EB7E-D55F-9340-D1F9-A5D9D893B135}"/>
              </a:ext>
            </a:extLst>
          </p:cNvPr>
          <p:cNvCxnSpPr>
            <a:cxnSpLocks/>
          </p:cNvCxnSpPr>
          <p:nvPr/>
        </p:nvCxnSpPr>
        <p:spPr>
          <a:xfrm flipV="1">
            <a:off x="7863398" y="4073121"/>
            <a:ext cx="1547407" cy="10941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B8B84D-3E5B-764F-AF09-E4B5A9D25477}"/>
              </a:ext>
            </a:extLst>
          </p:cNvPr>
          <p:cNvCxnSpPr>
            <a:cxnSpLocks/>
          </p:cNvCxnSpPr>
          <p:nvPr/>
        </p:nvCxnSpPr>
        <p:spPr>
          <a:xfrm flipH="1" flipV="1">
            <a:off x="7855381" y="5219573"/>
            <a:ext cx="1555424" cy="7716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504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B4DFF-A101-BAD4-D30A-B6C83729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com MLP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7CE63-6DC0-A25D-D027-047FAB456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43536" cy="4351338"/>
          </a:xfrm>
        </p:spPr>
        <p:txBody>
          <a:bodyPr/>
          <a:lstStyle/>
          <a:p>
            <a:r>
              <a:rPr lang="pt-BR" dirty="0"/>
              <a:t>Imagens tem três propriedades que sugerem uso de arquiteturas específicas:</a:t>
            </a:r>
          </a:p>
          <a:p>
            <a:pPr lvl="1"/>
            <a:r>
              <a:rPr lang="pt-BR" dirty="0"/>
              <a:t>Alta dimensionalidade;</a:t>
            </a:r>
          </a:p>
          <a:p>
            <a:pPr lvl="1"/>
            <a:r>
              <a:rPr lang="pt-BR" dirty="0"/>
              <a:t>Alta coesão espacial;</a:t>
            </a:r>
          </a:p>
          <a:p>
            <a:pPr lvl="1"/>
            <a:r>
              <a:rPr lang="pt-BR" dirty="0"/>
              <a:t>Semântica estável frente a transformações geométricas;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7BFBF-6295-3EB2-B13E-B74131E4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8</a:t>
            </a:fld>
            <a:endParaRPr lang="pt-BR"/>
          </a:p>
        </p:txBody>
      </p:sp>
      <p:pic>
        <p:nvPicPr>
          <p:cNvPr id="1032" name="Picture 8" descr="1.17. Neural network models (supervised) — scikit-learn 1.3.0 documentation">
            <a:extLst>
              <a:ext uri="{FF2B5EF4-FFF2-40B4-BE49-F238E27FC236}">
                <a16:creationId xmlns:a16="http://schemas.microsoft.com/office/drawing/2014/main" id="{084382D3-11BB-4510-716D-CD3EB7B952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2"/>
          <a:stretch/>
        </p:blipFill>
        <p:spPr bwMode="auto">
          <a:xfrm>
            <a:off x="8896152" y="1967875"/>
            <a:ext cx="2743199" cy="3755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Yorkshire Terrier Dog Breed Information | Purina">
            <a:extLst>
              <a:ext uri="{FF2B5EF4-FFF2-40B4-BE49-F238E27FC236}">
                <a16:creationId xmlns:a16="http://schemas.microsoft.com/office/drawing/2014/main" id="{E1D9E8A2-0230-4959-F955-9B9844B148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5" t="14411" r="6834"/>
          <a:stretch/>
        </p:blipFill>
        <p:spPr bwMode="auto">
          <a:xfrm rot="751975">
            <a:off x="7550676" y="1675616"/>
            <a:ext cx="1050303" cy="2579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at Images – Browse 3,634,787 Stock Photos, Vectors, and ...">
            <a:extLst>
              <a:ext uri="{FF2B5EF4-FFF2-40B4-BE49-F238E27FC236}">
                <a16:creationId xmlns:a16="http://schemas.microsoft.com/office/drawing/2014/main" id="{9143D06D-61D6-BBA8-6589-AFFAC76B82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1" r="16913"/>
          <a:stretch/>
        </p:blipFill>
        <p:spPr bwMode="auto">
          <a:xfrm rot="19901070">
            <a:off x="6510925" y="4758234"/>
            <a:ext cx="2667443" cy="97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9333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B4DFF-A101-BAD4-D30A-B6C83729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com MLP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7CE63-6DC0-A25D-D027-047FAB456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43536" cy="4351338"/>
          </a:xfrm>
        </p:spPr>
        <p:txBody>
          <a:bodyPr/>
          <a:lstStyle/>
          <a:p>
            <a:r>
              <a:rPr lang="pt-BR" dirty="0"/>
              <a:t>Imagens tem três propriedades que sugerem uso de arquiteturas específicas:</a:t>
            </a:r>
          </a:p>
          <a:p>
            <a:pPr lvl="1"/>
            <a:r>
              <a:rPr lang="pt-BR" dirty="0"/>
              <a:t>Alta dimensionalidade;</a:t>
            </a:r>
          </a:p>
          <a:p>
            <a:pPr lvl="1"/>
            <a:r>
              <a:rPr lang="pt-BR" dirty="0"/>
              <a:t>Alta coesão espacial;</a:t>
            </a:r>
          </a:p>
          <a:p>
            <a:pPr lvl="1"/>
            <a:r>
              <a:rPr lang="pt-BR" dirty="0"/>
              <a:t>Semântica estável frente a transformações geométricas;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7BFBF-6295-3EB2-B13E-B74131E4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9</a:t>
            </a:fld>
            <a:endParaRPr lang="pt-BR"/>
          </a:p>
        </p:txBody>
      </p:sp>
      <p:pic>
        <p:nvPicPr>
          <p:cNvPr id="1032" name="Picture 8" descr="1.17. Neural network models (supervised) — scikit-learn 1.3.0 documentation">
            <a:extLst>
              <a:ext uri="{FF2B5EF4-FFF2-40B4-BE49-F238E27FC236}">
                <a16:creationId xmlns:a16="http://schemas.microsoft.com/office/drawing/2014/main" id="{084382D3-11BB-4510-716D-CD3EB7B952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2"/>
          <a:stretch/>
        </p:blipFill>
        <p:spPr bwMode="auto">
          <a:xfrm>
            <a:off x="8896152" y="1967875"/>
            <a:ext cx="2743199" cy="3755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Yorkshire Terrier Dog Breed Information | Purina">
            <a:extLst>
              <a:ext uri="{FF2B5EF4-FFF2-40B4-BE49-F238E27FC236}">
                <a16:creationId xmlns:a16="http://schemas.microsoft.com/office/drawing/2014/main" id="{E1D9E8A2-0230-4959-F955-9B9844B148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5" t="14411" r="6834"/>
          <a:stretch/>
        </p:blipFill>
        <p:spPr bwMode="auto">
          <a:xfrm rot="751975">
            <a:off x="7550676" y="1675616"/>
            <a:ext cx="1050303" cy="2579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at Images – Browse 3,634,787 Stock Photos, Vectors, and ...">
            <a:extLst>
              <a:ext uri="{FF2B5EF4-FFF2-40B4-BE49-F238E27FC236}">
                <a16:creationId xmlns:a16="http://schemas.microsoft.com/office/drawing/2014/main" id="{9143D06D-61D6-BBA8-6589-AFFAC76B82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1" r="16913"/>
          <a:stretch/>
        </p:blipFill>
        <p:spPr bwMode="auto">
          <a:xfrm rot="19901070">
            <a:off x="6510925" y="4758234"/>
            <a:ext cx="2667443" cy="97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86EAFE-EEFA-B5A5-495B-A27BE96DFFB7}"/>
              </a:ext>
            </a:extLst>
          </p:cNvPr>
          <p:cNvSpPr txBox="1"/>
          <p:nvPr/>
        </p:nvSpPr>
        <p:spPr>
          <a:xfrm>
            <a:off x="424132" y="2949166"/>
            <a:ext cx="11343736" cy="193899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Camadas </a:t>
            </a:r>
            <a:r>
              <a:rPr lang="pt-BR" sz="2400" dirty="0" err="1"/>
              <a:t>convolucionais</a:t>
            </a:r>
            <a:r>
              <a:rPr lang="pt-BR" sz="2400" dirty="0"/>
              <a:t> trazem diversos benefícios: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processam regiões da imagem separadamente compartilhando pesos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usam menos parâmetros do que camadas totalmente conectadas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exploram a correlação entre pixels próximos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não precisam reaprender padrões em locais diferentes da imagem</a:t>
            </a:r>
          </a:p>
        </p:txBody>
      </p:sp>
    </p:spTree>
    <p:extLst>
      <p:ext uri="{BB962C8B-B14F-4D97-AF65-F5344CB8AC3E}">
        <p14:creationId xmlns:p14="http://schemas.microsoft.com/office/powerpoint/2010/main" val="3134078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34120-1C91-6415-B478-36B8DB28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Invariância e </a:t>
            </a:r>
            <a:r>
              <a:rPr lang="pt-BR" dirty="0" err="1"/>
              <a:t>Equivariância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B04092-D050-EB5F-F6A8-D576B2E52A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Invariância</a:t>
                </a:r>
              </a:p>
              <a:p>
                <a:pPr lvl="1"/>
                <a:r>
                  <a:rPr lang="pt-BR" dirty="0"/>
                  <a:t>Uma função f de uma imagem x é dita invariante a uma transformação t se:</a:t>
                </a:r>
              </a:p>
              <a:p>
                <a:pPr lvl="1"/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lvl="1"/>
                <a:r>
                  <a:rPr lang="pt-BR" dirty="0"/>
                  <a:t>ou seja, independente da transformação temos o mesmo resultado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B04092-D050-EB5F-F6A8-D576B2E52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8E82D-057F-D1CE-9F56-45EA9B668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0897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34120-1C91-6415-B478-36B8DB28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Invariância e </a:t>
            </a:r>
            <a:r>
              <a:rPr lang="pt-BR" dirty="0" err="1"/>
              <a:t>Equivariância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B04092-D050-EB5F-F6A8-D576B2E52A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Equ</a:t>
                </a:r>
                <a:r>
                  <a:rPr lang="pt-BR" dirty="0" err="1"/>
                  <a:t>ivariância</a:t>
                </a:r>
                <a:endParaRPr lang="pt-BR" dirty="0"/>
              </a:p>
              <a:p>
                <a:pPr lvl="1"/>
                <a:r>
                  <a:rPr lang="pt-BR" dirty="0"/>
                  <a:t>Uma função f de uma imagem x é dita </a:t>
                </a:r>
                <a:r>
                  <a:rPr lang="pt-BR" dirty="0" err="1"/>
                  <a:t>equivariante</a:t>
                </a:r>
                <a:r>
                  <a:rPr lang="pt-BR" dirty="0"/>
                  <a:t> a uma transformação t se:</a:t>
                </a:r>
              </a:p>
              <a:p>
                <a:pPr lvl="1"/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lvl="1"/>
                <a:r>
                  <a:rPr lang="pt-BR" dirty="0"/>
                  <a:t>ou seja, independente da transformação temos o mesmo resultado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B04092-D050-EB5F-F6A8-D576B2E52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8E82D-057F-D1CE-9F56-45EA9B668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8533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34120-1C91-6415-B478-36B8DB28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Invariância e </a:t>
            </a:r>
            <a:r>
              <a:rPr lang="pt-BR" dirty="0" err="1"/>
              <a:t>Equivariância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8E82D-057F-D1CE-9F56-45EA9B668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12</a:t>
            </a:fld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283ECC-E86E-FC04-2D6B-4AB1BB3E2F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6478"/>
          <a:stretch/>
        </p:blipFill>
        <p:spPr>
          <a:xfrm>
            <a:off x="6284068" y="1690688"/>
            <a:ext cx="5148572" cy="43513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E9697A5-8BEA-0E97-E49D-B17BEE256839}"/>
              </a:ext>
            </a:extLst>
          </p:cNvPr>
          <p:cNvSpPr/>
          <p:nvPr/>
        </p:nvSpPr>
        <p:spPr>
          <a:xfrm>
            <a:off x="8686801" y="1690688"/>
            <a:ext cx="215660" cy="314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B8992E-52E5-004F-02F1-878694401A01}"/>
              </a:ext>
            </a:extLst>
          </p:cNvPr>
          <p:cNvSpPr/>
          <p:nvPr/>
        </p:nvSpPr>
        <p:spPr>
          <a:xfrm>
            <a:off x="8686801" y="3866357"/>
            <a:ext cx="215660" cy="314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B68175-A277-AFBA-7244-78AD5BCFB6FA}"/>
              </a:ext>
            </a:extLst>
          </p:cNvPr>
          <p:cNvSpPr txBox="1"/>
          <p:nvPr/>
        </p:nvSpPr>
        <p:spPr>
          <a:xfrm>
            <a:off x="345058" y="1847850"/>
            <a:ext cx="5562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Repare na segmentação ao lado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/>
              <a:t>Transladar a imagem deve resultar na mesma segmentação transladada</a:t>
            </a:r>
          </a:p>
        </p:txBody>
      </p:sp>
    </p:spTree>
    <p:extLst>
      <p:ext uri="{BB962C8B-B14F-4D97-AF65-F5344CB8AC3E}">
        <p14:creationId xmlns:p14="http://schemas.microsoft.com/office/powerpoint/2010/main" val="1793860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1800-B7CB-6341-05CD-C140C106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Convolução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99C7F0-83E6-D4A9-7A63-8275440A52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936149" cy="4351338"/>
              </a:xfrm>
            </p:spPr>
            <p:txBody>
              <a:bodyPr/>
              <a:lstStyle/>
              <a:p>
                <a:r>
                  <a:rPr lang="pt-BR" sz="2400" dirty="0"/>
                  <a:t>Vamos iniciar com convolução 1D</a:t>
                </a:r>
              </a:p>
              <a:p>
                <a:r>
                  <a:rPr lang="pt-BR" sz="2400" dirty="0"/>
                  <a:t>A convolução transforma um vetor de entradas x em um vetor de saídas z, tal que:</a:t>
                </a:r>
              </a:p>
              <a:p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pt-BR" sz="2400" dirty="0"/>
                  <a:t>Repare que os pesos são </a:t>
                </a:r>
                <a:r>
                  <a:rPr lang="pt-BR" sz="2400" b="1" dirty="0"/>
                  <a:t>compartilhados</a:t>
                </a:r>
                <a:r>
                  <a:rPr lang="pt-BR" sz="2400" dirty="0"/>
                  <a:t> por toda a entrada</a:t>
                </a:r>
              </a:p>
              <a:p>
                <a:r>
                  <a:rPr lang="pt-BR" sz="2400" dirty="0"/>
                  <a:t>A esse conjunto de pesos damos o nome de </a:t>
                </a:r>
                <a:r>
                  <a:rPr lang="pt-BR" sz="2400" i="1" dirty="0"/>
                  <a:t>kernel</a:t>
                </a:r>
                <a:r>
                  <a:rPr lang="pt-BR" sz="2400" dirty="0"/>
                  <a:t> ou </a:t>
                </a:r>
                <a:r>
                  <a:rPr lang="pt-BR" sz="2400" i="1" dirty="0"/>
                  <a:t>filtro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99C7F0-83E6-D4A9-7A63-8275440A52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936149" cy="4351338"/>
              </a:xfrm>
              <a:blipFill>
                <a:blip r:embed="rId2"/>
                <a:stretch>
                  <a:fillRect l="-1076" t="-1961" r="-3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435F5-747D-4520-72A1-1DEF2641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13</a:t>
            </a:fld>
            <a:endParaRPr lang="pt-B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D223AC-0763-CEAC-57C1-390B6797B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349" y="2318475"/>
            <a:ext cx="2714933" cy="365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759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D3F4A24-F9FC-6C3B-E7AD-005E0DC0A0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435" t="1643" r="2779" b="6362"/>
          <a:stretch/>
        </p:blipFill>
        <p:spPr>
          <a:xfrm>
            <a:off x="9438326" y="3525938"/>
            <a:ext cx="2034773" cy="28304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921800-B7CB-6341-05CD-C140C106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Padding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9C7F0-83E6-D4A9-7A63-8275440A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36149" cy="4351338"/>
          </a:xfrm>
        </p:spPr>
        <p:txBody>
          <a:bodyPr/>
          <a:lstStyle/>
          <a:p>
            <a:r>
              <a:rPr lang="pt-BR" dirty="0"/>
              <a:t>Como lidar com os estremos da entrada?</a:t>
            </a:r>
          </a:p>
          <a:p>
            <a:pPr lvl="1"/>
            <a:r>
              <a:rPr lang="pt-BR" i="1" dirty="0"/>
              <a:t>Zero </a:t>
            </a:r>
            <a:r>
              <a:rPr lang="pt-BR" i="1" dirty="0" err="1"/>
              <a:t>Padding</a:t>
            </a:r>
            <a:endParaRPr lang="pt-BR" i="1" dirty="0"/>
          </a:p>
          <a:p>
            <a:pPr lvl="2"/>
            <a:r>
              <a:rPr lang="pt-BR" dirty="0"/>
              <a:t>Completar a entrada com zeros</a:t>
            </a:r>
          </a:p>
          <a:p>
            <a:pPr lvl="1"/>
            <a:r>
              <a:rPr lang="pt-BR" dirty="0"/>
              <a:t>Desconsiderar os extremos (</a:t>
            </a:r>
            <a:r>
              <a:rPr lang="pt-BR" dirty="0" err="1"/>
              <a:t>Padding</a:t>
            </a:r>
            <a:r>
              <a:rPr lang="pt-BR" dirty="0"/>
              <a:t>=</a:t>
            </a:r>
            <a:r>
              <a:rPr lang="pt-BR" dirty="0" err="1"/>
              <a:t>Valid</a:t>
            </a:r>
            <a:r>
              <a:rPr lang="pt-BR" dirty="0"/>
              <a:t>)</a:t>
            </a:r>
          </a:p>
          <a:p>
            <a:pPr lvl="2"/>
            <a:r>
              <a:rPr lang="pt-BR" dirty="0"/>
              <a:t>Aplicar convolução apenas onde o </a:t>
            </a:r>
            <a:r>
              <a:rPr lang="pt-BR" i="1" dirty="0"/>
              <a:t>kernel</a:t>
            </a:r>
            <a:r>
              <a:rPr lang="pt-BR" dirty="0"/>
              <a:t> cabe</a:t>
            </a:r>
          </a:p>
          <a:p>
            <a:pPr lvl="1"/>
            <a:r>
              <a:rPr lang="pt-BR" dirty="0"/>
              <a:t>Considerar que a entrada é “circular” ou periódica</a:t>
            </a:r>
          </a:p>
          <a:p>
            <a:pPr lvl="2"/>
            <a:r>
              <a:rPr lang="pt-BR" dirty="0"/>
              <a:t>Pouco utilizado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435F5-747D-4520-72A1-1DEF2641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14</a:t>
            </a:fld>
            <a:endParaRPr lang="pt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7C1544-9BB5-F1AE-E679-B5F62D8909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43" r="54214" b="6362"/>
          <a:stretch/>
        </p:blipFill>
        <p:spPr>
          <a:xfrm>
            <a:off x="9438327" y="501650"/>
            <a:ext cx="2034772" cy="283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110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1800-B7CB-6341-05CD-C140C106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Stride</a:t>
            </a:r>
            <a:r>
              <a:rPr lang="pt-BR" i="1" dirty="0"/>
              <a:t>, Kernel </a:t>
            </a:r>
            <a:r>
              <a:rPr lang="pt-BR" i="1" dirty="0" err="1"/>
              <a:t>Size</a:t>
            </a:r>
            <a:r>
              <a:rPr lang="pt-BR" i="1" dirty="0"/>
              <a:t> </a:t>
            </a:r>
            <a:r>
              <a:rPr lang="pt-BR" dirty="0"/>
              <a:t>e</a:t>
            </a:r>
            <a:r>
              <a:rPr lang="pt-BR" i="1" dirty="0"/>
              <a:t> </a:t>
            </a:r>
            <a:r>
              <a:rPr lang="pt-BR" i="1" dirty="0" err="1"/>
              <a:t>Dilation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9C7F0-83E6-D4A9-7A63-8275440A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36149" cy="4351338"/>
          </a:xfrm>
        </p:spPr>
        <p:txBody>
          <a:bodyPr/>
          <a:lstStyle/>
          <a:p>
            <a:r>
              <a:rPr lang="pt-BR" i="1" dirty="0" err="1"/>
              <a:t>Stride</a:t>
            </a:r>
            <a:endParaRPr lang="pt-BR" i="1" dirty="0"/>
          </a:p>
          <a:p>
            <a:pPr lvl="1"/>
            <a:r>
              <a:rPr lang="pt-BR" dirty="0"/>
              <a:t>É o tamanho da transladação aplicada no </a:t>
            </a:r>
            <a:r>
              <a:rPr lang="pt-BR" i="1" dirty="0"/>
              <a:t>kernel</a:t>
            </a:r>
          </a:p>
          <a:p>
            <a:pPr lvl="1"/>
            <a:r>
              <a:rPr lang="pt-BR" dirty="0"/>
              <a:t>Pode ser interpretado como uma forma de </a:t>
            </a:r>
            <a:r>
              <a:rPr lang="pt-BR" i="1" dirty="0" err="1"/>
              <a:t>downsampling</a:t>
            </a:r>
            <a:r>
              <a:rPr lang="pt-BR" dirty="0"/>
              <a:t> quando o </a:t>
            </a:r>
            <a:r>
              <a:rPr lang="pt-BR" i="1" dirty="0" err="1"/>
              <a:t>stride</a:t>
            </a:r>
            <a:r>
              <a:rPr lang="pt-BR" dirty="0"/>
              <a:t> é maior que 1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435F5-747D-4520-72A1-1DEF2641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15</a:t>
            </a:fld>
            <a:endParaRPr lang="pt-B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80F0AC-879D-82B1-9E20-A65B1E411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648" y="754868"/>
            <a:ext cx="2600688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952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1800-B7CB-6341-05CD-C140C106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Stride</a:t>
            </a:r>
            <a:r>
              <a:rPr lang="pt-BR" i="1" dirty="0"/>
              <a:t>, Kernel </a:t>
            </a:r>
            <a:r>
              <a:rPr lang="pt-BR" i="1" dirty="0" err="1"/>
              <a:t>Size</a:t>
            </a:r>
            <a:r>
              <a:rPr lang="pt-BR" i="1" dirty="0"/>
              <a:t> </a:t>
            </a:r>
            <a:r>
              <a:rPr lang="pt-BR" dirty="0"/>
              <a:t>e</a:t>
            </a:r>
            <a:r>
              <a:rPr lang="pt-BR" i="1" dirty="0"/>
              <a:t> </a:t>
            </a:r>
            <a:r>
              <a:rPr lang="pt-BR" i="1" dirty="0" err="1"/>
              <a:t>Dilation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9C7F0-83E6-D4A9-7A63-8275440A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36149" cy="4351338"/>
          </a:xfrm>
        </p:spPr>
        <p:txBody>
          <a:bodyPr/>
          <a:lstStyle/>
          <a:p>
            <a:r>
              <a:rPr lang="pt-BR" i="1" dirty="0"/>
              <a:t>Kernel </a:t>
            </a:r>
            <a:r>
              <a:rPr lang="pt-BR" i="1" dirty="0" err="1"/>
              <a:t>Size</a:t>
            </a:r>
            <a:endParaRPr lang="pt-BR" i="1" dirty="0"/>
          </a:p>
          <a:p>
            <a:pPr lvl="1"/>
            <a:r>
              <a:rPr lang="pt-BR" dirty="0"/>
              <a:t>Tamanho do filtro/</a:t>
            </a:r>
            <a:r>
              <a:rPr lang="pt-BR" i="1" dirty="0"/>
              <a:t>kernel</a:t>
            </a:r>
            <a:r>
              <a:rPr lang="pt-BR" dirty="0"/>
              <a:t> que será usado</a:t>
            </a:r>
            <a:endParaRPr lang="pt-BR" i="1" dirty="0"/>
          </a:p>
          <a:p>
            <a:pPr lvl="1"/>
            <a:r>
              <a:rPr lang="pt-BR" dirty="0"/>
              <a:t>Permite que sejam integradas informações espaciais mais distantes</a:t>
            </a:r>
          </a:p>
          <a:p>
            <a:pPr lvl="2"/>
            <a:r>
              <a:rPr lang="pt-BR" dirty="0"/>
              <a:t>Mas aumenta o número de pesos que precisamos aprender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435F5-747D-4520-72A1-1DEF2641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16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0C940F-7B3D-D61A-C39B-8D6F8A5D9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1181" y="1498060"/>
            <a:ext cx="2435151" cy="471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401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1800-B7CB-6341-05CD-C140C106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Stride</a:t>
            </a:r>
            <a:r>
              <a:rPr lang="pt-BR" i="1" dirty="0"/>
              <a:t>, Kernel </a:t>
            </a:r>
            <a:r>
              <a:rPr lang="pt-BR" i="1" dirty="0" err="1"/>
              <a:t>Size</a:t>
            </a:r>
            <a:r>
              <a:rPr lang="pt-BR" i="1" dirty="0"/>
              <a:t> </a:t>
            </a:r>
            <a:r>
              <a:rPr lang="pt-BR" dirty="0"/>
              <a:t>e</a:t>
            </a:r>
            <a:r>
              <a:rPr lang="pt-BR" i="1" dirty="0"/>
              <a:t> </a:t>
            </a:r>
            <a:r>
              <a:rPr lang="pt-BR" i="1" dirty="0" err="1"/>
              <a:t>Dilation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9C7F0-83E6-D4A9-7A63-8275440A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36149" cy="4351338"/>
          </a:xfrm>
        </p:spPr>
        <p:txBody>
          <a:bodyPr/>
          <a:lstStyle/>
          <a:p>
            <a:r>
              <a:rPr lang="pt-BR" i="1" dirty="0" err="1"/>
              <a:t>Dilation</a:t>
            </a:r>
            <a:endParaRPr lang="pt-BR" i="1" dirty="0"/>
          </a:p>
          <a:p>
            <a:pPr lvl="1"/>
            <a:r>
              <a:rPr lang="pt-BR" dirty="0"/>
              <a:t>Permite que sejam integradas informações espaciais mais distantes sem aumento de parâmetros</a:t>
            </a:r>
          </a:p>
          <a:p>
            <a:pPr lvl="2"/>
            <a:r>
              <a:rPr lang="pt-BR" dirty="0"/>
              <a:t>Equivalente a aumentar o kernel mas deixar alguns pesos zerados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435F5-747D-4520-72A1-1DEF2641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17</a:t>
            </a:fld>
            <a:endParaRPr lang="pt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E3A3D4-9A9D-8912-107D-EA8FCB7F4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3901" y="1433361"/>
            <a:ext cx="2445750" cy="492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71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1800-B7CB-6341-05CD-C140C106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Camada </a:t>
            </a:r>
            <a:r>
              <a:rPr lang="pt-BR" dirty="0" err="1"/>
              <a:t>Convolucional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99C7F0-83E6-D4A9-7A63-8275440A52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83174" cy="4351338"/>
              </a:xfrm>
            </p:spPr>
            <p:txBody>
              <a:bodyPr/>
              <a:lstStyle/>
              <a:p>
                <a:r>
                  <a:rPr lang="pt-BR" dirty="0"/>
                  <a:t>Uma camada </a:t>
                </a:r>
                <a:r>
                  <a:rPr lang="pt-BR" dirty="0" err="1"/>
                  <a:t>convolucional</a:t>
                </a:r>
                <a:r>
                  <a:rPr lang="pt-BR" dirty="0"/>
                  <a:t> computa a convolução, adiciona o bias e aplica uma função de ativação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b="0" dirty="0"/>
                  <a:t> </a:t>
                </a:r>
                <a:r>
                  <a:rPr lang="en-US" b="0" dirty="0" err="1"/>
                  <a:t>são</a:t>
                </a:r>
                <a:r>
                  <a:rPr lang="en-US" b="0" dirty="0"/>
                  <a:t> </a:t>
                </a:r>
                <a:r>
                  <a:rPr lang="en-US" b="0" dirty="0" err="1"/>
                  <a:t>os</a:t>
                </a:r>
                <a:r>
                  <a:rPr lang="en-US" b="0" dirty="0"/>
                  <a:t> </a:t>
                </a:r>
                <a:r>
                  <a:rPr lang="en-US" b="0" dirty="0" err="1"/>
                  <a:t>parâmetros</a:t>
                </a:r>
                <a:r>
                  <a:rPr lang="en-US" b="0" dirty="0"/>
                  <a:t> </a:t>
                </a:r>
                <a:r>
                  <a:rPr lang="en-US" b="0" dirty="0" err="1"/>
                  <a:t>aprendidos</a:t>
                </a:r>
                <a:endParaRPr lang="en-US" b="0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99C7F0-83E6-D4A9-7A63-8275440A52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83174" cy="4351338"/>
              </a:xfrm>
              <a:blipFill>
                <a:blip r:embed="rId2"/>
                <a:stretch>
                  <a:fillRect l="-1037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435F5-747D-4520-72A1-1DEF2641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611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1800-B7CB-6341-05CD-C140C106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Camada </a:t>
            </a:r>
            <a:r>
              <a:rPr lang="pt-BR" dirty="0" err="1"/>
              <a:t>Convolucional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99C7F0-83E6-D4A9-7A63-8275440A52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83174" cy="4351338"/>
              </a:xfrm>
            </p:spPr>
            <p:txBody>
              <a:bodyPr/>
              <a:lstStyle/>
              <a:p>
                <a:r>
                  <a:rPr lang="pt-BR" dirty="0"/>
                  <a:t>Repare que a camada </a:t>
                </a:r>
                <a:r>
                  <a:rPr lang="pt-BR" dirty="0" err="1"/>
                  <a:t>convolucional</a:t>
                </a:r>
                <a:r>
                  <a:rPr lang="pt-BR" dirty="0"/>
                  <a:t> é um caso especial de camada totalmente conectada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99C7F0-83E6-D4A9-7A63-8275440A52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83174" cy="4351338"/>
              </a:xfrm>
              <a:blipFill>
                <a:blip r:embed="rId2"/>
                <a:stretch>
                  <a:fillRect l="-1037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435F5-747D-4520-72A1-1DEF2641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19</a:t>
            </a:fld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627577-9DAE-BEC3-3557-E3EAA4C8C49C}"/>
              </a:ext>
            </a:extLst>
          </p:cNvPr>
          <p:cNvSpPr/>
          <p:nvPr/>
        </p:nvSpPr>
        <p:spPr>
          <a:xfrm>
            <a:off x="8540150" y="3019245"/>
            <a:ext cx="2311880" cy="4097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Convolucional</a:t>
            </a:r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553FAB-BE08-B9D3-4553-1B84EC6E8A4A}"/>
              </a:ext>
            </a:extLst>
          </p:cNvPr>
          <p:cNvSpPr/>
          <p:nvPr/>
        </p:nvSpPr>
        <p:spPr>
          <a:xfrm>
            <a:off x="8540150" y="4741652"/>
            <a:ext cx="2311880" cy="4097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Totalmente Conectada</a:t>
            </a:r>
          </a:p>
        </p:txBody>
      </p:sp>
    </p:spTree>
    <p:extLst>
      <p:ext uri="{BB962C8B-B14F-4D97-AF65-F5344CB8AC3E}">
        <p14:creationId xmlns:p14="http://schemas.microsoft.com/office/powerpoint/2010/main" val="2285977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1800-B7CB-6341-05CD-C140C106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Camada </a:t>
            </a:r>
            <a:r>
              <a:rPr lang="pt-BR" dirty="0" err="1"/>
              <a:t>Convolucional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9C7F0-83E6-D4A9-7A63-8275440A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83174" cy="4351338"/>
          </a:xfrm>
        </p:spPr>
        <p:txBody>
          <a:bodyPr/>
          <a:lstStyle/>
          <a:p>
            <a:r>
              <a:rPr lang="pt-BR" dirty="0"/>
              <a:t>Existe uma forma inteligente de organizar a matriz de pesos para obter o resultado da convolução sem precisar iterar pela imagem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435F5-747D-4520-72A1-1DEF2641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20</a:t>
            </a:fld>
            <a:endParaRPr lang="pt-B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DB4B43-789E-89F5-9D78-B54A67300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114" y="3116549"/>
            <a:ext cx="2015879" cy="36049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CAC976-0A09-E2C9-3FA4-8EF55D35A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16549"/>
            <a:ext cx="2004463" cy="36049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5BF494-91BA-9147-9D0E-4DB35F931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0961" y="3159333"/>
            <a:ext cx="2234406" cy="312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449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322A6-D5D5-8E81-8E9E-A1A8E4CDF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Camada </a:t>
            </a:r>
            <a:r>
              <a:rPr lang="pt-BR" dirty="0" err="1"/>
              <a:t>Convolucional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EE10B-C8EA-141E-C9B0-A88FD80E7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Tipicamente temos diversos canais de entradas e saída quando estamos aplicando uma convolução</a:t>
            </a:r>
          </a:p>
          <a:p>
            <a:pPr lvl="1"/>
            <a:r>
              <a:rPr lang="pt-BR" sz="2000" dirty="0"/>
              <a:t>As ativações resultantes de um filtro são armazenadas em unidades ocultas tipicamente denominadas de </a:t>
            </a:r>
            <a:r>
              <a:rPr lang="pt-BR" sz="2000" i="1" dirty="0" err="1"/>
              <a:t>feature</a:t>
            </a:r>
            <a:r>
              <a:rPr lang="pt-BR" sz="2000" i="1" dirty="0"/>
              <a:t> </a:t>
            </a:r>
            <a:r>
              <a:rPr lang="pt-BR" sz="2000" i="1" dirty="0" err="1"/>
              <a:t>maps</a:t>
            </a:r>
            <a:r>
              <a:rPr lang="pt-BR" sz="2000" i="1" dirty="0"/>
              <a:t> </a:t>
            </a:r>
            <a:r>
              <a:rPr lang="pt-BR" sz="2000" dirty="0"/>
              <a:t>(ou canal)</a:t>
            </a:r>
          </a:p>
          <a:p>
            <a:pPr lvl="1"/>
            <a:r>
              <a:rPr lang="pt-BR" sz="2000" dirty="0"/>
              <a:t>a) e b) aplicação de duas convoluções diferentes geram </a:t>
            </a:r>
            <a:r>
              <a:rPr lang="pt-BR" sz="2000" dirty="0" err="1"/>
              <a:t>feature</a:t>
            </a:r>
            <a:r>
              <a:rPr lang="pt-BR" sz="2000" dirty="0"/>
              <a:t> </a:t>
            </a:r>
            <a:r>
              <a:rPr lang="pt-BR" sz="2000" dirty="0" err="1"/>
              <a:t>maps</a:t>
            </a:r>
            <a:r>
              <a:rPr lang="pt-BR" sz="2000" dirty="0"/>
              <a:t> diferentes</a:t>
            </a:r>
          </a:p>
          <a:p>
            <a:pPr lvl="1"/>
            <a:r>
              <a:rPr lang="pt-BR" sz="2000" dirty="0"/>
              <a:t>c) a convolução 1D da camada posterior atua em todos os </a:t>
            </a:r>
            <a:r>
              <a:rPr lang="pt-BR" sz="2000" dirty="0" err="1"/>
              <a:t>feature</a:t>
            </a:r>
            <a:r>
              <a:rPr lang="pt-BR" sz="2000" dirty="0"/>
              <a:t> </a:t>
            </a:r>
            <a:r>
              <a:rPr lang="pt-BR" sz="2000" dirty="0" err="1"/>
              <a:t>maps</a:t>
            </a:r>
            <a:r>
              <a:rPr lang="pt-BR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4FCF9-6A81-4F84-DC06-FA44C07D6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21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4D27A4-BED4-3E7B-ADBC-847A00CC5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05" y="4250988"/>
            <a:ext cx="8168790" cy="23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771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6DB95-04D7-85AE-91F8-539805C3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Campo Receptivo (</a:t>
            </a:r>
            <a:r>
              <a:rPr lang="pt-BR" i="1" dirty="0" err="1"/>
              <a:t>Receptive</a:t>
            </a:r>
            <a:r>
              <a:rPr lang="pt-BR" i="1" dirty="0"/>
              <a:t> Field)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FD6FC-3F79-73EE-D0A0-26D91D6C0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Repare que, ao realizar uma convolução uma unidade oculta (do </a:t>
            </a:r>
            <a:r>
              <a:rPr lang="pt-BR" i="1" dirty="0" err="1"/>
              <a:t>feature</a:t>
            </a:r>
            <a:r>
              <a:rPr lang="pt-BR" i="1" dirty="0"/>
              <a:t> </a:t>
            </a:r>
            <a:r>
              <a:rPr lang="pt-BR" i="1" dirty="0" err="1"/>
              <a:t>map</a:t>
            </a:r>
            <a:r>
              <a:rPr lang="pt-BR" dirty="0"/>
              <a:t>) foi gerada levando em conta apenas algumas das entradas</a:t>
            </a:r>
          </a:p>
          <a:p>
            <a:pPr lvl="1"/>
            <a:r>
              <a:rPr lang="pt-BR" dirty="0"/>
              <a:t>Damos o nome de Campo Receptivo a região considerada na unidade oculta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22FB5-A230-6CE9-9AB6-51B2F9F9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22</a:t>
            </a:fld>
            <a:endParaRPr lang="pt-B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F4BA0B-8AEE-C5D3-A1B2-898E5116D2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18" t="6516" r="7153"/>
          <a:stretch/>
        </p:blipFill>
        <p:spPr>
          <a:xfrm>
            <a:off x="4857750" y="3724275"/>
            <a:ext cx="2857500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6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6DB95-04D7-85AE-91F8-539805C3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Campo Receptivo (</a:t>
            </a:r>
            <a:r>
              <a:rPr lang="pt-BR" i="1" dirty="0" err="1"/>
              <a:t>Receptive</a:t>
            </a:r>
            <a:r>
              <a:rPr lang="pt-BR" i="1" dirty="0"/>
              <a:t> Field)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FD6FC-3F79-73EE-D0A0-26D91D6C0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Repare que, ao realizar uma convolução uma unidade oculta (do </a:t>
            </a:r>
            <a:r>
              <a:rPr lang="pt-BR" i="1" dirty="0" err="1"/>
              <a:t>feature</a:t>
            </a:r>
            <a:r>
              <a:rPr lang="pt-BR" i="1" dirty="0"/>
              <a:t> </a:t>
            </a:r>
            <a:r>
              <a:rPr lang="pt-BR" i="1" dirty="0" err="1"/>
              <a:t>map</a:t>
            </a:r>
            <a:r>
              <a:rPr lang="pt-BR" dirty="0"/>
              <a:t>) foi gerada levando em conta apenas algumas das entradas</a:t>
            </a:r>
          </a:p>
          <a:p>
            <a:pPr lvl="1"/>
            <a:r>
              <a:rPr lang="pt-BR" dirty="0"/>
              <a:t>Damos o nome de Campo Receptivo a região considerada na unidade oculta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22FB5-A230-6CE9-9AB6-51B2F9F9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23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DCF0F9-C469-C24D-8CC2-8AA0D5F669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93" b="3218"/>
          <a:stretch/>
        </p:blipFill>
        <p:spPr>
          <a:xfrm>
            <a:off x="3686783" y="3657601"/>
            <a:ext cx="5486233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843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6DB95-04D7-85AE-91F8-539805C3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Campo Receptivo (</a:t>
            </a:r>
            <a:r>
              <a:rPr lang="pt-BR" i="1" dirty="0" err="1"/>
              <a:t>Receptive</a:t>
            </a:r>
            <a:r>
              <a:rPr lang="pt-BR" i="1" dirty="0"/>
              <a:t> Field)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FD6FC-3F79-73EE-D0A0-26D91D6C0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Repare que, ao realizar uma convolução uma unidade oculta (do </a:t>
            </a:r>
            <a:r>
              <a:rPr lang="pt-BR" i="1" dirty="0" err="1"/>
              <a:t>feature</a:t>
            </a:r>
            <a:r>
              <a:rPr lang="pt-BR" i="1" dirty="0"/>
              <a:t> </a:t>
            </a:r>
            <a:r>
              <a:rPr lang="pt-BR" i="1" dirty="0" err="1"/>
              <a:t>map</a:t>
            </a:r>
            <a:r>
              <a:rPr lang="pt-BR" dirty="0"/>
              <a:t>) foi gerada levando em conta apenas algumas das entradas</a:t>
            </a:r>
          </a:p>
          <a:p>
            <a:pPr lvl="1"/>
            <a:r>
              <a:rPr lang="pt-BR" dirty="0"/>
              <a:t>Damos o nome de Campo Receptivo a região considerada na unidade oculta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22FB5-A230-6CE9-9AB6-51B2F9F9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24</a:t>
            </a:fld>
            <a:endParaRPr lang="pt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999C34-F433-4BE0-FD0A-5A74810666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93" b="7782"/>
          <a:stretch/>
        </p:blipFill>
        <p:spPr>
          <a:xfrm>
            <a:off x="2045878" y="3527805"/>
            <a:ext cx="8100244" cy="319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57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6DB95-04D7-85AE-91F8-539805C3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Campo Receptivo (</a:t>
            </a:r>
            <a:r>
              <a:rPr lang="pt-BR" i="1" dirty="0" err="1"/>
              <a:t>Receptive</a:t>
            </a:r>
            <a:r>
              <a:rPr lang="pt-BR" i="1" dirty="0"/>
              <a:t> Field)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FD6FC-3F79-73EE-D0A0-26D91D6C0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Repare que, ao realizar uma convolução uma unidade oculta (do </a:t>
            </a:r>
            <a:r>
              <a:rPr lang="pt-BR" i="1" dirty="0" err="1"/>
              <a:t>feature</a:t>
            </a:r>
            <a:r>
              <a:rPr lang="pt-BR" i="1" dirty="0"/>
              <a:t> </a:t>
            </a:r>
            <a:r>
              <a:rPr lang="pt-BR" i="1" dirty="0" err="1"/>
              <a:t>map</a:t>
            </a:r>
            <a:r>
              <a:rPr lang="pt-BR" dirty="0"/>
              <a:t>) foi gerada levando em conta apenas algumas das entradas</a:t>
            </a:r>
          </a:p>
          <a:p>
            <a:pPr lvl="1"/>
            <a:r>
              <a:rPr lang="pt-BR" dirty="0"/>
              <a:t>Damos o nome de Campo Receptivo a região considerada na unidade oculta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22FB5-A230-6CE9-9AB6-51B2F9F9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25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56132F-1A8A-F549-8F40-081290DC60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6" r="1223" b="7387"/>
          <a:stretch/>
        </p:blipFill>
        <p:spPr>
          <a:xfrm>
            <a:off x="943584" y="3620922"/>
            <a:ext cx="10107038" cy="310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082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4B1AA-9656-0EC6-DD3C-15FA1449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Uma exemplo de 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C35EE-0448-E020-9597-B6DC74273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20064" cy="4351338"/>
          </a:xfrm>
        </p:spPr>
        <p:txBody>
          <a:bodyPr/>
          <a:lstStyle/>
          <a:p>
            <a:r>
              <a:rPr lang="pt-BR" dirty="0"/>
              <a:t>Quatro camadas ocultas</a:t>
            </a:r>
          </a:p>
          <a:p>
            <a:pPr lvl="1"/>
            <a:r>
              <a:rPr lang="pt-BR" dirty="0"/>
              <a:t>3 </a:t>
            </a:r>
            <a:r>
              <a:rPr lang="pt-BR" i="1" dirty="0" err="1"/>
              <a:t>Conv</a:t>
            </a:r>
            <a:endParaRPr lang="pt-BR" i="1" dirty="0"/>
          </a:p>
          <a:p>
            <a:pPr lvl="1"/>
            <a:r>
              <a:rPr lang="pt-BR" dirty="0"/>
              <a:t>1 </a:t>
            </a:r>
            <a:r>
              <a:rPr lang="pt-BR" i="1" dirty="0" err="1"/>
              <a:t>Fully</a:t>
            </a:r>
            <a:r>
              <a:rPr lang="pt-BR" i="1" dirty="0"/>
              <a:t> </a:t>
            </a:r>
            <a:r>
              <a:rPr lang="pt-BR" i="1" dirty="0" err="1"/>
              <a:t>Connected</a:t>
            </a:r>
            <a:endParaRPr lang="pt-BR" i="1" dirty="0"/>
          </a:p>
          <a:p>
            <a:pPr lvl="1"/>
            <a:r>
              <a:rPr lang="pt-BR" dirty="0"/>
              <a:t>2050 parâmetros</a:t>
            </a:r>
          </a:p>
          <a:p>
            <a:r>
              <a:rPr lang="pt-BR" dirty="0"/>
              <a:t>100000 iterações</a:t>
            </a:r>
          </a:p>
          <a:p>
            <a:r>
              <a:rPr lang="pt-BR" dirty="0"/>
              <a:t>SGD</a:t>
            </a:r>
          </a:p>
          <a:p>
            <a:r>
              <a:rPr lang="pt-BR" dirty="0"/>
              <a:t>LR=0.01</a:t>
            </a:r>
          </a:p>
          <a:p>
            <a:r>
              <a:rPr lang="pt-BR" dirty="0"/>
              <a:t>Batch </a:t>
            </a:r>
            <a:r>
              <a:rPr lang="pt-BR" dirty="0" err="1"/>
              <a:t>Size</a:t>
            </a:r>
            <a:r>
              <a:rPr lang="pt-BR" dirty="0"/>
              <a:t>=100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476E3-577E-380F-02D3-4FD6EFBD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26</a:t>
            </a:fld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40D136-EF4D-8396-19D4-61E5DC445526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404" y="1483237"/>
            <a:ext cx="8024003" cy="487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620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4B1AA-9656-0EC6-DD3C-15FA1449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Uma exemplo de CNN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476E3-577E-380F-02D3-4FD6EFBD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27</a:t>
            </a:fld>
            <a:endParaRPr lang="pt-BR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F3676280-152B-A49F-4783-1A45F5248D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763" y="2986782"/>
            <a:ext cx="11714474" cy="35060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36E378-2D30-E7F2-6D65-35C8A567A662}"/>
              </a:ext>
            </a:extLst>
          </p:cNvPr>
          <p:cNvSpPr txBox="1"/>
          <p:nvPr/>
        </p:nvSpPr>
        <p:spPr>
          <a:xfrm>
            <a:off x="838200" y="1620322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Uma CNN atinge resultados melhores que um MLP no MNIST 1D mesmo tendo duas ordens de magnitude menos parâmetros treináveis.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Por quê?</a:t>
            </a:r>
          </a:p>
        </p:txBody>
      </p:sp>
    </p:spTree>
    <p:extLst>
      <p:ext uri="{BB962C8B-B14F-4D97-AF65-F5344CB8AC3E}">
        <p14:creationId xmlns:p14="http://schemas.microsoft.com/office/powerpoint/2010/main" val="3289848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22B6-AFAC-CECA-EFB2-7A5D60F16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CNN para 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7D1BEA-09DE-AA6F-341E-4A5324F508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Estender o conceito de CNN para 2D é natural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7D1BEA-09DE-AA6F-341E-4A5324F508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811F3-ADDA-29BC-BBB6-BA4C03629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28</a:t>
            </a:fld>
            <a:endParaRPr lang="pt-B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79108EB-1C77-8C10-547D-D4D60D18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174748"/>
            <a:ext cx="3488486" cy="2546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986791-26A5-96A7-0937-53365A05C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866243"/>
              </p:ext>
            </p:extLst>
          </p:nvPr>
        </p:nvGraphicFramePr>
        <p:xfrm>
          <a:off x="4485475" y="4683062"/>
          <a:ext cx="1030422" cy="1055730"/>
        </p:xfrm>
        <a:graphic>
          <a:graphicData uri="http://schemas.openxmlformats.org/drawingml/2006/table">
            <a:tbl>
              <a:tblPr/>
              <a:tblGrid>
                <a:gridCol w="343474">
                  <a:extLst>
                    <a:ext uri="{9D8B030D-6E8A-4147-A177-3AD203B41FA5}">
                      <a16:colId xmlns:a16="http://schemas.microsoft.com/office/drawing/2014/main" val="974379885"/>
                    </a:ext>
                  </a:extLst>
                </a:gridCol>
                <a:gridCol w="343474">
                  <a:extLst>
                    <a:ext uri="{9D8B030D-6E8A-4147-A177-3AD203B41FA5}">
                      <a16:colId xmlns:a16="http://schemas.microsoft.com/office/drawing/2014/main" val="1731579268"/>
                    </a:ext>
                  </a:extLst>
                </a:gridCol>
                <a:gridCol w="343474">
                  <a:extLst>
                    <a:ext uri="{9D8B030D-6E8A-4147-A177-3AD203B41FA5}">
                      <a16:colId xmlns:a16="http://schemas.microsoft.com/office/drawing/2014/main" val="4096244234"/>
                    </a:ext>
                  </a:extLst>
                </a:gridCol>
              </a:tblGrid>
              <a:tr h="35191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</a:t>
                      </a:r>
                      <a:endParaRPr lang="pt-BR" sz="1100">
                        <a:effectLst/>
                      </a:endParaRPr>
                    </a:p>
                  </a:txBody>
                  <a:tcPr marL="60259" marR="60259" marT="60259" marB="60259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  <a:endParaRPr lang="pt-BR" sz="1100">
                        <a:effectLst/>
                      </a:endParaRPr>
                    </a:p>
                  </a:txBody>
                  <a:tcPr marL="60259" marR="60259" marT="60259" marB="60259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</a:t>
                      </a:r>
                      <a:endParaRPr lang="pt-BR" sz="1100">
                        <a:effectLst/>
                      </a:endParaRPr>
                    </a:p>
                  </a:txBody>
                  <a:tcPr marL="60259" marR="60259" marT="60259" marB="60259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493722"/>
                  </a:ext>
                </a:extLst>
              </a:tr>
              <a:tr h="35191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  <a:endParaRPr lang="pt-BR" sz="1100">
                        <a:effectLst/>
                      </a:endParaRPr>
                    </a:p>
                  </a:txBody>
                  <a:tcPr marL="60259" marR="60259" marT="60259" marB="60259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</a:t>
                      </a:r>
                      <a:endParaRPr lang="pt-BR" sz="1100" dirty="0">
                        <a:effectLst/>
                      </a:endParaRPr>
                    </a:p>
                  </a:txBody>
                  <a:tcPr marL="60259" marR="60259" marT="60259" marB="60259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  <a:endParaRPr lang="pt-BR" sz="1100">
                        <a:effectLst/>
                      </a:endParaRPr>
                    </a:p>
                  </a:txBody>
                  <a:tcPr marL="60259" marR="60259" marT="60259" marB="60259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700585"/>
                  </a:ext>
                </a:extLst>
              </a:tr>
              <a:tr h="35191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</a:t>
                      </a:r>
                      <a:endParaRPr lang="pt-BR" sz="1100">
                        <a:effectLst/>
                      </a:endParaRPr>
                    </a:p>
                  </a:txBody>
                  <a:tcPr marL="60259" marR="60259" marT="60259" marB="60259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  <a:endParaRPr lang="pt-BR" sz="1100">
                        <a:effectLst/>
                      </a:endParaRPr>
                    </a:p>
                  </a:txBody>
                  <a:tcPr marL="60259" marR="60259" marT="60259" marB="60259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</a:t>
                      </a:r>
                      <a:endParaRPr lang="pt-BR" sz="1100" dirty="0">
                        <a:effectLst/>
                      </a:endParaRPr>
                    </a:p>
                  </a:txBody>
                  <a:tcPr marL="60259" marR="60259" marT="60259" marB="60259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363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716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22B6-AFAC-CECA-EFB2-7A5D60F16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CNN para 2D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D1BEA-09DE-AA6F-341E-4A5324F50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Estender o conceito de CNN para 2D é natural</a:t>
            </a:r>
          </a:p>
          <a:p>
            <a:pPr marL="0" indent="0">
              <a:buNone/>
            </a:pPr>
            <a:endParaRPr lang="en-US" b="0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811F3-ADDA-29BC-BBB6-BA4C03629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29</a:t>
            </a:fld>
            <a:endParaRPr lang="pt-B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A47DEC-D898-6643-F3F9-2CD549889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579" y="2605035"/>
            <a:ext cx="8474841" cy="357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162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CC3DB-8B18-E385-39D0-70B68959E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Parâmetros Treináveis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E91187-2BD8-8233-C7ED-2218C39E6F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Considerando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o número de canais de entrada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pt-BR" dirty="0"/>
                  <a:t> o número de canais de saída temos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E91187-2BD8-8233-C7ED-2218C39E6F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13FB3-998C-4C93-6661-86B99A187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6485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CC3DB-8B18-E385-39D0-70B68959E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Parâmetros Treináveis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E91187-2BD8-8233-C7ED-2218C39E6F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Considerando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o número de canais de entrada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pt-BR" dirty="0"/>
                  <a:t> o número de canais de saída temos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E91187-2BD8-8233-C7ED-2218C39E6F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13FB3-998C-4C93-6661-86B99A187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31</a:t>
            </a:fld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622D08-F3C8-B84B-B185-495C3527E1D4}"/>
              </a:ext>
            </a:extLst>
          </p:cNvPr>
          <p:cNvSpPr txBox="1"/>
          <p:nvPr/>
        </p:nvSpPr>
        <p:spPr>
          <a:xfrm>
            <a:off x="3164716" y="5046452"/>
            <a:ext cx="5239768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Por </a:t>
            </a:r>
            <a:r>
              <a:rPr lang="en-US" dirty="0" err="1"/>
              <a:t>exemplo</a:t>
            </a:r>
            <a:r>
              <a:rPr lang="en-US" dirty="0"/>
              <a:t>:</a:t>
            </a:r>
          </a:p>
          <a:p>
            <a:r>
              <a:rPr lang="en-US" dirty="0"/>
              <a:t>Para 3 </a:t>
            </a:r>
            <a:r>
              <a:rPr lang="en-US" dirty="0" err="1"/>
              <a:t>canais</a:t>
            </a:r>
            <a:r>
              <a:rPr lang="en-US" dirty="0"/>
              <a:t> de entrada, 5 de </a:t>
            </a:r>
            <a:r>
              <a:rPr lang="en-US" dirty="0" err="1"/>
              <a:t>saída</a:t>
            </a:r>
            <a:r>
              <a:rPr lang="en-US" dirty="0"/>
              <a:t> e conv 3x3</a:t>
            </a:r>
          </a:p>
          <a:p>
            <a:r>
              <a:rPr lang="en-US" dirty="0" err="1"/>
              <a:t>Temos</a:t>
            </a:r>
            <a:r>
              <a:rPr lang="en-US" dirty="0"/>
              <a:t> 3*5*3*3 = 185 </a:t>
            </a:r>
            <a:r>
              <a:rPr lang="en-US" dirty="0" err="1"/>
              <a:t>parâmetros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i="1" dirty="0"/>
              <a:t>kernels</a:t>
            </a:r>
            <a:r>
              <a:rPr lang="en-US" dirty="0"/>
              <a:t> + 5 bias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4605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EDED-D872-4F75-34F2-E74F79D1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Campos Receptivos (2D)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A5845-8C76-1470-82BF-A6CAED1AF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Mesma ideia anterior</a:t>
            </a:r>
          </a:p>
          <a:p>
            <a:pPr lvl="1"/>
            <a:r>
              <a:rPr lang="pt-BR" dirty="0"/>
              <a:t>Exemplo da figura abaixo usar filtros 3x3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5CE06-83FC-1423-E5AB-0F666DF98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32</a:t>
            </a:fld>
            <a:endParaRPr lang="pt-BR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67F3ADE-B768-BC26-03DF-CA7747E61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5623" y="3534743"/>
            <a:ext cx="7626021" cy="2731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409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E6F5396C-72A4-FFA2-E334-412920C1C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9042" y="3158670"/>
            <a:ext cx="5691277" cy="3699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A1EDED-D872-4F75-34F2-E74F79D1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Campos Receptivos (2D)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A5845-8C76-1470-82BF-A6CAED1AF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Repare que o campo receptivo de duas </a:t>
            </a:r>
            <a:r>
              <a:rPr lang="pt-BR" sz="2400" dirty="0" err="1"/>
              <a:t>convs</a:t>
            </a:r>
            <a:r>
              <a:rPr lang="pt-BR" sz="2400" dirty="0"/>
              <a:t> 3x3 é igual ao de uma </a:t>
            </a:r>
            <a:r>
              <a:rPr lang="pt-BR" sz="2400" dirty="0" err="1"/>
              <a:t>conv</a:t>
            </a:r>
            <a:r>
              <a:rPr lang="pt-BR" sz="2400" dirty="0"/>
              <a:t> 5x5</a:t>
            </a:r>
          </a:p>
          <a:p>
            <a:r>
              <a:rPr lang="pt-BR" sz="2400" dirty="0"/>
              <a:t>Um campo receptivo pequeno pode perder informações relevantes</a:t>
            </a:r>
          </a:p>
          <a:p>
            <a:r>
              <a:rPr lang="pt-BR" sz="2400" dirty="0"/>
              <a:t>Um campo receptivo muito grande (eventualmente) se torna igual a uma camada densa (totalmente conectada)</a:t>
            </a:r>
          </a:p>
          <a:p>
            <a:r>
              <a:rPr lang="pt-BR" sz="2400" dirty="0"/>
              <a:t>É melhor aplicar duas 3x3 sucessivas ou uma 5x5?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5CE06-83FC-1423-E5AB-0F666DF98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191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E6F5396C-72A4-FFA2-E334-412920C1C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9042" y="3158670"/>
            <a:ext cx="5691277" cy="3699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A1EDED-D872-4F75-34F2-E74F79D1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Campos Receptivos (2D)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A5845-8C76-1470-82BF-A6CAED1AF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Repare que o campo receptivo de duas </a:t>
            </a:r>
            <a:r>
              <a:rPr lang="pt-BR" sz="2400" dirty="0" err="1"/>
              <a:t>convs</a:t>
            </a:r>
            <a:r>
              <a:rPr lang="pt-BR" sz="2400" dirty="0"/>
              <a:t> 3x3 é igual ao de uma </a:t>
            </a:r>
            <a:r>
              <a:rPr lang="pt-BR" sz="2400" dirty="0" err="1"/>
              <a:t>conv</a:t>
            </a:r>
            <a:r>
              <a:rPr lang="pt-BR" sz="2400" dirty="0"/>
              <a:t> 5x5</a:t>
            </a:r>
          </a:p>
          <a:p>
            <a:r>
              <a:rPr lang="pt-BR" sz="2400" dirty="0"/>
              <a:t>Um campo receptivo pequeno pode perder informações relevantes</a:t>
            </a:r>
          </a:p>
          <a:p>
            <a:r>
              <a:rPr lang="pt-BR" sz="2400" dirty="0"/>
              <a:t>Um campo receptivo muito grande (eventualmente) se torna igual a uma camada densa (totalmente conectada)</a:t>
            </a:r>
          </a:p>
          <a:p>
            <a:r>
              <a:rPr lang="pt-BR" sz="2400" dirty="0"/>
              <a:t>É melhor aplicar duas 3x3 sucessivas ou uma 5x5?</a:t>
            </a:r>
          </a:p>
          <a:p>
            <a:pPr lvl="1"/>
            <a:r>
              <a:rPr lang="pt-BR" sz="2000" dirty="0">
                <a:solidFill>
                  <a:srgbClr val="FF0000"/>
                </a:solidFill>
              </a:rPr>
              <a:t>R: Duas 3x3</a:t>
            </a:r>
          </a:p>
          <a:p>
            <a:pPr lvl="2"/>
            <a:r>
              <a:rPr lang="pt-BR" sz="1600" dirty="0">
                <a:solidFill>
                  <a:srgbClr val="FF0000"/>
                </a:solidFill>
              </a:rPr>
              <a:t>Menos parâmetros</a:t>
            </a:r>
          </a:p>
          <a:p>
            <a:pPr lvl="2"/>
            <a:r>
              <a:rPr lang="pt-BR" sz="1600" dirty="0">
                <a:solidFill>
                  <a:srgbClr val="FF0000"/>
                </a:solidFill>
              </a:rPr>
              <a:t>Mais não-linearidade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5CE06-83FC-1423-E5AB-0F666DF98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34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246F5-8668-D656-157D-8912999BA64B}"/>
              </a:ext>
            </a:extLst>
          </p:cNvPr>
          <p:cNvSpPr txBox="1"/>
          <p:nvPr/>
        </p:nvSpPr>
        <p:spPr>
          <a:xfrm>
            <a:off x="0" y="6596390"/>
            <a:ext cx="10515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SIMONYAN, Karen; ZISSERMAN, Andrew.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Very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deep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convolutional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networks for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large-scale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image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recognition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arXiv:1409.1556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416803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F34A4-8114-5AEC-A2D2-40EF58669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Treinamento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26CB1-4895-2790-A77B-6D934350E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50977" cy="4351338"/>
          </a:xfrm>
        </p:spPr>
        <p:txBody>
          <a:bodyPr/>
          <a:lstStyle/>
          <a:p>
            <a:r>
              <a:rPr lang="pt-BR" i="1" dirty="0" err="1"/>
              <a:t>Backprop</a:t>
            </a:r>
            <a:r>
              <a:rPr lang="pt-BR" dirty="0"/>
              <a:t> funciona para convoluções</a:t>
            </a:r>
          </a:p>
          <a:p>
            <a:pPr lvl="1"/>
            <a:r>
              <a:rPr lang="pt-BR" dirty="0"/>
              <a:t>As derivadas parciais precisam ser acumuladas (somadas) para cada entrada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57266-9C77-1C97-0D60-65E2562A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35</a:t>
            </a:fld>
            <a:endParaRPr lang="pt-BR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8EFBA0B-44C2-9F65-310C-648A4AECB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85" y="4001294"/>
            <a:ext cx="7231811" cy="2254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1B5C4F8F-8F6A-AC0C-98EE-C225E3D71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177" y="4522035"/>
            <a:ext cx="3705225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52169817-F53B-0D84-110B-AF27FFA5B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3296" y="1210125"/>
            <a:ext cx="3810000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009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16011-8F95-C8D8-E7FB-0BF34DF7A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resultado do treinamento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BF625-BD83-2013-A943-332A70F1E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82109" cy="4351338"/>
          </a:xfrm>
        </p:spPr>
        <p:txBody>
          <a:bodyPr/>
          <a:lstStyle/>
          <a:p>
            <a:r>
              <a:rPr lang="pt-BR" dirty="0"/>
              <a:t>Os </a:t>
            </a:r>
            <a:r>
              <a:rPr lang="pt-BR" i="1" dirty="0" err="1"/>
              <a:t>feature</a:t>
            </a:r>
            <a:r>
              <a:rPr lang="pt-BR" i="1" dirty="0"/>
              <a:t> </a:t>
            </a:r>
            <a:r>
              <a:rPr lang="pt-BR" i="1" dirty="0" err="1"/>
              <a:t>maps</a:t>
            </a:r>
            <a:r>
              <a:rPr lang="pt-BR" dirty="0"/>
              <a:t> das primeiras camadas mostram arestas, cantos e formas primitivas</a:t>
            </a:r>
          </a:p>
          <a:p>
            <a:r>
              <a:rPr lang="pt-BR" dirty="0"/>
              <a:t>Em camadas mais internas vemos formas mais complexas</a:t>
            </a:r>
          </a:p>
          <a:p>
            <a:pPr lvl="1"/>
            <a:r>
              <a:rPr lang="pt-BR" dirty="0"/>
              <a:t>Repare que aumenta também o campo receptivo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BA672-3F11-7D9F-B16F-5EDA7F69E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36</a:t>
            </a:fld>
            <a:endParaRPr lang="pt-BR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8FCA804-B845-4CD0-6749-88B690F2F9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1" t="7377" r="25094" b="16615"/>
          <a:stretch/>
        </p:blipFill>
        <p:spPr bwMode="auto">
          <a:xfrm>
            <a:off x="7384212" y="1492820"/>
            <a:ext cx="4494362" cy="4684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2B359D-6B40-4291-1F81-6DDCD33EE5E1}"/>
              </a:ext>
            </a:extLst>
          </p:cNvPr>
          <p:cNvSpPr txBox="1"/>
          <p:nvPr/>
        </p:nvSpPr>
        <p:spPr>
          <a:xfrm>
            <a:off x="0" y="6582975"/>
            <a:ext cx="120137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 err="1">
                <a:solidFill>
                  <a:srgbClr val="2E414F"/>
                </a:solidFill>
                <a:effectLst/>
                <a:latin typeface="Roboto" panose="02000000000000000000" pitchFamily="2" charset="0"/>
              </a:rPr>
              <a:t>Albawi</a:t>
            </a:r>
            <a:r>
              <a:rPr lang="en-US" sz="1200" b="0" i="0" dirty="0">
                <a:solidFill>
                  <a:srgbClr val="2E414F"/>
                </a:solidFill>
                <a:effectLst/>
                <a:latin typeface="Roboto" panose="02000000000000000000" pitchFamily="2" charset="0"/>
              </a:rPr>
              <a:t>, S., Mohammed, T.A., &amp; Al-</a:t>
            </a:r>
            <a:r>
              <a:rPr lang="en-US" sz="1200" b="0" i="0" dirty="0" err="1">
                <a:solidFill>
                  <a:srgbClr val="2E414F"/>
                </a:solidFill>
                <a:effectLst/>
                <a:latin typeface="Roboto" panose="02000000000000000000" pitchFamily="2" charset="0"/>
              </a:rPr>
              <a:t>Zawi</a:t>
            </a:r>
            <a:r>
              <a:rPr lang="en-US" sz="1200" b="0" i="0" dirty="0">
                <a:solidFill>
                  <a:srgbClr val="2E414F"/>
                </a:solidFill>
                <a:effectLst/>
                <a:latin typeface="Roboto" panose="02000000000000000000" pitchFamily="2" charset="0"/>
              </a:rPr>
              <a:t>, S. (2017). Understanding of a convolutional neural network. </a:t>
            </a:r>
            <a:r>
              <a:rPr lang="en-US" sz="1200" b="0" i="1" dirty="0">
                <a:solidFill>
                  <a:srgbClr val="2E414F"/>
                </a:solidFill>
                <a:effectLst/>
                <a:latin typeface="Roboto" panose="02000000000000000000" pitchFamily="2" charset="0"/>
              </a:rPr>
              <a:t>2017 International Conference on Engineering and Technology (ICET)</a:t>
            </a:r>
            <a:r>
              <a:rPr lang="en-US" sz="1200" b="0" i="0" dirty="0">
                <a:solidFill>
                  <a:srgbClr val="2E414F"/>
                </a:solidFill>
                <a:effectLst/>
                <a:latin typeface="Roboto" panose="02000000000000000000" pitchFamily="2" charset="0"/>
              </a:rPr>
              <a:t>, 1-6.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960503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9F0293-7DCA-7436-74F6-C7B01853F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51637"/>
            <a:ext cx="10990053" cy="21872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5042BC-1B12-2BA6-A075-1EAC1938C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Downsampling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B46D1-93C5-2E3A-0641-EE8844E9F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Subamostrar</a:t>
            </a:r>
            <a:r>
              <a:rPr lang="pt-BR" dirty="0"/>
              <a:t> espacialmente a imagem pode ter o efeito de aumentar o campo receptivo de uma unidade oculta</a:t>
            </a:r>
          </a:p>
          <a:p>
            <a:r>
              <a:rPr lang="pt-BR" dirty="0"/>
              <a:t>As principais formas de </a:t>
            </a:r>
            <a:r>
              <a:rPr lang="pt-BR" dirty="0" err="1"/>
              <a:t>subamostragem</a:t>
            </a:r>
            <a:r>
              <a:rPr lang="pt-BR" dirty="0"/>
              <a:t> em CNN são:</a:t>
            </a:r>
          </a:p>
          <a:p>
            <a:pPr lvl="1"/>
            <a:r>
              <a:rPr lang="pt-BR" dirty="0"/>
              <a:t>a) Usar </a:t>
            </a:r>
            <a:r>
              <a:rPr lang="pt-BR" i="1" dirty="0" err="1"/>
              <a:t>Stride</a:t>
            </a:r>
            <a:endParaRPr lang="pt-BR" i="1" dirty="0"/>
          </a:p>
          <a:p>
            <a:pPr lvl="1"/>
            <a:r>
              <a:rPr lang="pt-BR" dirty="0"/>
              <a:t>b)</a:t>
            </a:r>
            <a:r>
              <a:rPr lang="pt-BR" i="1" dirty="0"/>
              <a:t> </a:t>
            </a:r>
            <a:r>
              <a:rPr lang="pt-BR" dirty="0"/>
              <a:t>Max </a:t>
            </a:r>
            <a:r>
              <a:rPr lang="pt-BR" dirty="0" err="1"/>
              <a:t>Pooling</a:t>
            </a:r>
            <a:endParaRPr lang="pt-BR" dirty="0"/>
          </a:p>
          <a:p>
            <a:pPr lvl="1"/>
            <a:r>
              <a:rPr lang="pt-BR" dirty="0"/>
              <a:t>c) </a:t>
            </a:r>
            <a:r>
              <a:rPr lang="pt-BR" i="1" dirty="0" err="1"/>
              <a:t>Average</a:t>
            </a:r>
            <a:r>
              <a:rPr lang="pt-BR" i="1" dirty="0"/>
              <a:t> </a:t>
            </a:r>
            <a:r>
              <a:rPr lang="pt-BR" i="1" dirty="0" err="1"/>
              <a:t>Pooling</a:t>
            </a:r>
            <a:endParaRPr lang="pt-BR" i="1" dirty="0"/>
          </a:p>
          <a:p>
            <a:pPr lvl="1"/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9CC42-CB06-F2A4-9B48-D58E20BA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3265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791507-0E43-2691-14CE-4DD1DBF3B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68" y="4428707"/>
            <a:ext cx="10906664" cy="20730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5042BC-1B12-2BA6-A075-1EAC1938C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Upsampling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B46D1-93C5-2E3A-0641-EE8844E9F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Sobreamostrar</a:t>
            </a:r>
            <a:r>
              <a:rPr lang="pt-BR" dirty="0"/>
              <a:t> espacialmente a imagem pode ser útil quando a saída do processamento também é uma imagem</a:t>
            </a:r>
          </a:p>
          <a:p>
            <a:r>
              <a:rPr lang="pt-BR" dirty="0"/>
              <a:t>As principais formas de </a:t>
            </a:r>
            <a:r>
              <a:rPr lang="pt-BR" dirty="0" err="1"/>
              <a:t>sobreamostragem</a:t>
            </a:r>
            <a:r>
              <a:rPr lang="pt-BR" dirty="0"/>
              <a:t> em CNN são:</a:t>
            </a:r>
          </a:p>
          <a:p>
            <a:pPr lvl="1"/>
            <a:r>
              <a:rPr lang="pt-BR" dirty="0"/>
              <a:t>a) Duplicar os valores conhecidos</a:t>
            </a:r>
            <a:endParaRPr lang="pt-BR" i="1" dirty="0"/>
          </a:p>
          <a:p>
            <a:pPr lvl="1"/>
            <a:r>
              <a:rPr lang="pt-BR" dirty="0"/>
              <a:t>b)</a:t>
            </a:r>
            <a:r>
              <a:rPr lang="pt-BR" i="1" dirty="0"/>
              <a:t> </a:t>
            </a:r>
            <a:r>
              <a:rPr lang="pt-BR" dirty="0"/>
              <a:t>Max </a:t>
            </a:r>
            <a:r>
              <a:rPr lang="pt-BR" dirty="0" err="1"/>
              <a:t>Unpooling</a:t>
            </a:r>
            <a:endParaRPr lang="pt-BR" dirty="0"/>
          </a:p>
          <a:p>
            <a:pPr lvl="1"/>
            <a:r>
              <a:rPr lang="pt-BR" dirty="0"/>
              <a:t>c) Interpolação </a:t>
            </a:r>
            <a:r>
              <a:rPr lang="pt-BR" dirty="0" err="1"/>
              <a:t>Bilinear</a:t>
            </a:r>
            <a:endParaRPr lang="pt-BR" dirty="0"/>
          </a:p>
          <a:p>
            <a:pPr lvl="1"/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9CC42-CB06-F2A4-9B48-D58E20BA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739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042BC-1B12-2BA6-A075-1EAC1938C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Upsampling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B46D1-93C5-2E3A-0641-EE8844E9F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principais formas de </a:t>
            </a:r>
            <a:r>
              <a:rPr lang="pt-BR" dirty="0" err="1"/>
              <a:t>sobreamostragem</a:t>
            </a:r>
            <a:r>
              <a:rPr lang="pt-BR" dirty="0"/>
              <a:t> em CNN são:</a:t>
            </a:r>
          </a:p>
          <a:p>
            <a:pPr lvl="1"/>
            <a:r>
              <a:rPr lang="pt-BR" dirty="0"/>
              <a:t>a) Duplicar os valores conhecidos</a:t>
            </a:r>
            <a:endParaRPr lang="pt-BR" i="1" dirty="0"/>
          </a:p>
          <a:p>
            <a:pPr lvl="1"/>
            <a:r>
              <a:rPr lang="pt-BR" dirty="0"/>
              <a:t>b)</a:t>
            </a:r>
            <a:r>
              <a:rPr lang="pt-BR" i="1" dirty="0"/>
              <a:t> </a:t>
            </a:r>
            <a:r>
              <a:rPr lang="pt-BR" dirty="0"/>
              <a:t>Max </a:t>
            </a:r>
            <a:r>
              <a:rPr lang="pt-BR" dirty="0" err="1"/>
              <a:t>Unpooling</a:t>
            </a:r>
            <a:endParaRPr lang="pt-BR" dirty="0"/>
          </a:p>
          <a:p>
            <a:pPr lvl="1"/>
            <a:r>
              <a:rPr lang="pt-BR" dirty="0"/>
              <a:t>c) Interpolação </a:t>
            </a:r>
            <a:r>
              <a:rPr lang="pt-BR" dirty="0" err="1"/>
              <a:t>Bilinear</a:t>
            </a:r>
            <a:endParaRPr lang="pt-BR" dirty="0"/>
          </a:p>
          <a:p>
            <a:pPr lvl="1"/>
            <a:r>
              <a:rPr lang="pt-BR" dirty="0"/>
              <a:t>d) Convolução Transposta</a:t>
            </a:r>
          </a:p>
          <a:p>
            <a:pPr lvl="1"/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9CC42-CB06-F2A4-9B48-D58E20BA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39</a:t>
            </a:fld>
            <a:endParaRPr lang="pt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88D90A-58FF-578B-7910-DBC310ABD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29" y="3881755"/>
            <a:ext cx="8553091" cy="297624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690135F-BF3C-43B0-5D74-22161B1E46FE}"/>
              </a:ext>
            </a:extLst>
          </p:cNvPr>
          <p:cNvSpPr/>
          <p:nvPr/>
        </p:nvSpPr>
        <p:spPr>
          <a:xfrm>
            <a:off x="1181818" y="3949404"/>
            <a:ext cx="267419" cy="293299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97761D-97DD-1100-1C55-CCF64400C37B}"/>
              </a:ext>
            </a:extLst>
          </p:cNvPr>
          <p:cNvSpPr/>
          <p:nvPr/>
        </p:nvSpPr>
        <p:spPr>
          <a:xfrm>
            <a:off x="3128512" y="3949404"/>
            <a:ext cx="267419" cy="293299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943BF6-469C-2463-8369-44925BB819CB}"/>
              </a:ext>
            </a:extLst>
          </p:cNvPr>
          <p:cNvSpPr/>
          <p:nvPr/>
        </p:nvSpPr>
        <p:spPr>
          <a:xfrm>
            <a:off x="5962290" y="3949404"/>
            <a:ext cx="267419" cy="293299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D65181-C4F4-DF76-E3AE-BE523AB47DB8}"/>
              </a:ext>
            </a:extLst>
          </p:cNvPr>
          <p:cNvSpPr/>
          <p:nvPr/>
        </p:nvSpPr>
        <p:spPr>
          <a:xfrm>
            <a:off x="7995248" y="3949404"/>
            <a:ext cx="267419" cy="293299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901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8867E-EA9D-23C6-F145-8207FDD9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Convolu</a:t>
            </a:r>
            <a:r>
              <a:rPr lang="en-US" dirty="0" err="1"/>
              <a:t>ção</a:t>
            </a:r>
            <a:r>
              <a:rPr lang="en-US" dirty="0"/>
              <a:t> </a:t>
            </a:r>
            <a:r>
              <a:rPr lang="en-US" dirty="0" err="1"/>
              <a:t>Transposta</a:t>
            </a:r>
            <a:r>
              <a:rPr lang="en-US" dirty="0"/>
              <a:t> - Ex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1E6BF-1586-5F36-A0BB-D7CA062B1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Filtro</a:t>
            </a:r>
            <a:r>
              <a:rPr lang="en-US" dirty="0"/>
              <a:t> 3x3</a:t>
            </a:r>
          </a:p>
          <a:p>
            <a:r>
              <a:rPr lang="en-US" dirty="0"/>
              <a:t>Padding=1</a:t>
            </a:r>
          </a:p>
          <a:p>
            <a:r>
              <a:rPr lang="en-US" dirty="0"/>
              <a:t>Stride=2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6468A-004F-775D-A60B-4E4626AE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40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3090476-886F-B79C-D264-10031C59C3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9102390"/>
                  </p:ext>
                </p:extLst>
              </p:nvPr>
            </p:nvGraphicFramePr>
            <p:xfrm>
              <a:off x="4328661" y="3019686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3090476-886F-B79C-D264-10031C59C3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9102390"/>
                  </p:ext>
                </p:extLst>
              </p:nvPr>
            </p:nvGraphicFramePr>
            <p:xfrm>
              <a:off x="4328661" y="3019686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3B91224-8E33-0D8F-323B-ECB1226F2B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013957"/>
                  </p:ext>
                </p:extLst>
              </p:nvPr>
            </p:nvGraphicFramePr>
            <p:xfrm>
              <a:off x="1454298" y="4668784"/>
              <a:ext cx="1025826" cy="987010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3B91224-8E33-0D8F-323B-ECB1226F2B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013957"/>
                  </p:ext>
                </p:extLst>
              </p:nvPr>
            </p:nvGraphicFramePr>
            <p:xfrm>
              <a:off x="1454298" y="4668784"/>
              <a:ext cx="1025826" cy="987010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76" t="-1220" r="-101176" b="-1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2381" t="-1220" r="-2381" b="-10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76" t="-102469" r="-101176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2381" t="-102469" r="-2381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779437B8-5C63-DCAE-926F-59A072C35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914324"/>
              </p:ext>
            </p:extLst>
          </p:nvPr>
        </p:nvGraphicFramePr>
        <p:xfrm>
          <a:off x="7634548" y="3019686"/>
          <a:ext cx="1952104" cy="1963216"/>
        </p:xfrm>
        <a:graphic>
          <a:graphicData uri="http://schemas.openxmlformats.org/drawingml/2006/table">
            <a:tbl>
              <a:tblPr firstRow="1">
                <a:tableStyleId>{8A107856-5554-42FB-B03E-39F5DBC370BA}</a:tableStyleId>
              </a:tblPr>
              <a:tblGrid>
                <a:gridCol w="488026">
                  <a:extLst>
                    <a:ext uri="{9D8B030D-6E8A-4147-A177-3AD203B41FA5}">
                      <a16:colId xmlns:a16="http://schemas.microsoft.com/office/drawing/2014/main" val="3260054969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858858152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3714699805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1974320234"/>
                    </a:ext>
                  </a:extLst>
                </a:gridCol>
              </a:tblGrid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52131812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84347319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1535734039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7360475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455027E-6624-ECA2-94B4-A0DC6D3973C6}"/>
              </a:ext>
            </a:extLst>
          </p:cNvPr>
          <p:cNvSpPr txBox="1"/>
          <p:nvPr/>
        </p:nvSpPr>
        <p:spPr>
          <a:xfrm>
            <a:off x="1113108" y="4299452"/>
            <a:ext cx="224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 map input</a:t>
            </a:r>
            <a:endParaRPr lang="pt-BR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0A2A5B-CBBE-D405-69D1-216B20CEA1B4}"/>
              </a:ext>
            </a:extLst>
          </p:cNvPr>
          <p:cNvSpPr txBox="1"/>
          <p:nvPr/>
        </p:nvSpPr>
        <p:spPr>
          <a:xfrm>
            <a:off x="4650985" y="2650354"/>
            <a:ext cx="89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kernel</a:t>
            </a:r>
            <a:endParaRPr lang="pt-BR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F1E698-75C0-0379-A681-E265484C3070}"/>
              </a:ext>
            </a:extLst>
          </p:cNvPr>
          <p:cNvSpPr txBox="1"/>
          <p:nvPr/>
        </p:nvSpPr>
        <p:spPr>
          <a:xfrm>
            <a:off x="8170988" y="5481686"/>
            <a:ext cx="1230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resultado</a:t>
            </a:r>
            <a:endParaRPr lang="pt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157163-3993-727A-9E06-B3D96F269CC4}"/>
              </a:ext>
            </a:extLst>
          </p:cNvPr>
          <p:cNvSpPr txBox="1"/>
          <p:nvPr/>
        </p:nvSpPr>
        <p:spPr>
          <a:xfrm>
            <a:off x="0" y="6582975"/>
            <a:ext cx="58228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Fonte: Deep Learning Specialization Andrew NG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763396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66E0F5B9-C373-B60D-91E3-EE1E67C36740}"/>
              </a:ext>
            </a:extLst>
          </p:cNvPr>
          <p:cNvGraphicFramePr>
            <a:graphicFrameLocks noGrp="1"/>
          </p:cNvGraphicFramePr>
          <p:nvPr/>
        </p:nvGraphicFramePr>
        <p:xfrm>
          <a:off x="7144370" y="2520902"/>
          <a:ext cx="2914032" cy="2944824"/>
        </p:xfrm>
        <a:graphic>
          <a:graphicData uri="http://schemas.openxmlformats.org/drawingml/2006/table">
            <a:tbl>
              <a:tblPr firstRow="1">
                <a:tableStyleId>{0505E3EF-67EA-436B-97B2-0124C06EBD24}</a:tableStyleId>
              </a:tblPr>
              <a:tblGrid>
                <a:gridCol w="485672">
                  <a:extLst>
                    <a:ext uri="{9D8B030D-6E8A-4147-A177-3AD203B41FA5}">
                      <a16:colId xmlns:a16="http://schemas.microsoft.com/office/drawing/2014/main" val="3260054969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858858152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3714699805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1974320234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1022484494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3079705699"/>
                    </a:ext>
                  </a:extLst>
                </a:gridCol>
              </a:tblGrid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52131812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84347319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1535734039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73604756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126391018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54604205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CE8867E-EA9D-23C6-F145-8207FDD9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Convolu</a:t>
            </a:r>
            <a:r>
              <a:rPr lang="en-US" dirty="0" err="1"/>
              <a:t>ção</a:t>
            </a:r>
            <a:r>
              <a:rPr lang="en-US" dirty="0"/>
              <a:t> </a:t>
            </a:r>
            <a:r>
              <a:rPr lang="en-US" dirty="0" err="1"/>
              <a:t>Transposta</a:t>
            </a:r>
            <a:r>
              <a:rPr lang="en-US" dirty="0"/>
              <a:t> - Ex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1E6BF-1586-5F36-A0BB-D7CA062B1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Filtro</a:t>
            </a:r>
            <a:r>
              <a:rPr lang="en-US" dirty="0"/>
              <a:t> 3x3</a:t>
            </a:r>
          </a:p>
          <a:p>
            <a:r>
              <a:rPr lang="en-US" dirty="0"/>
              <a:t>Padding=1</a:t>
            </a:r>
          </a:p>
          <a:p>
            <a:r>
              <a:rPr lang="en-US" dirty="0"/>
              <a:t>Stride=2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6468A-004F-775D-A60B-4E4626AE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41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3090476-886F-B79C-D264-10031C59C3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28661" y="3019686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3090476-886F-B79C-D264-10031C59C3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28661" y="3019686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3B91224-8E33-0D8F-323B-ECB1226F2B8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54298" y="4668784"/>
              <a:ext cx="1025826" cy="987010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3B91224-8E33-0D8F-323B-ECB1226F2B8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54298" y="4668784"/>
              <a:ext cx="1025826" cy="987010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76" t="-1220" r="-101176" b="-1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2381" t="-1220" r="-2381" b="-10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76" t="-102469" r="-101176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2381" t="-102469" r="-2381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779437B8-5C63-DCAE-926F-59A072C357FF}"/>
              </a:ext>
            </a:extLst>
          </p:cNvPr>
          <p:cNvGraphicFramePr>
            <a:graphicFrameLocks noGrp="1"/>
          </p:cNvGraphicFramePr>
          <p:nvPr/>
        </p:nvGraphicFramePr>
        <p:xfrm>
          <a:off x="7634548" y="3019686"/>
          <a:ext cx="1952104" cy="1963216"/>
        </p:xfrm>
        <a:graphic>
          <a:graphicData uri="http://schemas.openxmlformats.org/drawingml/2006/table">
            <a:tbl>
              <a:tblPr firstRow="1">
                <a:tableStyleId>{8A107856-5554-42FB-B03E-39F5DBC370BA}</a:tableStyleId>
              </a:tblPr>
              <a:tblGrid>
                <a:gridCol w="488026">
                  <a:extLst>
                    <a:ext uri="{9D8B030D-6E8A-4147-A177-3AD203B41FA5}">
                      <a16:colId xmlns:a16="http://schemas.microsoft.com/office/drawing/2014/main" val="3260054969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858858152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3714699805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1974320234"/>
                    </a:ext>
                  </a:extLst>
                </a:gridCol>
              </a:tblGrid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52131812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84347319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1535734039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7360475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455027E-6624-ECA2-94B4-A0DC6D3973C6}"/>
              </a:ext>
            </a:extLst>
          </p:cNvPr>
          <p:cNvSpPr txBox="1"/>
          <p:nvPr/>
        </p:nvSpPr>
        <p:spPr>
          <a:xfrm>
            <a:off x="1113108" y="4299452"/>
            <a:ext cx="224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 map input</a:t>
            </a:r>
            <a:endParaRPr lang="pt-BR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0A2A5B-CBBE-D405-69D1-216B20CEA1B4}"/>
              </a:ext>
            </a:extLst>
          </p:cNvPr>
          <p:cNvSpPr txBox="1"/>
          <p:nvPr/>
        </p:nvSpPr>
        <p:spPr>
          <a:xfrm>
            <a:off x="4650985" y="2650354"/>
            <a:ext cx="89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kernel</a:t>
            </a:r>
            <a:endParaRPr lang="pt-BR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F1E698-75C0-0379-A681-E265484C3070}"/>
              </a:ext>
            </a:extLst>
          </p:cNvPr>
          <p:cNvSpPr txBox="1"/>
          <p:nvPr/>
        </p:nvSpPr>
        <p:spPr>
          <a:xfrm>
            <a:off x="8170988" y="5481686"/>
            <a:ext cx="1230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resultado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1397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66E0F5B9-C373-B60D-91E3-EE1E67C36740}"/>
              </a:ext>
            </a:extLst>
          </p:cNvPr>
          <p:cNvGraphicFramePr>
            <a:graphicFrameLocks noGrp="1"/>
          </p:cNvGraphicFramePr>
          <p:nvPr/>
        </p:nvGraphicFramePr>
        <p:xfrm>
          <a:off x="7144370" y="2520902"/>
          <a:ext cx="2914032" cy="2944824"/>
        </p:xfrm>
        <a:graphic>
          <a:graphicData uri="http://schemas.openxmlformats.org/drawingml/2006/table">
            <a:tbl>
              <a:tblPr firstRow="1">
                <a:tableStyleId>{0505E3EF-67EA-436B-97B2-0124C06EBD24}</a:tableStyleId>
              </a:tblPr>
              <a:tblGrid>
                <a:gridCol w="485672">
                  <a:extLst>
                    <a:ext uri="{9D8B030D-6E8A-4147-A177-3AD203B41FA5}">
                      <a16:colId xmlns:a16="http://schemas.microsoft.com/office/drawing/2014/main" val="3260054969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858858152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3714699805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1974320234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1022484494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3079705699"/>
                    </a:ext>
                  </a:extLst>
                </a:gridCol>
              </a:tblGrid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52131812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84347319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1535734039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73604756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126391018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54604205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CE8867E-EA9D-23C6-F145-8207FDD9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Convolu</a:t>
            </a:r>
            <a:r>
              <a:rPr lang="en-US" dirty="0" err="1"/>
              <a:t>ção</a:t>
            </a:r>
            <a:r>
              <a:rPr lang="en-US" dirty="0"/>
              <a:t> </a:t>
            </a:r>
            <a:r>
              <a:rPr lang="en-US" dirty="0" err="1"/>
              <a:t>Transposta</a:t>
            </a:r>
            <a:r>
              <a:rPr lang="en-US" dirty="0"/>
              <a:t> - Ex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1E6BF-1586-5F36-A0BB-D7CA062B1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Filtro</a:t>
            </a:r>
            <a:r>
              <a:rPr lang="en-US" dirty="0"/>
              <a:t> 3x3</a:t>
            </a:r>
          </a:p>
          <a:p>
            <a:r>
              <a:rPr lang="en-US" dirty="0"/>
              <a:t>Padding=1</a:t>
            </a:r>
          </a:p>
          <a:p>
            <a:r>
              <a:rPr lang="en-US" dirty="0"/>
              <a:t>Stride=2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6468A-004F-775D-A60B-4E4626AE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42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3090476-886F-B79C-D264-10031C59C3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28661" y="3019686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3090476-886F-B79C-D264-10031C59C3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28661" y="3019686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3B91224-8E33-0D8F-323B-ECB1226F2B8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54298" y="4668784"/>
              <a:ext cx="1025826" cy="987010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3B91224-8E33-0D8F-323B-ECB1226F2B8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54298" y="4668784"/>
              <a:ext cx="1025826" cy="987010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76" t="-1220" r="-101176" b="-1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2381" t="-1220" r="-2381" b="-10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76" t="-102469" r="-101176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2381" t="-102469" r="-2381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779437B8-5C63-DCAE-926F-59A072C35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001235"/>
              </p:ext>
            </p:extLst>
          </p:nvPr>
        </p:nvGraphicFramePr>
        <p:xfrm>
          <a:off x="7634548" y="3019686"/>
          <a:ext cx="1952104" cy="1963216"/>
        </p:xfrm>
        <a:graphic>
          <a:graphicData uri="http://schemas.openxmlformats.org/drawingml/2006/table">
            <a:tbl>
              <a:tblPr firstRow="1">
                <a:tableStyleId>{8A107856-5554-42FB-B03E-39F5DBC370BA}</a:tableStyleId>
              </a:tblPr>
              <a:tblGrid>
                <a:gridCol w="488026">
                  <a:extLst>
                    <a:ext uri="{9D8B030D-6E8A-4147-A177-3AD203B41FA5}">
                      <a16:colId xmlns:a16="http://schemas.microsoft.com/office/drawing/2014/main" val="3260054969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858858152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3714699805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1974320234"/>
                    </a:ext>
                  </a:extLst>
                </a:gridCol>
              </a:tblGrid>
              <a:tr h="490804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300" b="0" dirty="0">
                        <a:solidFill>
                          <a:srgbClr val="FF000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pt-BR" sz="1300" b="0" dirty="0">
                        <a:solidFill>
                          <a:srgbClr val="FF000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52131812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pt-BR" sz="1300" b="0" dirty="0">
                        <a:solidFill>
                          <a:srgbClr val="FF000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pt-BR" sz="1300" b="0" dirty="0">
                        <a:solidFill>
                          <a:srgbClr val="FF000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84347319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1535734039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7360475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455027E-6624-ECA2-94B4-A0DC6D3973C6}"/>
              </a:ext>
            </a:extLst>
          </p:cNvPr>
          <p:cNvSpPr txBox="1"/>
          <p:nvPr/>
        </p:nvSpPr>
        <p:spPr>
          <a:xfrm>
            <a:off x="1113108" y="4299452"/>
            <a:ext cx="224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 map input</a:t>
            </a:r>
            <a:endParaRPr lang="pt-BR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0A2A5B-CBBE-D405-69D1-216B20CEA1B4}"/>
              </a:ext>
            </a:extLst>
          </p:cNvPr>
          <p:cNvSpPr txBox="1"/>
          <p:nvPr/>
        </p:nvSpPr>
        <p:spPr>
          <a:xfrm>
            <a:off x="4650985" y="2650354"/>
            <a:ext cx="89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kernel</a:t>
            </a:r>
            <a:endParaRPr lang="pt-BR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F1E698-75C0-0379-A681-E265484C3070}"/>
              </a:ext>
            </a:extLst>
          </p:cNvPr>
          <p:cNvSpPr txBox="1"/>
          <p:nvPr/>
        </p:nvSpPr>
        <p:spPr>
          <a:xfrm>
            <a:off x="8170988" y="5481686"/>
            <a:ext cx="1230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resultado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12977-FFA7-6012-E6AF-77E49B20EF01}"/>
              </a:ext>
            </a:extLst>
          </p:cNvPr>
          <p:cNvSpPr/>
          <p:nvPr/>
        </p:nvSpPr>
        <p:spPr>
          <a:xfrm>
            <a:off x="1454298" y="4668784"/>
            <a:ext cx="521151" cy="4898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CEC5C2-67C6-0946-C22B-D3F1A528DA63}"/>
              </a:ext>
            </a:extLst>
          </p:cNvPr>
          <p:cNvSpPr/>
          <p:nvPr/>
        </p:nvSpPr>
        <p:spPr>
          <a:xfrm>
            <a:off x="4328660" y="3022338"/>
            <a:ext cx="1520312" cy="14720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E3D612-20E7-0119-DAB3-E7BAEAFE9614}"/>
              </a:ext>
            </a:extLst>
          </p:cNvPr>
          <p:cNvSpPr/>
          <p:nvPr/>
        </p:nvSpPr>
        <p:spPr>
          <a:xfrm>
            <a:off x="7144370" y="2536862"/>
            <a:ext cx="1466230" cy="14720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4816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66E0F5B9-C373-B60D-91E3-EE1E67C36740}"/>
              </a:ext>
            </a:extLst>
          </p:cNvPr>
          <p:cNvGraphicFramePr>
            <a:graphicFrameLocks noGrp="1"/>
          </p:cNvGraphicFramePr>
          <p:nvPr/>
        </p:nvGraphicFramePr>
        <p:xfrm>
          <a:off x="7144370" y="2520902"/>
          <a:ext cx="2914032" cy="2944824"/>
        </p:xfrm>
        <a:graphic>
          <a:graphicData uri="http://schemas.openxmlformats.org/drawingml/2006/table">
            <a:tbl>
              <a:tblPr firstRow="1">
                <a:tableStyleId>{0505E3EF-67EA-436B-97B2-0124C06EBD24}</a:tableStyleId>
              </a:tblPr>
              <a:tblGrid>
                <a:gridCol w="485672">
                  <a:extLst>
                    <a:ext uri="{9D8B030D-6E8A-4147-A177-3AD203B41FA5}">
                      <a16:colId xmlns:a16="http://schemas.microsoft.com/office/drawing/2014/main" val="3260054969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858858152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3714699805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1974320234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1022484494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3079705699"/>
                    </a:ext>
                  </a:extLst>
                </a:gridCol>
              </a:tblGrid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52131812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84347319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1535734039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73604756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126391018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54604205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CE8867E-EA9D-23C6-F145-8207FDD9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Convolu</a:t>
            </a:r>
            <a:r>
              <a:rPr lang="en-US" dirty="0" err="1"/>
              <a:t>ção</a:t>
            </a:r>
            <a:r>
              <a:rPr lang="en-US" dirty="0"/>
              <a:t> </a:t>
            </a:r>
            <a:r>
              <a:rPr lang="en-US" dirty="0" err="1"/>
              <a:t>Transposta</a:t>
            </a:r>
            <a:r>
              <a:rPr lang="en-US" dirty="0"/>
              <a:t> - Ex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1E6BF-1586-5F36-A0BB-D7CA062B1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Filtro</a:t>
            </a:r>
            <a:r>
              <a:rPr lang="en-US" dirty="0"/>
              <a:t> 3x3</a:t>
            </a:r>
          </a:p>
          <a:p>
            <a:r>
              <a:rPr lang="en-US" dirty="0"/>
              <a:t>Padding=1</a:t>
            </a:r>
          </a:p>
          <a:p>
            <a:r>
              <a:rPr lang="en-US" dirty="0"/>
              <a:t>Stride=2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6468A-004F-775D-A60B-4E4626AE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43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3090476-886F-B79C-D264-10031C59C3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28661" y="3019686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3090476-886F-B79C-D264-10031C59C3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28661" y="3019686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3B91224-8E33-0D8F-323B-ECB1226F2B8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54298" y="4668784"/>
              <a:ext cx="1025826" cy="987010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3B91224-8E33-0D8F-323B-ECB1226F2B8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54298" y="4668784"/>
              <a:ext cx="1025826" cy="987010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76" t="-1220" r="-101176" b="-1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2381" t="-1220" r="-2381" b="-10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76" t="-102469" r="-101176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2381" t="-102469" r="-2381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779437B8-5C63-DCAE-926F-59A072C35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932851"/>
              </p:ext>
            </p:extLst>
          </p:nvPr>
        </p:nvGraphicFramePr>
        <p:xfrm>
          <a:off x="7634548" y="2959304"/>
          <a:ext cx="1952104" cy="2023852"/>
        </p:xfrm>
        <a:graphic>
          <a:graphicData uri="http://schemas.openxmlformats.org/drawingml/2006/table">
            <a:tbl>
              <a:tblPr firstRow="1">
                <a:tableStyleId>{8A107856-5554-42FB-B03E-39F5DBC370BA}</a:tableStyleId>
              </a:tblPr>
              <a:tblGrid>
                <a:gridCol w="488026">
                  <a:extLst>
                    <a:ext uri="{9D8B030D-6E8A-4147-A177-3AD203B41FA5}">
                      <a16:colId xmlns:a16="http://schemas.microsoft.com/office/drawing/2014/main" val="3260054969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858858152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3714699805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1974320234"/>
                    </a:ext>
                  </a:extLst>
                </a:gridCol>
              </a:tblGrid>
              <a:tr h="490804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300" b="0" dirty="0">
                        <a:solidFill>
                          <a:srgbClr val="FF000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rgbClr val="FF0000"/>
                          </a:solidFill>
                        </a:rPr>
                        <a:t>2+</a:t>
                      </a:r>
                      <a:r>
                        <a:rPr lang="en-US" sz="1300" b="1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pt-BR" sz="1300" b="1" dirty="0">
                        <a:solidFill>
                          <a:srgbClr val="00B05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pt-BR" sz="1300" dirty="0">
                        <a:solidFill>
                          <a:srgbClr val="00B05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pt-BR" sz="1300" dirty="0">
                        <a:solidFill>
                          <a:srgbClr val="00B050"/>
                        </a:solidFill>
                      </a:endParaRPr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52131812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pt-BR" sz="1300" b="0" dirty="0">
                        <a:solidFill>
                          <a:srgbClr val="FF000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rgbClr val="FF0000"/>
                          </a:solidFill>
                        </a:rPr>
                        <a:t>2+</a:t>
                      </a:r>
                      <a:r>
                        <a:rPr lang="en-US" sz="13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pt-BR" sz="1300" b="1" dirty="0">
                        <a:solidFill>
                          <a:srgbClr val="00B05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pt-BR" sz="1300" dirty="0">
                        <a:solidFill>
                          <a:srgbClr val="00B05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pt-BR" sz="1300" dirty="0">
                        <a:solidFill>
                          <a:srgbClr val="00B050"/>
                        </a:solidFill>
                      </a:endParaRPr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84347319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1535734039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7360475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455027E-6624-ECA2-94B4-A0DC6D3973C6}"/>
              </a:ext>
            </a:extLst>
          </p:cNvPr>
          <p:cNvSpPr txBox="1"/>
          <p:nvPr/>
        </p:nvSpPr>
        <p:spPr>
          <a:xfrm>
            <a:off x="1113108" y="4299452"/>
            <a:ext cx="224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 map input</a:t>
            </a:r>
            <a:endParaRPr lang="pt-BR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0A2A5B-CBBE-D405-69D1-216B20CEA1B4}"/>
              </a:ext>
            </a:extLst>
          </p:cNvPr>
          <p:cNvSpPr txBox="1"/>
          <p:nvPr/>
        </p:nvSpPr>
        <p:spPr>
          <a:xfrm>
            <a:off x="4650985" y="2650354"/>
            <a:ext cx="89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kernel</a:t>
            </a:r>
            <a:endParaRPr lang="pt-BR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F1E698-75C0-0379-A681-E265484C3070}"/>
              </a:ext>
            </a:extLst>
          </p:cNvPr>
          <p:cNvSpPr txBox="1"/>
          <p:nvPr/>
        </p:nvSpPr>
        <p:spPr>
          <a:xfrm>
            <a:off x="8170988" y="5481686"/>
            <a:ext cx="1230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resultado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12977-FFA7-6012-E6AF-77E49B20EF01}"/>
              </a:ext>
            </a:extLst>
          </p:cNvPr>
          <p:cNvSpPr/>
          <p:nvPr/>
        </p:nvSpPr>
        <p:spPr>
          <a:xfrm>
            <a:off x="1958973" y="4662051"/>
            <a:ext cx="521151" cy="48981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CEC5C2-67C6-0946-C22B-D3F1A528DA63}"/>
              </a:ext>
            </a:extLst>
          </p:cNvPr>
          <p:cNvSpPr/>
          <p:nvPr/>
        </p:nvSpPr>
        <p:spPr>
          <a:xfrm>
            <a:off x="4328660" y="3022338"/>
            <a:ext cx="1520312" cy="147208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E3D612-20E7-0119-DAB3-E7BAEAFE9614}"/>
              </a:ext>
            </a:extLst>
          </p:cNvPr>
          <p:cNvSpPr/>
          <p:nvPr/>
        </p:nvSpPr>
        <p:spPr>
          <a:xfrm>
            <a:off x="8120422" y="2529205"/>
            <a:ext cx="1466230" cy="147208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196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66E0F5B9-C373-B60D-91E3-EE1E67C36740}"/>
              </a:ext>
            </a:extLst>
          </p:cNvPr>
          <p:cNvGraphicFramePr>
            <a:graphicFrameLocks noGrp="1"/>
          </p:cNvGraphicFramePr>
          <p:nvPr/>
        </p:nvGraphicFramePr>
        <p:xfrm>
          <a:off x="7144370" y="2520902"/>
          <a:ext cx="2914032" cy="2944824"/>
        </p:xfrm>
        <a:graphic>
          <a:graphicData uri="http://schemas.openxmlformats.org/drawingml/2006/table">
            <a:tbl>
              <a:tblPr firstRow="1">
                <a:tableStyleId>{0505E3EF-67EA-436B-97B2-0124C06EBD24}</a:tableStyleId>
              </a:tblPr>
              <a:tblGrid>
                <a:gridCol w="485672">
                  <a:extLst>
                    <a:ext uri="{9D8B030D-6E8A-4147-A177-3AD203B41FA5}">
                      <a16:colId xmlns:a16="http://schemas.microsoft.com/office/drawing/2014/main" val="3260054969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858858152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3714699805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1974320234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1022484494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3079705699"/>
                    </a:ext>
                  </a:extLst>
                </a:gridCol>
              </a:tblGrid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52131812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84347319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1535734039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73604756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126391018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54604205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CE8867E-EA9D-23C6-F145-8207FDD9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Convolu</a:t>
            </a:r>
            <a:r>
              <a:rPr lang="en-US" dirty="0" err="1"/>
              <a:t>ção</a:t>
            </a:r>
            <a:r>
              <a:rPr lang="en-US" dirty="0"/>
              <a:t> </a:t>
            </a:r>
            <a:r>
              <a:rPr lang="en-US" dirty="0" err="1"/>
              <a:t>Transposta</a:t>
            </a:r>
            <a:r>
              <a:rPr lang="en-US" dirty="0"/>
              <a:t> - Ex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1E6BF-1586-5F36-A0BB-D7CA062B1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Filtro</a:t>
            </a:r>
            <a:r>
              <a:rPr lang="en-US" dirty="0"/>
              <a:t> 3x3</a:t>
            </a:r>
          </a:p>
          <a:p>
            <a:r>
              <a:rPr lang="en-US" dirty="0"/>
              <a:t>Padding=1</a:t>
            </a:r>
          </a:p>
          <a:p>
            <a:r>
              <a:rPr lang="en-US" dirty="0"/>
              <a:t>Stride=2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6468A-004F-775D-A60B-4E4626AE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44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3090476-886F-B79C-D264-10031C59C3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28661" y="3019686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3090476-886F-B79C-D264-10031C59C3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28661" y="3019686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3B91224-8E33-0D8F-323B-ECB1226F2B8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54298" y="4668784"/>
              <a:ext cx="1025826" cy="987010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3B91224-8E33-0D8F-323B-ECB1226F2B8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54298" y="4668784"/>
              <a:ext cx="1025826" cy="987010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76" t="-1220" r="-101176" b="-1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2381" t="-1220" r="-2381" b="-10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76" t="-102469" r="-101176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2381" t="-102469" r="-2381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779437B8-5C63-DCAE-926F-59A072C35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702254"/>
              </p:ext>
            </p:extLst>
          </p:nvPr>
        </p:nvGraphicFramePr>
        <p:xfrm>
          <a:off x="7634548" y="2959304"/>
          <a:ext cx="1952104" cy="1993534"/>
        </p:xfrm>
        <a:graphic>
          <a:graphicData uri="http://schemas.openxmlformats.org/drawingml/2006/table">
            <a:tbl>
              <a:tblPr firstRow="1">
                <a:tableStyleId>{8A107856-5554-42FB-B03E-39F5DBC370BA}</a:tableStyleId>
              </a:tblPr>
              <a:tblGrid>
                <a:gridCol w="488026">
                  <a:extLst>
                    <a:ext uri="{9D8B030D-6E8A-4147-A177-3AD203B41FA5}">
                      <a16:colId xmlns:a16="http://schemas.microsoft.com/office/drawing/2014/main" val="3260054969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858858152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3714699805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1974320234"/>
                    </a:ext>
                  </a:extLst>
                </a:gridCol>
              </a:tblGrid>
              <a:tr h="490804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300" b="0" dirty="0">
                        <a:solidFill>
                          <a:srgbClr val="FF000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</a:rPr>
                        <a:t>2+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pt-BR" sz="1200" b="1" dirty="0">
                        <a:solidFill>
                          <a:srgbClr val="00B05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pt-BR" sz="1300" dirty="0">
                        <a:solidFill>
                          <a:srgbClr val="00B05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pt-BR" sz="1300" dirty="0">
                        <a:solidFill>
                          <a:srgbClr val="00B050"/>
                        </a:solidFill>
                      </a:endParaRPr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52131812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rgbClr val="FF0000"/>
                          </a:solidFill>
                        </a:rPr>
                        <a:t>4+</a:t>
                      </a:r>
                      <a:r>
                        <a:rPr lang="en-US" sz="1300" b="1" dirty="0">
                          <a:solidFill>
                            <a:srgbClr val="00B0F0"/>
                          </a:solidFill>
                        </a:rPr>
                        <a:t>6</a:t>
                      </a:r>
                      <a:endParaRPr lang="pt-BR" sz="1300" b="1" dirty="0">
                        <a:solidFill>
                          <a:srgbClr val="00B0F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</a:rPr>
                        <a:t>2+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r>
                        <a:rPr lang="en-US" sz="1200" b="1" dirty="0">
                          <a:solidFill>
                            <a:srgbClr val="00B0F0"/>
                          </a:solidFill>
                        </a:rPr>
                        <a:t>+3</a:t>
                      </a:r>
                      <a:endParaRPr lang="pt-BR" sz="1300" b="1" dirty="0">
                        <a:solidFill>
                          <a:srgbClr val="00B0F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pt-BR" sz="1300" dirty="0">
                        <a:solidFill>
                          <a:srgbClr val="00B05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pt-BR" sz="1300" dirty="0">
                        <a:solidFill>
                          <a:srgbClr val="00B050"/>
                        </a:solidFill>
                      </a:endParaRPr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84347319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B0F0"/>
                          </a:solidFill>
                        </a:rPr>
                        <a:t>0</a:t>
                      </a:r>
                      <a:endParaRPr lang="pt-BR" sz="1300" b="1" dirty="0">
                        <a:solidFill>
                          <a:srgbClr val="00B0F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B0F0"/>
                          </a:solidFill>
                        </a:rPr>
                        <a:t>3</a:t>
                      </a:r>
                      <a:endParaRPr lang="pt-BR" sz="1300" b="1" dirty="0">
                        <a:solidFill>
                          <a:srgbClr val="00B0F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1535734039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B0F0"/>
                          </a:solidFill>
                        </a:rPr>
                        <a:t>6</a:t>
                      </a:r>
                      <a:endParaRPr lang="pt-BR" sz="1300" b="1" dirty="0">
                        <a:solidFill>
                          <a:srgbClr val="00B0F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B0F0"/>
                          </a:solidFill>
                        </a:rPr>
                        <a:t>3</a:t>
                      </a:r>
                      <a:endParaRPr lang="pt-BR" sz="1300" b="1" dirty="0">
                        <a:solidFill>
                          <a:srgbClr val="00B0F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7360475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455027E-6624-ECA2-94B4-A0DC6D3973C6}"/>
              </a:ext>
            </a:extLst>
          </p:cNvPr>
          <p:cNvSpPr txBox="1"/>
          <p:nvPr/>
        </p:nvSpPr>
        <p:spPr>
          <a:xfrm>
            <a:off x="1113108" y="4299452"/>
            <a:ext cx="224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 map input</a:t>
            </a:r>
            <a:endParaRPr lang="pt-BR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0A2A5B-CBBE-D405-69D1-216B20CEA1B4}"/>
              </a:ext>
            </a:extLst>
          </p:cNvPr>
          <p:cNvSpPr txBox="1"/>
          <p:nvPr/>
        </p:nvSpPr>
        <p:spPr>
          <a:xfrm>
            <a:off x="4650985" y="2650354"/>
            <a:ext cx="89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kernel</a:t>
            </a:r>
            <a:endParaRPr lang="pt-BR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F1E698-75C0-0379-A681-E265484C3070}"/>
              </a:ext>
            </a:extLst>
          </p:cNvPr>
          <p:cNvSpPr txBox="1"/>
          <p:nvPr/>
        </p:nvSpPr>
        <p:spPr>
          <a:xfrm>
            <a:off x="8170988" y="5481686"/>
            <a:ext cx="1230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resultado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12977-FFA7-6012-E6AF-77E49B20EF01}"/>
              </a:ext>
            </a:extLst>
          </p:cNvPr>
          <p:cNvSpPr/>
          <p:nvPr/>
        </p:nvSpPr>
        <p:spPr>
          <a:xfrm>
            <a:off x="1454298" y="5162289"/>
            <a:ext cx="521151" cy="48981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CEC5C2-67C6-0946-C22B-D3F1A528DA63}"/>
              </a:ext>
            </a:extLst>
          </p:cNvPr>
          <p:cNvSpPr/>
          <p:nvPr/>
        </p:nvSpPr>
        <p:spPr>
          <a:xfrm>
            <a:off x="4328660" y="3022338"/>
            <a:ext cx="1520312" cy="147208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E3D612-20E7-0119-DAB3-E7BAEAFE9614}"/>
              </a:ext>
            </a:extLst>
          </p:cNvPr>
          <p:cNvSpPr/>
          <p:nvPr/>
        </p:nvSpPr>
        <p:spPr>
          <a:xfrm>
            <a:off x="7162798" y="3498878"/>
            <a:ext cx="1466230" cy="147208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3796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66E0F5B9-C373-B60D-91E3-EE1E67C36740}"/>
              </a:ext>
            </a:extLst>
          </p:cNvPr>
          <p:cNvGraphicFramePr>
            <a:graphicFrameLocks noGrp="1"/>
          </p:cNvGraphicFramePr>
          <p:nvPr/>
        </p:nvGraphicFramePr>
        <p:xfrm>
          <a:off x="7144370" y="2520902"/>
          <a:ext cx="2914032" cy="2944824"/>
        </p:xfrm>
        <a:graphic>
          <a:graphicData uri="http://schemas.openxmlformats.org/drawingml/2006/table">
            <a:tbl>
              <a:tblPr firstRow="1">
                <a:tableStyleId>{0505E3EF-67EA-436B-97B2-0124C06EBD24}</a:tableStyleId>
              </a:tblPr>
              <a:tblGrid>
                <a:gridCol w="485672">
                  <a:extLst>
                    <a:ext uri="{9D8B030D-6E8A-4147-A177-3AD203B41FA5}">
                      <a16:colId xmlns:a16="http://schemas.microsoft.com/office/drawing/2014/main" val="3260054969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858858152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3714699805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1974320234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1022484494"/>
                    </a:ext>
                  </a:extLst>
                </a:gridCol>
                <a:gridCol w="485672">
                  <a:extLst>
                    <a:ext uri="{9D8B030D-6E8A-4147-A177-3AD203B41FA5}">
                      <a16:colId xmlns:a16="http://schemas.microsoft.com/office/drawing/2014/main" val="3079705699"/>
                    </a:ext>
                  </a:extLst>
                </a:gridCol>
              </a:tblGrid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52131812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84347319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1535734039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73604756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126391018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300" dirty="0"/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54604205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CE8867E-EA9D-23C6-F145-8207FDD9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Convolu</a:t>
            </a:r>
            <a:r>
              <a:rPr lang="en-US" dirty="0" err="1"/>
              <a:t>ção</a:t>
            </a:r>
            <a:r>
              <a:rPr lang="en-US" dirty="0"/>
              <a:t> </a:t>
            </a:r>
            <a:r>
              <a:rPr lang="en-US" dirty="0" err="1"/>
              <a:t>Transposta</a:t>
            </a:r>
            <a:r>
              <a:rPr lang="en-US" dirty="0"/>
              <a:t> - Ex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1E6BF-1586-5F36-A0BB-D7CA062B1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Filtro</a:t>
            </a:r>
            <a:r>
              <a:rPr lang="en-US" dirty="0"/>
              <a:t> 3x3</a:t>
            </a:r>
          </a:p>
          <a:p>
            <a:r>
              <a:rPr lang="en-US" dirty="0"/>
              <a:t>Padding=1</a:t>
            </a:r>
          </a:p>
          <a:p>
            <a:r>
              <a:rPr lang="en-US" dirty="0"/>
              <a:t>Stride=2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6468A-004F-775D-A60B-4E4626AE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45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3090476-886F-B79C-D264-10031C59C3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28661" y="3019686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3090476-886F-B79C-D264-10031C59C3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28661" y="3019686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3B91224-8E33-0D8F-323B-ECB1226F2B8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54298" y="4668784"/>
              <a:ext cx="1025826" cy="987010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3B91224-8E33-0D8F-323B-ECB1226F2B8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54298" y="4668784"/>
              <a:ext cx="1025826" cy="987010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76" t="-1220" r="-101176" b="-1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2381" t="-1220" r="-2381" b="-10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76" t="-102469" r="-101176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2381" t="-102469" r="-2381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779437B8-5C63-DCAE-926F-59A072C35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301162"/>
              </p:ext>
            </p:extLst>
          </p:nvPr>
        </p:nvGraphicFramePr>
        <p:xfrm>
          <a:off x="7634548" y="2959304"/>
          <a:ext cx="1952104" cy="1993534"/>
        </p:xfrm>
        <a:graphic>
          <a:graphicData uri="http://schemas.openxmlformats.org/drawingml/2006/table">
            <a:tbl>
              <a:tblPr firstRow="1">
                <a:tableStyleId>{8A107856-5554-42FB-B03E-39F5DBC370BA}</a:tableStyleId>
              </a:tblPr>
              <a:tblGrid>
                <a:gridCol w="488026">
                  <a:extLst>
                    <a:ext uri="{9D8B030D-6E8A-4147-A177-3AD203B41FA5}">
                      <a16:colId xmlns:a16="http://schemas.microsoft.com/office/drawing/2014/main" val="3260054969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858858152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3714699805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1974320234"/>
                    </a:ext>
                  </a:extLst>
                </a:gridCol>
              </a:tblGrid>
              <a:tr h="490804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300" b="0" dirty="0">
                        <a:solidFill>
                          <a:srgbClr val="FF000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</a:rPr>
                        <a:t>2+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pt-BR" sz="1200" b="1" dirty="0">
                        <a:solidFill>
                          <a:srgbClr val="00B05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pt-BR" sz="1300" dirty="0">
                        <a:solidFill>
                          <a:srgbClr val="00B05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pt-BR" sz="1300" dirty="0">
                        <a:solidFill>
                          <a:srgbClr val="00B050"/>
                        </a:solidFill>
                      </a:endParaRPr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52131812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rgbClr val="FF0000"/>
                          </a:solidFill>
                        </a:rPr>
                        <a:t>4+</a:t>
                      </a:r>
                      <a:r>
                        <a:rPr lang="en-US" sz="1300" b="1" dirty="0">
                          <a:solidFill>
                            <a:srgbClr val="00B0F0"/>
                          </a:solidFill>
                        </a:rPr>
                        <a:t>6</a:t>
                      </a:r>
                      <a:endParaRPr lang="pt-BR" sz="1300" b="1" dirty="0">
                        <a:solidFill>
                          <a:srgbClr val="00B0F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rgbClr val="FF0000"/>
                          </a:solidFill>
                        </a:rPr>
                        <a:t>2+</a:t>
                      </a:r>
                      <a:r>
                        <a:rPr lang="en-US" sz="9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r>
                        <a:rPr lang="en-US" sz="900" b="1" dirty="0">
                          <a:solidFill>
                            <a:srgbClr val="00B0F0"/>
                          </a:solidFill>
                        </a:rPr>
                        <a:t>+3+</a:t>
                      </a:r>
                      <a:r>
                        <a:rPr lang="en-US" sz="900" b="1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pt-BR" sz="1000" b="1" dirty="0">
                        <a:solidFill>
                          <a:srgbClr val="7030A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2+</a:t>
                      </a:r>
                      <a:r>
                        <a:rPr lang="en-US" sz="1200" dirty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pt-BR" sz="1200" dirty="0">
                        <a:solidFill>
                          <a:srgbClr val="7030A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1+</a:t>
                      </a:r>
                      <a:r>
                        <a:rPr lang="en-US" sz="1200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pt-BR" sz="1200" dirty="0">
                        <a:solidFill>
                          <a:srgbClr val="7030A0"/>
                        </a:solidFill>
                      </a:endParaRPr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84347319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B0F0"/>
                          </a:solidFill>
                        </a:rPr>
                        <a:t>0</a:t>
                      </a:r>
                      <a:endParaRPr lang="pt-BR" sz="1300" b="1" dirty="0">
                        <a:solidFill>
                          <a:srgbClr val="00B0F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B0F0"/>
                          </a:solidFill>
                        </a:rPr>
                        <a:t>3+</a:t>
                      </a:r>
                      <a:r>
                        <a:rPr lang="en-US" sz="1200" b="1" dirty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pt-BR" sz="1200" b="1" dirty="0">
                        <a:solidFill>
                          <a:srgbClr val="7030A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pt-BR" sz="1300" b="1" dirty="0">
                        <a:solidFill>
                          <a:srgbClr val="7030A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pt-BR" sz="1300" b="1" dirty="0">
                        <a:solidFill>
                          <a:srgbClr val="7030A0"/>
                        </a:solidFill>
                      </a:endParaRPr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1535734039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B0F0"/>
                          </a:solidFill>
                        </a:rPr>
                        <a:t>6</a:t>
                      </a:r>
                      <a:endParaRPr lang="pt-BR" sz="1300" b="1" dirty="0">
                        <a:solidFill>
                          <a:srgbClr val="00B0F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B0F0"/>
                          </a:solidFill>
                        </a:rPr>
                        <a:t>3+</a:t>
                      </a:r>
                      <a:r>
                        <a:rPr lang="en-US" sz="12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pt-BR" sz="1200" b="1" dirty="0">
                        <a:solidFill>
                          <a:srgbClr val="7030A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pt-BR" sz="1300" b="1" dirty="0">
                        <a:solidFill>
                          <a:srgbClr val="7030A0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pt-BR" sz="1300" b="1" dirty="0">
                        <a:solidFill>
                          <a:srgbClr val="7030A0"/>
                        </a:solidFill>
                      </a:endParaRPr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7360475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455027E-6624-ECA2-94B4-A0DC6D3973C6}"/>
              </a:ext>
            </a:extLst>
          </p:cNvPr>
          <p:cNvSpPr txBox="1"/>
          <p:nvPr/>
        </p:nvSpPr>
        <p:spPr>
          <a:xfrm>
            <a:off x="1113108" y="4299452"/>
            <a:ext cx="224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 map input</a:t>
            </a:r>
            <a:endParaRPr lang="pt-BR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0A2A5B-CBBE-D405-69D1-216B20CEA1B4}"/>
              </a:ext>
            </a:extLst>
          </p:cNvPr>
          <p:cNvSpPr txBox="1"/>
          <p:nvPr/>
        </p:nvSpPr>
        <p:spPr>
          <a:xfrm>
            <a:off x="4650985" y="2650354"/>
            <a:ext cx="89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kernel</a:t>
            </a:r>
            <a:endParaRPr lang="pt-BR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F1E698-75C0-0379-A681-E265484C3070}"/>
              </a:ext>
            </a:extLst>
          </p:cNvPr>
          <p:cNvSpPr txBox="1"/>
          <p:nvPr/>
        </p:nvSpPr>
        <p:spPr>
          <a:xfrm>
            <a:off x="8170988" y="5481686"/>
            <a:ext cx="1230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resultado</a:t>
            </a:r>
            <a:endParaRPr lang="pt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12977-FFA7-6012-E6AF-77E49B20EF01}"/>
              </a:ext>
            </a:extLst>
          </p:cNvPr>
          <p:cNvSpPr/>
          <p:nvPr/>
        </p:nvSpPr>
        <p:spPr>
          <a:xfrm>
            <a:off x="1958973" y="5165982"/>
            <a:ext cx="521151" cy="48981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CEC5C2-67C6-0946-C22B-D3F1A528DA63}"/>
              </a:ext>
            </a:extLst>
          </p:cNvPr>
          <p:cNvSpPr/>
          <p:nvPr/>
        </p:nvSpPr>
        <p:spPr>
          <a:xfrm>
            <a:off x="4328660" y="3022338"/>
            <a:ext cx="1520312" cy="147208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E3D612-20E7-0119-DAB3-E7BAEAFE9614}"/>
              </a:ext>
            </a:extLst>
          </p:cNvPr>
          <p:cNvSpPr/>
          <p:nvPr/>
        </p:nvSpPr>
        <p:spPr>
          <a:xfrm>
            <a:off x="8120422" y="3498878"/>
            <a:ext cx="1466230" cy="147208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54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8867E-EA9D-23C6-F145-8207FDD9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Convolu</a:t>
            </a:r>
            <a:r>
              <a:rPr lang="en-US" dirty="0" err="1"/>
              <a:t>ção</a:t>
            </a:r>
            <a:r>
              <a:rPr lang="en-US" dirty="0"/>
              <a:t> </a:t>
            </a:r>
            <a:r>
              <a:rPr lang="en-US" dirty="0" err="1"/>
              <a:t>Transposta</a:t>
            </a:r>
            <a:r>
              <a:rPr lang="en-US" dirty="0"/>
              <a:t> - Ex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1E6BF-1586-5F36-A0BB-D7CA062B1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Filtro</a:t>
            </a:r>
            <a:r>
              <a:rPr lang="en-US" dirty="0"/>
              <a:t> 3x3</a:t>
            </a:r>
          </a:p>
          <a:p>
            <a:r>
              <a:rPr lang="en-US" dirty="0"/>
              <a:t>Padding=1</a:t>
            </a:r>
          </a:p>
          <a:p>
            <a:r>
              <a:rPr lang="en-US" dirty="0"/>
              <a:t>Stride=2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6468A-004F-775D-A60B-4E4626AE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46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3090476-886F-B79C-D264-10031C59C3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28661" y="3019686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3090476-886F-B79C-D264-10031C59C3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28661" y="3019686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2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3B91224-8E33-0D8F-323B-ECB1226F2B8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54298" y="4668784"/>
              <a:ext cx="1025826" cy="987010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3B91224-8E33-0D8F-323B-ECB1226F2B8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54298" y="4668784"/>
              <a:ext cx="1025826" cy="987010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76" t="-1220" r="-101176" b="-1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2381" t="-1220" r="-2381" b="-10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76" t="-102469" r="-101176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2381" t="-102469" r="-2381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779437B8-5C63-DCAE-926F-59A072C35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374707"/>
              </p:ext>
            </p:extLst>
          </p:nvPr>
        </p:nvGraphicFramePr>
        <p:xfrm>
          <a:off x="7634548" y="2959304"/>
          <a:ext cx="1952104" cy="1963216"/>
        </p:xfrm>
        <a:graphic>
          <a:graphicData uri="http://schemas.openxmlformats.org/drawingml/2006/table">
            <a:tbl>
              <a:tblPr firstRow="1">
                <a:tableStyleId>{8A107856-5554-42FB-B03E-39F5DBC370BA}</a:tableStyleId>
              </a:tblPr>
              <a:tblGrid>
                <a:gridCol w="488026">
                  <a:extLst>
                    <a:ext uri="{9D8B030D-6E8A-4147-A177-3AD203B41FA5}">
                      <a16:colId xmlns:a16="http://schemas.microsoft.com/office/drawing/2014/main" val="3260054969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858858152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3714699805"/>
                    </a:ext>
                  </a:extLst>
                </a:gridCol>
                <a:gridCol w="488026">
                  <a:extLst>
                    <a:ext uri="{9D8B030D-6E8A-4147-A177-3AD203B41FA5}">
                      <a16:colId xmlns:a16="http://schemas.microsoft.com/office/drawing/2014/main" val="1974320234"/>
                    </a:ext>
                  </a:extLst>
                </a:gridCol>
              </a:tblGrid>
              <a:tr h="490804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pt-BR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pt-BR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52131812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pt-BR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pt-BR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pt-BR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2843473192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pt-BR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pt-BR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pt-BR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1535734039"/>
                  </a:ext>
                </a:extLst>
              </a:tr>
              <a:tr h="490804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pt-BR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124884" marR="124884" marT="62441" marB="62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124884" marR="124884" marT="62441" marB="62441" anchor="ctr"/>
                </a:tc>
                <a:extLst>
                  <a:ext uri="{0D108BD9-81ED-4DB2-BD59-A6C34878D82A}">
                    <a16:rowId xmlns:a16="http://schemas.microsoft.com/office/drawing/2014/main" val="37360475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455027E-6624-ECA2-94B4-A0DC6D3973C6}"/>
              </a:ext>
            </a:extLst>
          </p:cNvPr>
          <p:cNvSpPr txBox="1"/>
          <p:nvPr/>
        </p:nvSpPr>
        <p:spPr>
          <a:xfrm>
            <a:off x="1113108" y="4299452"/>
            <a:ext cx="224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 map input</a:t>
            </a:r>
            <a:endParaRPr lang="pt-BR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0A2A5B-CBBE-D405-69D1-216B20CEA1B4}"/>
              </a:ext>
            </a:extLst>
          </p:cNvPr>
          <p:cNvSpPr txBox="1"/>
          <p:nvPr/>
        </p:nvSpPr>
        <p:spPr>
          <a:xfrm>
            <a:off x="4650985" y="2650354"/>
            <a:ext cx="89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kernel</a:t>
            </a:r>
            <a:endParaRPr lang="pt-BR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F1E698-75C0-0379-A681-E265484C3070}"/>
              </a:ext>
            </a:extLst>
          </p:cNvPr>
          <p:cNvSpPr txBox="1"/>
          <p:nvPr/>
        </p:nvSpPr>
        <p:spPr>
          <a:xfrm>
            <a:off x="8170988" y="5481686"/>
            <a:ext cx="1230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resultado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1768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F0F25-98F0-6F7C-EBC6-B6FD30151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Convolução 1x1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39F5D-C968-6A5B-42A0-D0D2ECF70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Algumas vezes queremos mudar o número de canais sem agrupamento espacial</a:t>
            </a:r>
          </a:p>
          <a:p>
            <a:pPr lvl="1"/>
            <a:r>
              <a:rPr lang="pt-BR" dirty="0"/>
              <a:t>Nesses casos podemos aplicar a convolução 1x1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392D9-B9D9-2834-B2B3-0A83D4D6F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47</a:t>
            </a:fld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9AAA2A-357A-8C05-1811-A2A0584A9F69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215" y="2704289"/>
            <a:ext cx="9910609" cy="415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931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19D2-0C74-6A1C-9D88-DA0A80E8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3C1D3-DEC4-8C1F-C2A8-6A78E6792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Versão ingênua</a:t>
            </a:r>
          </a:p>
          <a:p>
            <a:r>
              <a:rPr lang="pt-BR" sz="1800" dirty="0">
                <a:latin typeface="Consolas" panose="020B0609020204030204" pitchFamily="49" charset="0"/>
              </a:rPr>
              <a:t>for m in range(0, M): </a:t>
            </a:r>
            <a:r>
              <a:rPr lang="pt-BR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#linhas</a:t>
            </a:r>
          </a:p>
          <a:p>
            <a:pPr lvl="1"/>
            <a:r>
              <a:rPr lang="pt-BR" sz="1800" dirty="0">
                <a:latin typeface="Consolas" panose="020B0609020204030204" pitchFamily="49" charset="0"/>
              </a:rPr>
              <a:t>For n in range(0, N): </a:t>
            </a:r>
            <a:r>
              <a:rPr lang="pt-BR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#colunas</a:t>
            </a:r>
          </a:p>
          <a:p>
            <a:pPr lvl="2"/>
            <a:r>
              <a:rPr lang="pt-BR" sz="1800" dirty="0">
                <a:latin typeface="Consolas" panose="020B0609020204030204" pitchFamily="49" charset="0"/>
              </a:rPr>
              <a:t>For c in range(0, C): </a:t>
            </a:r>
            <a:r>
              <a:rPr lang="pt-BR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#canais</a:t>
            </a:r>
          </a:p>
          <a:p>
            <a:pPr lvl="3"/>
            <a:r>
              <a:rPr lang="pt-BR" dirty="0">
                <a:latin typeface="Consolas" panose="020B0609020204030204" pitchFamily="49" charset="0"/>
              </a:rPr>
              <a:t>For i in range(0,K): 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#tamanho kernel</a:t>
            </a:r>
          </a:p>
          <a:p>
            <a:pPr lvl="4"/>
            <a:r>
              <a:rPr lang="pt-BR" dirty="0">
                <a:latin typeface="Consolas" panose="020B0609020204030204" pitchFamily="49" charset="0"/>
              </a:rPr>
              <a:t>For j in range(0, K): 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#tamanho kernel</a:t>
            </a:r>
          </a:p>
          <a:p>
            <a:pPr lvl="5"/>
            <a:r>
              <a:rPr lang="pt-BR" dirty="0" err="1">
                <a:latin typeface="Consolas" panose="020B0609020204030204" pitchFamily="49" charset="0"/>
              </a:rPr>
              <a:t>feat_map_out</a:t>
            </a:r>
            <a:r>
              <a:rPr lang="pt-BR" dirty="0">
                <a:latin typeface="Consolas" panose="020B0609020204030204" pitchFamily="49" charset="0"/>
              </a:rPr>
              <a:t>[</a:t>
            </a:r>
            <a:r>
              <a:rPr lang="pt-BR" dirty="0" err="1">
                <a:latin typeface="Consolas" panose="020B0609020204030204" pitchFamily="49" charset="0"/>
              </a:rPr>
              <a:t>m,n</a:t>
            </a:r>
            <a:r>
              <a:rPr lang="pt-BR" dirty="0">
                <a:latin typeface="Consolas" panose="020B0609020204030204" pitchFamily="49" charset="0"/>
              </a:rPr>
              <a:t>] += kernel[i, j, c]*</a:t>
            </a:r>
            <a:r>
              <a:rPr lang="pt-BR" dirty="0" err="1">
                <a:latin typeface="Consolas" panose="020B0609020204030204" pitchFamily="49" charset="0"/>
              </a:rPr>
              <a:t>feat_map_in</a:t>
            </a:r>
            <a:r>
              <a:rPr lang="pt-BR" dirty="0">
                <a:latin typeface="Consolas" panose="020B0609020204030204" pitchFamily="49" charset="0"/>
              </a:rPr>
              <a:t>[</a:t>
            </a:r>
            <a:r>
              <a:rPr lang="pt-BR" dirty="0" err="1">
                <a:latin typeface="Consolas" panose="020B0609020204030204" pitchFamily="49" charset="0"/>
              </a:rPr>
              <a:t>m+i</a:t>
            </a:r>
            <a:r>
              <a:rPr lang="pt-BR" dirty="0">
                <a:latin typeface="Consolas" panose="020B0609020204030204" pitchFamily="49" charset="0"/>
              </a:rPr>
              <a:t>, </a:t>
            </a:r>
            <a:r>
              <a:rPr lang="pt-BR" dirty="0" err="1">
                <a:latin typeface="Consolas" panose="020B0609020204030204" pitchFamily="49" charset="0"/>
              </a:rPr>
              <a:t>n+j</a:t>
            </a:r>
            <a:r>
              <a:rPr lang="pt-BR" dirty="0">
                <a:latin typeface="Consolas" panose="020B0609020204030204" pitchFamily="49" charset="0"/>
              </a:rPr>
              <a:t>, c]</a:t>
            </a:r>
          </a:p>
          <a:p>
            <a:pPr lvl="2"/>
            <a:r>
              <a:rPr lang="pt-BR" dirty="0" err="1">
                <a:latin typeface="Consolas" panose="020B0609020204030204" pitchFamily="49" charset="0"/>
              </a:rPr>
              <a:t>feat_map_out</a:t>
            </a:r>
            <a:r>
              <a:rPr lang="pt-BR" dirty="0">
                <a:latin typeface="Consolas" panose="020B0609020204030204" pitchFamily="49" charset="0"/>
              </a:rPr>
              <a:t>[</a:t>
            </a:r>
            <a:r>
              <a:rPr lang="pt-BR" dirty="0" err="1">
                <a:latin typeface="Consolas" panose="020B0609020204030204" pitchFamily="49" charset="0"/>
              </a:rPr>
              <a:t>m,n</a:t>
            </a:r>
            <a:r>
              <a:rPr lang="pt-BR" dirty="0">
                <a:latin typeface="Consolas" panose="020B0609020204030204" pitchFamily="49" charset="0"/>
              </a:rPr>
              <a:t>] += bias</a:t>
            </a:r>
          </a:p>
          <a:p>
            <a:pPr marL="0" indent="0">
              <a:buNone/>
            </a:pPr>
            <a:r>
              <a:rPr lang="pt-BR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1E020-52F6-6920-B347-9F356CBB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48</a:t>
            </a:fld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1530FF-0ED3-C097-86EB-6B64082BC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427" y="4391025"/>
            <a:ext cx="2324100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928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19D2-0C74-6A1C-9D88-DA0A80E8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3C1D3-DEC4-8C1F-C2A8-6A78E6792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Versão complexa (e raramente utilizada)</a:t>
            </a:r>
          </a:p>
          <a:p>
            <a:pPr lvl="1"/>
            <a:r>
              <a:rPr lang="pt-BR" dirty="0"/>
              <a:t>Transformada de Fourier</a:t>
            </a:r>
          </a:p>
          <a:p>
            <a:pPr lvl="2"/>
            <a:r>
              <a:rPr lang="pt-BR" dirty="0"/>
              <a:t>Convolução no domínio espacial é igual a multiplicação no domínio da frequência</a:t>
            </a:r>
          </a:p>
          <a:p>
            <a:pPr lvl="2"/>
            <a:r>
              <a:rPr lang="pt-BR" dirty="0"/>
              <a:t>Útil para convoluções com kernels grandes (&gt;11x11)</a:t>
            </a:r>
          </a:p>
          <a:p>
            <a:pPr marL="0" indent="0">
              <a:buNone/>
            </a:pPr>
            <a:r>
              <a:rPr lang="pt-BR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1E020-52F6-6920-B347-9F356CBB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49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B3F528F-6C3E-D69E-AA16-0F20445380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6737810"/>
                  </p:ext>
                </p:extLst>
              </p:nvPr>
            </p:nvGraphicFramePr>
            <p:xfrm>
              <a:off x="2468284" y="3451714"/>
              <a:ext cx="7141464" cy="77104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511296">
                      <a:extLst>
                        <a:ext uri="{9D8B030D-6E8A-4147-A177-3AD203B41FA5}">
                          <a16:colId xmlns:a16="http://schemas.microsoft.com/office/drawing/2014/main" val="2484614986"/>
                        </a:ext>
                      </a:extLst>
                    </a:gridCol>
                    <a:gridCol w="3630168">
                      <a:extLst>
                        <a:ext uri="{9D8B030D-6E8A-4147-A177-3AD203B41FA5}">
                          <a16:colId xmlns:a16="http://schemas.microsoft.com/office/drawing/2014/main" val="1414090626"/>
                        </a:ext>
                      </a:extLst>
                    </a:gridCol>
                  </a:tblGrid>
                  <a:tr h="77104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G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US" sz="2400" b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US" sz="2400" b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oMath>
                          </a14:m>
                          <a:endParaRPr lang="pt-B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57362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B3F528F-6C3E-D69E-AA16-0F20445380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6737810"/>
                  </p:ext>
                </p:extLst>
              </p:nvPr>
            </p:nvGraphicFramePr>
            <p:xfrm>
              <a:off x="2468284" y="3451714"/>
              <a:ext cx="7141464" cy="77104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511296">
                      <a:extLst>
                        <a:ext uri="{9D8B030D-6E8A-4147-A177-3AD203B41FA5}">
                          <a16:colId xmlns:a16="http://schemas.microsoft.com/office/drawing/2014/main" val="2484614986"/>
                        </a:ext>
                      </a:extLst>
                    </a:gridCol>
                    <a:gridCol w="3630168">
                      <a:extLst>
                        <a:ext uri="{9D8B030D-6E8A-4147-A177-3AD203B41FA5}">
                          <a16:colId xmlns:a16="http://schemas.microsoft.com/office/drawing/2014/main" val="1414090626"/>
                        </a:ext>
                      </a:extLst>
                    </a:gridCol>
                  </a:tblGrid>
                  <a:tr h="77104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r="-1032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68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57362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07B40449-0B31-9C9A-84EF-F4F2E62B2F6E}"/>
              </a:ext>
            </a:extLst>
          </p:cNvPr>
          <p:cNvSpPr/>
          <p:nvPr/>
        </p:nvSpPr>
        <p:spPr>
          <a:xfrm>
            <a:off x="2031915" y="4572192"/>
            <a:ext cx="2553768" cy="68349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Transformada de Fourier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93559C-0FF7-23F7-84F2-CB0E0DB0BAF4}"/>
              </a:ext>
            </a:extLst>
          </p:cNvPr>
          <p:cNvSpPr/>
          <p:nvPr/>
        </p:nvSpPr>
        <p:spPr>
          <a:xfrm>
            <a:off x="6867267" y="5165355"/>
            <a:ext cx="2553768" cy="68349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Transformada Inversa de Fourier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ABC3AB9-14C6-EE99-8461-8B9DBCD5D3DC}"/>
                  </a:ext>
                </a:extLst>
              </p:cNvPr>
              <p:cNvSpPr/>
              <p:nvPr/>
            </p:nvSpPr>
            <p:spPr>
              <a:xfrm>
                <a:off x="1006124" y="4572192"/>
                <a:ext cx="668050" cy="683491"/>
              </a:xfrm>
              <a:prstGeom prst="rect">
                <a:avLst/>
              </a:prstGeom>
              <a:solidFill>
                <a:srgbClr val="FFCCFF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ABC3AB9-14C6-EE99-8461-8B9DBCD5D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124" y="4572192"/>
                <a:ext cx="668050" cy="683491"/>
              </a:xfrm>
              <a:prstGeom prst="rect">
                <a:avLst/>
              </a:prstGeom>
              <a:blipFill>
                <a:blip r:embed="rId3"/>
                <a:stretch>
                  <a:fillRect l="-36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3DDF762-16DF-7C8D-436F-54BA574426E4}"/>
                  </a:ext>
                </a:extLst>
              </p:cNvPr>
              <p:cNvSpPr/>
              <p:nvPr/>
            </p:nvSpPr>
            <p:spPr>
              <a:xfrm>
                <a:off x="4946717" y="4572191"/>
                <a:ext cx="668050" cy="683491"/>
              </a:xfrm>
              <a:prstGeom prst="rect">
                <a:avLst/>
              </a:prstGeom>
              <a:solidFill>
                <a:srgbClr val="FF99FF"/>
              </a:solid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F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3DDF762-16DF-7C8D-436F-54BA574426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717" y="4572191"/>
                <a:ext cx="668050" cy="683491"/>
              </a:xfrm>
              <a:prstGeom prst="rect">
                <a:avLst/>
              </a:prstGeom>
              <a:blipFill>
                <a:blip r:embed="rId4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19850C5-FDEF-6DEE-ED19-E514051A30A5}"/>
                  </a:ext>
                </a:extLst>
              </p:cNvPr>
              <p:cNvSpPr/>
              <p:nvPr/>
            </p:nvSpPr>
            <p:spPr>
              <a:xfrm>
                <a:off x="9908095" y="5165355"/>
                <a:ext cx="1376694" cy="68349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19850C5-FDEF-6DEE-ED19-E514051A30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8095" y="5165355"/>
                <a:ext cx="1376694" cy="683491"/>
              </a:xfrm>
              <a:prstGeom prst="rect">
                <a:avLst/>
              </a:prstGeom>
              <a:blipFill>
                <a:blip r:embed="rId5"/>
                <a:stretch>
                  <a:fillRect l="-8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E4C7F3-0EF7-8EFD-28A7-AFC93CE0822E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670881" y="4913936"/>
            <a:ext cx="361034" cy="2"/>
          </a:xfrm>
          <a:prstGeom prst="straightConnector1">
            <a:avLst/>
          </a:prstGeom>
          <a:ln w="28575"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713A72-957E-22DC-8FFD-D043FA87567C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4585683" y="4913937"/>
            <a:ext cx="361034" cy="1"/>
          </a:xfrm>
          <a:prstGeom prst="straightConnector1">
            <a:avLst/>
          </a:prstGeom>
          <a:ln w="28575"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AFCD90-4214-8C59-0A3B-01826320081A}"/>
              </a:ext>
            </a:extLst>
          </p:cNvPr>
          <p:cNvCxnSpPr>
            <a:cxnSpLocks/>
            <a:stCxn id="22" idx="6"/>
            <a:endCxn id="9" idx="1"/>
          </p:cNvCxnSpPr>
          <p:nvPr/>
        </p:nvCxnSpPr>
        <p:spPr>
          <a:xfrm>
            <a:off x="6512029" y="5507101"/>
            <a:ext cx="355238" cy="0"/>
          </a:xfrm>
          <a:prstGeom prst="straightConnector1">
            <a:avLst/>
          </a:prstGeom>
          <a:ln w="28575"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23361A-F650-6650-DDE5-0B3AD78346C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9421035" y="5507101"/>
            <a:ext cx="487060" cy="0"/>
          </a:xfrm>
          <a:prstGeom prst="straightConnector1">
            <a:avLst/>
          </a:prstGeom>
          <a:ln w="28575"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B4F7B49-A54D-EDA7-979E-D3269AAE0740}"/>
                  </a:ext>
                </a:extLst>
              </p:cNvPr>
              <p:cNvSpPr/>
              <p:nvPr/>
            </p:nvSpPr>
            <p:spPr>
              <a:xfrm>
                <a:off x="1005729" y="5683603"/>
                <a:ext cx="668050" cy="683491"/>
              </a:xfrm>
              <a:prstGeom prst="rect">
                <a:avLst/>
              </a:prstGeom>
              <a:solidFill>
                <a:srgbClr val="FFD44B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B4F7B49-A54D-EDA7-979E-D3269AAE07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729" y="5683603"/>
                <a:ext cx="668050" cy="6834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4FDAEFFF-860A-D041-E2E1-9092A94948C9}"/>
              </a:ext>
            </a:extLst>
          </p:cNvPr>
          <p:cNvSpPr/>
          <p:nvPr/>
        </p:nvSpPr>
        <p:spPr>
          <a:xfrm>
            <a:off x="2031915" y="5683602"/>
            <a:ext cx="2553768" cy="68349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Transformada de Fourier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6DF1EE-FE85-142D-6355-09547F5FE1B0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1673779" y="6025348"/>
            <a:ext cx="358136" cy="1"/>
          </a:xfrm>
          <a:prstGeom prst="straightConnector1">
            <a:avLst/>
          </a:prstGeom>
          <a:ln w="28575"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9F6578A-6CB5-9680-2BE2-ECC01259B1F2}"/>
                  </a:ext>
                </a:extLst>
              </p:cNvPr>
              <p:cNvSpPr/>
              <p:nvPr/>
            </p:nvSpPr>
            <p:spPr>
              <a:xfrm>
                <a:off x="4943819" y="5683601"/>
                <a:ext cx="668050" cy="683491"/>
              </a:xfrm>
              <a:prstGeom prst="rect">
                <a:avLst/>
              </a:prstGeom>
              <a:solidFill>
                <a:srgbClr val="EAB200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9F6578A-6CB5-9680-2BE2-ECC01259B1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819" y="5683601"/>
                <a:ext cx="668050" cy="683491"/>
              </a:xfrm>
              <a:prstGeom prst="rect">
                <a:avLst/>
              </a:prstGeom>
              <a:blipFill>
                <a:blip r:embed="rId7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B2E081-F5D9-7617-A44C-B5F47DEBDED8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 flipV="1">
            <a:off x="4585683" y="6025347"/>
            <a:ext cx="358136" cy="1"/>
          </a:xfrm>
          <a:prstGeom prst="straightConnector1">
            <a:avLst/>
          </a:prstGeom>
          <a:ln w="28575"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F5F37F6F-720E-55AF-9130-59269890425A}"/>
              </a:ext>
            </a:extLst>
          </p:cNvPr>
          <p:cNvSpPr/>
          <p:nvPr/>
        </p:nvSpPr>
        <p:spPr>
          <a:xfrm>
            <a:off x="5970005" y="5236089"/>
            <a:ext cx="542024" cy="542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x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6439B5D-69FE-D85E-4692-0289ABB4CFAE}"/>
              </a:ext>
            </a:extLst>
          </p:cNvPr>
          <p:cNvCxnSpPr>
            <a:cxnSpLocks/>
            <a:stCxn id="11" idx="3"/>
            <a:endCxn id="22" idx="1"/>
          </p:cNvCxnSpPr>
          <p:nvPr/>
        </p:nvCxnSpPr>
        <p:spPr>
          <a:xfrm>
            <a:off x="5614767" y="4913937"/>
            <a:ext cx="434616" cy="401530"/>
          </a:xfrm>
          <a:prstGeom prst="straightConnector1">
            <a:avLst/>
          </a:prstGeom>
          <a:ln w="28575"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D879657-3033-C6A7-3D69-CDD4A20D1BE4}"/>
              </a:ext>
            </a:extLst>
          </p:cNvPr>
          <p:cNvCxnSpPr>
            <a:cxnSpLocks/>
            <a:stCxn id="20" idx="3"/>
            <a:endCxn id="22" idx="3"/>
          </p:cNvCxnSpPr>
          <p:nvPr/>
        </p:nvCxnSpPr>
        <p:spPr>
          <a:xfrm flipV="1">
            <a:off x="5611869" y="5698735"/>
            <a:ext cx="437514" cy="326612"/>
          </a:xfrm>
          <a:prstGeom prst="straightConnector1">
            <a:avLst/>
          </a:prstGeom>
          <a:ln w="28575"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AB66427-A259-4A71-BD5C-00D31B1A7D1C}"/>
              </a:ext>
            </a:extLst>
          </p:cNvPr>
          <p:cNvSpPr txBox="1"/>
          <p:nvPr/>
        </p:nvSpPr>
        <p:spPr>
          <a:xfrm>
            <a:off x="0" y="6560231"/>
            <a:ext cx="91957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VASILACHE, Nicolas et al. Fast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convolutional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nets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fbfft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A GPU performance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evaluation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arXiv:1412.7580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116531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19D2-0C74-6A1C-9D88-DA0A80E8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3C1D3-DEC4-8C1F-C2A8-6A78E6792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Versão Utilizada (im2col, Matriz de </a:t>
            </a:r>
            <a:r>
              <a:rPr lang="pt-BR" sz="2400" dirty="0" err="1"/>
              <a:t>Toeplitz</a:t>
            </a:r>
            <a:r>
              <a:rPr lang="pt-BR" sz="2400" dirty="0"/>
              <a:t>)</a:t>
            </a:r>
          </a:p>
          <a:p>
            <a:r>
              <a:rPr lang="pt-BR" sz="2400" dirty="0"/>
              <a:t>Temos que definir matrizes de </a:t>
            </a:r>
            <a:r>
              <a:rPr lang="pt-BR" sz="2400" dirty="0" err="1"/>
              <a:t>Toeplitz</a:t>
            </a:r>
            <a:r>
              <a:rPr lang="pt-BR" sz="2400" dirty="0"/>
              <a:t> (matriz de diagonais constantes)</a:t>
            </a:r>
          </a:p>
          <a:p>
            <a:r>
              <a:rPr lang="en-US" sz="2400" dirty="0"/>
              <a:t>Uma </a:t>
            </a:r>
            <a:r>
              <a:rPr lang="en-US" sz="2400" dirty="0" err="1"/>
              <a:t>Matriz</a:t>
            </a:r>
            <a:r>
              <a:rPr lang="en-US" sz="2400" dirty="0"/>
              <a:t> de Toeplitz é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matriz</a:t>
            </a:r>
            <a:r>
              <a:rPr lang="en-US" sz="2400" dirty="0"/>
              <a:t> </a:t>
            </a:r>
            <a:r>
              <a:rPr lang="en-US" sz="2400" dirty="0" err="1"/>
              <a:t>qualquer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qual </a:t>
            </a:r>
            <a:r>
              <a:rPr lang="en-US" sz="2400" dirty="0" err="1"/>
              <a:t>os</a:t>
            </a:r>
            <a:r>
              <a:rPr lang="en-US" sz="2400" dirty="0"/>
              <a:t> </a:t>
            </a:r>
            <a:r>
              <a:rPr lang="en-US" sz="2400" dirty="0" err="1"/>
              <a:t>valores</a:t>
            </a:r>
            <a:r>
              <a:rPr lang="en-US" sz="2400" dirty="0"/>
              <a:t> da </a:t>
            </a:r>
            <a:r>
              <a:rPr lang="en-US" sz="2400" dirty="0" err="1"/>
              <a:t>diagnonal</a:t>
            </a:r>
            <a:r>
              <a:rPr lang="en-US" sz="2400" dirty="0"/>
              <a:t> principal e das </a:t>
            </a:r>
            <a:r>
              <a:rPr lang="en-US" sz="2400" dirty="0" err="1"/>
              <a:t>subdiagonais</a:t>
            </a:r>
            <a:r>
              <a:rPr lang="en-US" sz="2400" dirty="0"/>
              <a:t> </a:t>
            </a:r>
            <a:r>
              <a:rPr lang="en-US" sz="2400" dirty="0" err="1"/>
              <a:t>são</a:t>
            </a:r>
            <a:r>
              <a:rPr lang="en-US" sz="2400" dirty="0"/>
              <a:t> </a:t>
            </a:r>
            <a:r>
              <a:rPr lang="en-US" sz="2400" dirty="0" err="1"/>
              <a:t>iguais</a:t>
            </a:r>
            <a:endParaRPr lang="en-US" sz="2400" dirty="0"/>
          </a:p>
          <a:p>
            <a:pPr lvl="1"/>
            <a:r>
              <a:rPr lang="en-US" sz="2000" dirty="0" err="1"/>
              <a:t>Abaixo</a:t>
            </a:r>
            <a:r>
              <a:rPr lang="en-US" sz="2000" dirty="0"/>
              <a:t> um </a:t>
            </a:r>
            <a:r>
              <a:rPr lang="en-US" sz="2000" dirty="0" err="1"/>
              <a:t>exemplo</a:t>
            </a:r>
            <a:r>
              <a:rPr lang="en-US" sz="2000" dirty="0"/>
              <a:t> de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matriz</a:t>
            </a:r>
            <a:r>
              <a:rPr lang="en-US" sz="2000" dirty="0"/>
              <a:t> de Toeplitz</a:t>
            </a:r>
            <a:endParaRPr lang="pt-BR" sz="2000" dirty="0"/>
          </a:p>
          <a:p>
            <a:pPr marL="0" indent="0">
              <a:buNone/>
            </a:pPr>
            <a:r>
              <a:rPr lang="pt-BR" sz="2400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1E020-52F6-6920-B347-9F356CBB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50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12C5B8-E37C-8E66-5FB1-43DEAB695838}"/>
                  </a:ext>
                </a:extLst>
              </p:cNvPr>
              <p:cNvSpPr txBox="1"/>
              <p:nvPr/>
            </p:nvSpPr>
            <p:spPr>
              <a:xfrm>
                <a:off x="3224865" y="4398108"/>
                <a:ext cx="4727896" cy="20665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−56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−56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−56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−9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−9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12C5B8-E37C-8E66-5FB1-43DEAB695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865" y="4398108"/>
                <a:ext cx="4727896" cy="20665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3268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19D2-0C74-6A1C-9D88-DA0A80E8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3C1D3-DEC4-8C1F-C2A8-6A78E6792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Versão Utilizada (im2col, Matriz de </a:t>
            </a:r>
            <a:r>
              <a:rPr lang="pt-BR" dirty="0" err="1"/>
              <a:t>Toeplitz</a:t>
            </a:r>
            <a:r>
              <a:rPr lang="pt-BR" dirty="0"/>
              <a:t> ou ainda Matriz de Diagonais Constantes)</a:t>
            </a:r>
          </a:p>
          <a:p>
            <a:pPr lvl="1"/>
            <a:r>
              <a:rPr lang="pt-BR" dirty="0"/>
              <a:t>Passo 1</a:t>
            </a:r>
            <a:r>
              <a:rPr lang="en-US" dirty="0"/>
              <a:t>: </a:t>
            </a:r>
            <a:r>
              <a:rPr lang="en-US" dirty="0" err="1"/>
              <a:t>Definir</a:t>
            </a:r>
            <a:r>
              <a:rPr lang="en-US" dirty="0"/>
              <a:t> a entrada e o </a:t>
            </a:r>
            <a:r>
              <a:rPr lang="en-US" dirty="0" err="1"/>
              <a:t>filtro</a:t>
            </a:r>
            <a:r>
              <a:rPr lang="en-US" dirty="0"/>
              <a:t> </a:t>
            </a:r>
            <a:endParaRPr lang="pt-BR" dirty="0"/>
          </a:p>
          <a:p>
            <a:pPr marL="0" indent="0">
              <a:buNone/>
            </a:pPr>
            <a:r>
              <a:rPr lang="pt-BR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1E020-52F6-6920-B347-9F356CBB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51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471FB5E7-07F2-EED4-095A-32A1E9C0304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63592" y="4354880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471FB5E7-07F2-EED4-095A-32A1E9C030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9232202"/>
                  </p:ext>
                </p:extLst>
              </p:nvPr>
            </p:nvGraphicFramePr>
            <p:xfrm>
              <a:off x="5763592" y="4354880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2"/>
                          <a:stretch>
                            <a:fillRect l="-1190" t="-1235" r="-102381" b="-1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2"/>
                          <a:stretch>
                            <a:fillRect l="-101190" t="-1235" r="-2381" b="-1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2"/>
                          <a:stretch>
                            <a:fillRect l="-1190" t="-101235" r="-102381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2"/>
                          <a:stretch>
                            <a:fillRect l="-101190" t="-101235" r="-2381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93FCF56-825D-2F81-5128-1BA5056E819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40453" y="4108313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93FCF56-825D-2F81-5128-1BA5056E81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3793632"/>
                  </p:ext>
                </p:extLst>
              </p:nvPr>
            </p:nvGraphicFramePr>
            <p:xfrm>
              <a:off x="1640453" y="4108313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953AA8-331E-266E-8726-AF222F32A483}"/>
                  </a:ext>
                </a:extLst>
              </p:cNvPr>
              <p:cNvSpPr txBox="1"/>
              <p:nvPr/>
            </p:nvSpPr>
            <p:spPr>
              <a:xfrm>
                <a:off x="4854689" y="4543701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953AA8-331E-266E-8726-AF222F32A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689" y="4543701"/>
                <a:ext cx="90890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301BB4-B2EA-3C64-7CC1-D5E6B5888828}"/>
                  </a:ext>
                </a:extLst>
              </p:cNvPr>
              <p:cNvSpPr txBox="1"/>
              <p:nvPr/>
            </p:nvSpPr>
            <p:spPr>
              <a:xfrm>
                <a:off x="766944" y="4584074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301BB4-B2EA-3C64-7CC1-D5E6B5888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44" y="4584074"/>
                <a:ext cx="87350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399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19D2-0C74-6A1C-9D88-DA0A80E8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E3C1D3-DEC4-8C1F-C2A8-6A78E67924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Versão Utilizada (im2col, Matriz de </a:t>
                </a:r>
                <a:r>
                  <a:rPr lang="pt-BR" dirty="0" err="1"/>
                  <a:t>Toeplitz</a:t>
                </a:r>
                <a:r>
                  <a:rPr lang="pt-BR" dirty="0"/>
                  <a:t>)</a:t>
                </a:r>
              </a:p>
              <a:p>
                <a:pPr lvl="1"/>
                <a:r>
                  <a:rPr lang="pt-BR" dirty="0"/>
                  <a:t>Passo 2</a:t>
                </a:r>
                <a:r>
                  <a:rPr lang="en-US" dirty="0"/>
                  <a:t>: </a:t>
                </a:r>
                <a:r>
                  <a:rPr lang="pt-BR" dirty="0"/>
                  <a:t>Calcular o tamanho da saída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h𝑒𝑖𝑔𝑡h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h𝑒𝑖𝑔𝑡h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h𝑒𝑖𝑔𝑡h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h𝑒𝑖𝑔𝑡h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>
                    <a:latin typeface="Consolas" panose="020B0609020204030204" pitchFamily="49" charset="0"/>
                  </a:rPr>
                  <a:t>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E3C1D3-DEC4-8C1F-C2A8-6A78E67924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1E020-52F6-6920-B347-9F356CBB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52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953AA8-331E-266E-8726-AF222F32A483}"/>
                  </a:ext>
                </a:extLst>
              </p:cNvPr>
              <p:cNvSpPr txBox="1"/>
              <p:nvPr/>
            </p:nvSpPr>
            <p:spPr>
              <a:xfrm>
                <a:off x="4854689" y="4543701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953AA8-331E-266E-8726-AF222F32A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689" y="4543701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301BB4-B2EA-3C64-7CC1-D5E6B5888828}"/>
                  </a:ext>
                </a:extLst>
              </p:cNvPr>
              <p:cNvSpPr txBox="1"/>
              <p:nvPr/>
            </p:nvSpPr>
            <p:spPr>
              <a:xfrm>
                <a:off x="766944" y="4584074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301BB4-B2EA-3C64-7CC1-D5E6B5888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44" y="4584074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5">
                <a:extLst>
                  <a:ext uri="{FF2B5EF4-FFF2-40B4-BE49-F238E27FC236}">
                    <a16:creationId xmlns:a16="http://schemas.microsoft.com/office/drawing/2014/main" id="{8D39DD67-D539-6A50-90A5-2FB0C93537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1640076"/>
                  </p:ext>
                </p:extLst>
              </p:nvPr>
            </p:nvGraphicFramePr>
            <p:xfrm>
              <a:off x="5763592" y="4354880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5">
                <a:extLst>
                  <a:ext uri="{FF2B5EF4-FFF2-40B4-BE49-F238E27FC236}">
                    <a16:creationId xmlns:a16="http://schemas.microsoft.com/office/drawing/2014/main" id="{8D39DD67-D539-6A50-90A5-2FB0C93537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1640076"/>
                  </p:ext>
                </p:extLst>
              </p:nvPr>
            </p:nvGraphicFramePr>
            <p:xfrm>
              <a:off x="5763592" y="4354880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235" r="-102381" b="-1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235" r="-2381" b="-1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01235" r="-102381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01235" r="-2381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620A287-7058-6C22-483A-31432D484C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219679"/>
                  </p:ext>
                </p:extLst>
              </p:nvPr>
            </p:nvGraphicFramePr>
            <p:xfrm>
              <a:off x="1640453" y="4108313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620A287-7058-6C22-483A-31432D484C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219679"/>
                  </p:ext>
                </p:extLst>
              </p:nvPr>
            </p:nvGraphicFramePr>
            <p:xfrm>
              <a:off x="1640453" y="4108313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8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8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8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8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8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8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8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8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8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88268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19D2-0C74-6A1C-9D88-DA0A80E8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E3C1D3-DEC4-8C1F-C2A8-6A78E67924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Versão Utilizada (im2col, Matriz de </a:t>
                </a:r>
                <a:r>
                  <a:rPr lang="pt-BR" dirty="0" err="1"/>
                  <a:t>Toeplitz</a:t>
                </a:r>
                <a:r>
                  <a:rPr lang="pt-BR" dirty="0"/>
                  <a:t>)</a:t>
                </a:r>
              </a:p>
              <a:p>
                <a:pPr lvl="1"/>
                <a:r>
                  <a:rPr lang="pt-BR" dirty="0"/>
                  <a:t>Passo 3</a:t>
                </a:r>
                <a:r>
                  <a:rPr lang="en-US" dirty="0"/>
                  <a:t>: </a:t>
                </a:r>
                <a:r>
                  <a:rPr lang="pt-BR" dirty="0"/>
                  <a:t>Aplicar </a:t>
                </a:r>
                <a:r>
                  <a:rPr lang="pt-BR" i="1" dirty="0"/>
                  <a:t>Zero </a:t>
                </a:r>
                <a:r>
                  <a:rPr lang="pt-BR" i="1" dirty="0" err="1"/>
                  <a:t>Padding</a:t>
                </a:r>
                <a:r>
                  <a:rPr lang="pt-BR" i="1" dirty="0"/>
                  <a:t> </a:t>
                </a:r>
                <a:r>
                  <a:rPr lang="pt-BR" dirty="0"/>
                  <a:t>no filtro para ficar com o tamanho da saída</a:t>
                </a:r>
                <a:endParaRPr lang="pt-BR" i="1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endParaRPr lang="pt-BR" dirty="0"/>
              </a:p>
              <a:p>
                <a:pPr marL="457200" lvl="1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r>
                  <a:rPr lang="pt-BR" dirty="0">
                    <a:latin typeface="Consolas" panose="020B0609020204030204" pitchFamily="49" charset="0"/>
                  </a:rPr>
                  <a:t>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E3C1D3-DEC4-8C1F-C2A8-6A78E67924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1E020-52F6-6920-B347-9F356CBB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53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953AA8-331E-266E-8726-AF222F32A483}"/>
                  </a:ext>
                </a:extLst>
              </p:cNvPr>
              <p:cNvSpPr txBox="1"/>
              <p:nvPr/>
            </p:nvSpPr>
            <p:spPr>
              <a:xfrm>
                <a:off x="4854689" y="4543701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953AA8-331E-266E-8726-AF222F32A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689" y="4543701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301BB4-B2EA-3C64-7CC1-D5E6B5888828}"/>
                  </a:ext>
                </a:extLst>
              </p:cNvPr>
              <p:cNvSpPr txBox="1"/>
              <p:nvPr/>
            </p:nvSpPr>
            <p:spPr>
              <a:xfrm>
                <a:off x="766944" y="4584074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301BB4-B2EA-3C64-7CC1-D5E6B5888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44" y="4584074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5">
                <a:extLst>
                  <a:ext uri="{FF2B5EF4-FFF2-40B4-BE49-F238E27FC236}">
                    <a16:creationId xmlns:a16="http://schemas.microsoft.com/office/drawing/2014/main" id="{BD1F3F37-C65A-3ECB-8D02-1ADFBFECDA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6274728"/>
                  </p:ext>
                </p:extLst>
              </p:nvPr>
            </p:nvGraphicFramePr>
            <p:xfrm>
              <a:off x="5763592" y="3864076"/>
              <a:ext cx="1952104" cy="1963216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488026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488026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488026">
                      <a:extLst>
                        <a:ext uri="{9D8B030D-6E8A-4147-A177-3AD203B41FA5}">
                          <a16:colId xmlns:a16="http://schemas.microsoft.com/office/drawing/2014/main" val="3714699805"/>
                        </a:ext>
                      </a:extLst>
                    </a:gridCol>
                    <a:gridCol w="488026">
                      <a:extLst>
                        <a:ext uri="{9D8B030D-6E8A-4147-A177-3AD203B41FA5}">
                          <a16:colId xmlns:a16="http://schemas.microsoft.com/office/drawing/2014/main" val="1974320234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2521318122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2843473192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5">
                <a:extLst>
                  <a:ext uri="{FF2B5EF4-FFF2-40B4-BE49-F238E27FC236}">
                    <a16:creationId xmlns:a16="http://schemas.microsoft.com/office/drawing/2014/main" id="{BD1F3F37-C65A-3ECB-8D02-1ADFBFECDA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6274728"/>
                  </p:ext>
                </p:extLst>
              </p:nvPr>
            </p:nvGraphicFramePr>
            <p:xfrm>
              <a:off x="5763592" y="3864076"/>
              <a:ext cx="1952104" cy="1963216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488026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488026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488026">
                      <a:extLst>
                        <a:ext uri="{9D8B030D-6E8A-4147-A177-3AD203B41FA5}">
                          <a16:colId xmlns:a16="http://schemas.microsoft.com/office/drawing/2014/main" val="3714699805"/>
                        </a:ext>
                      </a:extLst>
                    </a:gridCol>
                    <a:gridCol w="488026">
                      <a:extLst>
                        <a:ext uri="{9D8B030D-6E8A-4147-A177-3AD203B41FA5}">
                          <a16:colId xmlns:a16="http://schemas.microsoft.com/office/drawing/2014/main" val="1974320234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2521318122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2843473192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250" t="-203750" r="-303750" b="-1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0000" t="-203750" r="-200000" b="-1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250" t="-300000" r="-303750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0000" t="-300000" r="-200000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8D4ACAE3-B46C-5A02-C03A-DD41BAEBA2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7215476"/>
                  </p:ext>
                </p:extLst>
              </p:nvPr>
            </p:nvGraphicFramePr>
            <p:xfrm>
              <a:off x="1640453" y="4108313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8D4ACAE3-B46C-5A02-C03A-DD41BAEBA2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7215476"/>
                  </p:ext>
                </p:extLst>
              </p:nvPr>
            </p:nvGraphicFramePr>
            <p:xfrm>
              <a:off x="1640453" y="4108313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8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8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8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8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8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8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8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8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8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70537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19D2-0C74-6A1C-9D88-DA0A80E8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3C1D3-DEC4-8C1F-C2A8-6A78E6792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Versão Utilizada (im2col, Matriz de </a:t>
            </a:r>
            <a:r>
              <a:rPr lang="pt-BR" dirty="0" err="1"/>
              <a:t>Toeplitz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Passo 4</a:t>
            </a:r>
            <a:r>
              <a:rPr lang="en-US" dirty="0"/>
              <a:t>:</a:t>
            </a:r>
            <a:r>
              <a:rPr lang="pt-BR" dirty="0"/>
              <a:t> Criar uma </a:t>
            </a:r>
            <a:r>
              <a:rPr lang="pt-BR" dirty="0" err="1"/>
              <a:t>Toeplitz</a:t>
            </a:r>
            <a:r>
              <a:rPr lang="pt-BR" dirty="0"/>
              <a:t> Matrix para cada linha do filtro após o </a:t>
            </a:r>
            <a:r>
              <a:rPr lang="pt-BR" i="1" dirty="0"/>
              <a:t>zero-</a:t>
            </a:r>
            <a:r>
              <a:rPr lang="pt-BR" i="1" dirty="0" err="1"/>
              <a:t>padding</a:t>
            </a:r>
            <a:endParaRPr lang="pt-BR" i="1" dirty="0"/>
          </a:p>
          <a:p>
            <a:pPr lvl="2"/>
            <a:r>
              <a:rPr lang="pt-BR" dirty="0"/>
              <a:t>Importante:</a:t>
            </a:r>
          </a:p>
          <a:p>
            <a:pPr lvl="3"/>
            <a:r>
              <a:rPr lang="pt-BR" dirty="0"/>
              <a:t>Começar da última linha</a:t>
            </a:r>
          </a:p>
          <a:p>
            <a:pPr lvl="3"/>
            <a:r>
              <a:rPr lang="pt-BR" dirty="0"/>
              <a:t>O número de colunas deve ser igual a imagem de entrada da convolução</a:t>
            </a:r>
          </a:p>
          <a:p>
            <a:pPr marL="457200" lvl="1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1E020-52F6-6920-B347-9F356CBB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54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39B39F6B-6334-50FD-47C2-08E6AE39CD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2047283"/>
                  </p:ext>
                </p:extLst>
              </p:nvPr>
            </p:nvGraphicFramePr>
            <p:xfrm>
              <a:off x="3699207" y="4557545"/>
              <a:ext cx="1549245" cy="1963216"/>
            </p:xfrm>
            <a:graphic>
              <a:graphicData uri="http://schemas.openxmlformats.org/drawingml/2006/table">
                <a:tbl>
                  <a:tblPr firstRow="1">
                    <a:tableStyleId>{69CF1AB2-1976-4502-BF36-3FF5EA218861}</a:tableStyleId>
                  </a:tblPr>
                  <a:tblGrid>
                    <a:gridCol w="516415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516415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516415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39B39F6B-6334-50FD-47C2-08E6AE39CD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2047283"/>
                  </p:ext>
                </p:extLst>
              </p:nvPr>
            </p:nvGraphicFramePr>
            <p:xfrm>
              <a:off x="3699207" y="4557545"/>
              <a:ext cx="1549245" cy="1963216"/>
            </p:xfrm>
            <a:graphic>
              <a:graphicData uri="http://schemas.openxmlformats.org/drawingml/2006/table">
                <a:tbl>
                  <a:tblPr firstRow="1">
                    <a:tableStyleId>{69CF1AB2-1976-4502-BF36-3FF5EA218861}</a:tableStyleId>
                  </a:tblPr>
                  <a:tblGrid>
                    <a:gridCol w="516415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516415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516415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2"/>
                          <a:stretch>
                            <a:fillRect l="-1176" t="-1235" r="-203529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2"/>
                          <a:stretch>
                            <a:fillRect l="-1176" t="-101235" r="-203529" b="-2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2"/>
                          <a:stretch>
                            <a:fillRect l="-101176" t="-101235" r="-103529" b="-2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2"/>
                          <a:stretch>
                            <a:fillRect l="-1176" t="-203750" r="-203529" b="-10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2"/>
                          <a:stretch>
                            <a:fillRect l="-101176" t="-203750" r="-103529" b="-10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2"/>
                          <a:stretch>
                            <a:fillRect l="-201176" t="-203750" r="-3529" b="-10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2"/>
                          <a:stretch>
                            <a:fillRect l="-1176" t="-300000" r="-203529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2"/>
                          <a:stretch>
                            <a:fillRect l="-101176" t="-300000" r="-103529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2"/>
                          <a:stretch>
                            <a:fillRect l="-201176" t="-300000" r="-3529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238836F-319E-1A48-4738-647E76408C98}"/>
                  </a:ext>
                </a:extLst>
              </p:cNvPr>
              <p:cNvSpPr txBox="1"/>
              <p:nvPr/>
            </p:nvSpPr>
            <p:spPr>
              <a:xfrm>
                <a:off x="90368" y="5232303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238836F-319E-1A48-4738-647E76408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68" y="5232303"/>
                <a:ext cx="90890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5">
                <a:extLst>
                  <a:ext uri="{FF2B5EF4-FFF2-40B4-BE49-F238E27FC236}">
                    <a16:creationId xmlns:a16="http://schemas.microsoft.com/office/drawing/2014/main" id="{CD75B139-FF87-036C-3E41-BB676E82BB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4710006"/>
                  </p:ext>
                </p:extLst>
              </p:nvPr>
            </p:nvGraphicFramePr>
            <p:xfrm>
              <a:off x="999271" y="4552678"/>
              <a:ext cx="1952104" cy="1963216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488026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488026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488026">
                      <a:extLst>
                        <a:ext uri="{9D8B030D-6E8A-4147-A177-3AD203B41FA5}">
                          <a16:colId xmlns:a16="http://schemas.microsoft.com/office/drawing/2014/main" val="3714699805"/>
                        </a:ext>
                      </a:extLst>
                    </a:gridCol>
                    <a:gridCol w="488026">
                      <a:extLst>
                        <a:ext uri="{9D8B030D-6E8A-4147-A177-3AD203B41FA5}">
                          <a16:colId xmlns:a16="http://schemas.microsoft.com/office/drawing/2014/main" val="1974320234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2521318122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2843473192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5">
                <a:extLst>
                  <a:ext uri="{FF2B5EF4-FFF2-40B4-BE49-F238E27FC236}">
                    <a16:creationId xmlns:a16="http://schemas.microsoft.com/office/drawing/2014/main" id="{CD75B139-FF87-036C-3E41-BB676E82BB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4710006"/>
                  </p:ext>
                </p:extLst>
              </p:nvPr>
            </p:nvGraphicFramePr>
            <p:xfrm>
              <a:off x="999271" y="4552678"/>
              <a:ext cx="1952104" cy="1963216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488026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488026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488026">
                      <a:extLst>
                        <a:ext uri="{9D8B030D-6E8A-4147-A177-3AD203B41FA5}">
                          <a16:colId xmlns:a16="http://schemas.microsoft.com/office/drawing/2014/main" val="3714699805"/>
                        </a:ext>
                      </a:extLst>
                    </a:gridCol>
                    <a:gridCol w="488026">
                      <a:extLst>
                        <a:ext uri="{9D8B030D-6E8A-4147-A177-3AD203B41FA5}">
                          <a16:colId xmlns:a16="http://schemas.microsoft.com/office/drawing/2014/main" val="1974320234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2521318122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2843473192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4"/>
                          <a:stretch>
                            <a:fillRect l="-1235" t="-203750" r="-300000" b="-10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4"/>
                          <a:stretch>
                            <a:fillRect l="-102500" t="-203750" r="-203750" b="-10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4"/>
                          <a:stretch>
                            <a:fillRect l="-1235" t="-300000" r="-300000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4"/>
                          <a:stretch>
                            <a:fillRect l="-102500" t="-300000" r="-203750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/>
                            <a:t>0</a:t>
                          </a:r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C94C567F-DA2E-1890-C90F-727D2700DA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4906390"/>
                  </p:ext>
                </p:extLst>
              </p:nvPr>
            </p:nvGraphicFramePr>
            <p:xfrm>
              <a:off x="5559637" y="4557545"/>
              <a:ext cx="1549242" cy="1963216"/>
            </p:xfrm>
            <a:graphic>
              <a:graphicData uri="http://schemas.openxmlformats.org/drawingml/2006/table">
                <a:tbl>
                  <a:tblPr firstRow="1">
                    <a:tableStyleId>{0505E3EF-67EA-436B-97B2-0124C06EBD24}</a:tableStyleId>
                  </a:tblPr>
                  <a:tblGrid>
                    <a:gridCol w="516414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516414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516414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3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C94C567F-DA2E-1890-C90F-727D2700DA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4906390"/>
                  </p:ext>
                </p:extLst>
              </p:nvPr>
            </p:nvGraphicFramePr>
            <p:xfrm>
              <a:off x="5559637" y="4557545"/>
              <a:ext cx="1549242" cy="1963216"/>
            </p:xfrm>
            <a:graphic>
              <a:graphicData uri="http://schemas.openxmlformats.org/drawingml/2006/table">
                <a:tbl>
                  <a:tblPr firstRow="1">
                    <a:tableStyleId>{0505E3EF-67EA-436B-97B2-0124C06EBD24}</a:tableStyleId>
                  </a:tblPr>
                  <a:tblGrid>
                    <a:gridCol w="516414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516414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516414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5"/>
                          <a:stretch>
                            <a:fillRect l="-2353" t="-1235" r="-202353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5"/>
                          <a:stretch>
                            <a:fillRect l="-2353" t="-101235" r="-202353" b="-2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5"/>
                          <a:stretch>
                            <a:fillRect l="-102353" t="-101235" r="-102353" b="-2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5"/>
                          <a:stretch>
                            <a:fillRect l="-2353" t="-203750" r="-202353" b="-10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5"/>
                          <a:stretch>
                            <a:fillRect l="-102353" t="-203750" r="-102353" b="-10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5"/>
                          <a:stretch>
                            <a:fillRect l="-202353" t="-203750" r="-2353" b="-10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5"/>
                          <a:stretch>
                            <a:fillRect l="-2353" t="-300000" r="-202353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5"/>
                          <a:stretch>
                            <a:fillRect l="-102353" t="-300000" r="-102353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5"/>
                          <a:stretch>
                            <a:fillRect l="-202353" t="-300000" r="-2353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EAA84D93-61E4-9132-2D4E-1829922106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7973323"/>
                  </p:ext>
                </p:extLst>
              </p:nvPr>
            </p:nvGraphicFramePr>
            <p:xfrm>
              <a:off x="7420067" y="4546849"/>
              <a:ext cx="1549242" cy="1963216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516414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516414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516414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EAA84D93-61E4-9132-2D4E-1829922106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7973323"/>
                  </p:ext>
                </p:extLst>
              </p:nvPr>
            </p:nvGraphicFramePr>
            <p:xfrm>
              <a:off x="7420067" y="4546849"/>
              <a:ext cx="1549242" cy="1963216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516414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516414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516414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6"/>
                          <a:stretch>
                            <a:fillRect l="-1176" t="-1235" r="-202353" b="-3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6"/>
                          <a:stretch>
                            <a:fillRect l="-1176" t="-101235" r="-202353" b="-2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6"/>
                          <a:stretch>
                            <a:fillRect l="-101176" t="-101235" r="-102353" b="-2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6"/>
                          <a:stretch>
                            <a:fillRect l="-1176" t="-203750" r="-202353" b="-1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6"/>
                          <a:stretch>
                            <a:fillRect l="-101176" t="-203750" r="-102353" b="-1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6"/>
                          <a:stretch>
                            <a:fillRect l="-201176" t="-203750" r="-2353" b="-1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6"/>
                          <a:stretch>
                            <a:fillRect l="-1176" t="-300000" r="-202353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6"/>
                          <a:stretch>
                            <a:fillRect l="-101176" t="-300000" r="-102353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6"/>
                          <a:stretch>
                            <a:fillRect l="-201176" t="-300000" r="-2353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D4C5A9EC-CB7F-56F9-D0E7-5323645210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2066746"/>
                  </p:ext>
                </p:extLst>
              </p:nvPr>
            </p:nvGraphicFramePr>
            <p:xfrm>
              <a:off x="9205375" y="4557545"/>
              <a:ext cx="1549242" cy="1963216"/>
            </p:xfrm>
            <a:graphic>
              <a:graphicData uri="http://schemas.openxmlformats.org/drawingml/2006/table">
                <a:tbl>
                  <a:tblPr firstRow="1">
                    <a:tableStyleId>{16D9F66E-5EB9-4882-86FB-DCBF35E3C3E4}</a:tableStyleId>
                  </a:tblPr>
                  <a:tblGrid>
                    <a:gridCol w="516414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516414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516414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D4C5A9EC-CB7F-56F9-D0E7-5323645210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2066746"/>
                  </p:ext>
                </p:extLst>
              </p:nvPr>
            </p:nvGraphicFramePr>
            <p:xfrm>
              <a:off x="9205375" y="4557545"/>
              <a:ext cx="1549242" cy="1963216"/>
            </p:xfrm>
            <a:graphic>
              <a:graphicData uri="http://schemas.openxmlformats.org/drawingml/2006/table">
                <a:tbl>
                  <a:tblPr firstRow="1">
                    <a:tableStyleId>{16D9F66E-5EB9-4882-86FB-DCBF35E3C3E4}</a:tableStyleId>
                  </a:tblPr>
                  <a:tblGrid>
                    <a:gridCol w="516414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516414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516414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7"/>
                          <a:stretch>
                            <a:fillRect l="-1176" t="-1235" r="-202353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7"/>
                          <a:stretch>
                            <a:fillRect l="-1176" t="-101235" r="-202353" b="-2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7"/>
                          <a:stretch>
                            <a:fillRect l="-101176" t="-101235" r="-102353" b="-2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/>
                            <a:t>0</a:t>
                          </a:r>
                          <a:endParaRPr lang="pt-BR" sz="1300" b="0" dirty="0"/>
                        </a:p>
                      </a:txBody>
                      <a:tcPr marL="116915" marR="116915" marT="58457" marB="58457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7"/>
                          <a:stretch>
                            <a:fillRect l="-1176" t="-203750" r="-202353" b="-10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7"/>
                          <a:stretch>
                            <a:fillRect l="-101176" t="-203750" r="-102353" b="-10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7"/>
                          <a:stretch>
                            <a:fillRect l="-201176" t="-203750" r="-2353" b="-10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7"/>
                          <a:stretch>
                            <a:fillRect l="-1176" t="-300000" r="-202353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7"/>
                          <a:stretch>
                            <a:fillRect l="-101176" t="-300000" r="-102353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16915" marR="116915" marT="58457" marB="58457" anchor="ctr">
                        <a:blipFill>
                          <a:blip r:embed="rId7"/>
                          <a:stretch>
                            <a:fillRect l="-201176" t="-300000" r="-2353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6DFC311-1FFB-7375-68A8-1FBF2A2D4FE3}"/>
                  </a:ext>
                </a:extLst>
              </p:cNvPr>
              <p:cNvSpPr txBox="1"/>
              <p:nvPr/>
            </p:nvSpPr>
            <p:spPr>
              <a:xfrm>
                <a:off x="4259246" y="4085184"/>
                <a:ext cx="4291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6DFC311-1FFB-7375-68A8-1FBF2A2D4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246" y="4085184"/>
                <a:ext cx="429164" cy="461665"/>
              </a:xfrm>
              <a:prstGeom prst="rect">
                <a:avLst/>
              </a:prstGeom>
              <a:blipFill>
                <a:blip r:embed="rId8"/>
                <a:stretch>
                  <a:fillRect l="-4286" r="-5714" b="-13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BD7C5FA-3CFD-2460-A395-D5CFC4BCB403}"/>
                  </a:ext>
                </a:extLst>
              </p:cNvPr>
              <p:cNvSpPr txBox="1"/>
              <p:nvPr/>
            </p:nvSpPr>
            <p:spPr>
              <a:xfrm>
                <a:off x="6128300" y="4082313"/>
                <a:ext cx="4291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BD7C5FA-3CFD-2460-A395-D5CFC4BCB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300" y="4082313"/>
                <a:ext cx="429164" cy="461665"/>
              </a:xfrm>
              <a:prstGeom prst="rect">
                <a:avLst/>
              </a:prstGeom>
              <a:blipFill>
                <a:blip r:embed="rId9"/>
                <a:stretch>
                  <a:fillRect l="-2817" r="-2817" b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7B07E88-3695-735F-B908-276C2528D0C1}"/>
                  </a:ext>
                </a:extLst>
              </p:cNvPr>
              <p:cNvSpPr txBox="1"/>
              <p:nvPr/>
            </p:nvSpPr>
            <p:spPr>
              <a:xfrm>
                <a:off x="7982973" y="4073684"/>
                <a:ext cx="4291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7B07E88-3695-735F-B908-276C2528D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973" y="4073684"/>
                <a:ext cx="429164" cy="461665"/>
              </a:xfrm>
              <a:prstGeom prst="rect">
                <a:avLst/>
              </a:prstGeom>
              <a:blipFill>
                <a:blip r:embed="rId10"/>
                <a:stretch>
                  <a:fillRect l="-4286" r="-5714" b="-13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A469BA-828F-EA47-6DAF-3A8C53AA2320}"/>
                  </a:ext>
                </a:extLst>
              </p:cNvPr>
              <p:cNvSpPr txBox="1"/>
              <p:nvPr/>
            </p:nvSpPr>
            <p:spPr>
              <a:xfrm>
                <a:off x="9763928" y="4073683"/>
                <a:ext cx="4291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A469BA-828F-EA47-6DAF-3A8C53AA2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3928" y="4073683"/>
                <a:ext cx="429164" cy="461665"/>
              </a:xfrm>
              <a:prstGeom prst="rect">
                <a:avLst/>
              </a:prstGeom>
              <a:blipFill>
                <a:blip r:embed="rId11"/>
                <a:stretch>
                  <a:fillRect l="-4286" r="-5714" b="-13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8960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19D2-0C74-6A1C-9D88-DA0A80E8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3C1D3-DEC4-8C1F-C2A8-6A78E6792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4638" cy="4351338"/>
          </a:xfrm>
        </p:spPr>
        <p:txBody>
          <a:bodyPr/>
          <a:lstStyle/>
          <a:p>
            <a:r>
              <a:rPr lang="pt-BR" dirty="0"/>
              <a:t>Versão Utilizada (im2col, Matriz de </a:t>
            </a:r>
            <a:r>
              <a:rPr lang="pt-BR" dirty="0" err="1"/>
              <a:t>Toeplitz</a:t>
            </a:r>
            <a:r>
              <a:rPr lang="pt-BR" dirty="0"/>
              <a:t>)</a:t>
            </a:r>
          </a:p>
          <a:p>
            <a:pPr lvl="1"/>
            <a:r>
              <a:rPr lang="pt-BR" sz="2000" dirty="0"/>
              <a:t>Passo 5</a:t>
            </a:r>
            <a:r>
              <a:rPr lang="en-US" sz="2000" dirty="0"/>
              <a:t>:</a:t>
            </a:r>
            <a:r>
              <a:rPr lang="pt-BR" sz="2000" dirty="0"/>
              <a:t> Criar uma matriz de bloco de </a:t>
            </a:r>
            <a:r>
              <a:rPr lang="pt-BR" sz="2000" dirty="0" err="1"/>
              <a:t>Toeplitz</a:t>
            </a:r>
            <a:r>
              <a:rPr lang="pt-BR" sz="2000" dirty="0"/>
              <a:t> (basicamente reorganizar os filtros anteriores em uma grande matriz</a:t>
            </a:r>
            <a:endParaRPr lang="pt-BR" sz="2000" i="1" dirty="0"/>
          </a:p>
          <a:p>
            <a:pPr lvl="2"/>
            <a:r>
              <a:rPr lang="pt-BR" sz="1800" dirty="0"/>
              <a:t>Importante: </a:t>
            </a:r>
          </a:p>
          <a:p>
            <a:pPr lvl="3"/>
            <a:r>
              <a:rPr lang="pt-BR" sz="1600" dirty="0"/>
              <a:t>O n</a:t>
            </a:r>
            <a:r>
              <a:rPr lang="en-US" sz="1600" dirty="0" err="1"/>
              <a:t>úmero</a:t>
            </a:r>
            <a:r>
              <a:rPr lang="en-US" sz="1600" dirty="0"/>
              <a:t> de </a:t>
            </a:r>
            <a:r>
              <a:rPr lang="en-US" sz="1600" dirty="0" err="1"/>
              <a:t>colunas</a:t>
            </a:r>
            <a:r>
              <a:rPr lang="en-US" sz="1600" dirty="0"/>
              <a:t> da </a:t>
            </a:r>
            <a:r>
              <a:rPr lang="en-US" sz="1600" dirty="0" err="1"/>
              <a:t>matriz</a:t>
            </a:r>
            <a:r>
              <a:rPr lang="en-US" sz="1600" dirty="0"/>
              <a:t> </a:t>
            </a:r>
            <a:r>
              <a:rPr lang="en-US" sz="1600" dirty="0" err="1"/>
              <a:t>abaixo</a:t>
            </a:r>
            <a:r>
              <a:rPr lang="en-US" sz="1600" dirty="0"/>
              <a:t> </a:t>
            </a:r>
            <a:r>
              <a:rPr lang="en-US" sz="1600" dirty="0" err="1"/>
              <a:t>deve</a:t>
            </a:r>
            <a:r>
              <a:rPr lang="en-US" sz="1600" dirty="0"/>
              <a:t> ser </a:t>
            </a:r>
            <a:r>
              <a:rPr lang="en-US" sz="1600" dirty="0" err="1"/>
              <a:t>igual</a:t>
            </a:r>
            <a:r>
              <a:rPr lang="en-US" sz="1600" dirty="0"/>
              <a:t> </a:t>
            </a:r>
            <a:r>
              <a:rPr lang="en-US" sz="1600" dirty="0" err="1"/>
              <a:t>ao</a:t>
            </a:r>
            <a:r>
              <a:rPr lang="en-US" sz="1600" dirty="0"/>
              <a:t> </a:t>
            </a:r>
            <a:r>
              <a:rPr lang="en-US" sz="1600" dirty="0" err="1"/>
              <a:t>número</a:t>
            </a:r>
            <a:r>
              <a:rPr lang="en-US" sz="1600" dirty="0"/>
              <a:t> de </a:t>
            </a:r>
            <a:r>
              <a:rPr lang="en-US" sz="1600" dirty="0" err="1"/>
              <a:t>linhas</a:t>
            </a:r>
            <a:r>
              <a:rPr lang="en-US" sz="1600" dirty="0"/>
              <a:t> da </a:t>
            </a:r>
            <a:r>
              <a:rPr lang="en-US" sz="1600" dirty="0" err="1"/>
              <a:t>imagem</a:t>
            </a:r>
            <a:r>
              <a:rPr lang="en-US" sz="1600" dirty="0"/>
              <a:t> original</a:t>
            </a:r>
          </a:p>
          <a:p>
            <a:pPr lvl="3"/>
            <a:r>
              <a:rPr lang="en-US" sz="1600" dirty="0"/>
              <a:t>O </a:t>
            </a:r>
            <a:r>
              <a:rPr lang="en-US" sz="1600" dirty="0" err="1"/>
              <a:t>número</a:t>
            </a:r>
            <a:r>
              <a:rPr lang="en-US" sz="1600" dirty="0"/>
              <a:t> de </a:t>
            </a:r>
            <a:r>
              <a:rPr lang="en-US" sz="1600" dirty="0" err="1"/>
              <a:t>linhas</a:t>
            </a:r>
            <a:r>
              <a:rPr lang="en-US" sz="1600" dirty="0"/>
              <a:t> </a:t>
            </a:r>
            <a:r>
              <a:rPr lang="en-US" sz="1600" dirty="0" err="1"/>
              <a:t>deve</a:t>
            </a:r>
            <a:r>
              <a:rPr lang="en-US" sz="1600" dirty="0"/>
              <a:t> ser </a:t>
            </a:r>
            <a:r>
              <a:rPr lang="en-US" sz="1600" dirty="0" err="1"/>
              <a:t>igual</a:t>
            </a:r>
            <a:r>
              <a:rPr lang="en-US" sz="1600" dirty="0"/>
              <a:t> as </a:t>
            </a:r>
            <a:r>
              <a:rPr lang="en-US" sz="1600" dirty="0" err="1"/>
              <a:t>linhas</a:t>
            </a:r>
            <a:r>
              <a:rPr lang="en-US" sz="1600" dirty="0"/>
              <a:t> da </a:t>
            </a:r>
            <a:r>
              <a:rPr lang="en-US" sz="1600" dirty="0" err="1"/>
              <a:t>imagem</a:t>
            </a:r>
            <a:r>
              <a:rPr lang="en-US" sz="1600" dirty="0"/>
              <a:t> de </a:t>
            </a:r>
            <a:r>
              <a:rPr lang="en-US" sz="1600" dirty="0" err="1"/>
              <a:t>saída</a:t>
            </a:r>
            <a:endParaRPr lang="pt-BR" sz="1600" dirty="0"/>
          </a:p>
          <a:p>
            <a:pPr marL="0" indent="0">
              <a:buNone/>
            </a:pPr>
            <a:r>
              <a:rPr lang="pt-BR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1E020-52F6-6920-B347-9F356CBB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55</a:t>
            </a:fld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39B39F6B-6334-50FD-47C2-08E6AE39CD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5571994"/>
                  </p:ext>
                </p:extLst>
              </p:nvPr>
            </p:nvGraphicFramePr>
            <p:xfrm>
              <a:off x="9081113" y="2092514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{69CF1AB2-1976-4502-BF36-3FF5EA218861}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39B39F6B-6334-50FD-47C2-08E6AE39CD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5571994"/>
                  </p:ext>
                </p:extLst>
              </p:nvPr>
            </p:nvGraphicFramePr>
            <p:xfrm>
              <a:off x="9081113" y="2092514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{69CF1AB2-1976-4502-BF36-3FF5EA218861}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2"/>
                          <a:stretch>
                            <a:fillRect l="-1613" t="-1695" r="-203226" b="-3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2"/>
                          <a:stretch>
                            <a:fillRect l="-1613" t="-101695" r="-2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2"/>
                          <a:stretch>
                            <a:fillRect l="-101613" t="-101695" r="-1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2"/>
                          <a:stretch>
                            <a:fillRect l="-1613" t="-205172" r="-2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2"/>
                          <a:stretch>
                            <a:fillRect l="-101613" t="-205172" r="-1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2"/>
                          <a:stretch>
                            <a:fillRect l="-201613" t="-205172" r="-3226" b="-1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2"/>
                          <a:stretch>
                            <a:fillRect l="-1613" t="-300000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2"/>
                          <a:stretch>
                            <a:fillRect l="-101613" t="-300000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2"/>
                          <a:stretch>
                            <a:fillRect l="-201613" t="-300000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238836F-319E-1A48-4738-647E76408C98}"/>
                  </a:ext>
                </a:extLst>
              </p:cNvPr>
              <p:cNvSpPr txBox="1"/>
              <p:nvPr/>
            </p:nvSpPr>
            <p:spPr>
              <a:xfrm>
                <a:off x="723369" y="4953580"/>
                <a:ext cx="4968155" cy="1788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/>
                  <a:t>Matriz de Bloco Toeplitz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238836F-319E-1A48-4738-647E76408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69" y="4953580"/>
                <a:ext cx="4968155" cy="1788888"/>
              </a:xfrm>
              <a:prstGeom prst="rect">
                <a:avLst/>
              </a:prstGeom>
              <a:blipFill>
                <a:blip r:embed="rId3"/>
                <a:stretch>
                  <a:fillRect l="-11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C94C567F-DA2E-1890-C90F-727D2700DA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7945362"/>
                  </p:ext>
                </p:extLst>
              </p:nvPr>
            </p:nvGraphicFramePr>
            <p:xfrm>
              <a:off x="7955252" y="2092514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{0505E3EF-67EA-436B-97B2-0124C06EBD24}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C94C567F-DA2E-1890-C90F-727D2700DA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7945362"/>
                  </p:ext>
                </p:extLst>
              </p:nvPr>
            </p:nvGraphicFramePr>
            <p:xfrm>
              <a:off x="7955252" y="2092514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{0505E3EF-67EA-436B-97B2-0124C06EBD24}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4"/>
                          <a:stretch>
                            <a:fillRect l="-1613" t="-1695" r="-204839" b="-3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4"/>
                          <a:stretch>
                            <a:fillRect l="-1613" t="-101695" r="-204839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4"/>
                          <a:stretch>
                            <a:fillRect l="-100000" t="-101695" r="-101587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4"/>
                          <a:stretch>
                            <a:fillRect l="-1613" t="-205172" r="-204839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4"/>
                          <a:stretch>
                            <a:fillRect l="-100000" t="-205172" r="-101587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4"/>
                          <a:stretch>
                            <a:fillRect l="-203226" t="-205172" r="-3226" b="-1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4"/>
                          <a:stretch>
                            <a:fillRect l="-1613" t="-300000" r="-204839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4"/>
                          <a:stretch>
                            <a:fillRect l="-100000" t="-300000" r="-101587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4"/>
                          <a:stretch>
                            <a:fillRect l="-203226" t="-300000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D4C5A9EC-CB7F-56F9-D0E7-5323645210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4364743"/>
                  </p:ext>
                </p:extLst>
              </p:nvPr>
            </p:nvGraphicFramePr>
            <p:xfrm>
              <a:off x="7955252" y="4950891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{16D9F66E-5EB9-4882-86FB-DCBF35E3C3E4}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D4C5A9EC-CB7F-56F9-D0E7-5323645210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4364743"/>
                  </p:ext>
                </p:extLst>
              </p:nvPr>
            </p:nvGraphicFramePr>
            <p:xfrm>
              <a:off x="7955252" y="4950891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{16D9F66E-5EB9-4882-86FB-DCBF35E3C3E4}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5"/>
                          <a:stretch>
                            <a:fillRect l="-1613" t="-1695" r="-204839" b="-3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5"/>
                          <a:stretch>
                            <a:fillRect l="-1613" t="-101695" r="-204839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5"/>
                          <a:stretch>
                            <a:fillRect l="-100000" t="-101695" r="-101587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5"/>
                          <a:stretch>
                            <a:fillRect l="-1613" t="-205172" r="-204839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5"/>
                          <a:stretch>
                            <a:fillRect l="-100000" t="-205172" r="-101587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5"/>
                          <a:stretch>
                            <a:fillRect l="-203226" t="-205172" r="-3226" b="-1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5"/>
                          <a:stretch>
                            <a:fillRect l="-1613" t="-300000" r="-204839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5"/>
                          <a:stretch>
                            <a:fillRect l="-100000" t="-300000" r="-101587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5"/>
                          <a:stretch>
                            <a:fillRect l="-203226" t="-300000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DEED32A-4F5A-ADEE-7AAC-F3692EC0B1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7169527"/>
                  </p:ext>
                </p:extLst>
              </p:nvPr>
            </p:nvGraphicFramePr>
            <p:xfrm>
              <a:off x="10224617" y="3521703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{69CF1AB2-1976-4502-BF36-3FF5EA218861}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DEED32A-4F5A-ADEE-7AAC-F3692EC0B1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7169527"/>
                  </p:ext>
                </p:extLst>
              </p:nvPr>
            </p:nvGraphicFramePr>
            <p:xfrm>
              <a:off x="10224617" y="3521703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{69CF1AB2-1976-4502-BF36-3FF5EA218861}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6"/>
                          <a:stretch>
                            <a:fillRect l="-1613" t="-1695" r="-203226" b="-3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6"/>
                          <a:stretch>
                            <a:fillRect l="-1613" t="-101695" r="-2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6"/>
                          <a:stretch>
                            <a:fillRect l="-101613" t="-101695" r="-1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6"/>
                          <a:stretch>
                            <a:fillRect l="-1613" t="-201695" r="-2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6"/>
                          <a:stretch>
                            <a:fillRect l="-101613" t="-201695" r="-1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6"/>
                          <a:stretch>
                            <a:fillRect l="-201613" t="-201695" r="-3226" b="-1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6"/>
                          <a:stretch>
                            <a:fillRect l="-1613" t="-301695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6"/>
                          <a:stretch>
                            <a:fillRect l="-101613" t="-301695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6"/>
                          <a:stretch>
                            <a:fillRect l="-201613" t="-301695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137341B-F02C-A1AA-671D-71B9F2E165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9800227"/>
                  </p:ext>
                </p:extLst>
              </p:nvPr>
            </p:nvGraphicFramePr>
            <p:xfrm>
              <a:off x="9081113" y="3521703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{0505E3EF-67EA-436B-97B2-0124C06EBD24}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137341B-F02C-A1AA-671D-71B9F2E165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9800227"/>
                  </p:ext>
                </p:extLst>
              </p:nvPr>
            </p:nvGraphicFramePr>
            <p:xfrm>
              <a:off x="9081113" y="3521703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{0505E3EF-67EA-436B-97B2-0124C06EBD24}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7"/>
                          <a:stretch>
                            <a:fillRect l="-1613" t="-1695" r="-203226" b="-3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7"/>
                          <a:stretch>
                            <a:fillRect l="-1613" t="-101695" r="-2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7"/>
                          <a:stretch>
                            <a:fillRect l="-101613" t="-101695" r="-1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7"/>
                          <a:stretch>
                            <a:fillRect l="-1613" t="-201695" r="-2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7"/>
                          <a:stretch>
                            <a:fillRect l="-101613" t="-201695" r="-1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7"/>
                          <a:stretch>
                            <a:fillRect l="-201613" t="-201695" r="-3226" b="-1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7"/>
                          <a:stretch>
                            <a:fillRect l="-1613" t="-301695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7"/>
                          <a:stretch>
                            <a:fillRect l="-101613" t="-301695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7"/>
                          <a:stretch>
                            <a:fillRect l="-201613" t="-301695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F796761-4296-933B-9308-72290BC4BB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251508"/>
                  </p:ext>
                </p:extLst>
              </p:nvPr>
            </p:nvGraphicFramePr>
            <p:xfrm>
              <a:off x="10224617" y="4950891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{0505E3EF-67EA-436B-97B2-0124C06EBD24}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F796761-4296-933B-9308-72290BC4BB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251508"/>
                  </p:ext>
                </p:extLst>
              </p:nvPr>
            </p:nvGraphicFramePr>
            <p:xfrm>
              <a:off x="10224617" y="4950891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{0505E3EF-67EA-436B-97B2-0124C06EBD24}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8"/>
                          <a:stretch>
                            <a:fillRect l="-1613" t="-1695" r="-203226" b="-3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8"/>
                          <a:stretch>
                            <a:fillRect l="-1613" t="-101695" r="-2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8"/>
                          <a:stretch>
                            <a:fillRect l="-101613" t="-101695" r="-1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8"/>
                          <a:stretch>
                            <a:fillRect l="-1613" t="-205172" r="-2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8"/>
                          <a:stretch>
                            <a:fillRect l="-101613" t="-205172" r="-1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8"/>
                          <a:stretch>
                            <a:fillRect l="-201613" t="-205172" r="-3226" b="-1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8"/>
                          <a:stretch>
                            <a:fillRect l="-1613" t="-300000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8"/>
                          <a:stretch>
                            <a:fillRect l="-101613" t="-300000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8"/>
                          <a:stretch>
                            <a:fillRect l="-201613" t="-300000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AC5EE2E-C492-0E31-43BF-8DC8439691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4676305"/>
                  </p:ext>
                </p:extLst>
              </p:nvPr>
            </p:nvGraphicFramePr>
            <p:xfrm>
              <a:off x="7955252" y="3521703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AC5EE2E-C492-0E31-43BF-8DC8439691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4676305"/>
                  </p:ext>
                </p:extLst>
              </p:nvPr>
            </p:nvGraphicFramePr>
            <p:xfrm>
              <a:off x="7955252" y="3521703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9"/>
                          <a:stretch>
                            <a:fillRect l="-1613" t="-1695" r="-204839" b="-3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9"/>
                          <a:stretch>
                            <a:fillRect l="-1613" t="-101695" r="-204839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9"/>
                          <a:stretch>
                            <a:fillRect l="-100000" t="-101695" r="-101587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9"/>
                          <a:stretch>
                            <a:fillRect l="-1613" t="-201695" r="-204839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9"/>
                          <a:stretch>
                            <a:fillRect l="-100000" t="-201695" r="-101587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9"/>
                          <a:stretch>
                            <a:fillRect l="-203226" t="-201695" r="-3226" b="-1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9"/>
                          <a:stretch>
                            <a:fillRect l="-1613" t="-301695" r="-204839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9"/>
                          <a:stretch>
                            <a:fillRect l="-100000" t="-301695" r="-101587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9"/>
                          <a:stretch>
                            <a:fillRect l="-203226" t="-301695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21B6E9C5-C609-43DC-7B90-143E484015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7552415"/>
                  </p:ext>
                </p:extLst>
              </p:nvPr>
            </p:nvGraphicFramePr>
            <p:xfrm>
              <a:off x="9081113" y="4950891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21B6E9C5-C609-43DC-7B90-143E484015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7552415"/>
                  </p:ext>
                </p:extLst>
              </p:nvPr>
            </p:nvGraphicFramePr>
            <p:xfrm>
              <a:off x="9081113" y="4950891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0"/>
                          <a:stretch>
                            <a:fillRect l="-1613" t="-1695" r="-203226" b="-3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0"/>
                          <a:stretch>
                            <a:fillRect l="-1613" t="-101695" r="-2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0"/>
                          <a:stretch>
                            <a:fillRect l="-101613" t="-101695" r="-1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0"/>
                          <a:stretch>
                            <a:fillRect l="-1613" t="-205172" r="-2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0"/>
                          <a:stretch>
                            <a:fillRect l="-101613" t="-205172" r="-1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0"/>
                          <a:stretch>
                            <a:fillRect l="-201613" t="-205172" r="-3226" b="-1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0"/>
                          <a:stretch>
                            <a:fillRect l="-1613" t="-300000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0"/>
                          <a:stretch>
                            <a:fillRect l="-101613" t="-300000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0"/>
                          <a:stretch>
                            <a:fillRect l="-201613" t="-300000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B909AA34-F63A-6ACB-352A-70B7721CCC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0534931"/>
                  </p:ext>
                </p:extLst>
              </p:nvPr>
            </p:nvGraphicFramePr>
            <p:xfrm>
              <a:off x="10224617" y="2092514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{5940675A-B579-460E-94D1-54222C63F5DA}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B909AA34-F63A-6ACB-352A-70B7721CCC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0534931"/>
                  </p:ext>
                </p:extLst>
              </p:nvPr>
            </p:nvGraphicFramePr>
            <p:xfrm>
              <a:off x="10224617" y="2092514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{5940675A-B579-460E-94D1-54222C63F5DA}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1"/>
                          <a:stretch>
                            <a:fillRect l="-1613" t="-1695" r="-203226" b="-3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1"/>
                          <a:stretch>
                            <a:fillRect l="-1613" t="-101695" r="-2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1"/>
                          <a:stretch>
                            <a:fillRect l="-101613" t="-101695" r="-1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1"/>
                          <a:stretch>
                            <a:fillRect l="-1613" t="-205172" r="-2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1"/>
                          <a:stretch>
                            <a:fillRect l="-101613" t="-205172" r="-1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1"/>
                          <a:stretch>
                            <a:fillRect l="-201613" t="-205172" r="-3226" b="-1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1"/>
                          <a:stretch>
                            <a:fillRect l="-1613" t="-300000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1"/>
                          <a:stretch>
                            <a:fillRect l="-101613" t="-300000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1"/>
                          <a:stretch>
                            <a:fillRect l="-201613" t="-300000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2E4BE40-B9E9-17DE-5F8F-25AA0658FB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8150531"/>
                  </p:ext>
                </p:extLst>
              </p:nvPr>
            </p:nvGraphicFramePr>
            <p:xfrm>
              <a:off x="7954861" y="663325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{69CF1AB2-1976-4502-BF36-3FF5EA218861}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2E4BE40-B9E9-17DE-5F8F-25AA0658FB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8150531"/>
                  </p:ext>
                </p:extLst>
              </p:nvPr>
            </p:nvGraphicFramePr>
            <p:xfrm>
              <a:off x="7954861" y="663325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{69CF1AB2-1976-4502-BF36-3FF5EA218861}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2"/>
                          <a:stretch>
                            <a:fillRect l="-1613" t="-1695" r="-204839" b="-3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2"/>
                          <a:stretch>
                            <a:fillRect l="-1613" t="-101695" r="-204839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2"/>
                          <a:stretch>
                            <a:fillRect l="-101613" t="-101695" r="-104839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2"/>
                          <a:stretch>
                            <a:fillRect l="-1613" t="-201695" r="-204839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2"/>
                          <a:stretch>
                            <a:fillRect l="-101613" t="-201695" r="-104839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2"/>
                          <a:stretch>
                            <a:fillRect l="-201613" t="-201695" r="-4839" b="-1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2"/>
                          <a:stretch>
                            <a:fillRect l="-1613" t="-301695" r="-204839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2"/>
                          <a:stretch>
                            <a:fillRect l="-101613" t="-301695" r="-104839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2"/>
                          <a:stretch>
                            <a:fillRect l="-201613" t="-301695" r="-4839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92792823-1180-ED02-075A-5753BEEED3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6862516"/>
                  </p:ext>
                </p:extLst>
              </p:nvPr>
            </p:nvGraphicFramePr>
            <p:xfrm>
              <a:off x="9081113" y="663325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{5940675A-B579-460E-94D1-54222C63F5DA}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92792823-1180-ED02-075A-5753BEEED3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6862516"/>
                  </p:ext>
                </p:extLst>
              </p:nvPr>
            </p:nvGraphicFramePr>
            <p:xfrm>
              <a:off x="9081113" y="663325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{5940675A-B579-460E-94D1-54222C63F5DA}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3"/>
                          <a:stretch>
                            <a:fillRect l="-1613" t="-1695" r="-203226" b="-3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3"/>
                          <a:stretch>
                            <a:fillRect l="-1613" t="-101695" r="-2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3"/>
                          <a:stretch>
                            <a:fillRect l="-101613" t="-101695" r="-1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3"/>
                          <a:stretch>
                            <a:fillRect l="-1613" t="-201695" r="-2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3"/>
                          <a:stretch>
                            <a:fillRect l="-101613" t="-201695" r="-1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3"/>
                          <a:stretch>
                            <a:fillRect l="-201613" t="-201695" r="-3226" b="-1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3"/>
                          <a:stretch>
                            <a:fillRect l="-1613" t="-301695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3"/>
                          <a:stretch>
                            <a:fillRect l="-101613" t="-301695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3"/>
                          <a:stretch>
                            <a:fillRect l="-201613" t="-301695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D6D7B76-2E88-8E3B-A897-1E46526037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6227326"/>
                  </p:ext>
                </p:extLst>
              </p:nvPr>
            </p:nvGraphicFramePr>
            <p:xfrm>
              <a:off x="10217251" y="663325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{5940675A-B579-460E-94D1-54222C63F5DA}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D6D7B76-2E88-8E3B-A897-1E46526037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6227326"/>
                  </p:ext>
                </p:extLst>
              </p:nvPr>
            </p:nvGraphicFramePr>
            <p:xfrm>
              <a:off x="10217251" y="663325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{5940675A-B579-460E-94D1-54222C63F5DA}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4"/>
                          <a:stretch>
                            <a:fillRect l="-1613" t="-1695" r="-203226" b="-3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4"/>
                          <a:stretch>
                            <a:fillRect l="-1613" t="-101695" r="-2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4"/>
                          <a:stretch>
                            <a:fillRect l="-101613" t="-101695" r="-1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4"/>
                          <a:stretch>
                            <a:fillRect l="-1613" t="-201695" r="-2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4"/>
                          <a:stretch>
                            <a:fillRect l="-101613" t="-201695" r="-1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4"/>
                          <a:stretch>
                            <a:fillRect l="-201613" t="-201695" r="-3226" b="-1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4"/>
                          <a:stretch>
                            <a:fillRect l="-1613" t="-301695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4"/>
                          <a:stretch>
                            <a:fillRect l="-101613" t="-301695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4"/>
                          <a:stretch>
                            <a:fillRect l="-201613" t="-301695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12343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19D2-0C74-6A1C-9D88-DA0A80E8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3C1D3-DEC4-8C1F-C2A8-6A78E6792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Versão Utilizada (im2col, Matriz de </a:t>
            </a:r>
            <a:r>
              <a:rPr lang="pt-BR" dirty="0" err="1"/>
              <a:t>Toeplitz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Passo 6</a:t>
            </a:r>
            <a:r>
              <a:rPr lang="en-US" dirty="0"/>
              <a:t>:</a:t>
            </a:r>
            <a:r>
              <a:rPr lang="pt-BR" dirty="0"/>
              <a:t> Converter a imagem de entrada em um vetor</a:t>
            </a:r>
          </a:p>
          <a:p>
            <a:pPr lvl="2"/>
            <a:r>
              <a:rPr lang="pt-BR" dirty="0"/>
              <a:t>Cada linha da imagem deve ser transposta e concatenada, da última para a primeira</a:t>
            </a:r>
          </a:p>
          <a:p>
            <a:pPr marL="457200" lvl="1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1E020-52F6-6920-B347-9F356CBB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56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9BB5AA-4077-20A9-535A-C01BB416018F}"/>
                  </a:ext>
                </a:extLst>
              </p:cNvPr>
              <p:cNvSpPr txBox="1"/>
              <p:nvPr/>
            </p:nvSpPr>
            <p:spPr>
              <a:xfrm>
                <a:off x="766944" y="4584074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9BB5AA-4077-20A9-535A-C01BB4160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44" y="4584074"/>
                <a:ext cx="87350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0434574-BF95-3A01-41C4-3CAC18DCC0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7282166"/>
                  </p:ext>
                </p:extLst>
              </p:nvPr>
            </p:nvGraphicFramePr>
            <p:xfrm>
              <a:off x="1640453" y="4108313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0434574-BF95-3A01-41C4-3CAC18DCC0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7282166"/>
                  </p:ext>
                </p:extLst>
              </p:nvPr>
            </p:nvGraphicFramePr>
            <p:xfrm>
              <a:off x="1640453" y="4108313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3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A1543692-6650-5E78-B4CB-746666F6EF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1750570"/>
                  </p:ext>
                </p:extLst>
              </p:nvPr>
            </p:nvGraphicFramePr>
            <p:xfrm>
              <a:off x="4226942" y="3281711"/>
              <a:ext cx="489789" cy="3400425"/>
            </p:xfrm>
            <a:graphic>
              <a:graphicData uri="http://schemas.openxmlformats.org/drawingml/2006/table">
                <a:tbl>
                  <a:tblPr firstRow="1">
                    <a:tableStyleId>{69CF1AB2-1976-4502-BF36-3FF5EA218861}</a:tableStyleId>
                  </a:tblPr>
                  <a:tblGrid>
                    <a:gridCol w="489789">
                      <a:extLst>
                        <a:ext uri="{9D8B030D-6E8A-4147-A177-3AD203B41FA5}">
                          <a16:colId xmlns:a16="http://schemas.microsoft.com/office/drawing/2014/main" val="23017350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5352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1229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8289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69635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87116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24284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7290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84505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07899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A1543692-6650-5E78-B4CB-746666F6EF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1750570"/>
                  </p:ext>
                </p:extLst>
              </p:nvPr>
            </p:nvGraphicFramePr>
            <p:xfrm>
              <a:off x="4226942" y="3281711"/>
              <a:ext cx="489789" cy="3400425"/>
            </p:xfrm>
            <a:graphic>
              <a:graphicData uri="http://schemas.openxmlformats.org/drawingml/2006/table">
                <a:tbl>
                  <a:tblPr firstRow="1">
                    <a:tableStyleId>{69CF1AB2-1976-4502-BF36-3FF5EA218861}</a:tableStyleId>
                  </a:tblPr>
                  <a:tblGrid>
                    <a:gridCol w="489789">
                      <a:extLst>
                        <a:ext uri="{9D8B030D-6E8A-4147-A177-3AD203B41FA5}">
                          <a16:colId xmlns:a16="http://schemas.microsoft.com/office/drawing/2014/main" val="2301735067"/>
                        </a:ext>
                      </a:extLst>
                    </a:gridCol>
                  </a:tblGrid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4"/>
                          <a:stretch>
                            <a:fillRect l="-1235" t="-1613" r="-2469" b="-8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5352997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4"/>
                          <a:stretch>
                            <a:fillRect l="-1235" t="-101613" r="-2469" b="-7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1229726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4"/>
                          <a:stretch>
                            <a:fillRect l="-1235" t="-201613" r="-2469" b="-6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289146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4"/>
                          <a:stretch>
                            <a:fillRect l="-1235" t="-301613" r="-2469" b="-5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6963533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4"/>
                          <a:stretch>
                            <a:fillRect l="-1235" t="-395238" r="-2469" b="-3968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8711698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4"/>
                          <a:stretch>
                            <a:fillRect l="-1235" t="-503226" r="-2469" b="-30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2428474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4"/>
                          <a:stretch>
                            <a:fillRect l="-1235" t="-603226" r="-2469" b="-20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7290507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4"/>
                          <a:stretch>
                            <a:fillRect l="-1235" t="-703226" r="-2469" b="-10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8450538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4"/>
                          <a:stretch>
                            <a:fillRect l="-1235" t="-803226" r="-2469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07899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87195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19D2-0C74-6A1C-9D88-DA0A80E8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3C1D3-DEC4-8C1F-C2A8-6A78E6792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3962"/>
            <a:ext cx="10515600" cy="4883001"/>
          </a:xfrm>
        </p:spPr>
        <p:txBody>
          <a:bodyPr/>
          <a:lstStyle/>
          <a:p>
            <a:endParaRPr lang="pt-BR" dirty="0"/>
          </a:p>
          <a:p>
            <a:r>
              <a:rPr lang="pt-BR" dirty="0"/>
              <a:t>Versão Utilizada (im2col, Matriz de </a:t>
            </a:r>
            <a:r>
              <a:rPr lang="pt-BR" dirty="0" err="1"/>
              <a:t>Toeplitz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Passo 7</a:t>
            </a:r>
            <a:r>
              <a:rPr lang="en-US" dirty="0"/>
              <a:t>:</a:t>
            </a:r>
            <a:r>
              <a:rPr lang="pt-BR" dirty="0"/>
              <a:t> Multiplicar a matriz de </a:t>
            </a:r>
            <a:r>
              <a:rPr lang="pt-BR" dirty="0" err="1"/>
              <a:t>Toeplitz</a:t>
            </a:r>
            <a:r>
              <a:rPr lang="pt-BR" dirty="0"/>
              <a:t> de bloco pela imagem vetorizada</a:t>
            </a:r>
          </a:p>
          <a:p>
            <a:pPr marL="457200" lvl="1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1E020-52F6-6920-B347-9F356CBB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9724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1E020-52F6-6920-B347-9F356CBB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58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A1543692-6650-5E78-B4CB-746666F6EF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201306" y="3014005"/>
              <a:ext cx="489789" cy="3400425"/>
            </p:xfrm>
            <a:graphic>
              <a:graphicData uri="http://schemas.openxmlformats.org/drawingml/2006/table">
                <a:tbl>
                  <a:tblPr firstRow="1">
                    <a:tableStyleId>{69CF1AB2-1976-4502-BF36-3FF5EA218861}</a:tableStyleId>
                  </a:tblPr>
                  <a:tblGrid>
                    <a:gridCol w="489789">
                      <a:extLst>
                        <a:ext uri="{9D8B030D-6E8A-4147-A177-3AD203B41FA5}">
                          <a16:colId xmlns:a16="http://schemas.microsoft.com/office/drawing/2014/main" val="23017350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5352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1229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8289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69635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87116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24284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7290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84505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07899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A1543692-6650-5E78-B4CB-746666F6EF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201306" y="3014005"/>
              <a:ext cx="489789" cy="3400425"/>
            </p:xfrm>
            <a:graphic>
              <a:graphicData uri="http://schemas.openxmlformats.org/drawingml/2006/table">
                <a:tbl>
                  <a:tblPr firstRow="1">
                    <a:tableStyleId>{69CF1AB2-1976-4502-BF36-3FF5EA218861}</a:tableStyleId>
                  </a:tblPr>
                  <a:tblGrid>
                    <a:gridCol w="489789">
                      <a:extLst>
                        <a:ext uri="{9D8B030D-6E8A-4147-A177-3AD203B41FA5}">
                          <a16:colId xmlns:a16="http://schemas.microsoft.com/office/drawing/2014/main" val="2301735067"/>
                        </a:ext>
                      </a:extLst>
                    </a:gridCol>
                  </a:tblGrid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235" t="-1613" r="-2469" b="-8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5352997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235" t="-101613" r="-2469" b="-7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1229726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235" t="-201613" r="-2469" b="-6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289146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235" t="-301613" r="-2469" b="-5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6963533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235" t="-395238" r="-2469" b="-3968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8711698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235" t="-503226" r="-2469" b="-30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2428474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235" t="-603226" r="-2469" b="-20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7290507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235" t="-703226" r="-2469" b="-10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8450538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235" t="-803226" r="-2469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078994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54D4BE-7A6C-D9C8-10F0-AFFAD727720D}"/>
                  </a:ext>
                </a:extLst>
              </p:cNvPr>
              <p:cNvSpPr txBox="1"/>
              <p:nvPr/>
            </p:nvSpPr>
            <p:spPr>
              <a:xfrm>
                <a:off x="2009023" y="449941"/>
                <a:ext cx="11278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54D4BE-7A6C-D9C8-10F0-AFFAD7277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023" y="449941"/>
                <a:ext cx="112782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501973D-A6C3-7019-6C47-8CFDA0EFCFDE}"/>
                  </a:ext>
                </a:extLst>
              </p:cNvPr>
              <p:cNvSpPr txBox="1"/>
              <p:nvPr/>
            </p:nvSpPr>
            <p:spPr>
              <a:xfrm>
                <a:off x="4882290" y="2189811"/>
                <a:ext cx="11278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501973D-A6C3-7019-6C47-8CFDA0EFC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290" y="2189811"/>
                <a:ext cx="112782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F1ED963-D78B-2C61-1CE3-2EC989401F74}"/>
                  </a:ext>
                </a:extLst>
              </p:cNvPr>
              <p:cNvSpPr txBox="1"/>
              <p:nvPr/>
            </p:nvSpPr>
            <p:spPr>
              <a:xfrm>
                <a:off x="8046690" y="253886"/>
                <a:ext cx="11278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F1ED963-D78B-2C61-1CE3-2EC989401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690" y="253886"/>
                <a:ext cx="112782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242355D0-6836-CF20-A3AC-A37F375197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1160659"/>
                  </p:ext>
                </p:extLst>
              </p:nvPr>
            </p:nvGraphicFramePr>
            <p:xfrm>
              <a:off x="6124767" y="704215"/>
              <a:ext cx="4575248" cy="6045200"/>
            </p:xfrm>
            <a:graphic>
              <a:graphicData uri="http://schemas.openxmlformats.org/drawingml/2006/table">
                <a:tbl>
                  <a:tblPr firstRow="1">
                    <a:tableStyleId>{D7AC3CCA-C797-4891-BE02-D94E43425B78}</a:tableStyleId>
                  </a:tblPr>
                  <a:tblGrid>
                    <a:gridCol w="4575248">
                      <a:extLst>
                        <a:ext uri="{9D8B030D-6E8A-4147-A177-3AD203B41FA5}">
                          <a16:colId xmlns:a16="http://schemas.microsoft.com/office/drawing/2014/main" val="5640331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69211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71864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8665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75065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84505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51742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113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8548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86092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99643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5473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7981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23035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25098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34193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57709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242355D0-6836-CF20-A3AC-A37F375197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1160659"/>
                  </p:ext>
                </p:extLst>
              </p:nvPr>
            </p:nvGraphicFramePr>
            <p:xfrm>
              <a:off x="6124767" y="704215"/>
              <a:ext cx="4575248" cy="6045200"/>
            </p:xfrm>
            <a:graphic>
              <a:graphicData uri="http://schemas.openxmlformats.org/drawingml/2006/table">
                <a:tbl>
                  <a:tblPr firstRow="1">
                    <a:tableStyleId>{D7AC3CCA-C797-4891-BE02-D94E43425B78}</a:tableStyleId>
                  </a:tblPr>
                  <a:tblGrid>
                    <a:gridCol w="4575248">
                      <a:extLst>
                        <a:ext uri="{9D8B030D-6E8A-4147-A177-3AD203B41FA5}">
                          <a16:colId xmlns:a16="http://schemas.microsoft.com/office/drawing/2014/main" val="564033126"/>
                        </a:ext>
                      </a:extLst>
                    </a:gridCol>
                  </a:tblGrid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6"/>
                          <a:stretch>
                            <a:fillRect l="-133" t="-1613" r="-266" b="-15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6921129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6"/>
                          <a:stretch>
                            <a:fillRect l="-133" t="-101613" r="-266" b="-14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7186484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6"/>
                          <a:stretch>
                            <a:fillRect l="-133" t="-201613" r="-266" b="-13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8665226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6"/>
                          <a:stretch>
                            <a:fillRect l="-133" t="-301613" r="-266" b="-12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7506534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6"/>
                          <a:stretch>
                            <a:fillRect l="-133" t="-401613" r="-266" b="-11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8450596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6"/>
                          <a:stretch>
                            <a:fillRect l="-133" t="-501613" r="-266" b="-10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5174251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6"/>
                          <a:stretch>
                            <a:fillRect l="-133" t="-601613" r="-266" b="-9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1303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6"/>
                          <a:stretch>
                            <a:fillRect l="-133" t="-690476" r="-266" b="-790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8548987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6"/>
                          <a:stretch>
                            <a:fillRect l="-133" t="-803226" r="-266" b="-70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8609267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6"/>
                          <a:stretch>
                            <a:fillRect l="-133" t="-903226" r="-266" b="-60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9964311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6"/>
                          <a:stretch>
                            <a:fillRect l="-133" t="-1003226" r="-266" b="-50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2547335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6"/>
                          <a:stretch>
                            <a:fillRect l="-133" t="-1103226" r="-266" b="-40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7981519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6"/>
                          <a:stretch>
                            <a:fillRect l="-133" t="-1203226" r="-266" b="-30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2303500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6"/>
                          <a:stretch>
                            <a:fillRect l="-133" t="-1303226" r="-266" b="-20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2509827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6"/>
                          <a:stretch>
                            <a:fillRect l="-133" t="-1403226" r="-266" b="-10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3419377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6"/>
                          <a:stretch>
                            <a:fillRect l="-133" t="-1503226" r="-266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57709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761DFB16-9BC7-9BE8-4175-3E0D407A0E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8134973"/>
                  </p:ext>
                </p:extLst>
              </p:nvPr>
            </p:nvGraphicFramePr>
            <p:xfrm>
              <a:off x="1969791" y="2412909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{69CF1AB2-1976-4502-BF36-3FF5EA218861}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761DFB16-9BC7-9BE8-4175-3E0D407A0E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8134973"/>
                  </p:ext>
                </p:extLst>
              </p:nvPr>
            </p:nvGraphicFramePr>
            <p:xfrm>
              <a:off x="1969791" y="2412909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{69CF1AB2-1976-4502-BF36-3FF5EA218861}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7"/>
                          <a:stretch>
                            <a:fillRect l="-1613" t="-1695" r="-203226" b="-3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7"/>
                          <a:stretch>
                            <a:fillRect l="-1613" t="-101695" r="-2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7"/>
                          <a:stretch>
                            <a:fillRect l="-101613" t="-101695" r="-1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7"/>
                          <a:stretch>
                            <a:fillRect l="-1613" t="-201695" r="-2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7"/>
                          <a:stretch>
                            <a:fillRect l="-101613" t="-201695" r="-1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7"/>
                          <a:stretch>
                            <a:fillRect l="-201613" t="-201695" r="-3226" b="-1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7"/>
                          <a:stretch>
                            <a:fillRect l="-1613" t="-301695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7"/>
                          <a:stretch>
                            <a:fillRect l="-101613" t="-301695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7"/>
                          <a:stretch>
                            <a:fillRect l="-201613" t="-301695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D62907FE-BC85-DAC3-5FB4-46631BA83E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8896332"/>
                  </p:ext>
                </p:extLst>
              </p:nvPr>
            </p:nvGraphicFramePr>
            <p:xfrm>
              <a:off x="843930" y="2412909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{0505E3EF-67EA-436B-97B2-0124C06EBD24}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D62907FE-BC85-DAC3-5FB4-46631BA83E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8896332"/>
                  </p:ext>
                </p:extLst>
              </p:nvPr>
            </p:nvGraphicFramePr>
            <p:xfrm>
              <a:off x="843930" y="2412909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{0505E3EF-67EA-436B-97B2-0124C06EBD24}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8"/>
                          <a:stretch>
                            <a:fillRect l="-1613" t="-1695" r="-203226" b="-3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8"/>
                          <a:stretch>
                            <a:fillRect l="-1613" t="-101695" r="-2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8"/>
                          <a:stretch>
                            <a:fillRect l="-101613" t="-101695" r="-1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8"/>
                          <a:stretch>
                            <a:fillRect l="-1613" t="-201695" r="-2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8"/>
                          <a:stretch>
                            <a:fillRect l="-101613" t="-201695" r="-1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8"/>
                          <a:stretch>
                            <a:fillRect l="-201613" t="-201695" r="-3226" b="-1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8"/>
                          <a:stretch>
                            <a:fillRect l="-1613" t="-301695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8"/>
                          <a:stretch>
                            <a:fillRect l="-101613" t="-301695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8"/>
                          <a:stretch>
                            <a:fillRect l="-201613" t="-301695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C870D4D4-FAEA-B5D2-5BED-B6EAB9724C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6573400"/>
                  </p:ext>
                </p:extLst>
              </p:nvPr>
            </p:nvGraphicFramePr>
            <p:xfrm>
              <a:off x="843930" y="5271286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{16D9F66E-5EB9-4882-86FB-DCBF35E3C3E4}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C870D4D4-FAEA-B5D2-5BED-B6EAB9724C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6573400"/>
                  </p:ext>
                </p:extLst>
              </p:nvPr>
            </p:nvGraphicFramePr>
            <p:xfrm>
              <a:off x="843930" y="5271286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{16D9F66E-5EB9-4882-86FB-DCBF35E3C3E4}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9"/>
                          <a:stretch>
                            <a:fillRect l="-1613" t="-1695" r="-203226" b="-3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9"/>
                          <a:stretch>
                            <a:fillRect l="-1613" t="-101695" r="-2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9"/>
                          <a:stretch>
                            <a:fillRect l="-101613" t="-101695" r="-1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9"/>
                          <a:stretch>
                            <a:fillRect l="-1613" t="-201695" r="-2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9"/>
                          <a:stretch>
                            <a:fillRect l="-101613" t="-201695" r="-1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9"/>
                          <a:stretch>
                            <a:fillRect l="-201613" t="-201695" r="-3226" b="-1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9"/>
                          <a:stretch>
                            <a:fillRect l="-1613" t="-301695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9"/>
                          <a:stretch>
                            <a:fillRect l="-101613" t="-301695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9"/>
                          <a:stretch>
                            <a:fillRect l="-201613" t="-301695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E87D0094-4D4B-2106-B8AD-A6A1CB0726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4390282"/>
                  </p:ext>
                </p:extLst>
              </p:nvPr>
            </p:nvGraphicFramePr>
            <p:xfrm>
              <a:off x="3113295" y="3842098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{69CF1AB2-1976-4502-BF36-3FF5EA218861}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E87D0094-4D4B-2106-B8AD-A6A1CB0726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4390282"/>
                  </p:ext>
                </p:extLst>
              </p:nvPr>
            </p:nvGraphicFramePr>
            <p:xfrm>
              <a:off x="3113295" y="3842098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{69CF1AB2-1976-4502-BF36-3FF5EA218861}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0"/>
                          <a:stretch>
                            <a:fillRect l="-1613" t="-1695" r="-203226" b="-3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0"/>
                          <a:stretch>
                            <a:fillRect l="-1613" t="-101695" r="-2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0"/>
                          <a:stretch>
                            <a:fillRect l="-101613" t="-101695" r="-1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0"/>
                          <a:stretch>
                            <a:fillRect l="-1613" t="-205172" r="-2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0"/>
                          <a:stretch>
                            <a:fillRect l="-101613" t="-205172" r="-1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0"/>
                          <a:stretch>
                            <a:fillRect l="-201613" t="-205172" r="-3226" b="-1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0"/>
                          <a:stretch>
                            <a:fillRect l="-1613" t="-300000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0"/>
                          <a:stretch>
                            <a:fillRect l="-101613" t="-300000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0"/>
                          <a:stretch>
                            <a:fillRect l="-201613" t="-300000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8E3C3F2-D06E-0ACE-E4B3-0BD1690C50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4357689"/>
                  </p:ext>
                </p:extLst>
              </p:nvPr>
            </p:nvGraphicFramePr>
            <p:xfrm>
              <a:off x="1969791" y="3842098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{0505E3EF-67EA-436B-97B2-0124C06EBD24}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8E3C3F2-D06E-0ACE-E4B3-0BD1690C50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4357689"/>
                  </p:ext>
                </p:extLst>
              </p:nvPr>
            </p:nvGraphicFramePr>
            <p:xfrm>
              <a:off x="1969791" y="3842098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{0505E3EF-67EA-436B-97B2-0124C06EBD24}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1"/>
                          <a:stretch>
                            <a:fillRect l="-1613" t="-1695" r="-203226" b="-3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1"/>
                          <a:stretch>
                            <a:fillRect l="-1613" t="-101695" r="-2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1"/>
                          <a:stretch>
                            <a:fillRect l="-101613" t="-101695" r="-1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1"/>
                          <a:stretch>
                            <a:fillRect l="-1613" t="-205172" r="-2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1"/>
                          <a:stretch>
                            <a:fillRect l="-101613" t="-205172" r="-1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1"/>
                          <a:stretch>
                            <a:fillRect l="-201613" t="-205172" r="-3226" b="-1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1"/>
                          <a:stretch>
                            <a:fillRect l="-1613" t="-300000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1"/>
                          <a:stretch>
                            <a:fillRect l="-101613" t="-300000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1"/>
                          <a:stretch>
                            <a:fillRect l="-201613" t="-300000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6ECC9741-1800-877B-45F5-D6D07EDC54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9623948"/>
                  </p:ext>
                </p:extLst>
              </p:nvPr>
            </p:nvGraphicFramePr>
            <p:xfrm>
              <a:off x="3113295" y="5271286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{0505E3EF-67EA-436B-97B2-0124C06EBD24}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6ECC9741-1800-877B-45F5-D6D07EDC54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9623948"/>
                  </p:ext>
                </p:extLst>
              </p:nvPr>
            </p:nvGraphicFramePr>
            <p:xfrm>
              <a:off x="3113295" y="5271286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{0505E3EF-67EA-436B-97B2-0124C06EBD24}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2"/>
                          <a:stretch>
                            <a:fillRect l="-1613" t="-1695" r="-203226" b="-3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2"/>
                          <a:stretch>
                            <a:fillRect l="-1613" t="-101695" r="-2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2"/>
                          <a:stretch>
                            <a:fillRect l="-101613" t="-101695" r="-1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2"/>
                          <a:stretch>
                            <a:fillRect l="-1613" t="-201695" r="-2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2"/>
                          <a:stretch>
                            <a:fillRect l="-101613" t="-201695" r="-1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2"/>
                          <a:stretch>
                            <a:fillRect l="-201613" t="-201695" r="-3226" b="-1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2"/>
                          <a:stretch>
                            <a:fillRect l="-1613" t="-301695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2"/>
                          <a:stretch>
                            <a:fillRect l="-101613" t="-301695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2"/>
                          <a:stretch>
                            <a:fillRect l="-201613" t="-301695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2D9560C8-9D08-007F-EB1B-7999827424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968798"/>
                  </p:ext>
                </p:extLst>
              </p:nvPr>
            </p:nvGraphicFramePr>
            <p:xfrm>
              <a:off x="843930" y="3842098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2D9560C8-9D08-007F-EB1B-7999827424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968798"/>
                  </p:ext>
                </p:extLst>
              </p:nvPr>
            </p:nvGraphicFramePr>
            <p:xfrm>
              <a:off x="843930" y="3842098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3"/>
                          <a:stretch>
                            <a:fillRect l="-1613" t="-1695" r="-203226" b="-3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3"/>
                          <a:stretch>
                            <a:fillRect l="-1613" t="-101695" r="-2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3"/>
                          <a:stretch>
                            <a:fillRect l="-101613" t="-101695" r="-1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3"/>
                          <a:stretch>
                            <a:fillRect l="-1613" t="-205172" r="-2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3"/>
                          <a:stretch>
                            <a:fillRect l="-101613" t="-205172" r="-1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3"/>
                          <a:stretch>
                            <a:fillRect l="-201613" t="-205172" r="-3226" b="-1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3"/>
                          <a:stretch>
                            <a:fillRect l="-1613" t="-300000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3"/>
                          <a:stretch>
                            <a:fillRect l="-101613" t="-300000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3"/>
                          <a:stretch>
                            <a:fillRect l="-201613" t="-300000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77B8040D-EE92-EFD4-79DA-D9602238B4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9416958"/>
                  </p:ext>
                </p:extLst>
              </p:nvPr>
            </p:nvGraphicFramePr>
            <p:xfrm>
              <a:off x="1969791" y="5271286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77B8040D-EE92-EFD4-79DA-D9602238B4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9416958"/>
                  </p:ext>
                </p:extLst>
              </p:nvPr>
            </p:nvGraphicFramePr>
            <p:xfrm>
              <a:off x="1969791" y="5271286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{C4B1156A-380E-4F78-BDF5-A606A8083BF9}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4"/>
                          <a:stretch>
                            <a:fillRect l="-1613" t="-1695" r="-203226" b="-3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4"/>
                          <a:stretch>
                            <a:fillRect l="-1613" t="-101695" r="-2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4"/>
                          <a:stretch>
                            <a:fillRect l="-101613" t="-101695" r="-1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4"/>
                          <a:stretch>
                            <a:fillRect l="-1613" t="-201695" r="-2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4"/>
                          <a:stretch>
                            <a:fillRect l="-101613" t="-201695" r="-1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4"/>
                          <a:stretch>
                            <a:fillRect l="-201613" t="-201695" r="-3226" b="-1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4"/>
                          <a:stretch>
                            <a:fillRect l="-1613" t="-301695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4"/>
                          <a:stretch>
                            <a:fillRect l="-101613" t="-301695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4"/>
                          <a:stretch>
                            <a:fillRect l="-201613" t="-301695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55DCEA00-29EE-6E86-0421-111D21844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2129965"/>
                  </p:ext>
                </p:extLst>
              </p:nvPr>
            </p:nvGraphicFramePr>
            <p:xfrm>
              <a:off x="3113295" y="2412909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{5940675A-B579-460E-94D1-54222C63F5DA}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55DCEA00-29EE-6E86-0421-111D21844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2129965"/>
                  </p:ext>
                </p:extLst>
              </p:nvPr>
            </p:nvGraphicFramePr>
            <p:xfrm>
              <a:off x="3113295" y="2412909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{5940675A-B579-460E-94D1-54222C63F5DA}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5"/>
                          <a:stretch>
                            <a:fillRect l="-1613" t="-1695" r="-203226" b="-3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5"/>
                          <a:stretch>
                            <a:fillRect l="-1613" t="-101695" r="-2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5"/>
                          <a:stretch>
                            <a:fillRect l="-101613" t="-101695" r="-103226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5"/>
                          <a:stretch>
                            <a:fillRect l="-1613" t="-201695" r="-2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5"/>
                          <a:stretch>
                            <a:fillRect l="-101613" t="-201695" r="-103226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5"/>
                          <a:stretch>
                            <a:fillRect l="-201613" t="-201695" r="-3226" b="-1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5"/>
                          <a:stretch>
                            <a:fillRect l="-1613" t="-301695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5"/>
                          <a:stretch>
                            <a:fillRect l="-101613" t="-301695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5"/>
                          <a:stretch>
                            <a:fillRect l="-201613" t="-301695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AEA96A67-F622-12CD-1656-E63DE436FF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7844876"/>
                  </p:ext>
                </p:extLst>
              </p:nvPr>
            </p:nvGraphicFramePr>
            <p:xfrm>
              <a:off x="843539" y="983720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{69CF1AB2-1976-4502-BF36-3FF5EA218861}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AEA96A67-F622-12CD-1656-E63DE436FF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7844876"/>
                  </p:ext>
                </p:extLst>
              </p:nvPr>
            </p:nvGraphicFramePr>
            <p:xfrm>
              <a:off x="843539" y="983720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{69CF1AB2-1976-4502-BF36-3FF5EA218861}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6"/>
                          <a:stretch>
                            <a:fillRect l="-1613" t="-1695" r="-203226" b="-3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6"/>
                          <a:stretch>
                            <a:fillRect l="-1613" t="-101695" r="-2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6"/>
                          <a:stretch>
                            <a:fillRect l="-101613" t="-101695" r="-1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6"/>
                          <a:stretch>
                            <a:fillRect l="-1613" t="-205172" r="-2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6"/>
                          <a:stretch>
                            <a:fillRect l="-101613" t="-205172" r="-1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6"/>
                          <a:stretch>
                            <a:fillRect l="-201613" t="-205172" r="-3226" b="-1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6"/>
                          <a:stretch>
                            <a:fillRect l="-1613" t="-300000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6"/>
                          <a:stretch>
                            <a:fillRect l="-101613" t="-300000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6"/>
                          <a:stretch>
                            <a:fillRect l="-201613" t="-300000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5CEEA036-9025-F61D-CB3F-8E38A3C732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5946737"/>
                  </p:ext>
                </p:extLst>
              </p:nvPr>
            </p:nvGraphicFramePr>
            <p:xfrm>
              <a:off x="1969791" y="983720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{5940675A-B579-460E-94D1-54222C63F5DA}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5CEEA036-9025-F61D-CB3F-8E38A3C732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5946737"/>
                  </p:ext>
                </p:extLst>
              </p:nvPr>
            </p:nvGraphicFramePr>
            <p:xfrm>
              <a:off x="1969791" y="983720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{5940675A-B579-460E-94D1-54222C63F5DA}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7"/>
                          <a:stretch>
                            <a:fillRect l="-1613" t="-1695" r="-203226" b="-3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7"/>
                          <a:stretch>
                            <a:fillRect l="-1613" t="-101695" r="-2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7"/>
                          <a:stretch>
                            <a:fillRect l="-101613" t="-101695" r="-1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7"/>
                          <a:stretch>
                            <a:fillRect l="-1613" t="-205172" r="-2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7"/>
                          <a:stretch>
                            <a:fillRect l="-101613" t="-205172" r="-1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7"/>
                          <a:stretch>
                            <a:fillRect l="-201613" t="-205172" r="-3226" b="-1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7"/>
                          <a:stretch>
                            <a:fillRect l="-1613" t="-300000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7"/>
                          <a:stretch>
                            <a:fillRect l="-101613" t="-300000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7"/>
                          <a:stretch>
                            <a:fillRect l="-201613" t="-300000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3C8BCFB1-FB81-B79B-3430-011B00E567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797704"/>
                  </p:ext>
                </p:extLst>
              </p:nvPr>
            </p:nvGraphicFramePr>
            <p:xfrm>
              <a:off x="3105929" y="983720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{5940675A-B579-460E-94D1-54222C63F5DA}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3C8BCFB1-FB81-B79B-3430-011B00E567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797704"/>
                  </p:ext>
                </p:extLst>
              </p:nvPr>
            </p:nvGraphicFramePr>
            <p:xfrm>
              <a:off x="3105929" y="983720"/>
              <a:ext cx="1127820" cy="1429188"/>
            </p:xfrm>
            <a:graphic>
              <a:graphicData uri="http://schemas.openxmlformats.org/drawingml/2006/table">
                <a:tbl>
                  <a:tblPr firstRow="1">
                    <a:tableStyleId>{5940675A-B579-460E-94D1-54222C63F5DA}</a:tableStyleId>
                  </a:tblPr>
                  <a:tblGrid>
                    <a:gridCol w="375940">
                      <a:extLst>
                        <a:ext uri="{9D8B030D-6E8A-4147-A177-3AD203B41FA5}">
                          <a16:colId xmlns:a16="http://schemas.microsoft.com/office/drawing/2014/main" val="221634325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1809615846"/>
                        </a:ext>
                      </a:extLst>
                    </a:gridCol>
                    <a:gridCol w="375940">
                      <a:extLst>
                        <a:ext uri="{9D8B030D-6E8A-4147-A177-3AD203B41FA5}">
                          <a16:colId xmlns:a16="http://schemas.microsoft.com/office/drawing/2014/main" val="580736635"/>
                        </a:ext>
                      </a:extLst>
                    </a:gridCol>
                  </a:tblGrid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8"/>
                          <a:stretch>
                            <a:fillRect l="-1613" t="-1695" r="-203226" b="-3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3257709082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8"/>
                          <a:stretch>
                            <a:fillRect l="-1613" t="-101695" r="-2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8"/>
                          <a:stretch>
                            <a:fillRect l="-101613" t="-101695" r="-10322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dirty="0"/>
                            <a:t>0</a:t>
                          </a:r>
                          <a:endParaRPr lang="pt-BR" sz="900" b="0" dirty="0"/>
                        </a:p>
                      </a:txBody>
                      <a:tcPr marL="85112" marR="85112" marT="42556" marB="42556" anchor="ctr"/>
                    </a:tc>
                    <a:extLst>
                      <a:ext uri="{0D108BD9-81ED-4DB2-BD59-A6C34878D82A}">
                        <a16:rowId xmlns:a16="http://schemas.microsoft.com/office/drawing/2014/main" val="1398594556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8"/>
                          <a:stretch>
                            <a:fillRect l="-1613" t="-205172" r="-2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8"/>
                          <a:stretch>
                            <a:fillRect l="-101613" t="-205172" r="-103226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8"/>
                          <a:stretch>
                            <a:fillRect l="-201613" t="-205172" r="-3226" b="-1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86593"/>
                      </a:ext>
                    </a:extLst>
                  </a:tr>
                  <a:tr h="357297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8"/>
                          <a:stretch>
                            <a:fillRect l="-1613" t="-300000" r="-2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8"/>
                          <a:stretch>
                            <a:fillRect l="-101613" t="-300000" r="-10322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112" marR="85112" marT="42556" marB="42556" anchor="ctr">
                        <a:blipFill>
                          <a:blip r:embed="rId18"/>
                          <a:stretch>
                            <a:fillRect l="-201613" t="-300000" r="-3226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6996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35911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19D2-0C74-6A1C-9D88-DA0A80E8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3C1D3-DEC4-8C1F-C2A8-6A78E6792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706" y="1293962"/>
            <a:ext cx="10862094" cy="4883001"/>
          </a:xfrm>
        </p:spPr>
        <p:txBody>
          <a:bodyPr/>
          <a:lstStyle/>
          <a:p>
            <a:pPr lvl="1"/>
            <a:r>
              <a:rPr lang="pt-BR" dirty="0"/>
              <a:t>Passo 8</a:t>
            </a:r>
            <a:r>
              <a:rPr lang="en-US" dirty="0"/>
              <a:t>:</a:t>
            </a:r>
            <a:r>
              <a:rPr lang="pt-BR" dirty="0"/>
              <a:t> Fazer </a:t>
            </a:r>
            <a:r>
              <a:rPr lang="pt-BR" dirty="0" err="1"/>
              <a:t>reshape</a:t>
            </a:r>
            <a:r>
              <a:rPr lang="pt-BR" dirty="0"/>
              <a:t> do resultado da multiplicação</a:t>
            </a:r>
          </a:p>
          <a:p>
            <a:pPr marL="457200" lvl="1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1E020-52F6-6920-B347-9F356CBB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59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F1ED963-D78B-2C61-1CE3-2EC989401F74}"/>
                  </a:ext>
                </a:extLst>
              </p:cNvPr>
              <p:cNvSpPr txBox="1"/>
              <p:nvPr/>
            </p:nvSpPr>
            <p:spPr>
              <a:xfrm>
                <a:off x="-115552" y="1443908"/>
                <a:ext cx="11278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F1ED963-D78B-2C61-1CE3-2EC989401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5552" y="1443908"/>
                <a:ext cx="112782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DE34724-D365-9227-67B9-3B5B87D851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3979157"/>
                  </p:ext>
                </p:extLst>
              </p:nvPr>
            </p:nvGraphicFramePr>
            <p:xfrm>
              <a:off x="4903584" y="3609664"/>
              <a:ext cx="7182024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795506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795506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795506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795506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DE34724-D365-9227-67B9-3B5B87D851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3979157"/>
                  </p:ext>
                </p:extLst>
              </p:nvPr>
            </p:nvGraphicFramePr>
            <p:xfrm>
              <a:off x="4903584" y="3609664"/>
              <a:ext cx="7182024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795506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795506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795506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795506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3"/>
                          <a:stretch>
                            <a:fillRect l="-339" t="-1075" r="-300339" b="-2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3"/>
                          <a:stretch>
                            <a:fillRect l="-100339" t="-1075" r="-200339" b="-2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3"/>
                          <a:stretch>
                            <a:fillRect l="-201020" t="-1075" r="-101020" b="-2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3"/>
                          <a:stretch>
                            <a:fillRect l="-300000" t="-1075" r="-678" b="-2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3"/>
                          <a:stretch>
                            <a:fillRect l="-339" t="-98947" r="-300339" b="-18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3"/>
                          <a:stretch>
                            <a:fillRect l="-100339" t="-98947" r="-200339" b="-18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3"/>
                          <a:stretch>
                            <a:fillRect l="-201020" t="-98947" r="-101020" b="-18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3"/>
                          <a:stretch>
                            <a:fillRect l="-300000" t="-98947" r="-678" b="-1873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3"/>
                          <a:stretch>
                            <a:fillRect l="-339" t="-196875" r="-300339" b="-8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3"/>
                          <a:stretch>
                            <a:fillRect l="-100339" t="-196875" r="-200339" b="-8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3"/>
                          <a:stretch>
                            <a:fillRect l="-201020" t="-196875" r="-101020" b="-8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3"/>
                          <a:stretch>
                            <a:fillRect l="-300000" t="-196875" r="-678" b="-854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3"/>
                          <a:stretch>
                            <a:fillRect l="-339" t="-356250" r="-300339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3"/>
                          <a:stretch>
                            <a:fillRect l="-100339" t="-356250" r="-200339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3"/>
                          <a:stretch>
                            <a:fillRect l="-201020" t="-356250" r="-101020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3"/>
                          <a:stretch>
                            <a:fillRect l="-300000" t="-356250" r="-678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A6ECA6-D7B7-655B-B862-3270A1C4F54C}"/>
                  </a:ext>
                </a:extLst>
              </p:cNvPr>
              <p:cNvSpPr txBox="1"/>
              <p:nvPr/>
            </p:nvSpPr>
            <p:spPr>
              <a:xfrm>
                <a:off x="7930686" y="3063670"/>
                <a:ext cx="11278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A6ECA6-D7B7-655B-B862-3270A1C4F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686" y="3063670"/>
                <a:ext cx="112782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FD82E989-6982-A60F-1057-5F0E1C2676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0118293"/>
                  </p:ext>
                </p:extLst>
              </p:nvPr>
            </p:nvGraphicFramePr>
            <p:xfrm>
              <a:off x="106392" y="1765240"/>
              <a:ext cx="4575248" cy="5026160"/>
            </p:xfrm>
            <a:graphic>
              <a:graphicData uri="http://schemas.openxmlformats.org/drawingml/2006/table">
                <a:tbl>
                  <a:tblPr firstRow="1">
                    <a:tableStyleId>{D7AC3CCA-C797-4891-BE02-D94E43425B78}</a:tableStyleId>
                  </a:tblPr>
                  <a:tblGrid>
                    <a:gridCol w="4575248">
                      <a:extLst>
                        <a:ext uri="{9D8B030D-6E8A-4147-A177-3AD203B41FA5}">
                          <a16:colId xmlns:a16="http://schemas.microsoft.com/office/drawing/2014/main" val="2574001211"/>
                        </a:ext>
                      </a:extLst>
                    </a:gridCol>
                  </a:tblGrid>
                  <a:tr h="2919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420169"/>
                      </a:ext>
                    </a:extLst>
                  </a:tr>
                  <a:tr h="2919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767265"/>
                      </a:ext>
                    </a:extLst>
                  </a:tr>
                  <a:tr h="2919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8336238"/>
                      </a:ext>
                    </a:extLst>
                  </a:tr>
                  <a:tr h="2919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7761279"/>
                      </a:ext>
                    </a:extLst>
                  </a:tr>
                  <a:tr h="2919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4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464533"/>
                      </a:ext>
                    </a:extLst>
                  </a:tr>
                  <a:tr h="2919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4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4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4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4308510"/>
                      </a:ext>
                    </a:extLst>
                  </a:tr>
                  <a:tr h="2919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4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4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4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629091"/>
                      </a:ext>
                    </a:extLst>
                  </a:tr>
                  <a:tr h="2919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4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6083908"/>
                      </a:ext>
                    </a:extLst>
                  </a:tr>
                  <a:tr h="2919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4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9999831"/>
                      </a:ext>
                    </a:extLst>
                  </a:tr>
                  <a:tr h="2919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4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4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4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466413"/>
                      </a:ext>
                    </a:extLst>
                  </a:tr>
                  <a:tr h="2919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4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4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4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7764567"/>
                      </a:ext>
                    </a:extLst>
                  </a:tr>
                  <a:tr h="2919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4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6393272"/>
                      </a:ext>
                    </a:extLst>
                  </a:tr>
                  <a:tr h="2919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0664744"/>
                      </a:ext>
                    </a:extLst>
                  </a:tr>
                  <a:tr h="2919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4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107804"/>
                      </a:ext>
                    </a:extLst>
                  </a:tr>
                  <a:tr h="2919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4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0087389"/>
                      </a:ext>
                    </a:extLst>
                  </a:tr>
                  <a:tr h="2919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69952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FD82E989-6982-A60F-1057-5F0E1C2676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0118293"/>
                  </p:ext>
                </p:extLst>
              </p:nvPr>
            </p:nvGraphicFramePr>
            <p:xfrm>
              <a:off x="106392" y="1765240"/>
              <a:ext cx="4575248" cy="5026160"/>
            </p:xfrm>
            <a:graphic>
              <a:graphicData uri="http://schemas.openxmlformats.org/drawingml/2006/table">
                <a:tbl>
                  <a:tblPr firstRow="1">
                    <a:tableStyleId>{D7AC3CCA-C797-4891-BE02-D94E43425B78}</a:tableStyleId>
                  </a:tblPr>
                  <a:tblGrid>
                    <a:gridCol w="4575248">
                      <a:extLst>
                        <a:ext uri="{9D8B030D-6E8A-4147-A177-3AD203B41FA5}">
                          <a16:colId xmlns:a16="http://schemas.microsoft.com/office/drawing/2014/main" val="2574001211"/>
                        </a:ext>
                      </a:extLst>
                    </a:gridCol>
                  </a:tblGrid>
                  <a:tr h="31413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33" t="-1923" r="-399" b="-149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420169"/>
                      </a:ext>
                    </a:extLst>
                  </a:tr>
                  <a:tr h="31413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33" t="-103922" r="-399" b="-14215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767265"/>
                      </a:ext>
                    </a:extLst>
                  </a:tr>
                  <a:tr h="31413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33" t="-200000" r="-399" b="-1294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8336238"/>
                      </a:ext>
                    </a:extLst>
                  </a:tr>
                  <a:tr h="31413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33" t="-300000" r="-399" b="-1194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7761279"/>
                      </a:ext>
                    </a:extLst>
                  </a:tr>
                  <a:tr h="31413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33" t="-407843" r="-399" b="-11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64533"/>
                      </a:ext>
                    </a:extLst>
                  </a:tr>
                  <a:tr h="31413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33" t="-498077" r="-399" b="-99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4308510"/>
                      </a:ext>
                    </a:extLst>
                  </a:tr>
                  <a:tr h="31413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33" t="-609804" r="-399" b="-9156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3629091"/>
                      </a:ext>
                    </a:extLst>
                  </a:tr>
                  <a:tr h="31413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33" t="-696154" r="-399" b="-798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6083908"/>
                      </a:ext>
                    </a:extLst>
                  </a:tr>
                  <a:tr h="31413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33" t="-796154" r="-399" b="-698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999831"/>
                      </a:ext>
                    </a:extLst>
                  </a:tr>
                  <a:tr h="31413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33" t="-913725" r="-399" b="-6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9466413"/>
                      </a:ext>
                    </a:extLst>
                  </a:tr>
                  <a:tr h="31413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33" t="-994231" r="-399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764567"/>
                      </a:ext>
                    </a:extLst>
                  </a:tr>
                  <a:tr h="31413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33" t="-1094231" r="-399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393272"/>
                      </a:ext>
                    </a:extLst>
                  </a:tr>
                  <a:tr h="31413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33" t="-1217647" r="-399" b="-3078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0664744"/>
                      </a:ext>
                    </a:extLst>
                  </a:tr>
                  <a:tr h="31413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33" t="-1292308" r="-399" b="-201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107804"/>
                      </a:ext>
                    </a:extLst>
                  </a:tr>
                  <a:tr h="31413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33" t="-1419608" r="-399" b="-1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0087389"/>
                      </a:ext>
                    </a:extLst>
                  </a:tr>
                  <a:tr h="31413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33" t="-1490385" r="-399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99524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34793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1801-3F68-E9D9-6564-A9E009E6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comparar o resultado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45FEA-2AD4-2922-7807-213A063B5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8060-638F-C922-C226-C8B12EF2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60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4215698"/>
                  </p:ext>
                </p:extLst>
              </p:nvPr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4215698"/>
                  </p:ext>
                </p:extLst>
              </p:nvPr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075" r="-3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075" r="-2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075" r="-10100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075" r="-667" b="-294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98947" r="-3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98947" r="-2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98947" r="-10100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98947" r="-667" b="-1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96875" r="-3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96875" r="-2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96875" r="-10100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96875" r="-667" b="-86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356250" r="-3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356250" r="-2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356250" r="-10100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356250" r="-667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7454866"/>
                  </p:ext>
                </p:extLst>
              </p:nvPr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7454866"/>
                  </p:ext>
                </p:extLst>
              </p:nvPr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9813845"/>
                  </p:ext>
                </p:extLst>
              </p:nvPr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9813845"/>
                  </p:ext>
                </p:extLst>
              </p:nvPr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/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/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7844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1801-3F68-E9D9-6564-A9E009E6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comparar o resultado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8060-638F-C922-C226-C8B12EF2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61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075" r="-3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075" r="-2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075" r="-10100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075" r="-667" b="-294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98947" r="-3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98947" r="-2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98947" r="-10100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98947" r="-667" b="-1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96875" r="-3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96875" r="-2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96875" r="-10100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96875" r="-667" b="-86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356250" r="-3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356250" r="-2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356250" r="-10100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356250" r="-667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8968305"/>
                  </p:ext>
                </p:extLst>
              </p:nvPr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8968305"/>
                  </p:ext>
                </p:extLst>
              </p:nvPr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/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/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7767378"/>
                  </p:ext>
                </p:extLst>
              </p:nvPr>
            </p:nvGraphicFramePr>
            <p:xfrm>
              <a:off x="3237455" y="1334821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7767378"/>
                  </p:ext>
                </p:extLst>
              </p:nvPr>
            </p:nvGraphicFramePr>
            <p:xfrm>
              <a:off x="3237455" y="1334821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235" r="-101190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2410" t="-1235" r="-2410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01235" r="-101190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2410" t="-101235" r="-2410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95969FAD-841A-22F2-4BA9-35B06C63AE04}"/>
              </a:ext>
            </a:extLst>
          </p:cNvPr>
          <p:cNvSpPr/>
          <p:nvPr/>
        </p:nvSpPr>
        <p:spPr>
          <a:xfrm>
            <a:off x="0" y="4645125"/>
            <a:ext cx="1811547" cy="5566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064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1801-3F68-E9D9-6564-A9E009E6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comparar o resultado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8060-638F-C922-C226-C8B12EF2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62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075" r="-3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075" r="-2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075" r="-10100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075" r="-667" b="-294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98947" r="-3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98947" r="-2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98947" r="-10100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98947" r="-667" b="-1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96875" r="-3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96875" r="-2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96875" r="-10100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96875" r="-667" b="-86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356250" r="-3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356250" r="-2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356250" r="-10100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356250" r="-667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/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/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0514604"/>
                  </p:ext>
                </p:extLst>
              </p:nvPr>
            </p:nvGraphicFramePr>
            <p:xfrm>
              <a:off x="3746411" y="1334821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0514604"/>
                  </p:ext>
                </p:extLst>
              </p:nvPr>
            </p:nvGraphicFramePr>
            <p:xfrm>
              <a:off x="3746411" y="1334821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F25A78E-A2BE-D24B-0B04-8D6791044B58}"/>
              </a:ext>
            </a:extLst>
          </p:cNvPr>
          <p:cNvSpPr/>
          <p:nvPr/>
        </p:nvSpPr>
        <p:spPr>
          <a:xfrm>
            <a:off x="1837421" y="4645125"/>
            <a:ext cx="1811547" cy="5566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266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1801-3F68-E9D9-6564-A9E009E6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comparar o resultado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8060-638F-C922-C226-C8B12EF2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63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075" r="-3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075" r="-2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075" r="-10100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075" r="-667" b="-294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98947" r="-3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98947" r="-2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98947" r="-10100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98947" r="-667" b="-1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96875" r="-3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96875" r="-2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96875" r="-10100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96875" r="-667" b="-86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356250" r="-3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356250" r="-2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356250" r="-10100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356250" r="-667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/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/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1531935"/>
                  </p:ext>
                </p:extLst>
              </p:nvPr>
            </p:nvGraphicFramePr>
            <p:xfrm>
              <a:off x="4263994" y="1334821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1531935"/>
                  </p:ext>
                </p:extLst>
              </p:nvPr>
            </p:nvGraphicFramePr>
            <p:xfrm>
              <a:off x="4263994" y="1334821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88C12D7-DCD2-A44F-F42C-C7BA79E7A882}"/>
              </a:ext>
            </a:extLst>
          </p:cNvPr>
          <p:cNvSpPr/>
          <p:nvPr/>
        </p:nvSpPr>
        <p:spPr>
          <a:xfrm>
            <a:off x="3657588" y="4645125"/>
            <a:ext cx="1811547" cy="5566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3906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1801-3F68-E9D9-6564-A9E009E6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comparar o resultado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8060-638F-C922-C226-C8B12EF2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64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075" r="-3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075" r="-2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075" r="-10100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075" r="-667" b="-294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98947" r="-3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98947" r="-2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98947" r="-10100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98947" r="-667" b="-1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96875" r="-3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96875" r="-2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96875" r="-10100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96875" r="-667" b="-86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356250" r="-3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356250" r="-2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356250" r="-10100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356250" r="-667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/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/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6871015"/>
                  </p:ext>
                </p:extLst>
              </p:nvPr>
            </p:nvGraphicFramePr>
            <p:xfrm>
              <a:off x="4781578" y="1334821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6871015"/>
                  </p:ext>
                </p:extLst>
              </p:nvPr>
            </p:nvGraphicFramePr>
            <p:xfrm>
              <a:off x="4781578" y="1334821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2410" t="-1235" r="-3614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2410" t="-101235" r="-3614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C619084F-DF0D-B1A7-64CF-BA4E8448F3A3}"/>
              </a:ext>
            </a:extLst>
          </p:cNvPr>
          <p:cNvSpPr/>
          <p:nvPr/>
        </p:nvSpPr>
        <p:spPr>
          <a:xfrm>
            <a:off x="5486389" y="4645125"/>
            <a:ext cx="1811547" cy="5566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1942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1801-3F68-E9D9-6564-A9E009E6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comparar o resultado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8060-638F-C922-C226-C8B12EF2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65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075" r="-3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075" r="-2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075" r="-10100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075" r="-667" b="-294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98947" r="-3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98947" r="-2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98947" r="-10100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98947" r="-667" b="-1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96875" r="-3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96875" r="-2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96875" r="-10100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96875" r="-667" b="-86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356250" r="-3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356250" r="-2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356250" r="-10100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356250" r="-667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/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/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5597670"/>
                  </p:ext>
                </p:extLst>
              </p:nvPr>
            </p:nvGraphicFramePr>
            <p:xfrm>
              <a:off x="3255897" y="1825625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5597670"/>
                  </p:ext>
                </p:extLst>
              </p:nvPr>
            </p:nvGraphicFramePr>
            <p:xfrm>
              <a:off x="3255897" y="1825625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235" r="-101190" b="-1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2410" t="-1235" r="-2410" b="-1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01235" r="-101190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2410" t="-101235" r="-2410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FFA649D-E094-D13E-DF44-516E857E5F6D}"/>
              </a:ext>
            </a:extLst>
          </p:cNvPr>
          <p:cNvSpPr/>
          <p:nvPr/>
        </p:nvSpPr>
        <p:spPr>
          <a:xfrm>
            <a:off x="0" y="5214465"/>
            <a:ext cx="1811547" cy="5566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0819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1801-3F68-E9D9-6564-A9E009E6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comparar o resultado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8060-638F-C922-C226-C8B12EF2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66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075" r="-3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075" r="-2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075" r="-10100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075" r="-667" b="-294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98947" r="-3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98947" r="-2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98947" r="-10100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98947" r="-667" b="-1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96875" r="-3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96875" r="-2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96875" r="-10100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96875" r="-667" b="-86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356250" r="-3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356250" r="-2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356250" r="-10100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356250" r="-667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/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/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3761886"/>
                  </p:ext>
                </p:extLst>
              </p:nvPr>
            </p:nvGraphicFramePr>
            <p:xfrm>
              <a:off x="3747603" y="1825625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3761886"/>
                  </p:ext>
                </p:extLst>
              </p:nvPr>
            </p:nvGraphicFramePr>
            <p:xfrm>
              <a:off x="3747603" y="1825625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235" r="-102381" b="-1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235" r="-2381" b="-1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01235" r="-102381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01235" r="-2381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8ECF779C-3694-A08C-236E-F16351FBFC93}"/>
              </a:ext>
            </a:extLst>
          </p:cNvPr>
          <p:cNvSpPr/>
          <p:nvPr/>
        </p:nvSpPr>
        <p:spPr>
          <a:xfrm>
            <a:off x="1837424" y="5223091"/>
            <a:ext cx="1811547" cy="5566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9262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1801-3F68-E9D9-6564-A9E009E6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comparar o resultado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8060-638F-C922-C226-C8B12EF2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67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075" r="-3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075" r="-2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075" r="-10100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075" r="-667" b="-294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98947" r="-3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98947" r="-2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98947" r="-10100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98947" r="-667" b="-1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96875" r="-3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96875" r="-2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96875" r="-10100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96875" r="-667" b="-86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356250" r="-3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356250" r="-2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356250" r="-10100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356250" r="-667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/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/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2056764"/>
                  </p:ext>
                </p:extLst>
              </p:nvPr>
            </p:nvGraphicFramePr>
            <p:xfrm>
              <a:off x="4265185" y="1825625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2056764"/>
                  </p:ext>
                </p:extLst>
              </p:nvPr>
            </p:nvGraphicFramePr>
            <p:xfrm>
              <a:off x="4265185" y="1825625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235" r="-102381" b="-1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235" r="-2381" b="-1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01235" r="-102381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01235" r="-2381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D56867E-FAFC-3230-4D49-D0C68E7BC639}"/>
              </a:ext>
            </a:extLst>
          </p:cNvPr>
          <p:cNvSpPr/>
          <p:nvPr/>
        </p:nvSpPr>
        <p:spPr>
          <a:xfrm>
            <a:off x="3648964" y="5223089"/>
            <a:ext cx="1811547" cy="5566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042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1801-3F68-E9D9-6564-A9E009E6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comparar o resultado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8060-638F-C922-C226-C8B12EF2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68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075" r="-3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075" r="-2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075" r="-10100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075" r="-667" b="-294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98947" r="-3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98947" r="-2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98947" r="-10100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98947" r="-667" b="-1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96875" r="-3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96875" r="-2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96875" r="-10100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96875" r="-667" b="-86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356250" r="-3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356250" r="-2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356250" r="-10100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356250" r="-667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/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/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694523"/>
                  </p:ext>
                </p:extLst>
              </p:nvPr>
            </p:nvGraphicFramePr>
            <p:xfrm>
              <a:off x="4765514" y="1825625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694523"/>
                  </p:ext>
                </p:extLst>
              </p:nvPr>
            </p:nvGraphicFramePr>
            <p:xfrm>
              <a:off x="4765514" y="1825625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235" r="-102381" b="-1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235" r="-2381" b="-1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01235" r="-102381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01235" r="-2381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457C2E1-84B4-8E7F-5FFB-E472B114ED48}"/>
              </a:ext>
            </a:extLst>
          </p:cNvPr>
          <p:cNvSpPr/>
          <p:nvPr/>
        </p:nvSpPr>
        <p:spPr>
          <a:xfrm>
            <a:off x="5469136" y="5223091"/>
            <a:ext cx="1811547" cy="5566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267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1801-3F68-E9D9-6564-A9E009E6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comparar o resultado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8060-638F-C922-C226-C8B12EF2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69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075" r="-3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075" r="-2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075" r="-10100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075" r="-667" b="-294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98947" r="-3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98947" r="-2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98947" r="-10100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98947" r="-667" b="-1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96875" r="-3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96875" r="-2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96875" r="-10100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96875" r="-667" b="-86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356250" r="-3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356250" r="-2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356250" r="-10100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356250" r="-667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/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/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9132870"/>
                  </p:ext>
                </p:extLst>
              </p:nvPr>
            </p:nvGraphicFramePr>
            <p:xfrm>
              <a:off x="3264522" y="2334579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9132870"/>
                  </p:ext>
                </p:extLst>
              </p:nvPr>
            </p:nvGraphicFramePr>
            <p:xfrm>
              <a:off x="3264522" y="2334579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CA722B87-CAAF-3FE2-04EE-B2235950E5FB}"/>
              </a:ext>
            </a:extLst>
          </p:cNvPr>
          <p:cNvSpPr/>
          <p:nvPr/>
        </p:nvSpPr>
        <p:spPr>
          <a:xfrm>
            <a:off x="0" y="5809685"/>
            <a:ext cx="1811547" cy="5566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341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1801-3F68-E9D9-6564-A9E009E6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comparar o resultado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8060-638F-C922-C226-C8B12EF2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70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075" r="-3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075" r="-2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075" r="-10100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075" r="-667" b="-294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98947" r="-3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98947" r="-2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98947" r="-10100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98947" r="-667" b="-1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96875" r="-3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96875" r="-2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96875" r="-10100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96875" r="-667" b="-86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356250" r="-3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356250" r="-2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356250" r="-10100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356250" r="-667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/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/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8288692"/>
                  </p:ext>
                </p:extLst>
              </p:nvPr>
            </p:nvGraphicFramePr>
            <p:xfrm>
              <a:off x="3747601" y="2334579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8288692"/>
                  </p:ext>
                </p:extLst>
              </p:nvPr>
            </p:nvGraphicFramePr>
            <p:xfrm>
              <a:off x="3747601" y="2334579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4EC2678-BA31-F6CA-7C64-20E046192C2E}"/>
              </a:ext>
            </a:extLst>
          </p:cNvPr>
          <p:cNvSpPr/>
          <p:nvPr/>
        </p:nvSpPr>
        <p:spPr>
          <a:xfrm>
            <a:off x="1820171" y="5801059"/>
            <a:ext cx="1811547" cy="5566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1676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1801-3F68-E9D9-6564-A9E009E6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comparar o resultado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8060-638F-C922-C226-C8B12EF2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71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075" r="-3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075" r="-2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075" r="-10100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075" r="-667" b="-294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98947" r="-3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98947" r="-2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98947" r="-10100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98947" r="-667" b="-1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96875" r="-3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96875" r="-2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96875" r="-10100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96875" r="-667" b="-86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356250" r="-3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356250" r="-2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356250" r="-10100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356250" r="-667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/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/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8022132"/>
                  </p:ext>
                </p:extLst>
              </p:nvPr>
            </p:nvGraphicFramePr>
            <p:xfrm>
              <a:off x="4265188" y="2334579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8022132"/>
                  </p:ext>
                </p:extLst>
              </p:nvPr>
            </p:nvGraphicFramePr>
            <p:xfrm>
              <a:off x="4265188" y="2334579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CA0D825-B810-2DC1-D05A-94639BE863CD}"/>
              </a:ext>
            </a:extLst>
          </p:cNvPr>
          <p:cNvSpPr/>
          <p:nvPr/>
        </p:nvSpPr>
        <p:spPr>
          <a:xfrm>
            <a:off x="3666220" y="5818313"/>
            <a:ext cx="1811547" cy="5566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8164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1801-3F68-E9D9-6564-A9E009E6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comparar o resultado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8060-638F-C922-C226-C8B12EF2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72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075" r="-3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075" r="-2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075" r="-10100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075" r="-667" b="-294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98947" r="-3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98947" r="-2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98947" r="-10100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98947" r="-667" b="-1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96875" r="-3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96875" r="-2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96875" r="-10100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96875" r="-667" b="-86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356250" r="-3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356250" r="-2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356250" r="-10100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356250" r="-667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/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/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7054873"/>
                  </p:ext>
                </p:extLst>
              </p:nvPr>
            </p:nvGraphicFramePr>
            <p:xfrm>
              <a:off x="4765517" y="2334579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7054873"/>
                  </p:ext>
                </p:extLst>
              </p:nvPr>
            </p:nvGraphicFramePr>
            <p:xfrm>
              <a:off x="4765517" y="2334579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014E258-345E-4886-7ED0-A30DC7B4A329}"/>
              </a:ext>
            </a:extLst>
          </p:cNvPr>
          <p:cNvSpPr/>
          <p:nvPr/>
        </p:nvSpPr>
        <p:spPr>
          <a:xfrm>
            <a:off x="5486392" y="5801059"/>
            <a:ext cx="1811547" cy="5566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875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1801-3F68-E9D9-6564-A9E009E6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comparar o resultado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8060-638F-C922-C226-C8B12EF2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73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075" r="-3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075" r="-2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075" r="-10100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075" r="-667" b="-294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98947" r="-3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98947" r="-2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98947" r="-10100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98947" r="-667" b="-1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96875" r="-3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96875" r="-2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96875" r="-10100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96875" r="-667" b="-86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356250" r="-3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356250" r="-2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356250" r="-10100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356250" r="-667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/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/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7691384"/>
                  </p:ext>
                </p:extLst>
              </p:nvPr>
            </p:nvGraphicFramePr>
            <p:xfrm>
              <a:off x="3247270" y="2809031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7691384"/>
                  </p:ext>
                </p:extLst>
              </p:nvPr>
            </p:nvGraphicFramePr>
            <p:xfrm>
              <a:off x="3247270" y="2809031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235" r="-102381" b="-1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235" r="-2381" b="-1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01235" r="-102381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01235" r="-2381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5DC7770-251E-7AAF-A723-4E7EF30D401A}"/>
              </a:ext>
            </a:extLst>
          </p:cNvPr>
          <p:cNvSpPr/>
          <p:nvPr/>
        </p:nvSpPr>
        <p:spPr>
          <a:xfrm>
            <a:off x="0" y="6327273"/>
            <a:ext cx="1811547" cy="5566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5512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1801-3F68-E9D9-6564-A9E009E6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comparar o resultado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8060-638F-C922-C226-C8B12EF2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74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075" r="-3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075" r="-2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075" r="-10100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075" r="-667" b="-294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98947" r="-3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98947" r="-2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98947" r="-10100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98947" r="-667" b="-1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96875" r="-3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96875" r="-2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96875" r="-10100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96875" r="-667" b="-86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356250" r="-3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356250" r="-2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356250" r="-10100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356250" r="-667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/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/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0955811"/>
                  </p:ext>
                </p:extLst>
              </p:nvPr>
            </p:nvGraphicFramePr>
            <p:xfrm>
              <a:off x="3747600" y="2809031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0955811"/>
                  </p:ext>
                </p:extLst>
              </p:nvPr>
            </p:nvGraphicFramePr>
            <p:xfrm>
              <a:off x="3747600" y="2809031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235" r="-102381" b="-1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235" r="-2381" b="-1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01235" r="-102381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01235" r="-2381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BFB2CEF-F3F5-D0E8-6F86-631020748C7B}"/>
              </a:ext>
            </a:extLst>
          </p:cNvPr>
          <p:cNvSpPr/>
          <p:nvPr/>
        </p:nvSpPr>
        <p:spPr>
          <a:xfrm>
            <a:off x="1846050" y="6361191"/>
            <a:ext cx="1811547" cy="5060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9345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1801-3F68-E9D9-6564-A9E009E6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comparar o resultado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8060-638F-C922-C226-C8B12EF2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75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075" r="-3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075" r="-2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075" r="-10100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075" r="-667" b="-294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98947" r="-3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98947" r="-2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98947" r="-10100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98947" r="-667" b="-1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96875" r="-3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96875" r="-2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96875" r="-10100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96875" r="-667" b="-86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356250" r="-3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356250" r="-2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356250" r="-10100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356250" r="-667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/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/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480678"/>
                  </p:ext>
                </p:extLst>
              </p:nvPr>
            </p:nvGraphicFramePr>
            <p:xfrm>
              <a:off x="4265185" y="2809031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480678"/>
                  </p:ext>
                </p:extLst>
              </p:nvPr>
            </p:nvGraphicFramePr>
            <p:xfrm>
              <a:off x="4265185" y="2809031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235" r="-102381" b="-1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235" r="-2381" b="-1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01235" r="-102381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1190" t="-101235" r="-2381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8982A1B-CF19-FF16-3F59-7C5CDE2F4D79}"/>
              </a:ext>
            </a:extLst>
          </p:cNvPr>
          <p:cNvSpPr/>
          <p:nvPr/>
        </p:nvSpPr>
        <p:spPr>
          <a:xfrm>
            <a:off x="3648966" y="6361191"/>
            <a:ext cx="1811547" cy="5060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9657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1801-3F68-E9D9-6564-A9E009E6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comparar o resultado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8060-638F-C922-C226-C8B12EF2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76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199524" marR="199524" marT="99760" marB="99760" anchor="ctr"/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5A8C06-DCBC-70AC-EC1D-938D0CE7BD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4645125"/>
              <a:ext cx="7306576" cy="2212875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1826644">
                      <a:extLst>
                        <a:ext uri="{9D8B030D-6E8A-4147-A177-3AD203B41FA5}">
                          <a16:colId xmlns:a16="http://schemas.microsoft.com/office/drawing/2014/main" val="2533096446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3145229381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4229224232"/>
                        </a:ext>
                      </a:extLst>
                    </a:gridCol>
                    <a:gridCol w="1826644">
                      <a:extLst>
                        <a:ext uri="{9D8B030D-6E8A-4147-A177-3AD203B41FA5}">
                          <a16:colId xmlns:a16="http://schemas.microsoft.com/office/drawing/2014/main" val="1101771713"/>
                        </a:ext>
                      </a:extLst>
                    </a:gridCol>
                  </a:tblGrid>
                  <a:tr h="564213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075" r="-3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075" r="-20033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075" r="-101003" b="-294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075" r="-667" b="-294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190935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98947" r="-3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98947" r="-20033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98947" r="-101003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98947" r="-667" b="-1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481929"/>
                      </a:ext>
                    </a:extLst>
                  </a:tr>
                  <a:tr h="5815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196875" r="-3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196875" r="-20033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196875" r="-101003" b="-86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196875" r="-667" b="-86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071083"/>
                      </a:ext>
                    </a:extLst>
                  </a:tr>
                  <a:tr h="48559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667" t="-356250" r="-3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100667" t="-356250" r="-20033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201338" t="-356250" r="-101003" b="-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99524" marR="199524" marT="99760" marB="99760" anchor="ctr">
                        <a:blipFill>
                          <a:blip r:embed="rId2"/>
                          <a:stretch>
                            <a:fillRect l="-300333" t="-356250" r="-667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512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C9687CF-C7BA-05D8-E47B-78E169A73A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68437" y="2072192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235" r="-10238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235" r="-2381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190" t="-101235" r="-10238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3"/>
                          <a:stretch>
                            <a:fillRect l="-101190" t="-101235" r="-2381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dirty="0"/>
                        </a:p>
                      </a:txBody>
                      <a:tcPr marL="120263" marR="120263" marT="60131" marB="60131" anchor="ctr"/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B6A83CC-B164-9A7A-8761-D4438F97F2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45298" y="1825625"/>
              <a:ext cx="1538739" cy="1474742"/>
            </p:xfrm>
            <a:graphic>
              <a:graphicData uri="http://schemas.openxmlformats.org/drawingml/2006/table">
                <a:tbl>
                  <a:tblPr firstRow="1">
                    <a:tableStyleId>{22838BEF-8BB2-4498-84A7-C5851F593DF1}</a:tableStyleId>
                  </a:tblPr>
                  <a:tblGrid>
                    <a:gridCol w="51291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  <a:gridCol w="512913">
                      <a:extLst>
                        <a:ext uri="{9D8B030D-6E8A-4147-A177-3AD203B41FA5}">
                          <a16:colId xmlns:a16="http://schemas.microsoft.com/office/drawing/2014/main" val="4134294068"/>
                        </a:ext>
                      </a:extLst>
                    </a:gridCol>
                  </a:tblGrid>
                  <a:tr h="49927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220" r="-203571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220" r="-101176" b="-19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220" r="-2381" b="-1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102469" r="-203571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102469" r="-101176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102469" r="-2381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  <a:tr h="48773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190" t="-205000" r="-20357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100000" t="-205000" r="-101176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0263" marR="120263" marT="60131" marB="60131" anchor="ctr">
                        <a:blipFill>
                          <a:blip r:embed="rId4"/>
                          <a:stretch>
                            <a:fillRect l="-202381" t="-205000" r="-2381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2926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/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1F440E-A3C2-5E1F-F7D3-B47A300D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34" y="2261013"/>
                <a:ext cx="9089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/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97B1B6-1A30-CBE1-CE19-71854B06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395" y="2301386"/>
                <a:ext cx="8735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3462572"/>
                  </p:ext>
                </p:extLst>
              </p:nvPr>
            </p:nvGraphicFramePr>
            <p:xfrm>
              <a:off x="4774144" y="2809031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300" dirty="0"/>
                        </a:p>
                      </a:txBody>
                      <a:tcPr marL="124884" marR="124884" marT="62441" marB="62441" anchor="ctr"/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B0A4CD4-684E-FEE2-12C4-820C5D80B2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3462572"/>
                  </p:ext>
                </p:extLst>
              </p:nvPr>
            </p:nvGraphicFramePr>
            <p:xfrm>
              <a:off x="4774144" y="2809031"/>
              <a:ext cx="1015686" cy="981608"/>
            </p:xfrm>
            <a:graphic>
              <a:graphicData uri="http://schemas.openxmlformats.org/drawingml/2006/table">
                <a:tbl>
                  <a:tblPr firstRow="1">
                    <a:tableStyleId>{8A107856-5554-42FB-B03E-39F5DBC370BA}</a:tableStyleId>
                  </a:tblPr>
                  <a:tblGrid>
                    <a:gridCol w="507843">
                      <a:extLst>
                        <a:ext uri="{9D8B030D-6E8A-4147-A177-3AD203B41FA5}">
                          <a16:colId xmlns:a16="http://schemas.microsoft.com/office/drawing/2014/main" val="3260054969"/>
                        </a:ext>
                      </a:extLst>
                    </a:gridCol>
                    <a:gridCol w="507843">
                      <a:extLst>
                        <a:ext uri="{9D8B030D-6E8A-4147-A177-3AD203B41FA5}">
                          <a16:colId xmlns:a16="http://schemas.microsoft.com/office/drawing/2014/main" val="858858152"/>
                        </a:ext>
                      </a:extLst>
                    </a:gridCol>
                  </a:tblGrid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235" r="-101190" b="-1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2410" t="-1235" r="-2410" b="-1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5734039"/>
                      </a:ext>
                    </a:extLst>
                  </a:tr>
                  <a:tr h="4908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190" t="-101235" r="-101190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24884" marR="124884" marT="62441" marB="62441" anchor="ctr">
                        <a:blipFill>
                          <a:blip r:embed="rId7"/>
                          <a:stretch>
                            <a:fillRect l="-102410" t="-101235" r="-2410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047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E46C811-E307-350C-2921-EB76D8EA8FF4}"/>
              </a:ext>
            </a:extLst>
          </p:cNvPr>
          <p:cNvSpPr/>
          <p:nvPr/>
        </p:nvSpPr>
        <p:spPr>
          <a:xfrm>
            <a:off x="5495016" y="6361191"/>
            <a:ext cx="1811547" cy="5060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2494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C7106-D367-45F4-8EA3-8F49E7136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901DB4-318B-45F1-8005-C67D26C7A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Sugere-se </a:t>
            </a:r>
            <a:r>
              <a:rPr lang="pt-BR" sz="2400" b="1" i="1" dirty="0"/>
              <a:t>fortemente</a:t>
            </a:r>
            <a:r>
              <a:rPr lang="pt-BR" sz="2400" dirty="0"/>
              <a:t> a leitura de:</a:t>
            </a:r>
          </a:p>
          <a:p>
            <a:pPr lvl="1"/>
            <a:r>
              <a:rPr lang="pt-BR" sz="2000" dirty="0"/>
              <a:t>Capítulo 10 de </a:t>
            </a:r>
            <a:r>
              <a:rPr lang="pt-BR" sz="2000" dirty="0" err="1"/>
              <a:t>Understanding</a:t>
            </a:r>
            <a:r>
              <a:rPr lang="pt-BR" sz="2000" dirty="0"/>
              <a:t> </a:t>
            </a:r>
            <a:r>
              <a:rPr lang="pt-BR" sz="2000" dirty="0" err="1"/>
              <a:t>Deep</a:t>
            </a:r>
            <a:r>
              <a:rPr lang="pt-BR" sz="2000" dirty="0"/>
              <a:t> Learning</a:t>
            </a:r>
          </a:p>
          <a:p>
            <a:pPr lvl="2"/>
            <a:r>
              <a:rPr lang="pt-BR" sz="1600" dirty="0">
                <a:hlinkClick r:id="rId2"/>
              </a:rPr>
              <a:t>https://udlbook.github.io/udlbook/</a:t>
            </a:r>
            <a:r>
              <a:rPr lang="pt-BR" sz="1600" dirty="0"/>
              <a:t> </a:t>
            </a:r>
          </a:p>
          <a:p>
            <a:r>
              <a:rPr lang="pt-BR" sz="2400" dirty="0"/>
              <a:t>Aula baseada nos seguintes materiais:</a:t>
            </a:r>
          </a:p>
          <a:p>
            <a:pPr lvl="1"/>
            <a:r>
              <a:rPr lang="pt-BR" sz="2000" dirty="0"/>
              <a:t>Capítulo 10 de </a:t>
            </a:r>
            <a:r>
              <a:rPr lang="pt-BR" sz="2000" dirty="0" err="1"/>
              <a:t>Understanding</a:t>
            </a:r>
            <a:r>
              <a:rPr lang="pt-BR" sz="2000" dirty="0"/>
              <a:t> </a:t>
            </a:r>
            <a:r>
              <a:rPr lang="pt-BR" sz="2000" dirty="0" err="1"/>
              <a:t>Deep</a:t>
            </a:r>
            <a:r>
              <a:rPr lang="pt-BR" sz="2000" dirty="0"/>
              <a:t> Learning. Simon. J. Prince</a:t>
            </a:r>
          </a:p>
          <a:p>
            <a:pPr lvl="1"/>
            <a:r>
              <a:rPr lang="pt-BR" sz="2000" dirty="0" err="1"/>
              <a:t>Machine</a:t>
            </a:r>
            <a:r>
              <a:rPr lang="pt-BR" sz="2000" dirty="0"/>
              <a:t> Learning @ Berkeley</a:t>
            </a:r>
          </a:p>
          <a:p>
            <a:pPr lvl="1"/>
            <a:r>
              <a:rPr lang="pt-BR" sz="2000" dirty="0">
                <a:hlinkClick r:id="rId3"/>
              </a:rPr>
              <a:t>https://github.com/alisaaalehi/convolution_as_multiplication/tree/main</a:t>
            </a:r>
            <a:r>
              <a:rPr lang="pt-BR" sz="2000" dirty="0"/>
              <a:t> </a:t>
            </a:r>
          </a:p>
          <a:p>
            <a:pPr lvl="1"/>
            <a:r>
              <a:rPr lang="pt-BR" sz="2000" dirty="0">
                <a:hlinkClick r:id="rId4"/>
              </a:rPr>
              <a:t>https://github.com/vdumoulin/conv_arithmetic/tree/master</a:t>
            </a:r>
            <a:r>
              <a:rPr lang="pt-BR" sz="2000" dirty="0"/>
              <a:t> </a:t>
            </a:r>
          </a:p>
          <a:p>
            <a:pPr lvl="1"/>
            <a:endParaRPr lang="pt-BR" sz="2000" dirty="0"/>
          </a:p>
          <a:p>
            <a:endParaRPr lang="pt-B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5F3A4-8CC9-6799-A160-6C78BD5F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77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5307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14731</TotalTime>
  <Words>5188</Words>
  <Application>Microsoft Office PowerPoint</Application>
  <PresentationFormat>Widescreen</PresentationFormat>
  <Paragraphs>1693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7" baseType="lpstr">
      <vt:lpstr>-apple-system</vt:lpstr>
      <vt:lpstr>Arial</vt:lpstr>
      <vt:lpstr>Calibri</vt:lpstr>
      <vt:lpstr>Calibri Light</vt:lpstr>
      <vt:lpstr>Cambria Math</vt:lpstr>
      <vt:lpstr>Consolas</vt:lpstr>
      <vt:lpstr>Roboto</vt:lpstr>
      <vt:lpstr>Verdana</vt:lpstr>
      <vt:lpstr>Wingdings</vt:lpstr>
      <vt:lpstr>Tema do Office</vt:lpstr>
      <vt:lpstr>Aprendizado Profundo 1</vt:lpstr>
      <vt:lpstr>Agenda</vt:lpstr>
      <vt:lpstr>Motivação Histórica</vt:lpstr>
      <vt:lpstr>Redes Convolucionais</vt:lpstr>
      <vt:lpstr>Problemas com MLP</vt:lpstr>
      <vt:lpstr>Problemas com MLP</vt:lpstr>
      <vt:lpstr>Problemas com MLP</vt:lpstr>
      <vt:lpstr>Problemas com MLP</vt:lpstr>
      <vt:lpstr>Problemas com MLP</vt:lpstr>
      <vt:lpstr>Invariância e Equivariância</vt:lpstr>
      <vt:lpstr>Invariância e Equivariância</vt:lpstr>
      <vt:lpstr>Invariância e Equivariância</vt:lpstr>
      <vt:lpstr>Convolução</vt:lpstr>
      <vt:lpstr>Padding</vt:lpstr>
      <vt:lpstr>Stride, Kernel Size e Dilation</vt:lpstr>
      <vt:lpstr>Stride, Kernel Size e Dilation</vt:lpstr>
      <vt:lpstr>Stride, Kernel Size e Dilation</vt:lpstr>
      <vt:lpstr>Camada Convolucional</vt:lpstr>
      <vt:lpstr>Camada Convolucional</vt:lpstr>
      <vt:lpstr>Camada Convolucional</vt:lpstr>
      <vt:lpstr>Camada Convolucional</vt:lpstr>
      <vt:lpstr>Campo Receptivo (Receptive Field)</vt:lpstr>
      <vt:lpstr>Campo Receptivo (Receptive Field)</vt:lpstr>
      <vt:lpstr>Campo Receptivo (Receptive Field)</vt:lpstr>
      <vt:lpstr>Campo Receptivo (Receptive Field)</vt:lpstr>
      <vt:lpstr>Uma exemplo de CNN</vt:lpstr>
      <vt:lpstr>Uma exemplo de CNN</vt:lpstr>
      <vt:lpstr>CNN para 2D</vt:lpstr>
      <vt:lpstr>CNN para 2D</vt:lpstr>
      <vt:lpstr>Parâmetros Treináveis</vt:lpstr>
      <vt:lpstr>Parâmetros Treináveis</vt:lpstr>
      <vt:lpstr>Campos Receptivos (2D)</vt:lpstr>
      <vt:lpstr>Campos Receptivos (2D)</vt:lpstr>
      <vt:lpstr>Campos Receptivos (2D)</vt:lpstr>
      <vt:lpstr>Treinamento</vt:lpstr>
      <vt:lpstr>O resultado do treinamento</vt:lpstr>
      <vt:lpstr>Downsampling</vt:lpstr>
      <vt:lpstr>Upsampling</vt:lpstr>
      <vt:lpstr>Upsampling</vt:lpstr>
      <vt:lpstr>Convolução Transposta - Ex</vt:lpstr>
      <vt:lpstr>Convolução Transposta - Ex</vt:lpstr>
      <vt:lpstr>Convolução Transposta - Ex</vt:lpstr>
      <vt:lpstr>Convolução Transposta - Ex</vt:lpstr>
      <vt:lpstr>Convolução Transposta - Ex</vt:lpstr>
      <vt:lpstr>Convolução Transposta - Ex</vt:lpstr>
      <vt:lpstr>Convolução Transposta - Ex</vt:lpstr>
      <vt:lpstr>Convolução 1x1</vt:lpstr>
      <vt:lpstr>Implementação</vt:lpstr>
      <vt:lpstr>Implementação</vt:lpstr>
      <vt:lpstr>Implementação</vt:lpstr>
      <vt:lpstr>Implementação</vt:lpstr>
      <vt:lpstr>Implementação</vt:lpstr>
      <vt:lpstr>Implementação</vt:lpstr>
      <vt:lpstr>Implementação</vt:lpstr>
      <vt:lpstr>Implementação</vt:lpstr>
      <vt:lpstr>Implementação</vt:lpstr>
      <vt:lpstr>Implementação</vt:lpstr>
      <vt:lpstr>PowerPoint Presentation</vt:lpstr>
      <vt:lpstr>Implementação</vt:lpstr>
      <vt:lpstr>Vamos comparar o resultado</vt:lpstr>
      <vt:lpstr>Vamos comparar o resultado</vt:lpstr>
      <vt:lpstr>Vamos comparar o resultado</vt:lpstr>
      <vt:lpstr>Vamos comparar o resultado</vt:lpstr>
      <vt:lpstr>Vamos comparar o resultado</vt:lpstr>
      <vt:lpstr>Vamos comparar o resultado</vt:lpstr>
      <vt:lpstr>Vamos comparar o resultado</vt:lpstr>
      <vt:lpstr>Vamos comparar o resultado</vt:lpstr>
      <vt:lpstr>Vamos comparar o resultado</vt:lpstr>
      <vt:lpstr>Vamos comparar o resultado</vt:lpstr>
      <vt:lpstr>Vamos comparar o resultado</vt:lpstr>
      <vt:lpstr>Vamos comparar o resultado</vt:lpstr>
      <vt:lpstr>Vamos comparar o resultado</vt:lpstr>
      <vt:lpstr>Vamos comparar o resultado</vt:lpstr>
      <vt:lpstr>Vamos comparar o resultado</vt:lpstr>
      <vt:lpstr>Vamos comparar o resultado</vt:lpstr>
      <vt:lpstr>Vamos comparar o resultado</vt:lpstr>
      <vt:lpstr>Referências: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de Máquina Turma 010 - 2021/2</dc:title>
  <dc:creator>Lucas Silveira Kupssinsku</dc:creator>
  <cp:lastModifiedBy>Lucas Silveira Kupssinsku</cp:lastModifiedBy>
  <cp:revision>182</cp:revision>
  <dcterms:created xsi:type="dcterms:W3CDTF">2021-08-01T11:35:46Z</dcterms:created>
  <dcterms:modified xsi:type="dcterms:W3CDTF">2024-05-02T18:48:22Z</dcterms:modified>
</cp:coreProperties>
</file>